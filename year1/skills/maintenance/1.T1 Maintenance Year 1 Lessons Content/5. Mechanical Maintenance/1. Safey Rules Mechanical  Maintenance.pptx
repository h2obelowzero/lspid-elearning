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56" r:id="rId3"/>
    <p:sldId id="273" r:id="rId4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779" autoAdjust="0"/>
    <p:restoredTop sz="94660"/>
  </p:normalViewPr>
  <p:slideViewPr>
    <p:cSldViewPr snapToGrid="0">
      <p:cViewPr varScale="1">
        <p:scale>
          <a:sx n="74" d="100"/>
          <a:sy n="74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455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70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59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59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938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0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81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3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61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09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9901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530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0342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550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176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78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05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u="sng" dirty="0" smtClean="0">
                <a:solidFill>
                  <a:schemeClr val="accent1"/>
                </a:solidFill>
              </a:rPr>
              <a:t>Mechanical Maintenance</a:t>
            </a:r>
          </a:p>
          <a:p>
            <a:pPr marL="0" indent="0">
              <a:buNone/>
            </a:pPr>
            <a:endParaRPr lang="en-US" sz="3600" u="sng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600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600" u="sng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600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600" u="sng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600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600" u="sng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u="sng" dirty="0" smtClean="0">
                <a:solidFill>
                  <a:schemeClr val="tx1"/>
                </a:solidFill>
              </a:rPr>
              <a:t>Video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: </a:t>
            </a:r>
            <a:r>
              <a:rPr lang="en-US" sz="2400" u="sng" dirty="0">
                <a:solidFill>
                  <a:schemeClr val="tx1"/>
                </a:solidFill>
              </a:rPr>
              <a:t>Introduction to </a:t>
            </a:r>
            <a:r>
              <a:rPr lang="en-US" sz="2400" u="sng" dirty="0" smtClean="0">
                <a:solidFill>
                  <a:schemeClr val="tx1"/>
                </a:solidFill>
              </a:rPr>
              <a:t>Motor Mechanics</a:t>
            </a:r>
          </a:p>
          <a:p>
            <a:pPr marL="0" indent="0">
              <a:buNone/>
            </a:pPr>
            <a:r>
              <a:rPr lang="en-US" sz="2400" u="sng">
                <a:solidFill>
                  <a:schemeClr val="tx1"/>
                </a:solidFill>
              </a:rPr>
              <a:t>https://youtu.be/wL8DpEu_3es?si=Ko6OzfBU0VOQBwV9</a:t>
            </a:r>
            <a:endParaRPr lang="en-US" sz="2400" u="sng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400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2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>
              <a:solidFill>
                <a:schemeClr val="accent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214" y="1002737"/>
            <a:ext cx="6557809" cy="411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302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0"/>
            <a:ext cx="12192001" cy="6858000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3600" b="1" u="sng" dirty="0" smtClean="0">
                <a:solidFill>
                  <a:schemeClr val="accent1"/>
                </a:solidFill>
              </a:rPr>
              <a:t>Mechanical Maintenance</a:t>
            </a:r>
          </a:p>
          <a:p>
            <a:pPr algn="l"/>
            <a:r>
              <a:rPr lang="en-US" sz="2000" b="1" u="sng" dirty="0" smtClean="0">
                <a:solidFill>
                  <a:schemeClr val="tx1"/>
                </a:solidFill>
              </a:rPr>
              <a:t>Safety rules</a:t>
            </a:r>
          </a:p>
          <a:p>
            <a:pPr algn="l"/>
            <a:r>
              <a:rPr lang="en-US" sz="1600" dirty="0" smtClean="0">
                <a:solidFill>
                  <a:schemeClr val="tx1"/>
                </a:solidFill>
              </a:rPr>
              <a:t>1.</a:t>
            </a:r>
            <a:r>
              <a:rPr lang="en-US" sz="1600" u="sng" dirty="0" smtClean="0">
                <a:solidFill>
                  <a:schemeClr val="tx1"/>
                </a:solidFill>
              </a:rPr>
              <a:t>Work</a:t>
            </a:r>
            <a:r>
              <a:rPr lang="en-US" sz="1600" dirty="0" smtClean="0">
                <a:solidFill>
                  <a:schemeClr val="tx1"/>
                </a:solidFill>
              </a:rPr>
              <a:t> quietly and give full attention </a:t>
            </a:r>
            <a:r>
              <a:rPr lang="en-US" sz="1400" dirty="0" smtClean="0">
                <a:solidFill>
                  <a:schemeClr val="tx1"/>
                </a:solidFill>
              </a:rPr>
              <a:t>to</a:t>
            </a:r>
            <a:r>
              <a:rPr lang="en-US" sz="1600" dirty="0" smtClean="0">
                <a:solidFill>
                  <a:schemeClr val="tx1"/>
                </a:solidFill>
              </a:rPr>
              <a:t> the job you are doing.</a:t>
            </a:r>
          </a:p>
          <a:p>
            <a:pPr algn="l"/>
            <a:r>
              <a:rPr lang="en-US" sz="1600" dirty="0" smtClean="0">
                <a:solidFill>
                  <a:schemeClr val="tx1"/>
                </a:solidFill>
              </a:rPr>
              <a:t>2. Keep yours </a:t>
            </a:r>
            <a:r>
              <a:rPr lang="en-US" sz="1600" u="sng" dirty="0" smtClean="0">
                <a:solidFill>
                  <a:schemeClr val="tx1"/>
                </a:solidFill>
              </a:rPr>
              <a:t>tools</a:t>
            </a:r>
            <a:r>
              <a:rPr lang="en-US" sz="1600" dirty="0" smtClean="0">
                <a:solidFill>
                  <a:schemeClr val="tx1"/>
                </a:solidFill>
              </a:rPr>
              <a:t> and e</a:t>
            </a:r>
            <a:r>
              <a:rPr lang="en-US" sz="1600" u="sng" dirty="0" smtClean="0">
                <a:solidFill>
                  <a:schemeClr val="tx1"/>
                </a:solidFill>
              </a:rPr>
              <a:t>quipment</a:t>
            </a:r>
            <a:r>
              <a:rPr lang="en-US" sz="1600" dirty="0" smtClean="0">
                <a:solidFill>
                  <a:schemeClr val="tx1"/>
                </a:solidFill>
              </a:rPr>
              <a:t> under control.</a:t>
            </a:r>
          </a:p>
          <a:p>
            <a:pPr algn="l"/>
            <a:r>
              <a:rPr lang="en-US" sz="1600" dirty="0" smtClean="0">
                <a:solidFill>
                  <a:schemeClr val="tx1"/>
                </a:solidFill>
              </a:rPr>
              <a:t>3. Keep </a:t>
            </a:r>
            <a:r>
              <a:rPr lang="en-US" sz="1600" u="sng" dirty="0" smtClean="0">
                <a:solidFill>
                  <a:schemeClr val="tx1"/>
                </a:solidFill>
              </a:rPr>
              <a:t>jack</a:t>
            </a:r>
            <a:r>
              <a:rPr lang="en-US" sz="1600" dirty="0" smtClean="0">
                <a:solidFill>
                  <a:schemeClr val="tx1"/>
                </a:solidFill>
              </a:rPr>
              <a:t> handles out the way.</a:t>
            </a:r>
          </a:p>
          <a:p>
            <a:pPr algn="l"/>
            <a:r>
              <a:rPr lang="en-US" sz="1600" dirty="0" smtClean="0">
                <a:solidFill>
                  <a:schemeClr val="tx1"/>
                </a:solidFill>
              </a:rPr>
              <a:t>4. Never indulge in </a:t>
            </a:r>
            <a:r>
              <a:rPr lang="en-US" sz="1600" u="sng" dirty="0" smtClean="0">
                <a:solidFill>
                  <a:schemeClr val="tx1"/>
                </a:solidFill>
              </a:rPr>
              <a:t>horseplay</a:t>
            </a:r>
            <a:r>
              <a:rPr lang="en-US" sz="1600" dirty="0" smtClean="0">
                <a:solidFill>
                  <a:schemeClr val="tx1"/>
                </a:solidFill>
              </a:rPr>
              <a:t> or other </a:t>
            </a:r>
            <a:r>
              <a:rPr lang="en-US" sz="1600" u="sng" dirty="0" smtClean="0">
                <a:solidFill>
                  <a:schemeClr val="tx1"/>
                </a:solidFill>
              </a:rPr>
              <a:t>foolish</a:t>
            </a:r>
            <a:r>
              <a:rPr lang="en-US" sz="1600" dirty="0" smtClean="0">
                <a:solidFill>
                  <a:schemeClr val="tx1"/>
                </a:solidFill>
              </a:rPr>
              <a:t> action.</a:t>
            </a:r>
          </a:p>
          <a:p>
            <a:pPr algn="l"/>
            <a:r>
              <a:rPr lang="en-US" sz="1600" dirty="0" smtClean="0">
                <a:solidFill>
                  <a:schemeClr val="tx1"/>
                </a:solidFill>
              </a:rPr>
              <a:t>5. Never put </a:t>
            </a:r>
            <a:r>
              <a:rPr lang="en-US" sz="1600" u="sng" dirty="0" smtClean="0">
                <a:solidFill>
                  <a:schemeClr val="tx1"/>
                </a:solidFill>
              </a:rPr>
              <a:t>screwdrivers</a:t>
            </a:r>
            <a:r>
              <a:rPr lang="en-US" sz="1600" dirty="0" smtClean="0">
                <a:solidFill>
                  <a:schemeClr val="tx1"/>
                </a:solidFill>
              </a:rPr>
              <a:t> or other </a:t>
            </a:r>
            <a:r>
              <a:rPr lang="en-US" sz="1600" u="sng" dirty="0" smtClean="0">
                <a:solidFill>
                  <a:schemeClr val="tx1"/>
                </a:solidFill>
              </a:rPr>
              <a:t>sharp</a:t>
            </a:r>
            <a:r>
              <a:rPr lang="en-US" sz="1600" dirty="0" smtClean="0">
                <a:solidFill>
                  <a:schemeClr val="tx1"/>
                </a:solidFill>
              </a:rPr>
              <a:t> objects in your pockets.</a:t>
            </a:r>
          </a:p>
          <a:p>
            <a:pPr algn="l"/>
            <a:r>
              <a:rPr lang="en-US" sz="1600" dirty="0" smtClean="0">
                <a:solidFill>
                  <a:schemeClr val="tx1"/>
                </a:solidFill>
              </a:rPr>
              <a:t>6. Make sure your </a:t>
            </a:r>
            <a:r>
              <a:rPr lang="en-US" sz="1600" u="sng" dirty="0" smtClean="0">
                <a:solidFill>
                  <a:schemeClr val="tx1"/>
                </a:solidFill>
              </a:rPr>
              <a:t>clothes</a:t>
            </a:r>
            <a:r>
              <a:rPr lang="en-US" sz="1600" dirty="0" smtClean="0">
                <a:solidFill>
                  <a:schemeClr val="tx1"/>
                </a:solidFill>
              </a:rPr>
              <a:t> are right for the job.</a:t>
            </a:r>
          </a:p>
          <a:p>
            <a:pPr algn="l"/>
            <a:r>
              <a:rPr lang="en-US" sz="1600" dirty="0" smtClean="0">
                <a:solidFill>
                  <a:schemeClr val="tx1"/>
                </a:solidFill>
              </a:rPr>
              <a:t>7. Do not wear </a:t>
            </a:r>
            <a:r>
              <a:rPr lang="en-US" sz="1600" u="sng" dirty="0" smtClean="0">
                <a:solidFill>
                  <a:schemeClr val="tx1"/>
                </a:solidFill>
              </a:rPr>
              <a:t>rings</a:t>
            </a:r>
            <a:r>
              <a:rPr lang="en-US" sz="1600" dirty="0" smtClean="0">
                <a:solidFill>
                  <a:schemeClr val="tx1"/>
                </a:solidFill>
              </a:rPr>
              <a:t>, </a:t>
            </a:r>
            <a:r>
              <a:rPr lang="en-US" sz="1600" u="sng" dirty="0" smtClean="0">
                <a:solidFill>
                  <a:schemeClr val="tx1"/>
                </a:solidFill>
              </a:rPr>
              <a:t>bracelet</a:t>
            </a:r>
            <a:r>
              <a:rPr lang="en-US" sz="1600" dirty="0" smtClean="0">
                <a:solidFill>
                  <a:schemeClr val="tx1"/>
                </a:solidFill>
              </a:rPr>
              <a:t> or </a:t>
            </a:r>
            <a:r>
              <a:rPr lang="en-US" sz="1600" u="sng" dirty="0" smtClean="0">
                <a:solidFill>
                  <a:schemeClr val="tx1"/>
                </a:solidFill>
              </a:rPr>
              <a:t>watches</a:t>
            </a:r>
            <a:r>
              <a:rPr lang="en-US" sz="1600" dirty="0" smtClean="0">
                <a:solidFill>
                  <a:schemeClr val="tx1"/>
                </a:solidFill>
              </a:rPr>
              <a:t> when working around moving machinery or electrical equipments.</a:t>
            </a:r>
          </a:p>
          <a:p>
            <a:pPr algn="l"/>
            <a:r>
              <a:rPr lang="en-US" sz="1600" dirty="0" smtClean="0">
                <a:solidFill>
                  <a:schemeClr val="tx1"/>
                </a:solidFill>
              </a:rPr>
              <a:t>8. Wipe </a:t>
            </a:r>
            <a:r>
              <a:rPr lang="en-US" sz="1600" u="sng" dirty="0" smtClean="0">
                <a:solidFill>
                  <a:schemeClr val="tx1"/>
                </a:solidFill>
              </a:rPr>
              <a:t>oil</a:t>
            </a:r>
            <a:r>
              <a:rPr lang="en-US" sz="1600" dirty="0" smtClean="0">
                <a:solidFill>
                  <a:schemeClr val="tx1"/>
                </a:solidFill>
              </a:rPr>
              <a:t> or </a:t>
            </a:r>
            <a:r>
              <a:rPr lang="en-US" sz="1600" u="sng" dirty="0" smtClean="0">
                <a:solidFill>
                  <a:schemeClr val="tx1"/>
                </a:solidFill>
              </a:rPr>
              <a:t>greases</a:t>
            </a:r>
            <a:r>
              <a:rPr lang="en-US" sz="1600" dirty="0" smtClean="0">
                <a:solidFill>
                  <a:schemeClr val="tx1"/>
                </a:solidFill>
              </a:rPr>
              <a:t> off your hands and tools.</a:t>
            </a:r>
          </a:p>
          <a:p>
            <a:pPr algn="l"/>
            <a:r>
              <a:rPr lang="en-US" sz="1600" dirty="0" smtClean="0">
                <a:solidFill>
                  <a:schemeClr val="tx1"/>
                </a:solidFill>
              </a:rPr>
              <a:t>9. Clean spills of </a:t>
            </a:r>
            <a:r>
              <a:rPr lang="en-US" sz="1600" u="sng" dirty="0" smtClean="0">
                <a:solidFill>
                  <a:schemeClr val="tx1"/>
                </a:solidFill>
              </a:rPr>
              <a:t>oil</a:t>
            </a:r>
            <a:r>
              <a:rPr lang="en-US" sz="1600" dirty="0" smtClean="0">
                <a:solidFill>
                  <a:schemeClr val="tx1"/>
                </a:solidFill>
              </a:rPr>
              <a:t>, </a:t>
            </a:r>
            <a:r>
              <a:rPr lang="en-US" sz="1600" u="sng" dirty="0" smtClean="0">
                <a:solidFill>
                  <a:schemeClr val="tx1"/>
                </a:solidFill>
              </a:rPr>
              <a:t>grease</a:t>
            </a:r>
            <a:r>
              <a:rPr lang="en-US" sz="1600" dirty="0" smtClean="0">
                <a:solidFill>
                  <a:schemeClr val="tx1"/>
                </a:solidFill>
              </a:rPr>
              <a:t> or any </a:t>
            </a:r>
            <a:r>
              <a:rPr lang="en-US" sz="1600" u="sng" dirty="0" smtClean="0">
                <a:solidFill>
                  <a:schemeClr val="tx1"/>
                </a:solidFill>
              </a:rPr>
              <a:t>liquid</a:t>
            </a:r>
            <a:r>
              <a:rPr lang="en-US" sz="1600" dirty="0" smtClean="0">
                <a:solidFill>
                  <a:schemeClr val="tx1"/>
                </a:solidFill>
              </a:rPr>
              <a:t> on the floor.</a:t>
            </a:r>
          </a:p>
          <a:p>
            <a:pPr algn="l"/>
            <a:r>
              <a:rPr lang="en-US" sz="1600" dirty="0" smtClean="0">
                <a:solidFill>
                  <a:schemeClr val="tx1"/>
                </a:solidFill>
              </a:rPr>
              <a:t>10. Watch out for </a:t>
            </a:r>
            <a:r>
              <a:rPr lang="en-US" sz="1600" u="sng" dirty="0" smtClean="0">
                <a:solidFill>
                  <a:schemeClr val="tx1"/>
                </a:solidFill>
              </a:rPr>
              <a:t>sparks</a:t>
            </a:r>
            <a:r>
              <a:rPr lang="en-US" sz="1600" dirty="0" smtClean="0">
                <a:solidFill>
                  <a:schemeClr val="tx1"/>
                </a:solidFill>
              </a:rPr>
              <a:t> flying from grinding wheel or a welding job.</a:t>
            </a:r>
          </a:p>
          <a:p>
            <a:pPr algn="l"/>
            <a:r>
              <a:rPr lang="en-US" sz="1600" dirty="0" smtClean="0">
                <a:solidFill>
                  <a:schemeClr val="tx1"/>
                </a:solidFill>
              </a:rPr>
              <a:t>11. Never use </a:t>
            </a:r>
            <a:r>
              <a:rPr lang="en-US" sz="1600" u="sng" dirty="0" smtClean="0">
                <a:solidFill>
                  <a:schemeClr val="tx1"/>
                </a:solidFill>
              </a:rPr>
              <a:t>compressed</a:t>
            </a:r>
            <a:r>
              <a:rPr lang="en-US" sz="1600" dirty="0" smtClean="0">
                <a:solidFill>
                  <a:schemeClr val="tx1"/>
                </a:solidFill>
              </a:rPr>
              <a:t> air to blow dirt from your clothes.</a:t>
            </a:r>
          </a:p>
          <a:p>
            <a:pPr algn="l"/>
            <a:r>
              <a:rPr lang="en-US" sz="1600" dirty="0" smtClean="0">
                <a:solidFill>
                  <a:schemeClr val="tx1"/>
                </a:solidFill>
              </a:rPr>
              <a:t>12.Always wear eye </a:t>
            </a:r>
            <a:r>
              <a:rPr lang="en-US" sz="1600" u="sng" dirty="0" smtClean="0">
                <a:solidFill>
                  <a:schemeClr val="tx1"/>
                </a:solidFill>
              </a:rPr>
              <a:t>protection</a:t>
            </a:r>
            <a:r>
              <a:rPr lang="en-US" sz="1600" dirty="0" smtClean="0">
                <a:solidFill>
                  <a:schemeClr val="tx1"/>
                </a:solidFill>
              </a:rPr>
              <a:t> when liquid spray or particles are flying about.</a:t>
            </a:r>
          </a:p>
          <a:p>
            <a:pPr algn="l"/>
            <a:r>
              <a:rPr lang="en-US" sz="1600" dirty="0" smtClean="0">
                <a:solidFill>
                  <a:schemeClr val="tx1"/>
                </a:solidFill>
              </a:rPr>
              <a:t>13. When using a jack, position it </a:t>
            </a:r>
            <a:r>
              <a:rPr lang="en-US" sz="1600" u="sng" dirty="0" smtClean="0">
                <a:solidFill>
                  <a:schemeClr val="tx1"/>
                </a:solidFill>
              </a:rPr>
              <a:t>properly</a:t>
            </a:r>
            <a:r>
              <a:rPr lang="en-US" sz="1600" dirty="0" smtClean="0">
                <a:solidFill>
                  <a:schemeClr val="tx1"/>
                </a:solidFill>
              </a:rPr>
              <a:t>.</a:t>
            </a:r>
          </a:p>
          <a:p>
            <a:pPr algn="l"/>
            <a:r>
              <a:rPr lang="en-US" sz="1600" dirty="0" smtClean="0">
                <a:solidFill>
                  <a:schemeClr val="tx1"/>
                </a:solidFill>
              </a:rPr>
              <a:t>14. Keep your </a:t>
            </a:r>
            <a:r>
              <a:rPr lang="en-US" sz="1600" u="sng" dirty="0" smtClean="0">
                <a:solidFill>
                  <a:schemeClr val="tx1"/>
                </a:solidFill>
              </a:rPr>
              <a:t>hands</a:t>
            </a:r>
            <a:r>
              <a:rPr lang="en-US" sz="1600" dirty="0" smtClean="0">
                <a:solidFill>
                  <a:schemeClr val="tx1"/>
                </a:solidFill>
              </a:rPr>
              <a:t> away from the engine fan and accessory drive belts when the engine is running.</a:t>
            </a:r>
          </a:p>
          <a:p>
            <a:pPr algn="l"/>
            <a:r>
              <a:rPr lang="en-US" u="sng" dirty="0" smtClean="0">
                <a:solidFill>
                  <a:schemeClr val="accent1"/>
                </a:solidFill>
              </a:rPr>
              <a:t>Video</a:t>
            </a:r>
            <a:r>
              <a:rPr lang="en-US" dirty="0">
                <a:solidFill>
                  <a:schemeClr val="tx1"/>
                </a:solidFill>
              </a:rPr>
              <a:t>: https://youtu.be/Ux1wJusNUIY?si=lc4py7yJFe2qTtbt</a:t>
            </a:r>
          </a:p>
          <a:p>
            <a:pPr algn="l"/>
            <a:r>
              <a:rPr lang="en-US" u="sng" smtClean="0">
                <a:solidFill>
                  <a:schemeClr val="tx1"/>
                </a:solidFill>
              </a:rPr>
              <a:t>Feedback</a:t>
            </a:r>
            <a:r>
              <a:rPr lang="en-US" smtClean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: Activity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25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Kwa Thema Skills School</a:t>
            </a:r>
            <a:br>
              <a:rPr lang="en-US" sz="3200" dirty="0" smtClean="0"/>
            </a:br>
            <a:r>
              <a:rPr lang="en-US" sz="2700" dirty="0" smtClean="0"/>
              <a:t>Subject : Maintenance							Marks : 10</a:t>
            </a:r>
            <a:br>
              <a:rPr lang="en-US" sz="2700" dirty="0" smtClean="0"/>
            </a:br>
            <a:r>
              <a:rPr lang="en-US" sz="2700" dirty="0" smtClean="0"/>
              <a:t>Grade	  : Year 1 						          	Time  </a:t>
            </a:r>
            <a:r>
              <a:rPr lang="en-US" sz="2700" smtClean="0"/>
              <a:t>: </a:t>
            </a:r>
            <a:r>
              <a:rPr lang="en-US" sz="2700" smtClean="0"/>
              <a:t>30 mins</a:t>
            </a:r>
            <a:r>
              <a:rPr lang="en-US" sz="2700" dirty="0" smtClean="0"/>
              <a:t/>
            </a:r>
            <a:br>
              <a:rPr lang="en-US" sz="2700" dirty="0" smtClean="0"/>
            </a:br>
            <a:r>
              <a:rPr lang="en-US" sz="2700" dirty="0" smtClean="0"/>
              <a:t>Date	</a:t>
            </a:r>
            <a:r>
              <a:rPr lang="en-US" sz="2700" smtClean="0"/>
              <a:t>  </a:t>
            </a:r>
            <a:r>
              <a:rPr lang="en-US" sz="2700" smtClean="0"/>
              <a:t>:   /  / 2024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b="1" u="sng" dirty="0" smtClean="0"/>
              <a:t>Question:1</a:t>
            </a:r>
          </a:p>
          <a:p>
            <a:pPr marL="0" indent="0">
              <a:buNone/>
            </a:pPr>
            <a:endParaRPr lang="en-US" sz="5500" dirty="0" smtClean="0"/>
          </a:p>
          <a:p>
            <a:pPr marL="0" indent="0">
              <a:buNone/>
            </a:pPr>
            <a:endParaRPr lang="en-US" sz="5500" dirty="0" smtClean="0"/>
          </a:p>
          <a:p>
            <a:pPr marL="0" indent="0">
              <a:buNone/>
            </a:pPr>
            <a:r>
              <a:rPr lang="en-US" sz="7200" dirty="0" smtClean="0"/>
              <a:t>1. Fill in the following sentences.</a:t>
            </a:r>
          </a:p>
          <a:p>
            <a:pPr marL="0" indent="0">
              <a:buNone/>
            </a:pPr>
            <a:r>
              <a:rPr lang="en-US" sz="7200" dirty="0" smtClean="0">
                <a:solidFill>
                  <a:schemeClr val="tx1"/>
                </a:solidFill>
              </a:rPr>
              <a:t>1.1._______ quietly </a:t>
            </a:r>
            <a:r>
              <a:rPr lang="en-US" sz="7200" dirty="0">
                <a:solidFill>
                  <a:schemeClr val="tx1"/>
                </a:solidFill>
              </a:rPr>
              <a:t>and give full attention to the job you are doing.</a:t>
            </a:r>
          </a:p>
          <a:p>
            <a:pPr marL="0" indent="0">
              <a:buNone/>
            </a:pPr>
            <a:r>
              <a:rPr lang="en-US" sz="7200" dirty="0" smtClean="0">
                <a:solidFill>
                  <a:schemeClr val="tx1"/>
                </a:solidFill>
              </a:rPr>
              <a:t>1.2</a:t>
            </a:r>
            <a:r>
              <a:rPr lang="en-US" sz="7200" dirty="0">
                <a:solidFill>
                  <a:schemeClr val="tx1"/>
                </a:solidFill>
              </a:rPr>
              <a:t>. Keep yours </a:t>
            </a:r>
            <a:r>
              <a:rPr lang="en-US" sz="7200" u="sng" dirty="0">
                <a:solidFill>
                  <a:schemeClr val="tx1"/>
                </a:solidFill>
              </a:rPr>
              <a:t>tools</a:t>
            </a:r>
            <a:r>
              <a:rPr lang="en-US" sz="7200" dirty="0">
                <a:solidFill>
                  <a:schemeClr val="tx1"/>
                </a:solidFill>
              </a:rPr>
              <a:t> and </a:t>
            </a:r>
            <a:r>
              <a:rPr lang="en-US" sz="7200" dirty="0" smtClean="0">
                <a:solidFill>
                  <a:schemeClr val="tx1"/>
                </a:solidFill>
              </a:rPr>
              <a:t>_________ </a:t>
            </a:r>
            <a:r>
              <a:rPr lang="en-US" sz="7200" dirty="0">
                <a:solidFill>
                  <a:schemeClr val="tx1"/>
                </a:solidFill>
              </a:rPr>
              <a:t>under control.</a:t>
            </a:r>
          </a:p>
          <a:p>
            <a:pPr marL="0" indent="0">
              <a:buNone/>
            </a:pPr>
            <a:r>
              <a:rPr lang="en-US" sz="7200" dirty="0" smtClean="0">
                <a:solidFill>
                  <a:schemeClr val="tx1"/>
                </a:solidFill>
              </a:rPr>
              <a:t>1.3</a:t>
            </a:r>
            <a:r>
              <a:rPr lang="en-US" sz="7200" dirty="0">
                <a:solidFill>
                  <a:schemeClr val="tx1"/>
                </a:solidFill>
              </a:rPr>
              <a:t>. Keep </a:t>
            </a:r>
            <a:r>
              <a:rPr lang="en-US" sz="7200" dirty="0" smtClean="0">
                <a:solidFill>
                  <a:schemeClr val="tx1"/>
                </a:solidFill>
              </a:rPr>
              <a:t>_______ handles </a:t>
            </a:r>
            <a:r>
              <a:rPr lang="en-US" sz="7200" dirty="0">
                <a:solidFill>
                  <a:schemeClr val="tx1"/>
                </a:solidFill>
              </a:rPr>
              <a:t>out the way.</a:t>
            </a:r>
          </a:p>
          <a:p>
            <a:pPr marL="0" indent="0">
              <a:buNone/>
            </a:pPr>
            <a:r>
              <a:rPr lang="en-US" sz="7200" dirty="0" smtClean="0">
                <a:solidFill>
                  <a:schemeClr val="tx1"/>
                </a:solidFill>
              </a:rPr>
              <a:t>1.4</a:t>
            </a:r>
            <a:r>
              <a:rPr lang="en-US" sz="7200" dirty="0">
                <a:solidFill>
                  <a:schemeClr val="tx1"/>
                </a:solidFill>
              </a:rPr>
              <a:t>. Never indulge in </a:t>
            </a:r>
            <a:r>
              <a:rPr lang="en-US" sz="7200" u="sng" dirty="0">
                <a:solidFill>
                  <a:schemeClr val="tx1"/>
                </a:solidFill>
              </a:rPr>
              <a:t>horseplay</a:t>
            </a:r>
            <a:r>
              <a:rPr lang="en-US" sz="7200" dirty="0">
                <a:solidFill>
                  <a:schemeClr val="tx1"/>
                </a:solidFill>
              </a:rPr>
              <a:t> or other </a:t>
            </a:r>
            <a:r>
              <a:rPr lang="en-US" sz="7200" dirty="0" smtClean="0">
                <a:solidFill>
                  <a:schemeClr val="tx1"/>
                </a:solidFill>
              </a:rPr>
              <a:t>________ </a:t>
            </a:r>
            <a:r>
              <a:rPr lang="en-US" sz="7200" dirty="0">
                <a:solidFill>
                  <a:schemeClr val="tx1"/>
                </a:solidFill>
              </a:rPr>
              <a:t>action.</a:t>
            </a:r>
          </a:p>
          <a:p>
            <a:pPr marL="0" indent="0">
              <a:buNone/>
            </a:pPr>
            <a:r>
              <a:rPr lang="en-US" sz="7200" dirty="0" smtClean="0">
                <a:solidFill>
                  <a:schemeClr val="tx1"/>
                </a:solidFill>
              </a:rPr>
              <a:t>1.5</a:t>
            </a:r>
            <a:r>
              <a:rPr lang="en-US" sz="7200" dirty="0">
                <a:solidFill>
                  <a:schemeClr val="tx1"/>
                </a:solidFill>
              </a:rPr>
              <a:t>. Never put </a:t>
            </a:r>
            <a:r>
              <a:rPr lang="en-US" sz="7200" dirty="0" smtClean="0">
                <a:solidFill>
                  <a:schemeClr val="tx1"/>
                </a:solidFill>
              </a:rPr>
              <a:t>_____________ </a:t>
            </a:r>
            <a:r>
              <a:rPr lang="en-US" sz="7200" dirty="0">
                <a:solidFill>
                  <a:schemeClr val="tx1"/>
                </a:solidFill>
              </a:rPr>
              <a:t>or other </a:t>
            </a:r>
            <a:r>
              <a:rPr lang="en-US" sz="7200" u="sng" dirty="0">
                <a:solidFill>
                  <a:schemeClr val="tx1"/>
                </a:solidFill>
              </a:rPr>
              <a:t>sharp</a:t>
            </a:r>
            <a:r>
              <a:rPr lang="en-US" sz="7200" dirty="0">
                <a:solidFill>
                  <a:schemeClr val="tx1"/>
                </a:solidFill>
              </a:rPr>
              <a:t> objects in your pockets.</a:t>
            </a:r>
          </a:p>
          <a:p>
            <a:pPr marL="0" indent="0">
              <a:buNone/>
            </a:pPr>
            <a:r>
              <a:rPr lang="en-US" sz="7200" dirty="0" smtClean="0">
                <a:solidFill>
                  <a:schemeClr val="tx1"/>
                </a:solidFill>
              </a:rPr>
              <a:t>1.6</a:t>
            </a:r>
            <a:r>
              <a:rPr lang="en-US" sz="7200" dirty="0">
                <a:solidFill>
                  <a:schemeClr val="tx1"/>
                </a:solidFill>
              </a:rPr>
              <a:t>. Make sure your </a:t>
            </a:r>
            <a:r>
              <a:rPr lang="en-US" sz="7200" dirty="0" smtClean="0">
                <a:solidFill>
                  <a:schemeClr val="tx1"/>
                </a:solidFill>
              </a:rPr>
              <a:t>________ </a:t>
            </a:r>
            <a:r>
              <a:rPr lang="en-US" sz="7200" dirty="0">
                <a:solidFill>
                  <a:schemeClr val="tx1"/>
                </a:solidFill>
              </a:rPr>
              <a:t>are right for the job.</a:t>
            </a:r>
          </a:p>
          <a:p>
            <a:pPr marL="0" indent="0">
              <a:buNone/>
            </a:pPr>
            <a:r>
              <a:rPr lang="en-US" sz="7200" dirty="0" smtClean="0">
                <a:solidFill>
                  <a:schemeClr val="tx1"/>
                </a:solidFill>
              </a:rPr>
              <a:t>1.7</a:t>
            </a:r>
            <a:r>
              <a:rPr lang="en-US" sz="7200" dirty="0">
                <a:solidFill>
                  <a:schemeClr val="tx1"/>
                </a:solidFill>
              </a:rPr>
              <a:t>. Do not wear </a:t>
            </a:r>
            <a:r>
              <a:rPr lang="en-US" sz="7200" u="sng" dirty="0">
                <a:solidFill>
                  <a:schemeClr val="tx1"/>
                </a:solidFill>
              </a:rPr>
              <a:t>rings</a:t>
            </a:r>
            <a:r>
              <a:rPr lang="en-US" sz="7200" dirty="0">
                <a:solidFill>
                  <a:schemeClr val="tx1"/>
                </a:solidFill>
              </a:rPr>
              <a:t>, </a:t>
            </a:r>
            <a:r>
              <a:rPr lang="en-US" sz="7200" u="sng" dirty="0">
                <a:solidFill>
                  <a:schemeClr val="tx1"/>
                </a:solidFill>
              </a:rPr>
              <a:t>bracelet</a:t>
            </a:r>
            <a:r>
              <a:rPr lang="en-US" sz="7200" dirty="0">
                <a:solidFill>
                  <a:schemeClr val="tx1"/>
                </a:solidFill>
              </a:rPr>
              <a:t> or </a:t>
            </a:r>
            <a:r>
              <a:rPr lang="en-US" sz="7200" dirty="0" smtClean="0">
                <a:solidFill>
                  <a:schemeClr val="tx1"/>
                </a:solidFill>
              </a:rPr>
              <a:t>_________ when </a:t>
            </a:r>
            <a:r>
              <a:rPr lang="en-US" sz="7200" dirty="0">
                <a:solidFill>
                  <a:schemeClr val="tx1"/>
                </a:solidFill>
              </a:rPr>
              <a:t>working around moving machinery or electrical equipments.</a:t>
            </a:r>
          </a:p>
          <a:p>
            <a:pPr marL="0" indent="0">
              <a:buNone/>
            </a:pPr>
            <a:r>
              <a:rPr lang="en-US" sz="7200" dirty="0" smtClean="0">
                <a:solidFill>
                  <a:schemeClr val="tx1"/>
                </a:solidFill>
              </a:rPr>
              <a:t>1.8</a:t>
            </a:r>
            <a:r>
              <a:rPr lang="en-US" sz="7200" dirty="0">
                <a:solidFill>
                  <a:schemeClr val="tx1"/>
                </a:solidFill>
              </a:rPr>
              <a:t>. Wipe </a:t>
            </a:r>
            <a:r>
              <a:rPr lang="en-US" sz="7200" u="sng" dirty="0">
                <a:solidFill>
                  <a:schemeClr val="tx1"/>
                </a:solidFill>
              </a:rPr>
              <a:t>oil</a:t>
            </a:r>
            <a:r>
              <a:rPr lang="en-US" sz="7200" dirty="0">
                <a:solidFill>
                  <a:schemeClr val="tx1"/>
                </a:solidFill>
              </a:rPr>
              <a:t> or </a:t>
            </a:r>
            <a:r>
              <a:rPr lang="en-US" sz="7200" dirty="0" smtClean="0">
                <a:solidFill>
                  <a:schemeClr val="tx1"/>
                </a:solidFill>
              </a:rPr>
              <a:t>_________ </a:t>
            </a:r>
            <a:r>
              <a:rPr lang="en-US" sz="7200" dirty="0">
                <a:solidFill>
                  <a:schemeClr val="tx1"/>
                </a:solidFill>
              </a:rPr>
              <a:t>off your hands and tools.</a:t>
            </a:r>
          </a:p>
          <a:p>
            <a:pPr marL="0" indent="0">
              <a:buNone/>
            </a:pPr>
            <a:r>
              <a:rPr lang="en-US" sz="7200" dirty="0" smtClean="0">
                <a:solidFill>
                  <a:schemeClr val="tx1"/>
                </a:solidFill>
              </a:rPr>
              <a:t>1.9</a:t>
            </a:r>
            <a:r>
              <a:rPr lang="en-US" sz="7200" dirty="0">
                <a:solidFill>
                  <a:schemeClr val="tx1"/>
                </a:solidFill>
              </a:rPr>
              <a:t>. Clean spills of </a:t>
            </a:r>
            <a:r>
              <a:rPr lang="en-US" sz="7200" u="sng" dirty="0">
                <a:solidFill>
                  <a:schemeClr val="tx1"/>
                </a:solidFill>
              </a:rPr>
              <a:t>oil</a:t>
            </a:r>
            <a:r>
              <a:rPr lang="en-US" sz="7200" dirty="0">
                <a:solidFill>
                  <a:schemeClr val="tx1"/>
                </a:solidFill>
              </a:rPr>
              <a:t>, </a:t>
            </a:r>
            <a:r>
              <a:rPr lang="en-US" sz="7200" u="sng" dirty="0">
                <a:solidFill>
                  <a:schemeClr val="tx1"/>
                </a:solidFill>
              </a:rPr>
              <a:t>grease</a:t>
            </a:r>
            <a:r>
              <a:rPr lang="en-US" sz="7200" dirty="0">
                <a:solidFill>
                  <a:schemeClr val="tx1"/>
                </a:solidFill>
              </a:rPr>
              <a:t> or any </a:t>
            </a:r>
            <a:r>
              <a:rPr lang="en-US" sz="7200" dirty="0" smtClean="0">
                <a:solidFill>
                  <a:schemeClr val="tx1"/>
                </a:solidFill>
              </a:rPr>
              <a:t>_________ on </a:t>
            </a:r>
            <a:r>
              <a:rPr lang="en-US" sz="7200" dirty="0">
                <a:solidFill>
                  <a:schemeClr val="tx1"/>
                </a:solidFill>
              </a:rPr>
              <a:t>the floor.</a:t>
            </a:r>
          </a:p>
          <a:p>
            <a:pPr marL="0" indent="0">
              <a:buNone/>
            </a:pPr>
            <a:r>
              <a:rPr lang="en-US" sz="7200" dirty="0" smtClean="0">
                <a:solidFill>
                  <a:schemeClr val="tx1"/>
                </a:solidFill>
              </a:rPr>
              <a:t>1.10</a:t>
            </a:r>
            <a:r>
              <a:rPr lang="en-US" sz="7200" dirty="0">
                <a:solidFill>
                  <a:schemeClr val="tx1"/>
                </a:solidFill>
              </a:rPr>
              <a:t>. Watch out for </a:t>
            </a:r>
            <a:r>
              <a:rPr lang="en-US" sz="7200" dirty="0" smtClean="0">
                <a:solidFill>
                  <a:schemeClr val="tx1"/>
                </a:solidFill>
              </a:rPr>
              <a:t>__________ </a:t>
            </a:r>
            <a:r>
              <a:rPr lang="en-US" sz="7200" dirty="0">
                <a:solidFill>
                  <a:schemeClr val="tx1"/>
                </a:solidFill>
              </a:rPr>
              <a:t>flying from grinding wheel or a welding job.</a:t>
            </a:r>
          </a:p>
          <a:p>
            <a:pPr marL="0" indent="0">
              <a:buNone/>
            </a:pPr>
            <a:endParaRPr lang="en-US" sz="3300" dirty="0" smtClean="0"/>
          </a:p>
          <a:p>
            <a:pPr marL="0" indent="0">
              <a:buNone/>
            </a:pPr>
            <a:r>
              <a:rPr lang="en-US" sz="8000" dirty="0" smtClean="0"/>
              <a:t>		</a:t>
            </a:r>
            <a:r>
              <a:rPr lang="en-US" sz="2400" dirty="0" smtClean="0"/>
              <a:t>						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51192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624</TotalTime>
  <Words>352</Words>
  <Application>Microsoft Office PowerPoint</Application>
  <PresentationFormat>Widescreen</PresentationFormat>
  <Paragraphs>56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Kwa Thema Skills School Subject : Maintenance       Marks : 10 Grade   : Year 1                  Time  : 30 mins Date   :   /  / 2024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124</cp:revision>
  <cp:lastPrinted>2022-08-31T08:15:20Z</cp:lastPrinted>
  <dcterms:created xsi:type="dcterms:W3CDTF">2022-08-25T11:18:17Z</dcterms:created>
  <dcterms:modified xsi:type="dcterms:W3CDTF">2024-01-16T17:16:49Z</dcterms:modified>
</cp:coreProperties>
</file>