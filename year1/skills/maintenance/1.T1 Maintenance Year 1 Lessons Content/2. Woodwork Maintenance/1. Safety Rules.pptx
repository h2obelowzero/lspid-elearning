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4" r:id="rId3"/>
    <p:sldId id="279" r:id="rId4"/>
    <p:sldId id="272" r:id="rId5"/>
    <p:sldId id="275" r:id="rId6"/>
    <p:sldId id="276" r:id="rId7"/>
    <p:sldId id="277" r:id="rId8"/>
    <p:sldId id="278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s-media-cache-ak0.pinimg.com/736x/9a/8e/09/9a8e09481d8d76645577827b285b22e7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Woodwork Maintenance </a:t>
            </a: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tx1"/>
                </a:solidFill>
              </a:rPr>
              <a:t>Video</a:t>
            </a:r>
            <a:r>
              <a:rPr lang="en-US" sz="2400" dirty="0" smtClean="0">
                <a:solidFill>
                  <a:schemeClr val="accent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:</a:t>
            </a:r>
            <a:r>
              <a:rPr lang="en-US" sz="2400" dirty="0" smtClean="0">
                <a:solidFill>
                  <a:schemeClr val="accent1"/>
                </a:solidFill>
              </a:rPr>
              <a:t> </a:t>
            </a:r>
            <a:r>
              <a:rPr lang="en-US" sz="2400" u="sng" dirty="0" smtClean="0">
                <a:solidFill>
                  <a:schemeClr val="tx1"/>
                </a:solidFill>
              </a:rPr>
              <a:t>Introduction to Woodwork</a:t>
            </a:r>
          </a:p>
          <a:p>
            <a:pPr marL="0" indent="0">
              <a:buNone/>
            </a:pPr>
            <a:r>
              <a:rPr lang="en-US" sz="2400" u="sng" dirty="0">
                <a:solidFill>
                  <a:schemeClr val="tx1"/>
                </a:solidFill>
              </a:rPr>
              <a:t>https://youtu.be/zCNgrOR8FEU/?si=y0DHbd4NS43_Wibm</a:t>
            </a:r>
            <a:endParaRPr lang="en-US" sz="24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24" y="901521"/>
            <a:ext cx="5190453" cy="425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4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Lesson objective</a:t>
            </a:r>
            <a:r>
              <a:rPr lang="en-GB" sz="2000" b="1" u="sng" dirty="0">
                <a:solidFill>
                  <a:schemeClr val="tx1"/>
                </a:solidFill>
              </a:rPr>
              <a:t/>
            </a:r>
            <a:br>
              <a:rPr lang="en-GB" sz="2000" b="1" u="sng" dirty="0">
                <a:solidFill>
                  <a:schemeClr val="tx1"/>
                </a:solidFill>
              </a:rPr>
            </a:br>
            <a:r>
              <a:rPr lang="en-GB" sz="2000" b="1" u="sng" dirty="0">
                <a:solidFill>
                  <a:schemeClr val="tx1"/>
                </a:solidFill>
              </a:rPr>
              <a:t>At the end of the term learners should be able to know: </a:t>
            </a:r>
            <a:br>
              <a:rPr lang="en-GB" sz="2000" b="1" u="sng" dirty="0">
                <a:solidFill>
                  <a:schemeClr val="tx1"/>
                </a:solidFill>
              </a:rPr>
            </a:br>
            <a:r>
              <a:rPr lang="en-GB" sz="2000" b="1" u="sng" dirty="0">
                <a:solidFill>
                  <a:schemeClr val="tx1"/>
                </a:solidFill>
              </a:rPr>
              <a:t/>
            </a:r>
            <a:br>
              <a:rPr lang="en-GB" sz="2000" b="1" u="sng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1. Woodwork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2. Building and Plastering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3. Metalwork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4. Electricity basic safety rules and tools.           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5. Motor Mechanics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6. Plumbing basic safety rules and tools..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7. Painting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8. Waterproofing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9. Glazing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10. Flooring basic safety rules and tools.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42052" y="3244334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Lesson </a:t>
            </a:r>
            <a:r>
              <a:rPr lang="en-US" dirty="0" err="1" smtClean="0"/>
              <a:t>objectiveV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28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Names of Ordinary Hand Tools</a:t>
            </a:r>
          </a:p>
          <a:p>
            <a:pPr>
              <a:buFontTx/>
              <a:buChar char="-"/>
            </a:pPr>
            <a:r>
              <a:rPr lang="en-US" dirty="0" smtClean="0"/>
              <a:t>Uses of Hand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8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756355"/>
          </a:xfrm>
        </p:spPr>
        <p:txBody>
          <a:bodyPr/>
          <a:lstStyle/>
          <a:p>
            <a:r>
              <a:rPr lang="en-US" u="sng" dirty="0" smtClean="0"/>
              <a:t>Woodwork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6667"/>
            <a:ext cx="12192000" cy="6011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 smtClean="0"/>
              <a:t>Safety rules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You are responsible for your own safety and the </a:t>
            </a:r>
            <a:r>
              <a:rPr lang="en-US" u="sng" dirty="0" smtClean="0"/>
              <a:t>safety</a:t>
            </a:r>
            <a:r>
              <a:rPr lang="en-US" dirty="0" smtClean="0"/>
              <a:t> of others.</a:t>
            </a:r>
          </a:p>
          <a:p>
            <a:pPr marL="514350" indent="-514350">
              <a:buAutoNum type="arabicPeriod"/>
            </a:pPr>
            <a:r>
              <a:rPr lang="en-US" dirty="0" smtClean="0"/>
              <a:t>N0 </a:t>
            </a:r>
            <a:r>
              <a:rPr lang="en-US" u="sng" dirty="0" smtClean="0"/>
              <a:t>alcohol</a:t>
            </a:r>
            <a:r>
              <a:rPr lang="en-US" dirty="0" smtClean="0"/>
              <a:t> or </a:t>
            </a:r>
            <a:r>
              <a:rPr lang="en-US" u="sng" dirty="0" smtClean="0"/>
              <a:t>drugs</a:t>
            </a:r>
            <a:r>
              <a:rPr lang="en-US" dirty="0" smtClean="0"/>
              <a:t> to be used in the workshop.</a:t>
            </a:r>
          </a:p>
          <a:p>
            <a:pPr marL="514350" indent="-514350">
              <a:buAutoNum type="arabicPeriod"/>
            </a:pPr>
            <a:r>
              <a:rPr lang="en-US" dirty="0" smtClean="0"/>
              <a:t>Wear appropriately and safe </a:t>
            </a:r>
            <a:r>
              <a:rPr lang="en-US" u="sng" dirty="0" smtClean="0"/>
              <a:t>clothing </a:t>
            </a:r>
            <a:r>
              <a:rPr lang="en-US" dirty="0" smtClean="0"/>
              <a:t>and footwear.</a:t>
            </a:r>
          </a:p>
          <a:p>
            <a:pPr marL="514350" indent="-514350">
              <a:buAutoNum type="arabicPeriod"/>
            </a:pPr>
            <a:r>
              <a:rPr lang="en-US" dirty="0" smtClean="0"/>
              <a:t>Always use </a:t>
            </a:r>
            <a:r>
              <a:rPr lang="en-US" u="sng" dirty="0" smtClean="0"/>
              <a:t>equipments </a:t>
            </a:r>
            <a:r>
              <a:rPr lang="en-US" dirty="0" smtClean="0"/>
              <a:t>/</a:t>
            </a:r>
            <a:r>
              <a:rPr lang="en-US" u="sng" dirty="0" smtClean="0"/>
              <a:t>tools </a:t>
            </a:r>
            <a:r>
              <a:rPr lang="en-US" dirty="0" smtClean="0"/>
              <a:t>/</a:t>
            </a:r>
            <a:r>
              <a:rPr lang="en-US" u="sng" dirty="0" smtClean="0"/>
              <a:t>machinery</a:t>
            </a:r>
            <a:r>
              <a:rPr lang="en-US" dirty="0" smtClean="0"/>
              <a:t> safely and properly.</a:t>
            </a:r>
          </a:p>
          <a:p>
            <a:pPr marL="514350" indent="-514350">
              <a:buAutoNum type="arabicPeriod"/>
            </a:pPr>
            <a:r>
              <a:rPr lang="en-US" dirty="0" smtClean="0"/>
              <a:t>Wear personal </a:t>
            </a:r>
            <a:r>
              <a:rPr lang="en-US" u="sng" dirty="0" smtClean="0"/>
              <a:t>protective</a:t>
            </a:r>
            <a:r>
              <a:rPr lang="en-US" dirty="0" smtClean="0"/>
              <a:t> equipments necessary for the job.</a:t>
            </a:r>
          </a:p>
          <a:p>
            <a:pPr marL="514350" indent="-514350">
              <a:buAutoNum type="arabicPeriod"/>
            </a:pPr>
            <a:r>
              <a:rPr lang="en-US" dirty="0" smtClean="0"/>
              <a:t>Keep your work area </a:t>
            </a:r>
            <a:r>
              <a:rPr lang="en-US" u="sng" dirty="0" smtClean="0"/>
              <a:t>clean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Clean up the </a:t>
            </a:r>
            <a:r>
              <a:rPr lang="en-US" u="sng" dirty="0" smtClean="0"/>
              <a:t>spills</a:t>
            </a:r>
            <a:r>
              <a:rPr lang="en-US" dirty="0" smtClean="0"/>
              <a:t> immediately.</a:t>
            </a:r>
          </a:p>
          <a:p>
            <a:pPr marL="514350" indent="-514350">
              <a:buAutoNum type="arabicPeriod"/>
            </a:pPr>
            <a:r>
              <a:rPr lang="en-US" u="sng" dirty="0" smtClean="0"/>
              <a:t>Lift</a:t>
            </a:r>
            <a:r>
              <a:rPr lang="en-US" dirty="0" smtClean="0"/>
              <a:t> properly using your legs not your back.</a:t>
            </a:r>
          </a:p>
          <a:p>
            <a:pPr marL="514350" indent="-514350">
              <a:buAutoNum type="arabicPeriod"/>
            </a:pPr>
            <a:r>
              <a:rPr lang="en-US" dirty="0" smtClean="0"/>
              <a:t>Report any unsafe </a:t>
            </a:r>
            <a:r>
              <a:rPr lang="en-US" u="sng" dirty="0" smtClean="0"/>
              <a:t>condition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Report all </a:t>
            </a:r>
            <a:r>
              <a:rPr lang="en-US" u="sng" dirty="0" smtClean="0"/>
              <a:t>injuries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chemeClr val="accent1"/>
                </a:solidFill>
              </a:rPr>
              <a:t>Video:</a:t>
            </a:r>
          </a:p>
          <a:p>
            <a:pPr marL="0" indent="0">
              <a:buNone/>
            </a:pPr>
            <a:r>
              <a:rPr lang="en-US" b="1" dirty="0"/>
              <a:t>- https://youtube.com/shorts/RfCo_iF0KzQ?si=MbwKV4VvZCU8BQAs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Feedback: Activity</a:t>
            </a:r>
            <a:endParaRPr lang="en-US" b="1" dirty="0"/>
          </a:p>
        </p:txBody>
      </p:sp>
      <p:pic>
        <p:nvPicPr>
          <p:cNvPr id="4" name="Picture 2" descr="Image result for silicone gun black and wh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477" y="2661723"/>
            <a:ext cx="225524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Ruler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</a:t>
            </a:r>
            <a:r>
              <a:rPr lang="en-US" dirty="0" smtClean="0"/>
              <a:t> distances.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mage result for ruler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3949" y="1978864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52371" y="4035939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502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and hand tools.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5644"/>
            <a:ext cx="11353799" cy="55823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Try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checking </a:t>
            </a:r>
            <a:r>
              <a:rPr lang="en-US" u="sng" dirty="0" smtClean="0"/>
              <a:t>square</a:t>
            </a:r>
            <a:r>
              <a:rPr lang="en-US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/>
              <a:t> </a:t>
            </a:r>
            <a:r>
              <a:rPr lang="en-US" u="sng" dirty="0" smtClean="0"/>
              <a:t>Bevel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making </a:t>
            </a:r>
            <a:r>
              <a:rPr lang="en-US" u="sng" dirty="0" smtClean="0"/>
              <a:t>pop marks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User1\Pictures\2014-08-10 Whats up import\Square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>
            <a:off x="2047480" y="1949705"/>
            <a:ext cx="1307466" cy="727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480" y="4066266"/>
            <a:ext cx="1209676" cy="1171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391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4" y="236336"/>
            <a:ext cx="11669377" cy="1325563"/>
          </a:xfrm>
        </p:spPr>
        <p:txBody>
          <a:bodyPr/>
          <a:lstStyle/>
          <a:p>
            <a:r>
              <a:rPr lang="en-US" b="1" u="sng" dirty="0" smtClean="0"/>
              <a:t>Basic marking cutting hand tools.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41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5. </a:t>
            </a:r>
            <a:r>
              <a:rPr lang="en-US" sz="2000" u="sng" dirty="0" smtClean="0"/>
              <a:t>Marking Gauge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drawing </a:t>
            </a:r>
            <a:r>
              <a:rPr lang="en-US" sz="2000" u="sng" dirty="0" smtClean="0"/>
              <a:t>lines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en-US" sz="2000" u="sng" dirty="0" smtClean="0"/>
              <a:t>Tenon 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sz="2000" dirty="0" smtClean="0"/>
              <a:t>- It is used for cutting </a:t>
            </a:r>
            <a:r>
              <a:rPr lang="en-US" sz="2000" u="sng" dirty="0" smtClean="0"/>
              <a:t>wood</a:t>
            </a:r>
            <a:r>
              <a:rPr lang="en-US" sz="2000" dirty="0" smtClean="0"/>
              <a:t>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 ">
            <a:hlinkClick r:id="rId2" tgtFrame="&quot;_blank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208" y="1944710"/>
            <a:ext cx="2404938" cy="1184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Related image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6453" y="4603815"/>
            <a:ext cx="1915541" cy="146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92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43" y="93361"/>
            <a:ext cx="11709579" cy="1032687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r>
              <a:rPr lang="en-US" dirty="0"/>
              <a:t> </a:t>
            </a:r>
            <a:r>
              <a:rPr lang="en-US" b="1" u="sng" dirty="0" smtClean="0"/>
              <a:t>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6978"/>
            <a:ext cx="11353799" cy="5921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en-US" sz="2000" u="sng" dirty="0" smtClean="0"/>
              <a:t>Divider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used to measure </a:t>
            </a:r>
            <a:r>
              <a:rPr lang="en-US" sz="2000" u="sng" dirty="0"/>
              <a:t>short</a:t>
            </a:r>
            <a:r>
              <a:rPr lang="en-US" sz="2000" dirty="0"/>
              <a:t> distances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en-US" sz="2000" u="sng" dirty="0" smtClean="0"/>
              <a:t>File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to measure short or longer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ompasso Groz 8’’ 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9634" y="1417029"/>
            <a:ext cx="1714538" cy="971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:\Users\Dr. MP Mazibuko\Documents\2018 PRO PRACTICUM MASTER\5 Handbook\Metalwork\Y1 Metalwork\Identify tools\File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73" y="4000684"/>
            <a:ext cx="1890399" cy="1010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753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4657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Kwa Skills School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000" dirty="0" smtClean="0"/>
              <a:t>Subject   : Maintenance     						   </a:t>
            </a:r>
            <a:r>
              <a:rPr lang="en-US" sz="2000" smtClean="0"/>
              <a:t>Marks : 10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Grade</a:t>
            </a:r>
            <a:r>
              <a:rPr lang="en-US" sz="2000" dirty="0"/>
              <a:t> </a:t>
            </a:r>
            <a:r>
              <a:rPr lang="en-US" sz="2000" dirty="0" smtClean="0"/>
              <a:t>    : Year 1   						                Time   </a:t>
            </a:r>
            <a:r>
              <a:rPr lang="en-US" sz="2000" smtClean="0"/>
              <a:t>: 30 mins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smtClean="0"/>
              <a:t>Date       :   /  / 2024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0" y="1546578"/>
            <a:ext cx="12192000" cy="518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26695">
              <a:lnSpc>
                <a:spcPct val="107000"/>
              </a:lnSpc>
              <a:spcAft>
                <a:spcPts val="800"/>
              </a:spcAft>
            </a:pPr>
            <a:r>
              <a:rPr lang="en-US" sz="1400" u="sng" dirty="0">
                <a:ln w="10160" cap="flat" cmpd="sng" algn="ctr">
                  <a:solidFill>
                    <a:srgbClr val="4472C4"/>
                  </a:solidFill>
                  <a:prstDash val="solid"/>
                  <a:round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2860" dir="5400000" algn="tl">
                    <a:srgbClr val="000000">
                      <a:alpha val="30000"/>
                    </a:srgbClr>
                  </a:outerShdw>
                </a:effectLst>
              </a:rPr>
              <a:t>Q</a:t>
            </a:r>
            <a:r>
              <a:rPr lang="en-US" sz="1400" u="sng" dirty="0" smtClean="0">
                <a:ln w="10160" cap="flat" cmpd="sng" algn="ctr">
                  <a:solidFill>
                    <a:srgbClr val="4472C4"/>
                  </a:solidFill>
                  <a:prstDash val="solid"/>
                  <a:round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2860" dir="5400000" algn="tl">
                    <a:srgbClr val="000000">
                      <a:alpha val="30000"/>
                    </a:srgbClr>
                  </a:outerShdw>
                </a:effectLst>
              </a:rPr>
              <a:t>uestion :1</a:t>
            </a:r>
          </a:p>
          <a:p>
            <a:pPr indent="-226695">
              <a:lnSpc>
                <a:spcPct val="107000"/>
              </a:lnSpc>
              <a:spcAft>
                <a:spcPts val="800"/>
              </a:spcAft>
            </a:pPr>
            <a:r>
              <a:rPr lang="en-US" sz="1400" dirty="0" smtClean="0">
                <a:ln w="10160" cap="flat" cmpd="sng" algn="ctr">
                  <a:solidFill>
                    <a:srgbClr val="4472C4"/>
                  </a:solidFill>
                  <a:prstDash val="solid"/>
                  <a:round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2860" dir="5400000" algn="tl">
                    <a:srgbClr val="000000">
                      <a:alpha val="30000"/>
                    </a:srgbClr>
                  </a:outerShdw>
                </a:effectLst>
              </a:rPr>
              <a:t>1. Complete the following sentences using the words provided in the bracket below: 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1. No </a:t>
            </a:r>
            <a:r>
              <a:rPr lang="en-ZA" sz="1400" dirty="0"/>
              <a:t>alcohol or ___________to be used or allowed in the </a:t>
            </a:r>
            <a:r>
              <a:rPr lang="en-ZA" sz="1400" dirty="0" smtClean="0"/>
              <a:t>Workshop</a:t>
            </a:r>
            <a:r>
              <a:rPr lang="en-ZA" sz="1400" dirty="0"/>
              <a:t>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2. You </a:t>
            </a:r>
            <a:r>
              <a:rPr lang="en-ZA" sz="1400" dirty="0"/>
              <a:t>are responsible for your own safety and _____________ of others.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3. Clean </a:t>
            </a:r>
            <a:r>
              <a:rPr lang="en-ZA" sz="1400" dirty="0"/>
              <a:t>up the _______________ immediately.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4. ______________ </a:t>
            </a:r>
            <a:r>
              <a:rPr lang="en-ZA" sz="1400" dirty="0"/>
              <a:t>all injuries.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5. Keep </a:t>
            </a:r>
            <a:r>
              <a:rPr lang="en-ZA" sz="1400" dirty="0"/>
              <a:t>your work area ___________.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6. Wear </a:t>
            </a:r>
            <a:r>
              <a:rPr lang="en-ZA" sz="1400" dirty="0"/>
              <a:t>appropriate and safe _____________ and footwear.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7. __________ </a:t>
            </a:r>
            <a:r>
              <a:rPr lang="en-ZA" sz="1400" dirty="0"/>
              <a:t>properly using your legs not your back.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8. Always </a:t>
            </a:r>
            <a:r>
              <a:rPr lang="en-ZA" sz="1400" dirty="0"/>
              <a:t>use equipments/ tools/ _________________ safely and properly.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9. Wear </a:t>
            </a:r>
            <a:r>
              <a:rPr lang="en-ZA" sz="1400" dirty="0"/>
              <a:t>personal _________________ equipments necessary for the job.</a:t>
            </a:r>
            <a:endParaRPr lang="en-US" sz="1400" dirty="0"/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ZA" sz="1400" dirty="0" smtClean="0"/>
              <a:t>10. Report </a:t>
            </a:r>
            <a:r>
              <a:rPr lang="en-ZA" sz="1400" dirty="0"/>
              <a:t>any unsafe ____________________.</a:t>
            </a: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ZA" sz="1400" dirty="0"/>
              <a:t> </a:t>
            </a:r>
            <a:r>
              <a:rPr lang="en-ZA" sz="1400" dirty="0" smtClean="0"/>
              <a:t>							</a:t>
            </a:r>
            <a:r>
              <a:rPr lang="en-ZA" dirty="0" smtClean="0"/>
              <a:t>(</a:t>
            </a:r>
            <a:r>
              <a:rPr lang="en-ZA" dirty="0"/>
              <a:t>10</a:t>
            </a:r>
            <a:r>
              <a:rPr lang="en-ZA" dirty="0" smtClean="0"/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ZA" dirty="0" smtClean="0"/>
              <a:t>(Report; Lift; Drugs; Condition; Clean; Safety; Spills; Protective; Clothing, Equipments) </a:t>
            </a:r>
            <a:endParaRPr lang="en-ZA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442</TotalTime>
  <Words>386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Prior Knowledge</vt:lpstr>
      <vt:lpstr>Woodwork Maintenance</vt:lpstr>
      <vt:lpstr>Basic marking cutting hand tools.</vt:lpstr>
      <vt:lpstr>Basic marking cutting and hand tools. </vt:lpstr>
      <vt:lpstr>Basic marking cutting hand tools. </vt:lpstr>
      <vt:lpstr>Basic marking cutting hand tools.  </vt:lpstr>
      <vt:lpstr>Kwa Skills School Subject   : Maintenance              Marks : 10 Grade     : Year 1                         Time   : 30 mins Date       :   /  / 2024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87</cp:revision>
  <dcterms:created xsi:type="dcterms:W3CDTF">2022-08-25T11:18:17Z</dcterms:created>
  <dcterms:modified xsi:type="dcterms:W3CDTF">2024-03-14T08:51:25Z</dcterms:modified>
</cp:coreProperties>
</file>