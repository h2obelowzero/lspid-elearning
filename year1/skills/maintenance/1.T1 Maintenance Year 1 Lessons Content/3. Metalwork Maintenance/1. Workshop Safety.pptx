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71" r:id="rId2"/>
    <p:sldId id="258" r:id="rId3"/>
    <p:sldId id="270" r:id="rId4"/>
    <p:sldId id="269" r:id="rId5"/>
  </p:sldIdLst>
  <p:sldSz cx="12192000" cy="6858000"/>
  <p:notesSz cx="6735763" cy="9866313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294" autoAdjust="0"/>
    <p:restoredTop sz="94660"/>
  </p:normalViewPr>
  <p:slideViewPr>
    <p:cSldViewPr snapToGrid="0">
      <p:cViewPr varScale="1">
        <p:scale>
          <a:sx n="74" d="100"/>
          <a:sy n="74" d="100"/>
        </p:scale>
        <p:origin x="564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0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1" name="Isosceles Triangle 30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26CB59-8B0F-4B6D-9D62-930C7BAC7892}" type="datetimeFigureOut">
              <a:rPr lang="en-US" smtClean="0"/>
              <a:t>1/16/2024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25CBFB-9302-439C-B85F-FCC4E2FFAC5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745504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26CB59-8B0F-4B6D-9D62-930C7BAC7892}" type="datetimeFigureOut">
              <a:rPr lang="en-US" smtClean="0"/>
              <a:t>1/16/2024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25CBFB-9302-439C-B85F-FCC4E2FFAC5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2957034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26CB59-8B0F-4B6D-9D62-930C7BAC7892}" type="datetimeFigureOut">
              <a:rPr lang="en-US" smtClean="0"/>
              <a:t>1/16/2024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25CBFB-9302-439C-B85F-FCC4E2FFAC5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545974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26CB59-8B0F-4B6D-9D62-930C7BAC7892}" type="datetimeFigureOut">
              <a:rPr lang="en-US" smtClean="0"/>
              <a:t>1/16/2024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25CBFB-9302-439C-B85F-FCC4E2FFAC5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6035958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26CB59-8B0F-4B6D-9D62-930C7BAC7892}" type="datetimeFigureOut">
              <a:rPr lang="en-US" smtClean="0"/>
              <a:t>1/16/2024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25CBFB-9302-439C-B85F-FCC4E2FFAC5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1893817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26CB59-8B0F-4B6D-9D62-930C7BAC7892}" type="datetimeFigureOut">
              <a:rPr lang="en-US" smtClean="0"/>
              <a:t>1/16/2024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25CBFB-9302-439C-B85F-FCC4E2FFAC5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848050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26CB59-8B0F-4B6D-9D62-930C7BAC7892}" type="datetimeFigureOut">
              <a:rPr lang="en-US" smtClean="0"/>
              <a:t>1/16/2024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25CBFB-9302-439C-B85F-FCC4E2FFAC5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2681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26CB59-8B0F-4B6D-9D62-930C7BAC7892}" type="datetimeFigureOut">
              <a:rPr lang="en-US" smtClean="0"/>
              <a:t>1/16/2024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25CBFB-9302-439C-B85F-FCC4E2FFAC5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3363940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26CB59-8B0F-4B6D-9D62-930C7BAC7892}" type="datetimeFigureOut">
              <a:rPr lang="en-US" smtClean="0"/>
              <a:t>1/16/2024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25CBFB-9302-439C-B85F-FCC4E2FFAC5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336141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26CB59-8B0F-4B6D-9D62-930C7BAC7892}" type="datetimeFigureOut">
              <a:rPr lang="en-US" smtClean="0"/>
              <a:t>1/16/2024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25CBFB-9302-439C-B85F-FCC4E2FFAC5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8700985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26CB59-8B0F-4B6D-9D62-930C7BAC7892}" type="datetimeFigureOut">
              <a:rPr lang="en-US" smtClean="0"/>
              <a:t>1/16/2024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25CBFB-9302-439C-B85F-FCC4E2FFAC59}" type="slidenum">
              <a:rPr lang="en-US" smtClean="0"/>
              <a:t>‹#›</a:t>
            </a:fld>
            <a:endParaRPr lang="en-US"/>
          </a:p>
        </p:txBody>
      </p:sp>
      <p:sp>
        <p:nvSpPr>
          <p:cNvPr id="20" name="TextBox 19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</a:rPr>
              <a:t>”</a:t>
            </a:r>
            <a:endParaRPr lang="en-US" dirty="0">
              <a:solidFill>
                <a:schemeClr val="accent1">
                  <a:lumMod val="60000"/>
                  <a:lumOff val="40000"/>
                </a:schemeClr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74999018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26CB59-8B0F-4B6D-9D62-930C7BAC7892}" type="datetimeFigureOut">
              <a:rPr lang="en-US" smtClean="0"/>
              <a:t>1/16/2024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25CBFB-9302-439C-B85F-FCC4E2FFAC5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53027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26CB59-8B0F-4B6D-9D62-930C7BAC7892}" type="datetimeFigureOut">
              <a:rPr lang="en-US" smtClean="0"/>
              <a:t>1/16/2024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25CBFB-9302-439C-B85F-FCC4E2FFAC59}" type="slidenum">
              <a:rPr lang="en-US" smtClean="0"/>
              <a:t>‹#›</a:t>
            </a:fld>
            <a:endParaRPr lang="en-US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57034274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26CB59-8B0F-4B6D-9D62-930C7BAC7892}" type="datetimeFigureOut">
              <a:rPr lang="en-US" smtClean="0"/>
              <a:t>1/16/2024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25CBFB-9302-439C-B85F-FCC4E2FFAC5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8225502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26CB59-8B0F-4B6D-9D62-930C7BAC7892}" type="datetimeFigureOut">
              <a:rPr lang="en-US" smtClean="0"/>
              <a:t>1/16/2024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25CBFB-9302-439C-B85F-FCC4E2FFAC5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0217659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26CB59-8B0F-4B6D-9D62-930C7BAC7892}" type="datetimeFigureOut">
              <a:rPr lang="en-US" smtClean="0"/>
              <a:t>1/16/2024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25CBFB-9302-439C-B85F-FCC4E2FFAC5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747858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Isosceles Triangle 2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26CB59-8B0F-4B6D-9D62-930C7BAC7892}" type="datetimeFigureOut">
              <a:rPr lang="en-US" smtClean="0"/>
              <a:t>1/16/2024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0525CBFB-9302-439C-B85F-FCC4E2FFAC5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4630561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0"/>
            <a:ext cx="12192000" cy="6857999"/>
          </a:xfrm>
        </p:spPr>
        <p:txBody>
          <a:bodyPr/>
          <a:lstStyle/>
          <a:p>
            <a:pPr marL="0" indent="0">
              <a:buNone/>
            </a:pPr>
            <a:r>
              <a:rPr lang="en-US" sz="3200" u="sng" dirty="0" smtClean="0">
                <a:solidFill>
                  <a:schemeClr val="accent1"/>
                </a:solidFill>
              </a:rPr>
              <a:t>Metalwork Maintenance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 smtClean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 smtClean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 smtClean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 smtClean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 smtClean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 smtClean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sz="2400" u="sng" dirty="0" smtClean="0">
                <a:solidFill>
                  <a:schemeClr val="tx1"/>
                </a:solidFill>
              </a:rPr>
              <a:t>Video</a:t>
            </a:r>
            <a:r>
              <a:rPr lang="en-US" sz="2400" dirty="0" smtClean="0">
                <a:solidFill>
                  <a:schemeClr val="tx1"/>
                </a:solidFill>
              </a:rPr>
              <a:t> : </a:t>
            </a:r>
            <a:r>
              <a:rPr lang="en-US" sz="2400" u="sng" dirty="0" smtClean="0">
                <a:solidFill>
                  <a:schemeClr val="tx1"/>
                </a:solidFill>
              </a:rPr>
              <a:t>Introduction to Metalwork</a:t>
            </a:r>
          </a:p>
          <a:p>
            <a:pPr marL="0" indent="0">
              <a:buNone/>
            </a:pPr>
            <a:r>
              <a:rPr lang="en-US" sz="2400" u="sng">
                <a:solidFill>
                  <a:schemeClr val="tx1"/>
                </a:solidFill>
              </a:rPr>
              <a:t>https://youtu.be/VlFsoNVeVx8?si=qL-1_ynbpJ5hHK1O</a:t>
            </a:r>
          </a:p>
          <a:p>
            <a:pPr marL="0" indent="0">
              <a:buNone/>
            </a:pPr>
            <a:endParaRPr lang="en-US" sz="2400" u="sng" dirty="0" smtClean="0">
              <a:solidFill>
                <a:schemeClr val="tx1"/>
              </a:solidFill>
            </a:endParaRPr>
          </a:p>
          <a:p>
            <a:pPr marL="0" indent="0">
              <a:buNone/>
            </a:pPr>
            <a:endParaRPr lang="en-US" sz="2800" u="sng" dirty="0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0463" y="824248"/>
            <a:ext cx="5409126" cy="45852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9946668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0"/>
            <a:ext cx="11353799" cy="685800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3600" u="sng" dirty="0" smtClean="0">
                <a:solidFill>
                  <a:schemeClr val="accent1"/>
                </a:solidFill>
              </a:rPr>
              <a:t>Metalwork Maintenance</a:t>
            </a:r>
          </a:p>
          <a:p>
            <a:pPr marL="0" indent="0">
              <a:buNone/>
            </a:pPr>
            <a:r>
              <a:rPr lang="en-US" sz="2800" b="1" u="sng" dirty="0" smtClean="0"/>
              <a:t>Workshop Safety</a:t>
            </a:r>
          </a:p>
          <a:p>
            <a:pPr marL="0" indent="0">
              <a:buNone/>
            </a:pPr>
            <a:r>
              <a:rPr lang="en-US" u="sng" dirty="0" smtClean="0"/>
              <a:t>Unsafe Acts  </a:t>
            </a:r>
          </a:p>
          <a:p>
            <a:pPr marL="0" indent="0">
              <a:buNone/>
            </a:pPr>
            <a:endParaRPr lang="en-US" b="1" dirty="0" smtClean="0"/>
          </a:p>
          <a:p>
            <a:pPr marL="0" indent="0">
              <a:buNone/>
            </a:pPr>
            <a:endParaRPr lang="en-US" b="1" dirty="0"/>
          </a:p>
          <a:p>
            <a:pPr marL="0" indent="0">
              <a:buNone/>
            </a:pPr>
            <a:endParaRPr lang="en-US" b="1" dirty="0" smtClean="0"/>
          </a:p>
          <a:p>
            <a:pPr marL="0" indent="0">
              <a:buNone/>
            </a:pPr>
            <a:r>
              <a:rPr lang="en-US" b="1" dirty="0" smtClean="0"/>
              <a:t>Unsafe </a:t>
            </a:r>
            <a:r>
              <a:rPr lang="en-US" b="1" u="sng" dirty="0" smtClean="0"/>
              <a:t>speed</a:t>
            </a:r>
            <a:r>
              <a:rPr lang="en-US" b="1" dirty="0" smtClean="0"/>
              <a:t>.</a:t>
            </a:r>
          </a:p>
          <a:p>
            <a:pPr marL="0" indent="0">
              <a:buNone/>
            </a:pPr>
            <a:r>
              <a:rPr lang="en-US" b="1" dirty="0" smtClean="0"/>
              <a:t>No </a:t>
            </a:r>
            <a:r>
              <a:rPr lang="en-US" b="1" u="sng" dirty="0" smtClean="0"/>
              <a:t>authority</a:t>
            </a:r>
            <a:r>
              <a:rPr lang="en-US" b="1" dirty="0" smtClean="0"/>
              <a:t>-failure to secure or warn. </a:t>
            </a:r>
          </a:p>
          <a:p>
            <a:pPr marL="0" indent="0">
              <a:buNone/>
            </a:pPr>
            <a:r>
              <a:rPr lang="en-US" b="1" dirty="0" smtClean="0"/>
              <a:t>Safe </a:t>
            </a:r>
            <a:r>
              <a:rPr lang="en-US" b="1" u="sng" dirty="0" smtClean="0"/>
              <a:t>devices</a:t>
            </a:r>
            <a:r>
              <a:rPr lang="en-US" b="1" dirty="0" smtClean="0"/>
              <a:t> not working</a:t>
            </a:r>
          </a:p>
          <a:p>
            <a:pPr marL="0" indent="0">
              <a:buNone/>
            </a:pPr>
            <a:r>
              <a:rPr lang="en-US" b="1" u="sng" dirty="0" smtClean="0"/>
              <a:t>Arranging</a:t>
            </a:r>
            <a:r>
              <a:rPr lang="en-US" b="1" dirty="0" smtClean="0"/>
              <a:t> or </a:t>
            </a:r>
            <a:r>
              <a:rPr lang="en-US" b="1" u="sng" dirty="0" smtClean="0"/>
              <a:t>placing</a:t>
            </a:r>
            <a:r>
              <a:rPr lang="en-US" b="1" dirty="0" smtClean="0"/>
              <a:t> objects in an unsafe potion.</a:t>
            </a:r>
          </a:p>
          <a:p>
            <a:pPr marL="0" indent="0">
              <a:buNone/>
            </a:pPr>
            <a:r>
              <a:rPr lang="en-US" b="1" u="sng" dirty="0" smtClean="0"/>
              <a:t>Fooling</a:t>
            </a:r>
            <a:r>
              <a:rPr lang="en-US" b="1" dirty="0" smtClean="0"/>
              <a:t> around, teasing, abusing.</a:t>
            </a:r>
          </a:p>
          <a:p>
            <a:pPr marL="0" indent="0">
              <a:buNone/>
            </a:pPr>
            <a:r>
              <a:rPr lang="en-US" b="1" dirty="0" smtClean="0"/>
              <a:t>Equipment </a:t>
            </a:r>
            <a:r>
              <a:rPr lang="en-US" b="1" u="sng" dirty="0" smtClean="0"/>
              <a:t>handled</a:t>
            </a:r>
            <a:r>
              <a:rPr lang="en-US" b="1" dirty="0" smtClean="0"/>
              <a:t> unsafely or in the wrong way.</a:t>
            </a:r>
          </a:p>
          <a:p>
            <a:pPr marL="0" indent="0">
              <a:buNone/>
            </a:pPr>
            <a:r>
              <a:rPr lang="en-US" b="1" u="sng" dirty="0" smtClean="0"/>
              <a:t>Adjusting </a:t>
            </a:r>
            <a:r>
              <a:rPr lang="en-US" b="1" dirty="0" smtClean="0"/>
              <a:t>or </a:t>
            </a:r>
            <a:r>
              <a:rPr lang="en-US" b="1" u="sng" dirty="0" smtClean="0"/>
              <a:t>working</a:t>
            </a:r>
            <a:r>
              <a:rPr lang="en-US" b="1" dirty="0" smtClean="0"/>
              <a:t> on moving equipment.</a:t>
            </a:r>
          </a:p>
          <a:p>
            <a:pPr marL="0" indent="0">
              <a:buNone/>
            </a:pPr>
            <a:r>
              <a:rPr lang="en-US" b="1" u="sng" dirty="0" smtClean="0"/>
              <a:t>Chance </a:t>
            </a:r>
            <a:r>
              <a:rPr lang="en-US" b="1" dirty="0" smtClean="0"/>
              <a:t>taking.</a:t>
            </a:r>
          </a:p>
          <a:p>
            <a:pPr marL="0" indent="0">
              <a:buNone/>
            </a:pPr>
            <a:r>
              <a:rPr lang="en-US" b="1" dirty="0" smtClean="0"/>
              <a:t>Taking up </a:t>
            </a:r>
            <a:r>
              <a:rPr lang="en-US" b="1" u="sng" dirty="0" smtClean="0"/>
              <a:t>unsafe</a:t>
            </a:r>
            <a:r>
              <a:rPr lang="en-US" b="1" dirty="0" smtClean="0"/>
              <a:t> position.                          </a:t>
            </a:r>
          </a:p>
          <a:p>
            <a:pPr marL="0" indent="0">
              <a:buNone/>
            </a:pPr>
            <a:r>
              <a:rPr lang="en-US" b="1" dirty="0" smtClean="0"/>
              <a:t>Safety </a:t>
            </a:r>
            <a:r>
              <a:rPr lang="en-US" b="1" u="sng" dirty="0" smtClean="0"/>
              <a:t>equipment</a:t>
            </a:r>
            <a:r>
              <a:rPr lang="en-US" b="1" dirty="0" smtClean="0"/>
              <a:t> and </a:t>
            </a:r>
            <a:r>
              <a:rPr lang="en-US" b="1" u="sng" dirty="0" smtClean="0"/>
              <a:t>protective</a:t>
            </a:r>
            <a:r>
              <a:rPr lang="en-US" b="1" dirty="0" smtClean="0"/>
              <a:t> clothing not being used.</a:t>
            </a:r>
            <a:r>
              <a:rPr lang="en-US" u="sng" dirty="0" smtClean="0"/>
              <a:t>                                      </a:t>
            </a:r>
          </a:p>
        </p:txBody>
      </p:sp>
      <p:sp>
        <p:nvSpPr>
          <p:cNvPr id="4" name="AutoShape 2" descr="How to Read a Tape Measure | Reading Measuring Tape With Pictures |  Construction Measuring Tools | Using Tape Measures | Johnson Level &amp; Tool  Mfg Company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5" name="AutoShape 4" descr="How to Read a Tape Measure | Reading Measuring Tape With Pictures |  Construction Measuring Tools | Using Tape Measures | Johnson Level &amp; Tool  Mfg Company"/>
          <p:cNvSpPr>
            <a:spLocks noChangeAspect="1" noChangeArrowheads="1"/>
          </p:cNvSpPr>
          <p:nvPr/>
        </p:nvSpPr>
        <p:spPr bwMode="auto">
          <a:xfrm>
            <a:off x="307975" y="79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607319"/>
            <a:ext cx="1828976" cy="12171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7304920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0"/>
            <a:ext cx="11353799" cy="685800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u="sng" dirty="0" smtClean="0"/>
              <a:t>Unsafe Conditions  </a:t>
            </a:r>
          </a:p>
          <a:p>
            <a:pPr marL="0" indent="0">
              <a:buNone/>
            </a:pPr>
            <a:endParaRPr lang="en-US" b="1" dirty="0" smtClean="0"/>
          </a:p>
          <a:p>
            <a:pPr marL="0" indent="0">
              <a:buNone/>
            </a:pPr>
            <a:endParaRPr lang="en-US" b="1" dirty="0"/>
          </a:p>
          <a:p>
            <a:pPr marL="0" indent="0">
              <a:buNone/>
            </a:pPr>
            <a:endParaRPr lang="en-US" b="1" dirty="0" smtClean="0"/>
          </a:p>
          <a:p>
            <a:pPr marL="0" indent="0">
              <a:buNone/>
            </a:pPr>
            <a:r>
              <a:rPr lang="en-US" b="1" u="sng" dirty="0" smtClean="0"/>
              <a:t>Construction</a:t>
            </a:r>
            <a:r>
              <a:rPr lang="en-US" b="1" dirty="0" smtClean="0"/>
              <a:t> unsafe</a:t>
            </a:r>
          </a:p>
          <a:p>
            <a:pPr marL="0" indent="0">
              <a:buNone/>
            </a:pPr>
            <a:r>
              <a:rPr lang="en-US" b="1" dirty="0" smtClean="0"/>
              <a:t>Order of </a:t>
            </a:r>
            <a:r>
              <a:rPr lang="en-US" b="1" u="sng" dirty="0" smtClean="0"/>
              <a:t>planning</a:t>
            </a:r>
            <a:r>
              <a:rPr lang="en-US" b="1" dirty="0" smtClean="0"/>
              <a:t> is bad. </a:t>
            </a:r>
          </a:p>
          <a:p>
            <a:pPr marL="0" indent="0">
              <a:buNone/>
            </a:pPr>
            <a:r>
              <a:rPr lang="en-US" b="1" dirty="0" smtClean="0"/>
              <a:t>No </a:t>
            </a:r>
            <a:r>
              <a:rPr lang="en-US" b="1" u="sng" dirty="0" smtClean="0"/>
              <a:t>guard</a:t>
            </a:r>
            <a:r>
              <a:rPr lang="en-US" b="1" dirty="0" smtClean="0"/>
              <a:t>.</a:t>
            </a:r>
          </a:p>
          <a:p>
            <a:pPr marL="0" indent="0">
              <a:buNone/>
            </a:pPr>
            <a:r>
              <a:rPr lang="en-US" b="1" dirty="0" smtClean="0"/>
              <a:t>Dangerous condition-</a:t>
            </a:r>
            <a:r>
              <a:rPr lang="en-US" b="1" u="sng" dirty="0" smtClean="0"/>
              <a:t>rough</a:t>
            </a:r>
            <a:r>
              <a:rPr lang="en-US" b="1" dirty="0" smtClean="0"/>
              <a:t>, </a:t>
            </a:r>
            <a:r>
              <a:rPr lang="en-US" b="1" u="sng" dirty="0" smtClean="0"/>
              <a:t>sharp</a:t>
            </a:r>
            <a:r>
              <a:rPr lang="en-US" b="1" dirty="0" smtClean="0"/>
              <a:t>, </a:t>
            </a:r>
            <a:r>
              <a:rPr lang="en-US" b="1" u="sng" dirty="0" smtClean="0"/>
              <a:t>slippery</a:t>
            </a:r>
            <a:r>
              <a:rPr lang="en-US" b="1" dirty="0" smtClean="0"/>
              <a:t>.</a:t>
            </a:r>
          </a:p>
          <a:p>
            <a:pPr marL="0" indent="0">
              <a:buNone/>
            </a:pPr>
            <a:r>
              <a:rPr lang="en-US" b="1" dirty="0" smtClean="0"/>
              <a:t>Inadequate guarded machinery.</a:t>
            </a:r>
          </a:p>
          <a:p>
            <a:pPr marL="0" indent="0">
              <a:buNone/>
            </a:pPr>
            <a:r>
              <a:rPr lang="en-US" b="1" dirty="0" smtClean="0"/>
              <a:t>The </a:t>
            </a:r>
            <a:r>
              <a:rPr lang="en-US" b="1" u="sng" dirty="0" smtClean="0"/>
              <a:t>layout</a:t>
            </a:r>
            <a:r>
              <a:rPr lang="en-US" b="1" dirty="0" smtClean="0"/>
              <a:t>, </a:t>
            </a:r>
            <a:r>
              <a:rPr lang="en-US" b="1" u="sng" dirty="0" smtClean="0"/>
              <a:t>exits</a:t>
            </a:r>
            <a:r>
              <a:rPr lang="en-US" b="1" dirty="0" smtClean="0"/>
              <a:t>, </a:t>
            </a:r>
            <a:r>
              <a:rPr lang="en-US" b="1" u="sng" dirty="0" smtClean="0"/>
              <a:t>walkways</a:t>
            </a:r>
            <a:r>
              <a:rPr lang="en-US" b="1" dirty="0" smtClean="0"/>
              <a:t> etc.</a:t>
            </a:r>
          </a:p>
          <a:p>
            <a:pPr marL="0" indent="0">
              <a:buNone/>
            </a:pPr>
            <a:r>
              <a:rPr lang="en-US" b="1" u="sng" dirty="0" smtClean="0"/>
              <a:t>Illumination</a:t>
            </a:r>
            <a:r>
              <a:rPr lang="en-US" b="1" dirty="0" smtClean="0"/>
              <a:t> unsafe.</a:t>
            </a:r>
            <a:endParaRPr lang="en-US" b="1" dirty="0"/>
          </a:p>
          <a:p>
            <a:pPr marL="0" indent="0">
              <a:buNone/>
            </a:pPr>
            <a:r>
              <a:rPr lang="en-US" b="1" u="sng" dirty="0" smtClean="0"/>
              <a:t>Overcrowding</a:t>
            </a:r>
            <a:r>
              <a:rPr lang="en-US" b="1" dirty="0" smtClean="0"/>
              <a:t>.</a:t>
            </a:r>
          </a:p>
          <a:p>
            <a:pPr marL="0" indent="0">
              <a:buNone/>
            </a:pPr>
            <a:r>
              <a:rPr lang="en-US" b="1" dirty="0" smtClean="0"/>
              <a:t>No personal </a:t>
            </a:r>
            <a:r>
              <a:rPr lang="en-US" b="1" u="sng" dirty="0" smtClean="0"/>
              <a:t>protective</a:t>
            </a:r>
            <a:r>
              <a:rPr lang="en-US" b="1" dirty="0" smtClean="0"/>
              <a:t> equipment.</a:t>
            </a:r>
          </a:p>
          <a:p>
            <a:pPr marL="0" indent="0">
              <a:buNone/>
            </a:pPr>
            <a:r>
              <a:rPr lang="en-US" b="1" dirty="0" smtClean="0"/>
              <a:t>S</a:t>
            </a:r>
            <a:r>
              <a:rPr lang="en-US" dirty="0" smtClean="0"/>
              <a:t>afe </a:t>
            </a:r>
            <a:r>
              <a:rPr lang="en-US" u="sng" dirty="0" smtClean="0"/>
              <a:t>ventilation</a:t>
            </a:r>
            <a:r>
              <a:rPr lang="en-US" dirty="0" smtClean="0"/>
              <a:t> non-existent.</a:t>
            </a:r>
          </a:p>
          <a:p>
            <a:pPr marL="0" indent="0">
              <a:buNone/>
            </a:pPr>
            <a:r>
              <a:rPr lang="en-US" u="sng" dirty="0">
                <a:solidFill>
                  <a:schemeClr val="accent1"/>
                </a:solidFill>
              </a:rPr>
              <a:t>V</a:t>
            </a:r>
            <a:r>
              <a:rPr lang="en-US" u="sng" dirty="0" smtClean="0">
                <a:solidFill>
                  <a:schemeClr val="accent1"/>
                </a:solidFill>
              </a:rPr>
              <a:t>ideo </a:t>
            </a:r>
            <a:r>
              <a:rPr lang="en-US" u="sng" dirty="0">
                <a:solidFill>
                  <a:schemeClr val="accent1"/>
                </a:solidFill>
              </a:rPr>
              <a:t>:</a:t>
            </a:r>
          </a:p>
          <a:p>
            <a:pPr marL="0" indent="0">
              <a:buNone/>
            </a:pPr>
            <a:r>
              <a:rPr lang="en-US" dirty="0"/>
              <a:t>https://youtu.be/aRF1chipKQ8?si=3SyZ84Q4IwZnSRBR </a:t>
            </a:r>
            <a:endParaRPr lang="en-US" dirty="0" smtClean="0"/>
          </a:p>
          <a:p>
            <a:pPr marL="0" indent="0">
              <a:buNone/>
            </a:pPr>
            <a:r>
              <a:rPr lang="en-US" dirty="0" smtClean="0"/>
              <a:t>Feedback </a:t>
            </a:r>
            <a:r>
              <a:rPr lang="en-US" dirty="0"/>
              <a:t>:</a:t>
            </a:r>
            <a:r>
              <a:rPr lang="en-US" dirty="0" smtClean="0"/>
              <a:t> Activity</a:t>
            </a:r>
            <a:r>
              <a:rPr lang="en-US" u="sng" dirty="0" smtClean="0"/>
              <a:t>                                     </a:t>
            </a:r>
          </a:p>
        </p:txBody>
      </p:sp>
      <p:sp>
        <p:nvSpPr>
          <p:cNvPr id="4" name="AutoShape 2" descr="How to Read a Tape Measure | Reading Measuring Tape With Pictures |  Construction Measuring Tools | Using Tape Measures | Johnson Level &amp; Tool  Mfg Company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5" name="AutoShape 4" descr="How to Read a Tape Measure | Reading Measuring Tape With Pictures |  Construction Measuring Tools | Using Tape Measures | Johnson Level &amp; Tool  Mfg Company"/>
          <p:cNvSpPr>
            <a:spLocks noChangeAspect="1" noChangeArrowheads="1"/>
          </p:cNvSpPr>
          <p:nvPr/>
        </p:nvSpPr>
        <p:spPr bwMode="auto">
          <a:xfrm>
            <a:off x="307975" y="79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5575" y="457201"/>
            <a:ext cx="1946716" cy="11021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9291172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3"/>
          <p:cNvSpPr>
            <a:spLocks noGrp="1"/>
          </p:cNvSpPr>
          <p:nvPr>
            <p:ph idx="1"/>
          </p:nvPr>
        </p:nvSpPr>
        <p:spPr>
          <a:xfrm>
            <a:off x="0" y="0"/>
            <a:ext cx="9274002" cy="6857999"/>
          </a:xfrm>
        </p:spPr>
        <p:txBody>
          <a:bodyPr/>
          <a:lstStyle/>
          <a:p>
            <a:pPr marL="0" indent="0">
              <a:buNone/>
            </a:pPr>
            <a:r>
              <a:rPr lang="en-US" sz="2800" dirty="0">
                <a:solidFill>
                  <a:schemeClr val="accent1"/>
                </a:solidFill>
              </a:rPr>
              <a:t>Kwa Thema Skills School</a:t>
            </a:r>
            <a:br>
              <a:rPr lang="en-US" sz="2800" dirty="0">
                <a:solidFill>
                  <a:schemeClr val="accent1"/>
                </a:solidFill>
              </a:rPr>
            </a:br>
            <a:r>
              <a:rPr lang="en-US" sz="2400" dirty="0">
                <a:solidFill>
                  <a:schemeClr val="accent1"/>
                </a:solidFill>
              </a:rPr>
              <a:t>Subject : Maintenance						Marks: 10</a:t>
            </a:r>
            <a:br>
              <a:rPr lang="en-US" sz="2400" dirty="0">
                <a:solidFill>
                  <a:schemeClr val="accent1"/>
                </a:solidFill>
              </a:rPr>
            </a:br>
            <a:r>
              <a:rPr lang="en-US" sz="2400" dirty="0">
                <a:solidFill>
                  <a:schemeClr val="accent1"/>
                </a:solidFill>
              </a:rPr>
              <a:t>Grade	  : Year </a:t>
            </a:r>
            <a:r>
              <a:rPr lang="en-US" sz="2400" dirty="0" smtClean="0">
                <a:solidFill>
                  <a:schemeClr val="accent1"/>
                </a:solidFill>
              </a:rPr>
              <a:t>1 </a:t>
            </a:r>
            <a:r>
              <a:rPr lang="en-US" sz="2400" dirty="0">
                <a:solidFill>
                  <a:schemeClr val="accent1"/>
                </a:solidFill>
              </a:rPr>
              <a:t>							</a:t>
            </a:r>
            <a:r>
              <a:rPr lang="en-US" sz="2400">
                <a:solidFill>
                  <a:schemeClr val="accent1"/>
                </a:solidFill>
              </a:rPr>
              <a:t>     </a:t>
            </a:r>
            <a:r>
              <a:rPr lang="en-US" sz="2400" smtClean="0">
                <a:solidFill>
                  <a:schemeClr val="accent1"/>
                </a:solidFill>
              </a:rPr>
              <a:t>Time : 30 mins</a:t>
            </a:r>
            <a:r>
              <a:rPr lang="en-US" sz="2400" dirty="0">
                <a:solidFill>
                  <a:schemeClr val="accent1"/>
                </a:solidFill>
              </a:rPr>
              <a:t/>
            </a:r>
            <a:br>
              <a:rPr lang="en-US" sz="2400" dirty="0">
                <a:solidFill>
                  <a:schemeClr val="accent1"/>
                </a:solidFill>
              </a:rPr>
            </a:br>
            <a:r>
              <a:rPr lang="en-US" sz="2400">
                <a:solidFill>
                  <a:schemeClr val="accent1"/>
                </a:solidFill>
              </a:rPr>
              <a:t>Date     </a:t>
            </a:r>
            <a:r>
              <a:rPr lang="en-US" smtClean="0">
                <a:solidFill>
                  <a:schemeClr val="accent1"/>
                </a:solidFill>
              </a:rPr>
              <a:t>:   </a:t>
            </a:r>
            <a:r>
              <a:rPr lang="en-US" smtClean="0">
                <a:solidFill>
                  <a:schemeClr val="accent1"/>
                </a:solidFill>
              </a:rPr>
              <a:t>/  / 2024</a:t>
            </a:r>
            <a:endParaRPr lang="en-US" dirty="0" smtClean="0">
              <a:solidFill>
                <a:schemeClr val="accent1"/>
              </a:solidFill>
            </a:endParaRPr>
          </a:p>
          <a:p>
            <a:pPr marL="0" indent="0">
              <a:buNone/>
            </a:pPr>
            <a:r>
              <a:rPr lang="en-US" u="sng" dirty="0" smtClean="0">
                <a:solidFill>
                  <a:schemeClr val="tx1"/>
                </a:solidFill>
              </a:rPr>
              <a:t>Question:1 </a:t>
            </a:r>
          </a:p>
          <a:p>
            <a:pPr marL="0" indent="0">
              <a:buNone/>
            </a:pPr>
            <a:r>
              <a:rPr lang="en-US" dirty="0" smtClean="0">
                <a:solidFill>
                  <a:schemeClr val="tx1"/>
                </a:solidFill>
              </a:rPr>
              <a:t>1.State whether the following statements are </a:t>
            </a:r>
            <a:r>
              <a:rPr lang="en-US" u="sng" dirty="0" smtClean="0">
                <a:solidFill>
                  <a:schemeClr val="tx1"/>
                </a:solidFill>
              </a:rPr>
              <a:t>Unsafe Acts </a:t>
            </a:r>
            <a:r>
              <a:rPr lang="en-US" dirty="0" smtClean="0">
                <a:solidFill>
                  <a:schemeClr val="tx1"/>
                </a:solidFill>
              </a:rPr>
              <a:t>or </a:t>
            </a:r>
            <a:r>
              <a:rPr lang="en-US" u="sng" dirty="0" smtClean="0">
                <a:solidFill>
                  <a:schemeClr val="tx1"/>
                </a:solidFill>
              </a:rPr>
              <a:t>Unsafe Conditions</a:t>
            </a:r>
            <a:r>
              <a:rPr lang="en-US" dirty="0" smtClean="0">
                <a:solidFill>
                  <a:schemeClr val="tx1"/>
                </a:solidFill>
              </a:rPr>
              <a:t>.</a:t>
            </a:r>
          </a:p>
          <a:p>
            <a:pPr marL="0" indent="0">
              <a:buNone/>
            </a:pPr>
            <a:r>
              <a:rPr lang="en-US" dirty="0" smtClean="0">
                <a:solidFill>
                  <a:schemeClr val="tx1"/>
                </a:solidFill>
              </a:rPr>
              <a:t>1.1 Taking up unsafe position. _________________</a:t>
            </a:r>
          </a:p>
          <a:p>
            <a:pPr marL="0" indent="0">
              <a:buNone/>
            </a:pPr>
            <a:r>
              <a:rPr lang="en-US" dirty="0" smtClean="0">
                <a:solidFill>
                  <a:schemeClr val="tx1"/>
                </a:solidFill>
              </a:rPr>
              <a:t>1.2 No guard. ___________________</a:t>
            </a:r>
          </a:p>
          <a:p>
            <a:pPr marL="0" indent="0">
              <a:buNone/>
            </a:pPr>
            <a:r>
              <a:rPr lang="en-US" dirty="0" smtClean="0">
                <a:solidFill>
                  <a:schemeClr val="tx1"/>
                </a:solidFill>
              </a:rPr>
              <a:t>1.3 Overcrowding. ___________________</a:t>
            </a:r>
          </a:p>
          <a:p>
            <a:pPr marL="0" indent="0">
              <a:buNone/>
            </a:pPr>
            <a:r>
              <a:rPr lang="en-US" dirty="0" smtClean="0">
                <a:solidFill>
                  <a:schemeClr val="tx1"/>
                </a:solidFill>
              </a:rPr>
              <a:t>1.4 Construction unsafe. ___________________</a:t>
            </a:r>
          </a:p>
          <a:p>
            <a:pPr marL="0" indent="0">
              <a:buNone/>
            </a:pPr>
            <a:r>
              <a:rPr lang="en-US" dirty="0" smtClean="0">
                <a:solidFill>
                  <a:schemeClr val="tx1"/>
                </a:solidFill>
              </a:rPr>
              <a:t>1.5 No authority. __________________</a:t>
            </a:r>
          </a:p>
          <a:p>
            <a:pPr marL="0" indent="0">
              <a:buNone/>
            </a:pPr>
            <a:r>
              <a:rPr lang="en-US" dirty="0" smtClean="0">
                <a:solidFill>
                  <a:schemeClr val="tx1"/>
                </a:solidFill>
              </a:rPr>
              <a:t>1.6 Safe ventilation non-existent. ___________________</a:t>
            </a:r>
          </a:p>
          <a:p>
            <a:pPr marL="0" indent="0">
              <a:buNone/>
            </a:pPr>
            <a:r>
              <a:rPr lang="en-US" dirty="0" smtClean="0">
                <a:solidFill>
                  <a:schemeClr val="tx1"/>
                </a:solidFill>
              </a:rPr>
              <a:t>1.7 No personal protective equipment. __________________</a:t>
            </a:r>
          </a:p>
          <a:p>
            <a:pPr marL="0" indent="0">
              <a:buNone/>
            </a:pPr>
            <a:r>
              <a:rPr lang="en-US" dirty="0" smtClean="0">
                <a:solidFill>
                  <a:schemeClr val="tx1"/>
                </a:solidFill>
              </a:rPr>
              <a:t>1.8 Unsafe speed. ____________________</a:t>
            </a:r>
          </a:p>
          <a:p>
            <a:pPr marL="0" indent="0">
              <a:buNone/>
            </a:pPr>
            <a:r>
              <a:rPr lang="en-US" dirty="0" smtClean="0">
                <a:solidFill>
                  <a:schemeClr val="tx1"/>
                </a:solidFill>
              </a:rPr>
              <a:t>1.9 Order of planning bad. ___________________</a:t>
            </a:r>
          </a:p>
          <a:p>
            <a:pPr marL="0" indent="0">
              <a:buNone/>
            </a:pPr>
            <a:r>
              <a:rPr lang="en-US" dirty="0" smtClean="0">
                <a:solidFill>
                  <a:schemeClr val="tx1"/>
                </a:solidFill>
              </a:rPr>
              <a:t>1.10 Chance taking. _______________________</a:t>
            </a:r>
            <a:endParaRPr lang="en-US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5386179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Facet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CFBC31BA-B70F-4F30-BCAA-4F3011E16C4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386</TotalTime>
  <Words>137</Words>
  <Application>Microsoft Office PowerPoint</Application>
  <PresentationFormat>Widescreen</PresentationFormat>
  <Paragraphs>62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8" baseType="lpstr">
      <vt:lpstr>Arial</vt:lpstr>
      <vt:lpstr>Trebuchet MS</vt:lpstr>
      <vt:lpstr>Wingdings 3</vt:lpstr>
      <vt:lpstr>Facet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Maintenance Year 2</dc:title>
  <dc:creator>Dr. MP Mazibuko</dc:creator>
  <cp:lastModifiedBy>Dr. MP Mazibuko</cp:lastModifiedBy>
  <cp:revision>82</cp:revision>
  <cp:lastPrinted>2022-08-31T08:15:20Z</cp:lastPrinted>
  <dcterms:created xsi:type="dcterms:W3CDTF">2022-08-25T11:18:17Z</dcterms:created>
  <dcterms:modified xsi:type="dcterms:W3CDTF">2024-01-16T17:28:46Z</dcterms:modified>
</cp:coreProperties>
</file>