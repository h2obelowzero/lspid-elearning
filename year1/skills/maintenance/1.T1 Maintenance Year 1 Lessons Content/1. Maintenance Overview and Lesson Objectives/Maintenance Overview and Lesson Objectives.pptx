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0" r:id="rId2"/>
    <p:sldId id="258"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3/4/2024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lgn="ctr">
              <a:buNone/>
            </a:pPr>
            <a:r>
              <a:rPr lang="en-US" sz="4800" b="1" dirty="0" smtClean="0"/>
              <a:t>Kwa Thema Skills School</a:t>
            </a:r>
          </a:p>
          <a:p>
            <a:pPr marL="0" indent="0" algn="ctr">
              <a:buNone/>
            </a:pPr>
            <a:r>
              <a:rPr lang="en-US" sz="3600" b="1" dirty="0" smtClean="0"/>
              <a:t>(School Of Specialization)</a:t>
            </a:r>
          </a:p>
          <a:p>
            <a:pPr marL="0" indent="0" algn="ctr">
              <a:buNone/>
            </a:pPr>
            <a:r>
              <a:rPr lang="en-US" sz="3600" b="1" dirty="0" smtClean="0"/>
              <a:t>Maintenance Year 1</a:t>
            </a:r>
          </a:p>
          <a:p>
            <a:pPr marL="0" indent="0" algn="ctr">
              <a:buNone/>
            </a:pPr>
            <a:r>
              <a:rPr lang="en-US" sz="3600" b="1" dirty="0" smtClean="0"/>
              <a:t>Learner's Guide</a:t>
            </a:r>
            <a:endParaRPr lang="en-US" sz="3600" b="1" dirty="0"/>
          </a:p>
        </p:txBody>
      </p:sp>
      <p:pic>
        <p:nvPicPr>
          <p:cNvPr id="2" name="Picture 1"/>
          <p:cNvPicPr>
            <a:picLocks noChangeAspect="1"/>
          </p:cNvPicPr>
          <p:nvPr/>
        </p:nvPicPr>
        <p:blipFill>
          <a:blip r:embed="rId2"/>
          <a:stretch>
            <a:fillRect/>
          </a:stretch>
        </p:blipFill>
        <p:spPr>
          <a:xfrm>
            <a:off x="3988391" y="2846010"/>
            <a:ext cx="3635902" cy="3851003"/>
          </a:xfrm>
          <a:prstGeom prst="rect">
            <a:avLst/>
          </a:prstGeom>
        </p:spPr>
      </p:pic>
      <p:pic>
        <p:nvPicPr>
          <p:cNvPr id="4" name="Picture 3"/>
          <p:cNvPicPr>
            <a:picLocks noChangeAspect="1"/>
          </p:cNvPicPr>
          <p:nvPr/>
        </p:nvPicPr>
        <p:blipFill>
          <a:blip r:embed="rId3"/>
          <a:stretch>
            <a:fillRect/>
          </a:stretch>
        </p:blipFill>
        <p:spPr>
          <a:xfrm>
            <a:off x="888607" y="2240923"/>
            <a:ext cx="1429590" cy="1485561"/>
          </a:xfrm>
          <a:prstGeom prst="rect">
            <a:avLst/>
          </a:prstGeom>
        </p:spPr>
      </p:pic>
      <p:pic>
        <p:nvPicPr>
          <p:cNvPr id="5" name="Picture 4"/>
          <p:cNvPicPr>
            <a:picLocks noChangeAspect="1"/>
          </p:cNvPicPr>
          <p:nvPr/>
        </p:nvPicPr>
        <p:blipFill>
          <a:blip r:embed="rId4"/>
          <a:stretch>
            <a:fillRect/>
          </a:stretch>
        </p:blipFill>
        <p:spPr>
          <a:xfrm>
            <a:off x="8778003" y="2240924"/>
            <a:ext cx="1487553" cy="1485561"/>
          </a:xfrm>
          <a:prstGeom prst="rect">
            <a:avLst/>
          </a:prstGeom>
        </p:spPr>
      </p:pic>
    </p:spTree>
    <p:extLst>
      <p:ext uri="{BB962C8B-B14F-4D97-AF65-F5344CB8AC3E}">
        <p14:creationId xmlns:p14="http://schemas.microsoft.com/office/powerpoint/2010/main" val="294941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
            <a:ext cx="9144000" cy="953035"/>
          </a:xfrm>
        </p:spPr>
        <p:txBody>
          <a:bodyPr>
            <a:normAutofit fontScale="90000"/>
          </a:bodyPr>
          <a:lstStyle/>
          <a:p>
            <a:r>
              <a:rPr lang="en-GB" sz="6000" b="1" dirty="0"/>
              <a:t>   </a:t>
            </a:r>
            <a:r>
              <a:rPr lang="en-GB" sz="6600" b="1" u="sng" dirty="0"/>
              <a:t>Maintenance Year </a:t>
            </a:r>
            <a:r>
              <a:rPr lang="en-GB" sz="6600" b="1" u="sng" dirty="0" smtClean="0"/>
              <a:t>1</a:t>
            </a:r>
            <a:endParaRPr lang="en-GB" sz="6600" u="sng" dirty="0"/>
          </a:p>
        </p:txBody>
      </p:sp>
      <p:sp>
        <p:nvSpPr>
          <p:cNvPr id="3" name="Content Placeholder 2"/>
          <p:cNvSpPr>
            <a:spLocks noGrp="1"/>
          </p:cNvSpPr>
          <p:nvPr>
            <p:ph idx="1"/>
          </p:nvPr>
        </p:nvSpPr>
        <p:spPr>
          <a:xfrm>
            <a:off x="0" y="953038"/>
            <a:ext cx="10668000" cy="5904963"/>
          </a:xfrm>
        </p:spPr>
        <p:txBody>
          <a:bodyPr>
            <a:normAutofit fontScale="55000" lnSpcReduction="20000"/>
          </a:bodyPr>
          <a:lstStyle/>
          <a:p>
            <a:pPr marL="0" indent="0">
              <a:buNone/>
            </a:pPr>
            <a:r>
              <a:rPr lang="en-US" sz="5400" b="1" dirty="0"/>
              <a:t>                </a:t>
            </a:r>
            <a:r>
              <a:rPr lang="en-US" sz="5400" b="1" dirty="0" smtClean="0"/>
              <a:t>                       </a:t>
            </a:r>
            <a:r>
              <a:rPr lang="en-US" sz="5400" b="1" u="sng" dirty="0" smtClean="0"/>
              <a:t>Learning Content</a:t>
            </a:r>
            <a:endParaRPr lang="en-US" sz="5400" b="1" u="sng" dirty="0"/>
          </a:p>
          <a:p>
            <a:pPr marL="0" indent="0">
              <a:buNone/>
            </a:pPr>
            <a:r>
              <a:rPr lang="en-US" sz="3200" b="1" dirty="0"/>
              <a:t>1. </a:t>
            </a:r>
            <a:r>
              <a:rPr lang="en-US" sz="3200" b="1" u="sng" dirty="0" smtClean="0"/>
              <a:t>Woodwork</a:t>
            </a:r>
            <a:r>
              <a:rPr lang="en-US" sz="3200" b="1" dirty="0" smtClean="0"/>
              <a:t>                                                          6. </a:t>
            </a:r>
            <a:r>
              <a:rPr lang="en-US" sz="3200" b="1" u="sng" dirty="0" smtClean="0"/>
              <a:t>Plumbing</a:t>
            </a:r>
            <a:endParaRPr lang="en-US" sz="3200" b="1" u="sng" dirty="0"/>
          </a:p>
          <a:p>
            <a:pPr marL="0" indent="0">
              <a:buNone/>
            </a:pPr>
            <a:r>
              <a:rPr lang="en-US" sz="3000" dirty="0" smtClean="0"/>
              <a:t>1. Safety Rules.                                                             1</a:t>
            </a:r>
            <a:r>
              <a:rPr lang="en-US" sz="3000" dirty="0"/>
              <a:t>. Safety </a:t>
            </a:r>
            <a:r>
              <a:rPr lang="en-US" sz="3000" dirty="0" smtClean="0"/>
              <a:t>Rules.</a:t>
            </a:r>
            <a:endParaRPr lang="en-US" sz="3000" dirty="0"/>
          </a:p>
          <a:p>
            <a:pPr marL="0" indent="0">
              <a:buNone/>
            </a:pPr>
            <a:r>
              <a:rPr lang="en-US" sz="3000" dirty="0"/>
              <a:t>2. </a:t>
            </a:r>
            <a:r>
              <a:rPr lang="en-US" sz="3000" dirty="0" smtClean="0"/>
              <a:t>Basic Tools.                                                               2. Basic Tools.</a:t>
            </a:r>
          </a:p>
          <a:p>
            <a:pPr marL="0" indent="0">
              <a:buNone/>
            </a:pPr>
            <a:r>
              <a:rPr lang="en-US" sz="3500" dirty="0" smtClean="0"/>
              <a:t>2. </a:t>
            </a:r>
            <a:r>
              <a:rPr lang="en-US" sz="3500" u="sng" dirty="0" smtClean="0"/>
              <a:t>Building and Plastering</a:t>
            </a:r>
            <a:r>
              <a:rPr lang="en-US" sz="3500" dirty="0" smtClean="0"/>
              <a:t>                                    </a:t>
            </a:r>
            <a:r>
              <a:rPr lang="en-US" sz="3500" b="1" dirty="0" smtClean="0"/>
              <a:t>7. </a:t>
            </a:r>
            <a:r>
              <a:rPr lang="en-US" sz="3500" b="1" u="sng" dirty="0" smtClean="0"/>
              <a:t>Painting</a:t>
            </a:r>
            <a:endParaRPr lang="en-US" sz="3000" b="1" u="sng" dirty="0" smtClean="0"/>
          </a:p>
          <a:p>
            <a:pPr marL="0" indent="0">
              <a:buNone/>
            </a:pPr>
            <a:r>
              <a:rPr lang="en-US" sz="3000" dirty="0" smtClean="0"/>
              <a:t>1. Safety Rules.                                                             1. Safety Rules.</a:t>
            </a:r>
          </a:p>
          <a:p>
            <a:pPr marL="0" indent="0">
              <a:buNone/>
            </a:pPr>
            <a:r>
              <a:rPr lang="en-US" sz="3000" dirty="0"/>
              <a:t>2. Basic Tools</a:t>
            </a:r>
            <a:r>
              <a:rPr lang="en-US" sz="3000" dirty="0" smtClean="0"/>
              <a:t>.                                                               2. Basic Tools.</a:t>
            </a:r>
            <a:endParaRPr lang="en-US" sz="3000" dirty="0"/>
          </a:p>
          <a:p>
            <a:pPr marL="0" indent="0">
              <a:buNone/>
            </a:pPr>
            <a:r>
              <a:rPr lang="en-US" sz="3200" b="1" dirty="0" smtClean="0"/>
              <a:t>3. </a:t>
            </a:r>
            <a:r>
              <a:rPr lang="en-US" sz="3200" b="1" u="sng" dirty="0" smtClean="0"/>
              <a:t>Metalwork</a:t>
            </a:r>
            <a:r>
              <a:rPr lang="en-US" sz="3200" b="1" dirty="0" smtClean="0"/>
              <a:t>                                                           8. </a:t>
            </a:r>
            <a:r>
              <a:rPr lang="en-US" sz="3200" b="1" u="sng" dirty="0" smtClean="0"/>
              <a:t>Waterproofing</a:t>
            </a:r>
            <a:endParaRPr lang="en-US" sz="3200" b="1" u="sng" dirty="0"/>
          </a:p>
          <a:p>
            <a:pPr marL="0" indent="0">
              <a:buNone/>
            </a:pPr>
            <a:r>
              <a:rPr lang="en-US" sz="3000" dirty="0"/>
              <a:t>1. Safety Rules</a:t>
            </a:r>
            <a:r>
              <a:rPr lang="en-US" sz="3000" dirty="0" smtClean="0"/>
              <a:t>.                                                             1. Safety Rules.                                                        </a:t>
            </a:r>
            <a:endParaRPr lang="en-US" sz="3000" dirty="0"/>
          </a:p>
          <a:p>
            <a:pPr marL="0" indent="0">
              <a:buNone/>
            </a:pPr>
            <a:r>
              <a:rPr lang="en-US" sz="3000" dirty="0"/>
              <a:t>2. Basic Tools</a:t>
            </a:r>
            <a:r>
              <a:rPr lang="en-US" sz="3000" dirty="0" smtClean="0"/>
              <a:t>.                                                               2. Basic Tools.</a:t>
            </a:r>
            <a:endParaRPr lang="en-US" sz="3000" dirty="0"/>
          </a:p>
          <a:p>
            <a:pPr marL="0" indent="0">
              <a:buNone/>
            </a:pPr>
            <a:r>
              <a:rPr lang="en-US" sz="3200" b="1" dirty="0" smtClean="0"/>
              <a:t>4. </a:t>
            </a:r>
            <a:r>
              <a:rPr lang="en-US" sz="3200" b="1" u="sng" dirty="0" smtClean="0"/>
              <a:t>Electricity</a:t>
            </a:r>
            <a:r>
              <a:rPr lang="en-US" sz="3200" b="1" dirty="0" smtClean="0"/>
              <a:t>                                                            9. </a:t>
            </a:r>
            <a:r>
              <a:rPr lang="en-US" sz="3200" b="1" u="sng" dirty="0" smtClean="0"/>
              <a:t>Glazing</a:t>
            </a:r>
            <a:endParaRPr lang="en-US" sz="3200" b="1" u="sng" dirty="0"/>
          </a:p>
          <a:p>
            <a:pPr marL="0" indent="0">
              <a:buNone/>
            </a:pPr>
            <a:r>
              <a:rPr lang="en-US" sz="3000" dirty="0"/>
              <a:t>1. Safety Rules</a:t>
            </a:r>
            <a:r>
              <a:rPr lang="en-US" sz="3000" dirty="0" smtClean="0"/>
              <a:t>.                                                             1. Safety Rules.</a:t>
            </a:r>
            <a:endParaRPr lang="en-US" sz="3000" dirty="0"/>
          </a:p>
          <a:p>
            <a:pPr marL="0" indent="0">
              <a:buNone/>
            </a:pPr>
            <a:r>
              <a:rPr lang="en-US" sz="3000" dirty="0"/>
              <a:t>2. Basic Tools</a:t>
            </a:r>
            <a:r>
              <a:rPr lang="en-US" sz="3000" dirty="0" smtClean="0"/>
              <a:t>.                                                               2. Basic Tools.</a:t>
            </a:r>
            <a:endParaRPr lang="en-US" sz="3000" dirty="0"/>
          </a:p>
          <a:p>
            <a:pPr marL="0" indent="0">
              <a:buNone/>
            </a:pPr>
            <a:r>
              <a:rPr lang="en-US" sz="3200" b="1" dirty="0"/>
              <a:t>5. </a:t>
            </a:r>
            <a:r>
              <a:rPr lang="en-US" sz="3200" b="1" u="sng" dirty="0" smtClean="0"/>
              <a:t>Mechanical</a:t>
            </a:r>
            <a:r>
              <a:rPr lang="en-US" sz="3200" b="1" dirty="0" smtClean="0"/>
              <a:t>                                                          10. </a:t>
            </a:r>
            <a:r>
              <a:rPr lang="en-US" sz="3200" b="1" u="sng" dirty="0" smtClean="0"/>
              <a:t>Flooring</a:t>
            </a:r>
            <a:endParaRPr lang="en-US" sz="3200" b="1" dirty="0"/>
          </a:p>
          <a:p>
            <a:pPr marL="0" indent="0">
              <a:buNone/>
            </a:pPr>
            <a:r>
              <a:rPr lang="en-US" sz="3000" dirty="0"/>
              <a:t>1. Safety Rules</a:t>
            </a:r>
            <a:r>
              <a:rPr lang="en-US" sz="3000" dirty="0" smtClean="0"/>
              <a:t>.                                                             1. Safety Rules.</a:t>
            </a:r>
            <a:endParaRPr lang="en-US" sz="3000" dirty="0"/>
          </a:p>
          <a:p>
            <a:pPr marL="0" indent="0">
              <a:buNone/>
            </a:pPr>
            <a:r>
              <a:rPr lang="en-US" sz="3000" dirty="0"/>
              <a:t>2. Basic Tools</a:t>
            </a:r>
            <a:r>
              <a:rPr lang="en-US" sz="3000" dirty="0" smtClean="0"/>
              <a:t>.                                                               2. Basic Tools.</a:t>
            </a:r>
          </a:p>
          <a:p>
            <a:pPr marL="0" indent="0">
              <a:buNone/>
            </a:pPr>
            <a:endParaRPr lang="en-US" sz="3000" b="1" dirty="0" smtClean="0"/>
          </a:p>
          <a:p>
            <a:pPr marL="0" indent="0">
              <a:buNone/>
            </a:pPr>
            <a:endParaRPr lang="en-US" sz="3000" b="1" dirty="0"/>
          </a:p>
          <a:p>
            <a:pPr>
              <a:buAutoNum type="arabicPeriod"/>
            </a:pPr>
            <a:endParaRPr lang="en-US" b="1" dirty="0" smtClean="0"/>
          </a:p>
        </p:txBody>
      </p:sp>
    </p:spTree>
    <p:extLst>
      <p:ext uri="{BB962C8B-B14F-4D97-AF65-F5344CB8AC3E}">
        <p14:creationId xmlns:p14="http://schemas.microsoft.com/office/powerpoint/2010/main" val="21183655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12192000" cy="6857998"/>
          </a:xfrm>
        </p:spPr>
        <p:txBody>
          <a:bodyPr>
            <a:normAutofit fontScale="90000"/>
          </a:bodyPr>
          <a:lstStyle/>
          <a:p>
            <a:r>
              <a:rPr lang="en-GB" b="1" u="sng" dirty="0" smtClean="0">
                <a:solidFill>
                  <a:schemeClr val="tx1"/>
                </a:solidFill>
              </a:rPr>
              <a:t>Overview of Maintenance</a:t>
            </a:r>
            <a:br>
              <a:rPr lang="en-GB" b="1" u="sng" dirty="0" smtClean="0">
                <a:solidFill>
                  <a:schemeClr val="tx1"/>
                </a:solidFill>
              </a:rPr>
            </a:br>
            <a:r>
              <a:rPr lang="en-GB" sz="2400" b="1" dirty="0">
                <a:solidFill>
                  <a:schemeClr val="tx1"/>
                </a:solidFill>
              </a:rPr>
              <a:t>- Maintenance management is vital in ensuring the long term </a:t>
            </a:r>
            <a:br>
              <a:rPr lang="en-GB" sz="2400" b="1" dirty="0">
                <a:solidFill>
                  <a:schemeClr val="tx1"/>
                </a:solidFill>
              </a:rPr>
            </a:br>
            <a:r>
              <a:rPr lang="en-GB" sz="2400" b="1" dirty="0">
                <a:solidFill>
                  <a:schemeClr val="tx1"/>
                </a:solidFill>
              </a:rPr>
              <a:t>  success of your maintenance program by monitoring quality </a:t>
            </a:r>
            <a:br>
              <a:rPr lang="en-GB" sz="2400" b="1" dirty="0">
                <a:solidFill>
                  <a:schemeClr val="tx1"/>
                </a:solidFill>
              </a:rPr>
            </a:br>
            <a:r>
              <a:rPr lang="en-GB" sz="2400" b="1" dirty="0">
                <a:solidFill>
                  <a:schemeClr val="tx1"/>
                </a:solidFill>
              </a:rPr>
              <a:t>  assurance, maintaining operational efficiency and keeping</a:t>
            </a:r>
            <a:br>
              <a:rPr lang="en-GB" sz="2400" b="1" dirty="0">
                <a:solidFill>
                  <a:schemeClr val="tx1"/>
                </a:solidFill>
              </a:rPr>
            </a:br>
            <a:r>
              <a:rPr lang="en-GB" sz="2400" b="1" dirty="0">
                <a:solidFill>
                  <a:schemeClr val="tx1"/>
                </a:solidFill>
              </a:rPr>
              <a:t>  assets in optimum running order. </a:t>
            </a:r>
            <a:br>
              <a:rPr lang="en-GB" sz="2400" b="1" dirty="0">
                <a:solidFill>
                  <a:schemeClr val="tx1"/>
                </a:solidFill>
              </a:rPr>
            </a:br>
            <a:r>
              <a:rPr lang="en-GB" sz="2400" b="1" dirty="0">
                <a:solidFill>
                  <a:schemeClr val="tx1"/>
                </a:solidFill>
              </a:rPr>
              <a:t>- Properly maintained assets and resources keep your </a:t>
            </a:r>
            <a:br>
              <a:rPr lang="en-GB" sz="2400" b="1" dirty="0">
                <a:solidFill>
                  <a:schemeClr val="tx1"/>
                </a:solidFill>
              </a:rPr>
            </a:br>
            <a:r>
              <a:rPr lang="en-GB" sz="2400" b="1" dirty="0">
                <a:solidFill>
                  <a:schemeClr val="tx1"/>
                </a:solidFill>
              </a:rPr>
              <a:t> production stable and greatly minimize the chances for unplanned</a:t>
            </a:r>
            <a:br>
              <a:rPr lang="en-GB" sz="2400" b="1" dirty="0">
                <a:solidFill>
                  <a:schemeClr val="tx1"/>
                </a:solidFill>
              </a:rPr>
            </a:br>
            <a:r>
              <a:rPr lang="en-GB" sz="2400" b="1" dirty="0">
                <a:solidFill>
                  <a:schemeClr val="tx1"/>
                </a:solidFill>
              </a:rPr>
              <a:t> downtime.</a:t>
            </a:r>
            <a:r>
              <a:rPr lang="en-GB" sz="2800" b="1" u="sng" dirty="0">
                <a:solidFill>
                  <a:schemeClr val="tx1"/>
                </a:solidFill>
              </a:rPr>
              <a:t/>
            </a:r>
            <a:br>
              <a:rPr lang="en-GB" sz="2800" b="1" u="sng" dirty="0">
                <a:solidFill>
                  <a:schemeClr val="tx1"/>
                </a:solidFill>
              </a:rPr>
            </a:br>
            <a:r>
              <a:rPr lang="en-GB" sz="2800" b="1" u="sng" dirty="0">
                <a:solidFill>
                  <a:schemeClr val="tx1"/>
                </a:solidFill>
              </a:rPr>
              <a:t>At the end of the term learners should be able </a:t>
            </a:r>
            <a:r>
              <a:rPr lang="en-GB" sz="2800" b="1" u="sng" dirty="0" smtClean="0">
                <a:solidFill>
                  <a:schemeClr val="tx1"/>
                </a:solidFill>
              </a:rPr>
              <a:t>to know: </a:t>
            </a:r>
            <a:r>
              <a:rPr lang="en-GB" sz="2800" b="1" u="sng" dirty="0">
                <a:solidFill>
                  <a:schemeClr val="tx1"/>
                </a:solidFill>
              </a:rPr>
              <a:t/>
            </a:r>
            <a:br>
              <a:rPr lang="en-GB" sz="2800" b="1" u="sng" dirty="0">
                <a:solidFill>
                  <a:schemeClr val="tx1"/>
                </a:solidFill>
              </a:rPr>
            </a:br>
            <a:r>
              <a:rPr lang="en-GB" sz="2800" b="1" u="sng" dirty="0">
                <a:solidFill>
                  <a:schemeClr val="tx1"/>
                </a:solidFill>
              </a:rPr>
              <a:t/>
            </a:r>
            <a:br>
              <a:rPr lang="en-GB" sz="2800" b="1" u="sng" dirty="0">
                <a:solidFill>
                  <a:schemeClr val="tx1"/>
                </a:solidFill>
              </a:rPr>
            </a:br>
            <a:r>
              <a:rPr lang="en-GB" sz="2000" b="1" dirty="0">
                <a:solidFill>
                  <a:schemeClr val="tx1"/>
                </a:solidFill>
              </a:rPr>
              <a:t>1. </a:t>
            </a:r>
            <a:r>
              <a:rPr lang="en-GB" sz="2000" b="1" dirty="0" smtClean="0">
                <a:solidFill>
                  <a:schemeClr val="tx1"/>
                </a:solidFill>
              </a:rPr>
              <a:t>Woodwork basic safety rules and tools.</a:t>
            </a:r>
            <a:r>
              <a:rPr lang="en-GB" sz="2000" b="1" dirty="0">
                <a:solidFill>
                  <a:schemeClr val="tx1"/>
                </a:solidFill>
              </a:rPr>
              <a:t/>
            </a:r>
            <a:br>
              <a:rPr lang="en-GB" sz="2000" b="1" dirty="0">
                <a:solidFill>
                  <a:schemeClr val="tx1"/>
                </a:solidFill>
              </a:rPr>
            </a:br>
            <a:r>
              <a:rPr lang="en-GB" sz="2000" b="1" dirty="0">
                <a:solidFill>
                  <a:schemeClr val="tx1"/>
                </a:solidFill>
              </a:rPr>
              <a:t>2. </a:t>
            </a:r>
            <a:r>
              <a:rPr lang="en-GB" sz="2000" b="1" dirty="0" smtClean="0">
                <a:solidFill>
                  <a:schemeClr val="tx1"/>
                </a:solidFill>
              </a:rPr>
              <a:t>Building and Plastering basic </a:t>
            </a:r>
            <a:r>
              <a:rPr lang="en-GB" sz="2000" b="1" dirty="0">
                <a:solidFill>
                  <a:schemeClr val="tx1"/>
                </a:solidFill>
              </a:rPr>
              <a:t>safety rules and tools.</a:t>
            </a:r>
            <a:br>
              <a:rPr lang="en-GB" sz="2000" b="1" dirty="0">
                <a:solidFill>
                  <a:schemeClr val="tx1"/>
                </a:solidFill>
              </a:rPr>
            </a:br>
            <a:r>
              <a:rPr lang="en-GB" sz="2000" b="1" dirty="0" smtClean="0">
                <a:solidFill>
                  <a:schemeClr val="tx1"/>
                </a:solidFill>
              </a:rPr>
              <a:t>3</a:t>
            </a:r>
            <a:r>
              <a:rPr lang="en-GB" sz="2000" b="1" dirty="0">
                <a:solidFill>
                  <a:schemeClr val="tx1"/>
                </a:solidFill>
              </a:rPr>
              <a:t>. </a:t>
            </a:r>
            <a:r>
              <a:rPr lang="en-GB" sz="2000" b="1" dirty="0" smtClean="0">
                <a:solidFill>
                  <a:schemeClr val="tx1"/>
                </a:solidFill>
              </a:rPr>
              <a:t>Metalwork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4. </a:t>
            </a:r>
            <a:r>
              <a:rPr lang="en-GB" sz="2000" b="1" dirty="0" smtClean="0">
                <a:solidFill>
                  <a:schemeClr val="tx1"/>
                </a:solidFill>
              </a:rPr>
              <a:t>Electricity </a:t>
            </a:r>
            <a:r>
              <a:rPr lang="en-GB" sz="2000" b="1" dirty="0">
                <a:solidFill>
                  <a:schemeClr val="tx1"/>
                </a:solidFill>
              </a:rPr>
              <a:t>basic safety rules and tools</a:t>
            </a:r>
            <a:r>
              <a:rPr lang="en-GB" sz="2000" b="1" dirty="0" smtClean="0">
                <a:solidFill>
                  <a:schemeClr val="tx1"/>
                </a:solidFill>
              </a:rPr>
              <a:t>.           </a:t>
            </a:r>
            <a:r>
              <a:rPr lang="en-GB" sz="2000" b="1" dirty="0">
                <a:solidFill>
                  <a:schemeClr val="tx1"/>
                </a:solidFill>
              </a:rPr>
              <a:t/>
            </a:r>
            <a:br>
              <a:rPr lang="en-GB" sz="2000" b="1" dirty="0">
                <a:solidFill>
                  <a:schemeClr val="tx1"/>
                </a:solidFill>
              </a:rPr>
            </a:br>
            <a:r>
              <a:rPr lang="en-GB" sz="2000" b="1" dirty="0">
                <a:solidFill>
                  <a:schemeClr val="tx1"/>
                </a:solidFill>
              </a:rPr>
              <a:t>5. </a:t>
            </a:r>
            <a:r>
              <a:rPr lang="en-GB" sz="2000" b="1" dirty="0" smtClean="0">
                <a:solidFill>
                  <a:schemeClr val="tx1"/>
                </a:solidFill>
              </a:rPr>
              <a:t>Motor Mechanics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6. P</a:t>
            </a:r>
            <a:r>
              <a:rPr lang="en-GB" sz="2000" b="1" dirty="0" smtClean="0">
                <a:solidFill>
                  <a:schemeClr val="tx1"/>
                </a:solidFill>
              </a:rPr>
              <a:t>lumbing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7. P</a:t>
            </a:r>
            <a:r>
              <a:rPr lang="en-GB" sz="2000" b="1" dirty="0" smtClean="0">
                <a:solidFill>
                  <a:schemeClr val="tx1"/>
                </a:solidFill>
              </a:rPr>
              <a:t>ainting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8. </a:t>
            </a:r>
            <a:r>
              <a:rPr lang="en-GB" sz="2000" b="1" dirty="0" smtClean="0">
                <a:solidFill>
                  <a:schemeClr val="tx1"/>
                </a:solidFill>
              </a:rPr>
              <a:t>Waterproofing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9. </a:t>
            </a:r>
            <a:r>
              <a:rPr lang="en-GB" sz="2000" b="1" dirty="0" smtClean="0">
                <a:solidFill>
                  <a:schemeClr val="tx1"/>
                </a:solidFill>
              </a:rPr>
              <a:t>Glazing </a:t>
            </a:r>
            <a:r>
              <a:rPr lang="en-GB" sz="2000" b="1" dirty="0">
                <a:solidFill>
                  <a:schemeClr val="tx1"/>
                </a:solidFill>
              </a:rPr>
              <a:t>basic safety rules and tools</a:t>
            </a:r>
            <a:r>
              <a:rPr lang="en-GB" sz="2000" b="1" dirty="0" smtClean="0">
                <a:solidFill>
                  <a:schemeClr val="tx1"/>
                </a:solidFill>
              </a:rPr>
              <a:t>.</a:t>
            </a:r>
            <a:r>
              <a:rPr lang="en-GB" sz="2000" b="1" dirty="0">
                <a:solidFill>
                  <a:schemeClr val="tx1"/>
                </a:solidFill>
              </a:rPr>
              <a:t/>
            </a:r>
            <a:br>
              <a:rPr lang="en-GB" sz="2000" b="1" dirty="0">
                <a:solidFill>
                  <a:schemeClr val="tx1"/>
                </a:solidFill>
              </a:rPr>
            </a:br>
            <a:r>
              <a:rPr lang="en-GB" sz="2000" b="1" dirty="0">
                <a:solidFill>
                  <a:schemeClr val="tx1"/>
                </a:solidFill>
              </a:rPr>
              <a:t>10. F</a:t>
            </a:r>
            <a:r>
              <a:rPr lang="en-GB" sz="2000" b="1" dirty="0" smtClean="0">
                <a:solidFill>
                  <a:schemeClr val="tx1"/>
                </a:solidFill>
              </a:rPr>
              <a:t>looring </a:t>
            </a:r>
            <a:r>
              <a:rPr lang="en-GB" sz="2000" b="1" dirty="0">
                <a:solidFill>
                  <a:schemeClr val="tx1"/>
                </a:solidFill>
              </a:rPr>
              <a:t>basic safety rules and tools.</a:t>
            </a:r>
            <a:br>
              <a:rPr lang="en-GB" sz="2000" b="1" dirty="0">
                <a:solidFill>
                  <a:schemeClr val="tx1"/>
                </a:solidFill>
              </a:rPr>
            </a:br>
            <a:endParaRPr lang="en-GB" sz="2000" dirty="0">
              <a:solidFill>
                <a:schemeClr val="tx1"/>
              </a:solidFill>
            </a:endParaRPr>
          </a:p>
        </p:txBody>
      </p:sp>
    </p:spTree>
    <p:extLst>
      <p:ext uri="{BB962C8B-B14F-4D97-AF65-F5344CB8AC3E}">
        <p14:creationId xmlns:p14="http://schemas.microsoft.com/office/powerpoint/2010/main" val="310480698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63</TotalTime>
  <Words>156</Words>
  <Application>Microsoft Office PowerPoint</Application>
  <PresentationFormat>Widescreen</PresentationFormat>
  <Paragraphs>23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PowerPoint Presentation</vt:lpstr>
      <vt:lpstr>   Maintenance Year 1</vt:lpstr>
      <vt:lpstr>Overview of Maintenance - Maintenance management is vital in ensuring the long term    success of your maintenance program by monitoring quality    assurance, maintaining operational efficiency and keeping   assets in optimum running order.  - Properly maintained assets and resources keep your   production stable and greatly minimize the chances for unplanned  downtime. At the end of the term learners should be able to know:   1. Woodwork basic safety rules and tools. 2. Building and Plastering basic safety rules and tools. 3. Metalwork basic safety rules and tools. 4. Electricity basic safety rules and tools.            5. Motor Mechanics basic safety rules and tools. 6. Plumbing basic safety rules and tools.. 7. Painting basic safety rules and tools. 8. Waterproofing basic safety rules and tools. 9. Glazing basic safety rules and tools. 10. Flooring basic safety rules and tools.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MP Mazibuko</dc:creator>
  <cp:lastModifiedBy>Dr. MP Mazibuko</cp:lastModifiedBy>
  <cp:revision>20</cp:revision>
  <dcterms:created xsi:type="dcterms:W3CDTF">2024-01-11T12:58:46Z</dcterms:created>
  <dcterms:modified xsi:type="dcterms:W3CDTF">2024-03-04T07:19:24Z</dcterms:modified>
</cp:coreProperties>
</file>