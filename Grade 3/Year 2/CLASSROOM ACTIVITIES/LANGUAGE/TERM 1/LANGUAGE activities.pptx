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83" r:id="rId12"/>
    <p:sldId id="284" r:id="rId13"/>
    <p:sldId id="28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1"/>
            <p14:sldId id="262"/>
          </p14:sldIdLst>
        </p14:section>
        <p14:section name="Animate Your 3D Model" id="{B62868DA-F525-4AC5-9E3E-39ECA0154BBD}">
          <p14:sldIdLst>
            <p14:sldId id="263"/>
            <p14:sldId id="264"/>
          </p14:sldIdLst>
        </p14:section>
        <p14:section name="Learn More" id="{62756D7E-964E-493A-83A1-13BC0B6B5E47}">
          <p14:sldIdLst>
            <p14:sldId id="282"/>
            <p14:sldId id="283"/>
            <p14:sldId id="284"/>
          </p14:sldIdLst>
        </p14:section>
        <p14:section name="Untitled Section" id="{E682CC75-79DE-4F95-92B9-6DB465EAEE40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598" autoAdjust="0"/>
  </p:normalViewPr>
  <p:slideViewPr>
    <p:cSldViewPr snapToGrid="0">
      <p:cViewPr varScale="1">
        <p:scale>
          <a:sx n="72" d="100"/>
          <a:sy n="72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worksheet.my.id/rights-and-responsibilities-worksheet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811773901553097883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ocu.com/en-us/document/western-governors-university/macroeconomics/task-2/8915664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vink.com/explore/Classroom-Objects-Worksheet-Cut-and-Paste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edres.com/2020/12/17/vocabulary-activities-identifying-object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heetcanicula.z13.web.core.windows.net/second-grade-comprehension-passage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campusfisher.z19.web.core.windows.net/printable-fine-motor-skills-activities.html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erspayteachers.com/Product/Growing-and-changing-worksheets-3868963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ainaconley.blogspot.com/2022/06/this-worksheet-looks-at-stages-of.html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D4D0933-9FF6-45D0-AF4A-C82AE954C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990081"/>
              </p:ext>
            </p:extLst>
          </p:nvPr>
        </p:nvGraphicFramePr>
        <p:xfrm>
          <a:off x="604838" y="1604962"/>
          <a:ext cx="10982324" cy="43055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91162">
                  <a:extLst>
                    <a:ext uri="{9D8B030D-6E8A-4147-A177-3AD203B41FA5}">
                      <a16:colId xmlns:a16="http://schemas.microsoft.com/office/drawing/2014/main" val="2245480935"/>
                    </a:ext>
                  </a:extLst>
                </a:gridCol>
                <a:gridCol w="5491162">
                  <a:extLst>
                    <a:ext uri="{9D8B030D-6E8A-4147-A177-3AD203B41FA5}">
                      <a16:colId xmlns:a16="http://schemas.microsoft.com/office/drawing/2014/main" val="4081243060"/>
                    </a:ext>
                  </a:extLst>
                </a:gridCol>
              </a:tblGrid>
              <a:tr h="1435169">
                <a:tc>
                  <a:txBody>
                    <a:bodyPr/>
                    <a:lstStyle/>
                    <a:p>
                      <a:pPr algn="ctr"/>
                      <a:endParaRPr lang="en-ZA" sz="3600" dirty="0"/>
                    </a:p>
                    <a:p>
                      <a:pPr algn="ctr"/>
                      <a:r>
                        <a:rPr lang="en-ZA" sz="3600" dirty="0"/>
                        <a:t>SUBJECT;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3600" dirty="0"/>
                    </a:p>
                    <a:p>
                      <a:pPr algn="ctr"/>
                      <a:r>
                        <a:rPr lang="en-ZA" sz="3600" dirty="0"/>
                        <a:t>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089465"/>
                  </a:ext>
                </a:extLst>
              </a:tr>
              <a:tr h="1435169">
                <a:tc>
                  <a:txBody>
                    <a:bodyPr/>
                    <a:lstStyle/>
                    <a:p>
                      <a:pPr algn="ctr"/>
                      <a:endParaRPr lang="en-ZA" sz="3600" dirty="0"/>
                    </a:p>
                    <a:p>
                      <a:pPr algn="ctr"/>
                      <a:r>
                        <a:rPr lang="en-ZA" sz="3600" dirty="0"/>
                        <a:t>GRADE;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3600" dirty="0"/>
                    </a:p>
                    <a:p>
                      <a:pPr algn="ctr"/>
                      <a:r>
                        <a:rPr lang="en-ZA" sz="3600" dirty="0"/>
                        <a:t> 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169292"/>
                  </a:ext>
                </a:extLst>
              </a:tr>
              <a:tr h="1435169">
                <a:tc>
                  <a:txBody>
                    <a:bodyPr/>
                    <a:lstStyle/>
                    <a:p>
                      <a:pPr algn="ctr"/>
                      <a:endParaRPr lang="en-ZA" sz="3600" dirty="0"/>
                    </a:p>
                    <a:p>
                      <a:pPr algn="ctr"/>
                      <a:r>
                        <a:rPr lang="en-ZA" sz="3600" dirty="0"/>
                        <a:t>TERM;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3600" dirty="0"/>
                        <a:t> </a:t>
                      </a:r>
                    </a:p>
                    <a:p>
                      <a:pPr algn="ctr"/>
                      <a:r>
                        <a:rPr lang="en-ZA" sz="3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269355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F697ABC4-9AD6-45DD-95A7-114565ED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>
                <a:latin typeface="Algerian" panose="04020705040A02060702" pitchFamily="82" charset="0"/>
              </a:rPr>
              <a:t>LANGUAGE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24500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  <a:p>
            <a:endParaRPr 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EA04B4C4-5E5A-4A0E-A53A-3D175A8449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7415545"/>
              </p:ext>
            </p:extLst>
          </p:nvPr>
        </p:nvGraphicFramePr>
        <p:xfrm>
          <a:off x="604838" y="1648377"/>
          <a:ext cx="10982324" cy="460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91162">
                  <a:extLst>
                    <a:ext uri="{9D8B030D-6E8A-4147-A177-3AD203B41FA5}">
                      <a16:colId xmlns:a16="http://schemas.microsoft.com/office/drawing/2014/main" val="2752850695"/>
                    </a:ext>
                  </a:extLst>
                </a:gridCol>
                <a:gridCol w="5491162">
                  <a:extLst>
                    <a:ext uri="{9D8B030D-6E8A-4147-A177-3AD203B41FA5}">
                      <a16:colId xmlns:a16="http://schemas.microsoft.com/office/drawing/2014/main" val="2989929126"/>
                    </a:ext>
                  </a:extLst>
                </a:gridCol>
              </a:tblGrid>
              <a:tr h="1116133">
                <a:tc>
                  <a:txBody>
                    <a:bodyPr/>
                    <a:lstStyle/>
                    <a:p>
                      <a:r>
                        <a:rPr lang="en-ZA" sz="3600" b="1" dirty="0"/>
                        <a:t>WEEK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3600" b="1" dirty="0"/>
                        <a:t>ME AND MY TIMELINE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12332"/>
                  </a:ext>
                </a:extLst>
              </a:tr>
              <a:tr h="1116133">
                <a:tc>
                  <a:txBody>
                    <a:bodyPr/>
                    <a:lstStyle/>
                    <a:p>
                      <a:r>
                        <a:rPr lang="en-ZA" sz="3600" b="1" dirty="0"/>
                        <a:t>WEEK 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3600" b="1" dirty="0"/>
                        <a:t>ME MY RIGHTS AND 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42363"/>
                  </a:ext>
                </a:extLst>
              </a:tr>
              <a:tr h="1116133">
                <a:tc>
                  <a:txBody>
                    <a:bodyPr/>
                    <a:lstStyle/>
                    <a:p>
                      <a:r>
                        <a:rPr lang="en-ZA" sz="3600" b="1" dirty="0"/>
                        <a:t>WEEK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3600" b="1" dirty="0"/>
                        <a:t>MY FEELINGS AND EMOTIONS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77689"/>
                  </a:ext>
                </a:extLst>
              </a:tr>
              <a:tr h="1116133">
                <a:tc>
                  <a:txBody>
                    <a:bodyPr/>
                    <a:lstStyle/>
                    <a:p>
                      <a:r>
                        <a:rPr lang="en-ZA" sz="3600" b="1" dirty="0"/>
                        <a:t>WEEK 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3600" b="1" dirty="0"/>
                        <a:t>CHANGES IN 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7531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5" name="TextBox 2D 1">
            <a:extLst>
              <a:ext uri="{FF2B5EF4-FFF2-40B4-BE49-F238E27FC236}">
                <a16:creationId xmlns:a16="http://schemas.microsoft.com/office/drawing/2014/main" id="{CAA61E68-C8F4-4610-BC1E-4D08000B9C76}"/>
              </a:ext>
            </a:extLst>
          </p:cNvPr>
          <p:cNvSpPr txBox="1"/>
          <p:nvPr/>
        </p:nvSpPr>
        <p:spPr>
          <a:xfrm>
            <a:off x="2172509" y="4638251"/>
            <a:ext cx="2625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0D4EB70A-0A14-4B27-B499-59D76007ABA8}"/>
              </a:ext>
            </a:extLst>
          </p:cNvPr>
          <p:cNvSpPr txBox="1">
            <a:spLocks/>
          </p:cNvSpPr>
          <p:nvPr/>
        </p:nvSpPr>
        <p:spPr>
          <a:xfrm>
            <a:off x="694985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 flipV="1">
            <a:off x="5827143" y="5600816"/>
            <a:ext cx="5896604" cy="6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7965CA-67A8-4B23-BA25-1D6190C36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800" b="1" u="sng" dirty="0"/>
              <a:t>LEARNERS ARE REQUIRED TO WATCH THIS PICTURE AND MAKE A COLLAGE OF THEIR OWN TIMELINE WITH THEIR PICTURES AND LIFE EXPERIENCES.</a:t>
            </a:r>
          </a:p>
          <a:p>
            <a:endParaRPr lang="en-ZA" sz="1800" b="1" u="s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 AND MY TIMELINE</a:t>
            </a:r>
            <a:br>
              <a:rPr lang="en-US" dirty="0"/>
            </a:br>
            <a:r>
              <a:rPr lang="en-US" dirty="0"/>
              <a:t>Group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18E655-0B76-4AB7-B28D-1F3024D0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29" y="2279374"/>
            <a:ext cx="10429461" cy="412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2</a:t>
            </a:r>
          </a:p>
        </p:txBody>
      </p:sp>
      <p:pic>
        <p:nvPicPr>
          <p:cNvPr id="13" name="Content Placeholder 12" descr="Grade 3 Life Skills Term 1 - Juffrou met hart">
            <a:extLst>
              <a:ext uri="{FF2B5EF4-FFF2-40B4-BE49-F238E27FC236}">
                <a16:creationId xmlns:a16="http://schemas.microsoft.com/office/drawing/2014/main" id="{7F1CE688-EF7A-4F02-A36B-135FDD8AE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35" y="1484313"/>
            <a:ext cx="10866782" cy="4805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GROUP 3</a:t>
            </a:r>
            <a:endParaRPr lang="en-US" dirty="0"/>
          </a:p>
        </p:txBody>
      </p:sp>
      <p:sp>
        <p:nvSpPr>
          <p:cNvPr id="6" name="Content Placeholder 7" descr="PowerPoint allows you to import a variety of popular 3D model formats. &#10;So no matter your workflows outside of PowerPoint, you should be able to find a suitable solution to make your 3D models portable and presentable to virtually anyone, anywhere and on any device (with just a few quick modification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1485933"/>
            <a:ext cx="4321175" cy="1911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Directions">
            <a:extLst>
              <a:ext uri="{FF2B5EF4-FFF2-40B4-BE49-F238E27FC236}">
                <a16:creationId xmlns:a16="http://schemas.microsoft.com/office/drawing/2014/main" id="{1AF2FBBE-B7D3-452C-9253-F7C472312B69}"/>
              </a:ext>
            </a:extLst>
          </p:cNvPr>
          <p:cNvSpPr txBox="1">
            <a:spLocks/>
          </p:cNvSpPr>
          <p:nvPr/>
        </p:nvSpPr>
        <p:spPr>
          <a:xfrm>
            <a:off x="474516" y="3651363"/>
            <a:ext cx="2175299" cy="29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Step 1">
            <a:extLst>
              <a:ext uri="{FF2B5EF4-FFF2-40B4-BE49-F238E27FC236}">
                <a16:creationId xmlns:a16="http://schemas.microsoft.com/office/drawing/2014/main" id="{42184CEA-CF4E-4D47-96E0-8F669A14DC71}"/>
              </a:ext>
            </a:extLst>
          </p:cNvPr>
          <p:cNvSpPr txBox="1">
            <a:spLocks/>
          </p:cNvSpPr>
          <p:nvPr/>
        </p:nvSpPr>
        <p:spPr>
          <a:xfrm>
            <a:off x="999477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tep 2" descr="Insert the 3D model by selecting the file and clicking on Insert.&#10;The 3D Model will now be placed onto your PowerPoint slide">
            <a:extLst>
              <a:ext uri="{FF2B5EF4-FFF2-40B4-BE49-F238E27FC236}">
                <a16:creationId xmlns:a16="http://schemas.microsoft.com/office/drawing/2014/main" id="{6505E4CF-C408-4CF2-86B6-BD142EBF6F92}"/>
              </a:ext>
            </a:extLst>
          </p:cNvPr>
          <p:cNvSpPr txBox="1">
            <a:spLocks/>
          </p:cNvSpPr>
          <p:nvPr/>
        </p:nvSpPr>
        <p:spPr>
          <a:xfrm>
            <a:off x="5274554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pic>
        <p:nvPicPr>
          <p:cNvPr id="18" name="Content Placeholder 17" descr="Pin on foster care lifebooks">
            <a:extLst>
              <a:ext uri="{FF2B5EF4-FFF2-40B4-BE49-F238E27FC236}">
                <a16:creationId xmlns:a16="http://schemas.microsoft.com/office/drawing/2014/main" id="{AAD3517A-8810-47A2-B80D-4800ED1AD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" t="2046" r="1940" b="5555"/>
          <a:stretch/>
        </p:blipFill>
        <p:spPr bwMode="auto">
          <a:xfrm>
            <a:off x="604434" y="1668709"/>
            <a:ext cx="11054107" cy="4444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3D23E364-F423-435B-8CD1-4211B343D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4439" y="1902491"/>
            <a:ext cx="10271523" cy="484308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 MY RIGHTS AND RESPONSIBILITIES</a:t>
            </a:r>
            <a:br>
              <a:rPr lang="en-US" b="1" dirty="0"/>
            </a:br>
            <a:r>
              <a:rPr lang="en-US" b="1" dirty="0"/>
              <a:t>GROUP 1</a:t>
            </a:r>
          </a:p>
        </p:txBody>
      </p:sp>
      <p:sp>
        <p:nvSpPr>
          <p:cNvPr id="11" name="Content Placeholder 17" descr="Try them yourself with the parrot on the right:">
            <a:extLst>
              <a:ext uri="{FF2B5EF4-FFF2-40B4-BE49-F238E27FC236}">
                <a16:creationId xmlns:a16="http://schemas.microsoft.com/office/drawing/2014/main" id="{AF2B300A-3A97-40E0-AA9A-37A944B1DAF8}"/>
              </a:ext>
            </a:extLst>
          </p:cNvPr>
          <p:cNvSpPr txBox="1">
            <a:spLocks/>
          </p:cNvSpPr>
          <p:nvPr/>
        </p:nvSpPr>
        <p:spPr>
          <a:xfrm>
            <a:off x="630366" y="1431342"/>
            <a:ext cx="10717188" cy="4711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LEARNERS ARE REQUIRED TO PASTE THE RIGHT ANSWERS ON THE RIGHT COLOUMN</a:t>
            </a:r>
          </a:p>
        </p:txBody>
      </p:sp>
      <p:sp>
        <p:nvSpPr>
          <p:cNvPr id="15" name="Step 2 Text" descr="Alternatively, with your model selected, on the Ribbon, in the 3D Model Tool Format tab, you can click on 3D Model Views gallery to apply one of the various position views.">
            <a:extLst>
              <a:ext uri="{FF2B5EF4-FFF2-40B4-BE49-F238E27FC236}">
                <a16:creationId xmlns:a16="http://schemas.microsoft.com/office/drawing/2014/main" id="{D223119D-72DB-4091-AE4B-0A82DC881E79}"/>
              </a:ext>
            </a:extLst>
          </p:cNvPr>
          <p:cNvSpPr txBox="1">
            <a:spLocks/>
          </p:cNvSpPr>
          <p:nvPr/>
        </p:nvSpPr>
        <p:spPr>
          <a:xfrm>
            <a:off x="1066038" y="3245892"/>
            <a:ext cx="3552966" cy="1058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87467" y="5926111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A2822F1-9C71-4E7B-A180-4AF29CCE3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8866" y="1618215"/>
            <a:ext cx="9701412" cy="380343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GROUP 2</a:t>
            </a:r>
            <a:br>
              <a:rPr lang="en-US" sz="3200" b="1" dirty="0"/>
            </a:br>
            <a:r>
              <a:rPr lang="en-US" sz="2000" b="1" dirty="0"/>
              <a:t>A specific group of learners will be required to do a chart like this, complete the sentences correctly.</a:t>
            </a:r>
          </a:p>
        </p:txBody>
      </p:sp>
      <p:sp>
        <p:nvSpPr>
          <p:cNvPr id="7" name="Content Placeholder Step 1" descr="Select your 3D model &gt; 3D Models Format &gt; Pan &amp; Zoom&#10;&#10;Note: the Pan &amp; Zoom tool acts like an on/off (toggle) switch. Once pressed, you’ll see a gray box around the Pan &amp; Zoom button to indicate the feature is activated. Press the button again to deactivate the Pan &amp; Zoom feature.">
            <a:extLst>
              <a:ext uri="{FF2B5EF4-FFF2-40B4-BE49-F238E27FC236}">
                <a16:creationId xmlns:a16="http://schemas.microsoft.com/office/drawing/2014/main" id="{3EE46009-9B31-417A-AB61-8C70009004B3}"/>
              </a:ext>
            </a:extLst>
          </p:cNvPr>
          <p:cNvSpPr txBox="1">
            <a:spLocks/>
          </p:cNvSpPr>
          <p:nvPr/>
        </p:nvSpPr>
        <p:spPr>
          <a:xfrm>
            <a:off x="1030869" y="4084342"/>
            <a:ext cx="3034721" cy="2236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Step 2" descr="With the Pan &amp; Zoom button enabled, now move, rotate, and resize your 3D model.  ">
            <a:extLst>
              <a:ext uri="{FF2B5EF4-FFF2-40B4-BE49-F238E27FC236}">
                <a16:creationId xmlns:a16="http://schemas.microsoft.com/office/drawing/2014/main" id="{38280C20-AD97-47D9-A4D9-3D51B6EEA886}"/>
              </a:ext>
            </a:extLst>
          </p:cNvPr>
          <p:cNvSpPr txBox="1">
            <a:spLocks/>
          </p:cNvSpPr>
          <p:nvPr/>
        </p:nvSpPr>
        <p:spPr>
          <a:xfrm>
            <a:off x="4712686" y="4084342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</a:p>
        </p:txBody>
      </p:sp>
      <p:sp>
        <p:nvSpPr>
          <p:cNvPr id="15" name="Content Placeholder Step 3" descr="When you are finished editing, click the Pan &amp; Zoom button again to exit Pan and Zoom mode.">
            <a:extLst>
              <a:ext uri="{FF2B5EF4-FFF2-40B4-BE49-F238E27FC236}">
                <a16:creationId xmlns:a16="http://schemas.microsoft.com/office/drawing/2014/main" id="{89BC12B6-BA4F-4362-A61E-A7B108FEAF3C}"/>
              </a:ext>
            </a:extLst>
          </p:cNvPr>
          <p:cNvSpPr txBox="1">
            <a:spLocks/>
          </p:cNvSpPr>
          <p:nvPr/>
        </p:nvSpPr>
        <p:spPr>
          <a:xfrm>
            <a:off x="8394499" y="4084341"/>
            <a:ext cx="2658635" cy="1171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ACED4CC-78E9-41CD-B659-60874460E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1507068"/>
            <a:ext cx="3149834" cy="4669896"/>
          </a:xfrm>
        </p:spPr>
        <p:txBody>
          <a:bodyPr>
            <a:normAutofit fontScale="92500" lnSpcReduction="20000"/>
          </a:bodyPr>
          <a:lstStyle/>
          <a:p>
            <a:r>
              <a:rPr lang="en-ZA" sz="2000" dirty="0">
                <a:latin typeface="Arial Rounded MT Bold" panose="020F0704030504030204" pitchFamily="34" charset="0"/>
              </a:rPr>
              <a:t>Learners will be required to identify initially sounds and rhyming words in this picture.</a:t>
            </a:r>
          </a:p>
          <a:p>
            <a:endParaRPr lang="en-ZA" sz="2000" dirty="0">
              <a:latin typeface="Arial Rounded MT Bold" panose="020F0704030504030204" pitchFamily="34" charset="0"/>
            </a:endParaRPr>
          </a:p>
          <a:p>
            <a:endParaRPr lang="en-ZA" sz="2000" dirty="0">
              <a:latin typeface="Arial Rounded MT Bold" panose="020F0704030504030204" pitchFamily="34" charset="0"/>
            </a:endParaRPr>
          </a:p>
          <a:p>
            <a:pPr>
              <a:buNone/>
            </a:pPr>
            <a:r>
              <a:rPr lang="en-ZA" sz="2000" dirty="0">
                <a:latin typeface="Arial Rounded MT Bold" panose="020F0704030504030204" pitchFamily="34" charset="0"/>
              </a:rPr>
              <a:t>They must highlight initial sounds with </a:t>
            </a:r>
            <a:r>
              <a:rPr lang="en-ZA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green</a:t>
            </a:r>
            <a:r>
              <a:rPr lang="en-ZA" sz="2000" dirty="0">
                <a:latin typeface="Arial Rounded MT Bold" panose="020F0704030504030204" pitchFamily="34" charset="0"/>
              </a:rPr>
              <a:t> and rhyming words with </a:t>
            </a:r>
            <a:r>
              <a:rPr lang="en-ZA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red.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5DE80ECD-C87F-4693-93E1-4A7968264D3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40697" y="1622827"/>
            <a:ext cx="7169424" cy="455413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3" name="Content Placeholder 17" descr="Try it yourself with the parrot on the right:">
            <a:extLst>
              <a:ext uri="{FF2B5EF4-FFF2-40B4-BE49-F238E27FC236}">
                <a16:creationId xmlns:a16="http://schemas.microsoft.com/office/drawing/2014/main" id="{97AA353E-E722-4B84-B6FC-BA525C346A84}"/>
              </a:ext>
            </a:extLst>
          </p:cNvPr>
          <p:cNvSpPr txBox="1">
            <a:spLocks/>
          </p:cNvSpPr>
          <p:nvPr/>
        </p:nvSpPr>
        <p:spPr>
          <a:xfrm>
            <a:off x="541609" y="1319644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Content Placeholder 17" descr="Duplicate this slide: Right-click the slide thumbnail and select Duplicate Slide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1091928" y="2078002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7" descr="In the second of these two identical slides, change the 3D Model on the right in some way (rotate, move, or resize), then go to Transitions &gt; Morph.">
            <a:extLst>
              <a:ext uri="{FF2B5EF4-FFF2-40B4-BE49-F238E27FC236}">
                <a16:creationId xmlns:a16="http://schemas.microsoft.com/office/drawing/2014/main" id="{DA4BE72C-97DB-4A0D-8CDB-3CD5BB7DCF3E}"/>
              </a:ext>
            </a:extLst>
          </p:cNvPr>
          <p:cNvSpPr txBox="1">
            <a:spLocks/>
          </p:cNvSpPr>
          <p:nvPr/>
        </p:nvSpPr>
        <p:spPr>
          <a:xfrm>
            <a:off x="1091928" y="3566775"/>
            <a:ext cx="2413627" cy="124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17" descr="Return to the first of the two slides and press the Slide Show button and then select Play to see your parrot morph!">
            <a:extLst>
              <a:ext uri="{FF2B5EF4-FFF2-40B4-BE49-F238E27FC236}">
                <a16:creationId xmlns:a16="http://schemas.microsoft.com/office/drawing/2014/main" id="{BA96EB65-127B-4729-AF55-3A29384772DD}"/>
              </a:ext>
            </a:extLst>
          </p:cNvPr>
          <p:cNvSpPr txBox="1">
            <a:spLocks/>
          </p:cNvSpPr>
          <p:nvPr/>
        </p:nvSpPr>
        <p:spPr>
          <a:xfrm>
            <a:off x="1091928" y="5213879"/>
            <a:ext cx="2961579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AE36A3F-1AC0-4360-AD85-CA31B43C2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6565" y="1652758"/>
            <a:ext cx="11108782" cy="4572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09" y="389292"/>
            <a:ext cx="10983132" cy="747763"/>
          </a:xfrm>
        </p:spPr>
        <p:txBody>
          <a:bodyPr>
            <a:normAutofit/>
          </a:bodyPr>
          <a:lstStyle/>
          <a:p>
            <a:r>
              <a:rPr lang="en-US" dirty="0"/>
              <a:t>MY FEELINGS AND EMOTIONS</a:t>
            </a:r>
            <a:br>
              <a:rPr lang="en-US" dirty="0"/>
            </a:br>
            <a:r>
              <a:rPr lang="en-US" sz="1800" b="1" i="1" dirty="0"/>
              <a:t>Learners will have to recognize and paste the name of each object correctly.</a:t>
            </a:r>
          </a:p>
        </p:txBody>
      </p:sp>
      <p:sp>
        <p:nvSpPr>
          <p:cNvPr id="4" name="Try It Text" descr="Try it yourself with the parrot on the right:">
            <a:extLst>
              <a:ext uri="{FF2B5EF4-FFF2-40B4-BE49-F238E27FC236}">
                <a16:creationId xmlns:a16="http://schemas.microsoft.com/office/drawing/2014/main" id="{0D42AC0C-5EE6-42C4-91EE-07F7C9599947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1</a:t>
            </a:r>
          </a:p>
        </p:txBody>
      </p:sp>
      <p:sp>
        <p:nvSpPr>
          <p:cNvPr id="6" name="Content Placeholder Step 1" descr="Select the 3D Model on the right, then go to Animations &gt; Turntable&#10;Hint: Effect Options gives you even more options for Turntable.&#10;">
            <a:extLst>
              <a:ext uri="{FF2B5EF4-FFF2-40B4-BE49-F238E27FC236}">
                <a16:creationId xmlns:a16="http://schemas.microsoft.com/office/drawing/2014/main" id="{8110C53D-9866-4A6B-9E28-68BBE6EFF866}"/>
              </a:ext>
            </a:extLst>
          </p:cNvPr>
          <p:cNvSpPr txBox="1">
            <a:spLocks/>
          </p:cNvSpPr>
          <p:nvPr/>
        </p:nvSpPr>
        <p:spPr>
          <a:xfrm>
            <a:off x="1066037" y="1958188"/>
            <a:ext cx="5110159" cy="1039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endParaRPr lang="en-US" dirty="0">
              <a:solidFill>
                <a:srgbClr val="D24726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Content Placeholder Step 2" descr="Explore the other new animations designed specifically for 3D models: Arrive, Swing, Jump &amp; Turn, and Leave.">
            <a:extLst>
              <a:ext uri="{FF2B5EF4-FFF2-40B4-BE49-F238E27FC236}">
                <a16:creationId xmlns:a16="http://schemas.microsoft.com/office/drawing/2014/main" id="{F8DE0424-CE18-47F6-BBF5-736B335BC89A}"/>
              </a:ext>
            </a:extLst>
          </p:cNvPr>
          <p:cNvSpPr txBox="1">
            <a:spLocks/>
          </p:cNvSpPr>
          <p:nvPr/>
        </p:nvSpPr>
        <p:spPr>
          <a:xfrm>
            <a:off x="1066037" y="4639464"/>
            <a:ext cx="5110159" cy="723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Step 3" descr="Click Add Animation to combine the new 3D animations with other classic 2D animations, such as Fade, Grow/Shrink, or one of the many Motion Path animations to test and see what is possible.">
            <a:extLst>
              <a:ext uri="{FF2B5EF4-FFF2-40B4-BE49-F238E27FC236}">
                <a16:creationId xmlns:a16="http://schemas.microsoft.com/office/drawing/2014/main" id="{8BCD932C-F4F1-4949-983C-017934B3CCBC}"/>
              </a:ext>
            </a:extLst>
          </p:cNvPr>
          <p:cNvSpPr txBox="1">
            <a:spLocks/>
          </p:cNvSpPr>
          <p:nvPr/>
        </p:nvSpPr>
        <p:spPr>
          <a:xfrm>
            <a:off x="1066037" y="5421806"/>
            <a:ext cx="5110159" cy="79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2580EC-689F-47EB-8A0B-3205FBAFE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err="1"/>
              <a:t>Goup</a:t>
            </a:r>
            <a:r>
              <a:rPr lang="en-ZA" dirty="0"/>
              <a:t> 2</a:t>
            </a:r>
          </a:p>
          <a:p>
            <a:endParaRPr lang="en-ZA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7CA18FD-FD51-42F9-B416-02F49185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MY FEELINGS AND EMOTIONS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4B4DC6-7CC0-4384-89F6-63E87929E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4400" y="1799500"/>
            <a:ext cx="10018643" cy="47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82A8B5-0B25-4FE4-940A-AB3FFA8F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MY FEELINGS AND EMOTIONS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CB6C0D-CA30-46B4-8978-BD5558BF1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8383" y="1604963"/>
            <a:ext cx="10779183" cy="4572000"/>
          </a:xfrm>
        </p:spPr>
      </p:pic>
    </p:spTree>
    <p:extLst>
      <p:ext uri="{BB962C8B-B14F-4D97-AF65-F5344CB8AC3E}">
        <p14:creationId xmlns:p14="http://schemas.microsoft.com/office/powerpoint/2010/main" val="380670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53519-8F9D-47BC-8B15-B1D9B444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C9182D-2E74-401B-BEFC-7B3BFAD49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Changes in me.</a:t>
            </a:r>
            <a:br>
              <a:rPr lang="en-ZA" dirty="0"/>
            </a:br>
            <a:r>
              <a:rPr lang="en-ZA" sz="1800" b="1" i="1" dirty="0"/>
              <a:t>Group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246845-B180-4864-B9F1-528A8D0B8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4433" y="1643968"/>
            <a:ext cx="10302106" cy="476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19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8A473-9E5B-45D2-B96D-31E0FAC3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35376"/>
            <a:ext cx="10983132" cy="747763"/>
          </a:xfrm>
        </p:spPr>
        <p:txBody>
          <a:bodyPr>
            <a:normAutofit fontScale="90000"/>
          </a:bodyPr>
          <a:lstStyle/>
          <a:p>
            <a:r>
              <a:rPr lang="en-ZA" dirty="0"/>
              <a:t>Changes in me.</a:t>
            </a:r>
            <a:br>
              <a:rPr lang="en-ZA" dirty="0"/>
            </a:br>
            <a:r>
              <a:rPr lang="en-ZA" sz="2000" b="1" i="1" dirty="0"/>
              <a:t>Group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222637-DE5E-48EA-8242-A9A5CED5D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2122" y="1789042"/>
            <a:ext cx="10845444" cy="4633581"/>
          </a:xfrm>
        </p:spPr>
      </p:pic>
    </p:spTree>
    <p:extLst>
      <p:ext uri="{BB962C8B-B14F-4D97-AF65-F5344CB8AC3E}">
        <p14:creationId xmlns:p14="http://schemas.microsoft.com/office/powerpoint/2010/main" val="2366485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3D27AC-E9F8-406D-A36E-BDC060EF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Changes in me</a:t>
            </a:r>
            <a:br>
              <a:rPr lang="en-ZA" dirty="0"/>
            </a:br>
            <a:r>
              <a:rPr lang="en-ZA" sz="1800" b="1" i="1" dirty="0"/>
              <a:t>Group 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E0F407-8C57-4415-8938-9662D8F69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3913" y="1668462"/>
            <a:ext cx="10774017" cy="4740909"/>
          </a:xfrm>
        </p:spPr>
      </p:pic>
    </p:spTree>
    <p:extLst>
      <p:ext uri="{BB962C8B-B14F-4D97-AF65-F5344CB8AC3E}">
        <p14:creationId xmlns:p14="http://schemas.microsoft.com/office/powerpoint/2010/main" val="289501976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{157B8351-C43D-4A47-852A-E48E46D343FC}tf16411177_win32</Template>
  <TotalTime>507</TotalTime>
  <Words>200</Words>
  <Application>Microsoft Office PowerPoint</Application>
  <PresentationFormat>Widescreen</PresentationFormat>
  <Paragraphs>47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Arial</vt:lpstr>
      <vt:lpstr>Arial Rounded MT Bold</vt:lpstr>
      <vt:lpstr>Calibri</vt:lpstr>
      <vt:lpstr>Segoe UI</vt:lpstr>
      <vt:lpstr>Segoe UI Light</vt:lpstr>
      <vt:lpstr>Segoe UI Semibold</vt:lpstr>
      <vt:lpstr>Get Started with 3D</vt:lpstr>
      <vt:lpstr>LANGUAGE</vt:lpstr>
      <vt:lpstr>TIMELINE</vt:lpstr>
      <vt:lpstr>ME AND MY TIMELINE Group 1</vt:lpstr>
      <vt:lpstr>Group 2</vt:lpstr>
      <vt:lpstr>GROUP 3</vt:lpstr>
      <vt:lpstr>ME MY RIGHTS AND RESPONSIBILITIES GROUP 1</vt:lpstr>
      <vt:lpstr>GROUP 2 A specific group of learners will be required to do a chart like this, complete the sentences correctly.</vt:lpstr>
      <vt:lpstr>Group 3</vt:lpstr>
      <vt:lpstr>MY FEELINGS AND EMOTIONS Learners will have to recognize and paste the name of each object correctly.</vt:lpstr>
      <vt:lpstr>MY FEELINGS AND EMOTIONS</vt:lpstr>
      <vt:lpstr>MY FEELINGS AND EMOTIONS</vt:lpstr>
      <vt:lpstr>Changes in me. Group 1</vt:lpstr>
      <vt:lpstr>Changes in me. Group 2</vt:lpstr>
      <vt:lpstr>Changes in me Group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</dc:title>
  <dc:creator>Student_PC</dc:creator>
  <cp:lastModifiedBy>Student_PC</cp:lastModifiedBy>
  <cp:revision>23</cp:revision>
  <dcterms:created xsi:type="dcterms:W3CDTF">2024-07-10T07:47:44Z</dcterms:created>
  <dcterms:modified xsi:type="dcterms:W3CDTF">2024-07-11T16:47:28Z</dcterms:modified>
</cp:coreProperties>
</file>