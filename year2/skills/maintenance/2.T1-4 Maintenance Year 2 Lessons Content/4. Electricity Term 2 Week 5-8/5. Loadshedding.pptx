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735763" cy="98663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1709019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3696500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3690688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26CB59-8B0F-4B6D-9D62-930C7BAC7892}" type="datetimeFigureOut">
              <a:rPr lang="en-US" smtClean="0"/>
              <a:t>9/22/2022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3092862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26CB59-8B0F-4B6D-9D62-930C7BAC7892}" type="datetimeFigureOut">
              <a:rPr lang="en-US" smtClean="0"/>
              <a:t>9/22/2022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3901609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26CB59-8B0F-4B6D-9D62-930C7BAC7892}" type="datetimeFigureOut">
              <a:rPr lang="en-US" smtClean="0"/>
              <a:t>9/22/2022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55022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6CB59-8B0F-4B6D-9D62-930C7BAC7892}" type="datetimeFigureOut">
              <a:rPr lang="en-US" smtClean="0"/>
              <a:t>9/22/2022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1716704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9/22/2022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533182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9/22/2022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1627251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3900632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51825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15081431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305168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738790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41689948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a:p>
        </p:txBody>
      </p:sp>
    </p:spTree>
    <p:extLst>
      <p:ext uri="{BB962C8B-B14F-4D97-AF65-F5344CB8AC3E}">
        <p14:creationId xmlns:p14="http://schemas.microsoft.com/office/powerpoint/2010/main" val="1626135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26CB59-8B0F-4B6D-9D62-930C7BAC7892}" type="datetimeFigureOut">
              <a:rPr lang="en-US" smtClean="0"/>
              <a:t>9/22/2022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525CBFB-9302-439C-B85F-FCC4E2FFAC59}" type="slidenum">
              <a:rPr lang="en-US" smtClean="0"/>
              <a:t>‹#›</a:t>
            </a:fld>
            <a:endParaRPr lang="en-US"/>
          </a:p>
        </p:txBody>
      </p:sp>
    </p:spTree>
    <p:extLst>
      <p:ext uri="{BB962C8B-B14F-4D97-AF65-F5344CB8AC3E}">
        <p14:creationId xmlns:p14="http://schemas.microsoft.com/office/powerpoint/2010/main" val="861697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0505" y="0"/>
            <a:ext cx="10972800" cy="2387600"/>
          </a:xfrm>
        </p:spPr>
        <p:txBody>
          <a:bodyPr>
            <a:normAutofit fontScale="90000"/>
          </a:bodyPr>
          <a:lstStyle/>
          <a:p>
            <a:pPr algn="ctr"/>
            <a:r>
              <a:rPr lang="en-US" sz="9600" b="1" u="sng" dirty="0" smtClean="0"/>
              <a:t>Electricity</a:t>
            </a:r>
            <a:br>
              <a:rPr lang="en-US" sz="9600" b="1" u="sng" dirty="0" smtClean="0"/>
            </a:br>
            <a:r>
              <a:rPr lang="en-US" sz="9600" b="1" u="sng" dirty="0" smtClean="0"/>
              <a:t>( continues)</a:t>
            </a:r>
            <a:endParaRPr lang="en-US" sz="9600" b="1" u="sng" dirty="0"/>
          </a:p>
        </p:txBody>
      </p:sp>
      <p:sp>
        <p:nvSpPr>
          <p:cNvPr id="3" name="Subtitle 2"/>
          <p:cNvSpPr>
            <a:spLocks noGrp="1"/>
          </p:cNvSpPr>
          <p:nvPr>
            <p:ph type="subTitle" idx="1"/>
          </p:nvPr>
        </p:nvSpPr>
        <p:spPr>
          <a:xfrm>
            <a:off x="1436729" y="3389651"/>
            <a:ext cx="7766936" cy="1096899"/>
          </a:xfrm>
        </p:spPr>
        <p:txBody>
          <a:bodyPr>
            <a:normAutofit lnSpcReduction="10000"/>
          </a:bodyPr>
          <a:lstStyle/>
          <a:p>
            <a:pPr algn="ctr"/>
            <a:r>
              <a:rPr lang="en-US" sz="6600" b="1" u="sng" dirty="0" smtClean="0"/>
              <a:t>Loadshedding</a:t>
            </a:r>
            <a:endParaRPr lang="en-US" sz="6600" b="1" u="sng" dirty="0"/>
          </a:p>
        </p:txBody>
      </p:sp>
    </p:spTree>
    <p:extLst>
      <p:ext uri="{BB962C8B-B14F-4D97-AF65-F5344CB8AC3E}">
        <p14:creationId xmlns:p14="http://schemas.microsoft.com/office/powerpoint/2010/main" val="2632252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92765"/>
            <a:ext cx="9048715" cy="887896"/>
          </a:xfrm>
        </p:spPr>
        <p:txBody>
          <a:bodyPr/>
          <a:lstStyle/>
          <a:p>
            <a:r>
              <a:rPr lang="en-US" u="sng" dirty="0" smtClean="0"/>
              <a:t>Loadshedding</a:t>
            </a:r>
            <a:endParaRPr lang="en-US" u="sng" dirty="0"/>
          </a:p>
        </p:txBody>
      </p:sp>
      <p:sp>
        <p:nvSpPr>
          <p:cNvPr id="3" name="Content Placeholder 2"/>
          <p:cNvSpPr>
            <a:spLocks noGrp="1"/>
          </p:cNvSpPr>
          <p:nvPr>
            <p:ph idx="1"/>
          </p:nvPr>
        </p:nvSpPr>
        <p:spPr>
          <a:xfrm>
            <a:off x="0" y="596348"/>
            <a:ext cx="12192000" cy="6261652"/>
          </a:xfrm>
        </p:spPr>
        <p:txBody>
          <a:bodyPr>
            <a:normAutofit/>
          </a:bodyPr>
          <a:lstStyle/>
          <a:p>
            <a:pPr marL="0" indent="0">
              <a:buNone/>
            </a:pPr>
            <a:r>
              <a:rPr lang="en-US" sz="2400" u="sng" dirty="0" smtClean="0"/>
              <a:t>Definition</a:t>
            </a:r>
            <a:r>
              <a:rPr lang="en-US" sz="2400" dirty="0" smtClean="0"/>
              <a:t>:</a:t>
            </a:r>
          </a:p>
          <a:p>
            <a:pPr>
              <a:buFontTx/>
              <a:buChar char="-"/>
            </a:pPr>
            <a:r>
              <a:rPr lang="en-US" sz="2400" dirty="0" smtClean="0"/>
              <a:t>It is the periodical shutdown of electricity by ESKOM.</a:t>
            </a:r>
          </a:p>
          <a:p>
            <a:pPr marL="0" indent="0">
              <a:buNone/>
            </a:pPr>
            <a:r>
              <a:rPr lang="en-US" sz="2400" u="sng" dirty="0" smtClean="0"/>
              <a:t>Cause of loadshedding</a:t>
            </a:r>
          </a:p>
          <a:p>
            <a:pPr marL="0" indent="0">
              <a:buNone/>
            </a:pPr>
            <a:r>
              <a:rPr lang="en-US" sz="2400" dirty="0" smtClean="0"/>
              <a:t>It is when insufficient power station capacity to supply the demand(load) from all the customers, the electricity system becomes unbalanced which can cause it to trip out (blackout) and which could take days to restore.</a:t>
            </a:r>
          </a:p>
          <a:p>
            <a:pPr marL="0" indent="0">
              <a:buNone/>
            </a:pPr>
            <a:r>
              <a:rPr lang="en-US" sz="2400" u="sng" dirty="0" smtClean="0"/>
              <a:t>Stages of loadshedding</a:t>
            </a:r>
          </a:p>
          <a:p>
            <a:pPr marL="0" indent="0">
              <a:buNone/>
            </a:pPr>
            <a:r>
              <a:rPr lang="en-US" sz="2400" u="sng" dirty="0" smtClean="0"/>
              <a:t>Stage 1</a:t>
            </a:r>
          </a:p>
          <a:p>
            <a:pPr marL="0" indent="0">
              <a:buNone/>
            </a:pPr>
            <a:r>
              <a:rPr lang="en-US" sz="2400" dirty="0" smtClean="0"/>
              <a:t>- It requires the least amount of loadshedding 3 times over a day period 2 hours at 3 times over an 8 day period for 4 hours at a time.</a:t>
            </a:r>
          </a:p>
          <a:p>
            <a:pPr marL="0" indent="0">
              <a:buNone/>
            </a:pPr>
            <a:r>
              <a:rPr lang="en-US" sz="2400" u="sng" dirty="0" smtClean="0"/>
              <a:t>Stage 2</a:t>
            </a:r>
          </a:p>
          <a:p>
            <a:pPr marL="0" indent="0">
              <a:buNone/>
            </a:pPr>
            <a:r>
              <a:rPr lang="en-US" sz="2400" dirty="0" smtClean="0"/>
              <a:t>- It allows for up to 2000 Mega-watts at the national load to be shed and it doubles the frequency of Stage 1</a:t>
            </a:r>
            <a:endParaRPr lang="en-US" sz="2400" dirty="0"/>
          </a:p>
        </p:txBody>
      </p:sp>
    </p:spTree>
    <p:extLst>
      <p:ext uri="{BB962C8B-B14F-4D97-AF65-F5344CB8AC3E}">
        <p14:creationId xmlns:p14="http://schemas.microsoft.com/office/powerpoint/2010/main" val="18613417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5214825"/>
          </a:xfrm>
        </p:spPr>
        <p:txBody>
          <a:bodyPr>
            <a:normAutofit/>
          </a:bodyPr>
          <a:lstStyle/>
          <a:p>
            <a:pPr marL="0" indent="0">
              <a:buNone/>
            </a:pPr>
            <a:r>
              <a:rPr lang="en-US" sz="2400" u="sng" dirty="0" smtClean="0"/>
              <a:t>Stage 3</a:t>
            </a:r>
          </a:p>
          <a:p>
            <a:pPr marL="0" indent="0">
              <a:buNone/>
            </a:pPr>
            <a:r>
              <a:rPr lang="en-US" sz="2400" dirty="0" smtClean="0"/>
              <a:t>- It allows for up to 3000 Mega-watts at the national load to be shed.</a:t>
            </a:r>
          </a:p>
          <a:p>
            <a:pPr marL="0" lvl="0" indent="0">
              <a:buClr>
                <a:srgbClr val="90C226"/>
              </a:buClr>
              <a:buNone/>
            </a:pPr>
            <a:r>
              <a:rPr lang="en-US" sz="2400" u="sng" dirty="0">
                <a:solidFill>
                  <a:prstClr val="black">
                    <a:lumMod val="75000"/>
                    <a:lumOff val="25000"/>
                  </a:prstClr>
                </a:solidFill>
              </a:rPr>
              <a:t>Stage </a:t>
            </a:r>
            <a:r>
              <a:rPr lang="en-US" sz="2400" u="sng" dirty="0" smtClean="0">
                <a:solidFill>
                  <a:prstClr val="black">
                    <a:lumMod val="75000"/>
                    <a:lumOff val="25000"/>
                  </a:prstClr>
                </a:solidFill>
              </a:rPr>
              <a:t>4</a:t>
            </a:r>
            <a:endParaRPr lang="en-US" sz="2400" u="sng" dirty="0">
              <a:solidFill>
                <a:prstClr val="black">
                  <a:lumMod val="75000"/>
                  <a:lumOff val="25000"/>
                </a:prstClr>
              </a:solidFill>
            </a:endParaRPr>
          </a:p>
          <a:p>
            <a:pPr marL="0" lvl="0" indent="0">
              <a:buClr>
                <a:srgbClr val="90C226"/>
              </a:buClr>
              <a:buNone/>
            </a:pPr>
            <a:r>
              <a:rPr lang="en-US" sz="2400" dirty="0">
                <a:solidFill>
                  <a:prstClr val="black">
                    <a:lumMod val="75000"/>
                    <a:lumOff val="25000"/>
                  </a:prstClr>
                </a:solidFill>
              </a:rPr>
              <a:t>- It allows for up to </a:t>
            </a:r>
            <a:r>
              <a:rPr lang="en-US" sz="2400" dirty="0" smtClean="0">
                <a:solidFill>
                  <a:prstClr val="black">
                    <a:lumMod val="75000"/>
                    <a:lumOff val="25000"/>
                  </a:prstClr>
                </a:solidFill>
              </a:rPr>
              <a:t>4000 </a:t>
            </a:r>
            <a:r>
              <a:rPr lang="en-US" sz="2400" dirty="0">
                <a:solidFill>
                  <a:prstClr val="black">
                    <a:lumMod val="75000"/>
                    <a:lumOff val="25000"/>
                  </a:prstClr>
                </a:solidFill>
              </a:rPr>
              <a:t>Mega-watts at the national load to be shed</a:t>
            </a:r>
            <a:r>
              <a:rPr lang="en-US" sz="2400" dirty="0" smtClean="0">
                <a:solidFill>
                  <a:prstClr val="black">
                    <a:lumMod val="75000"/>
                    <a:lumOff val="25000"/>
                  </a:prstClr>
                </a:solidFill>
              </a:rPr>
              <a:t>.</a:t>
            </a:r>
            <a:endParaRPr lang="en-US" sz="2400" dirty="0" smtClean="0"/>
          </a:p>
          <a:p>
            <a:pPr marL="0" indent="0">
              <a:buNone/>
            </a:pPr>
            <a:r>
              <a:rPr lang="en-US" sz="2400" u="sng" dirty="0"/>
              <a:t>Stage </a:t>
            </a:r>
            <a:r>
              <a:rPr lang="en-US" sz="2400" u="sng" dirty="0" smtClean="0"/>
              <a:t>5</a:t>
            </a:r>
            <a:endParaRPr lang="en-US" sz="2400" u="sng" dirty="0"/>
          </a:p>
          <a:p>
            <a:pPr marL="0" indent="0">
              <a:buNone/>
            </a:pPr>
            <a:r>
              <a:rPr lang="en-US" sz="2400" dirty="0"/>
              <a:t>- It allows for up to </a:t>
            </a:r>
            <a:r>
              <a:rPr lang="en-US" sz="2400" dirty="0" smtClean="0"/>
              <a:t>5000 </a:t>
            </a:r>
            <a:r>
              <a:rPr lang="en-US" sz="2400" dirty="0"/>
              <a:t>Mega-watts at the national load to be shed.</a:t>
            </a:r>
          </a:p>
          <a:p>
            <a:pPr marL="0" lvl="0" indent="0">
              <a:buClr>
                <a:srgbClr val="90C226"/>
              </a:buClr>
              <a:buNone/>
            </a:pPr>
            <a:r>
              <a:rPr lang="en-US" sz="2400" u="sng" dirty="0" smtClean="0">
                <a:solidFill>
                  <a:prstClr val="black">
                    <a:lumMod val="75000"/>
                    <a:lumOff val="25000"/>
                  </a:prstClr>
                </a:solidFill>
              </a:rPr>
              <a:t>Stage 6</a:t>
            </a:r>
            <a:endParaRPr lang="en-US" sz="2400" u="sng" dirty="0">
              <a:solidFill>
                <a:prstClr val="black">
                  <a:lumMod val="75000"/>
                  <a:lumOff val="25000"/>
                </a:prstClr>
              </a:solidFill>
            </a:endParaRPr>
          </a:p>
          <a:p>
            <a:pPr marL="0" indent="0">
              <a:buNone/>
            </a:pPr>
            <a:r>
              <a:rPr lang="en-US" sz="2400" dirty="0"/>
              <a:t>- It allows for up to </a:t>
            </a:r>
            <a:r>
              <a:rPr lang="en-US" sz="2400" dirty="0" smtClean="0"/>
              <a:t>6000 </a:t>
            </a:r>
            <a:r>
              <a:rPr lang="en-US" sz="2400" dirty="0"/>
              <a:t>Mega-watts at the national load to be shed.</a:t>
            </a:r>
          </a:p>
          <a:p>
            <a:pPr marL="0" indent="0">
              <a:buNone/>
            </a:pPr>
            <a:endParaRPr lang="en-US" sz="2400" dirty="0" smtClean="0"/>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3760442794"/>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598</TotalTime>
  <Words>191</Words>
  <Application>Microsoft Office PowerPoint</Application>
  <PresentationFormat>Widescreen</PresentationFormat>
  <Paragraphs>21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Electricity ( continues)</vt:lpstr>
      <vt:lpstr>Loadshedding</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Maintenance Year 2</dc:title>
  <dc:creator>Dr. MP Mazibuko</dc:creator>
  <cp:lastModifiedBy>Dr. MP Mazibuko</cp:lastModifiedBy>
  <cp:revision>110</cp:revision>
  <cp:lastPrinted>2022-08-31T07:50:14Z</cp:lastPrinted>
  <dcterms:created xsi:type="dcterms:W3CDTF">2022-08-25T11:18:17Z</dcterms:created>
  <dcterms:modified xsi:type="dcterms:W3CDTF">2022-09-22T11:15:25Z</dcterms:modified>
</cp:coreProperties>
</file>