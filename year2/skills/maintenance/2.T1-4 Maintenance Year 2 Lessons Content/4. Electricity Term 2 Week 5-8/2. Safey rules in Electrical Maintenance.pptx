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1" r:id="rId4"/>
    <p:sldId id="258" r:id="rId5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4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5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70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5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5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38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81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3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61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0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990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30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0342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55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76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7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0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00208" y="581451"/>
            <a:ext cx="10960274" cy="1736746"/>
          </a:xfrm>
        </p:spPr>
        <p:txBody>
          <a:bodyPr>
            <a:normAutofit/>
          </a:bodyPr>
          <a:lstStyle/>
          <a:p>
            <a:r>
              <a:rPr lang="en-US" sz="7200" b="1" u="sng" dirty="0" smtClean="0"/>
              <a:t>Maintenance Year 3&amp;4</a:t>
            </a:r>
            <a:endParaRPr lang="en-US" sz="72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4022" y="2318197"/>
            <a:ext cx="8654603" cy="4539803"/>
          </a:xfrm>
        </p:spPr>
        <p:txBody>
          <a:bodyPr>
            <a:normAutofit/>
          </a:bodyPr>
          <a:lstStyle/>
          <a:p>
            <a:pPr algn="l"/>
            <a:r>
              <a:rPr lang="en-US" sz="6600" b="1" dirty="0" smtClean="0"/>
              <a:t>       </a:t>
            </a:r>
            <a:r>
              <a:rPr lang="en-US" sz="6600" b="1" u="sng" dirty="0" smtClean="0"/>
              <a:t>Electricity</a:t>
            </a:r>
            <a:endParaRPr lang="en-US" sz="6600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044" y="3597730"/>
            <a:ext cx="5808373" cy="29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5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851907"/>
            <a:ext cx="12192000" cy="1234471"/>
          </a:xfrm>
        </p:spPr>
        <p:txBody>
          <a:bodyPr/>
          <a:lstStyle/>
          <a:p>
            <a:pPr algn="l"/>
            <a:r>
              <a:rPr lang="en-US" b="1" u="sng" dirty="0" smtClean="0"/>
              <a:t>Electricity.</a:t>
            </a:r>
            <a:endParaRPr lang="en-US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524259"/>
            <a:ext cx="9362941" cy="2733541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b="1" u="sng" dirty="0" smtClean="0"/>
              <a:t>Lesson objectives</a:t>
            </a:r>
          </a:p>
          <a:p>
            <a:pPr algn="l"/>
            <a:r>
              <a:rPr lang="en-US" b="1" u="sng" dirty="0" smtClean="0"/>
              <a:t>At the end of the lesson learners should be able :</a:t>
            </a:r>
          </a:p>
          <a:p>
            <a:pPr algn="l"/>
            <a:r>
              <a:rPr lang="en-US" b="1" dirty="0" smtClean="0"/>
              <a:t>1. To understand the overview of Electricity.</a:t>
            </a:r>
          </a:p>
          <a:p>
            <a:pPr algn="l"/>
            <a:r>
              <a:rPr lang="en-US" b="1" dirty="0"/>
              <a:t>2</a:t>
            </a:r>
            <a:r>
              <a:rPr lang="en-US" b="1" dirty="0" smtClean="0"/>
              <a:t>. Name or identify hand and power tools.</a:t>
            </a:r>
          </a:p>
          <a:p>
            <a:pPr algn="l"/>
            <a:r>
              <a:rPr lang="en-US" b="1" dirty="0"/>
              <a:t>3</a:t>
            </a:r>
            <a:r>
              <a:rPr lang="en-US" b="1" dirty="0" smtClean="0"/>
              <a:t>. To know the uses of hand and power tools.</a:t>
            </a:r>
          </a:p>
          <a:p>
            <a:pPr algn="l"/>
            <a:r>
              <a:rPr lang="en-US" b="1" dirty="0"/>
              <a:t>4</a:t>
            </a:r>
            <a:r>
              <a:rPr lang="en-US" b="1" dirty="0" smtClean="0"/>
              <a:t>. To know different types of lights.</a:t>
            </a:r>
          </a:p>
          <a:p>
            <a:pPr algn="l"/>
            <a:r>
              <a:rPr lang="en-US" b="1" dirty="0" smtClean="0"/>
              <a:t>5. To understand advantages and disadvantages of different lights.</a:t>
            </a:r>
          </a:p>
          <a:p>
            <a:pPr algn="l"/>
            <a:r>
              <a:rPr lang="en-US" b="1" dirty="0" smtClean="0"/>
              <a:t>6. To know loadshedding.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84423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0504" y="0"/>
            <a:ext cx="11302301" cy="1275008"/>
          </a:xfrm>
        </p:spPr>
        <p:txBody>
          <a:bodyPr>
            <a:normAutofit/>
          </a:bodyPr>
          <a:lstStyle/>
          <a:p>
            <a:pPr algn="l"/>
            <a:r>
              <a:rPr lang="en-US" sz="7200" b="1" u="sng" dirty="0" smtClean="0"/>
              <a:t>Overview of electricity</a:t>
            </a:r>
            <a:endParaRPr lang="en-US" sz="72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245704" y="1275008"/>
            <a:ext cx="13795513" cy="5582991"/>
          </a:xfrm>
        </p:spPr>
        <p:txBody>
          <a:bodyPr>
            <a:normAutofit/>
          </a:bodyPr>
          <a:lstStyle/>
          <a:p>
            <a:pPr algn="l"/>
            <a:r>
              <a:rPr lang="en-US" sz="4000" b="1" u="sng" dirty="0" smtClean="0"/>
              <a:t>Definition</a:t>
            </a:r>
            <a:r>
              <a:rPr lang="en-US" sz="4000" b="1" dirty="0" smtClean="0"/>
              <a:t>: </a:t>
            </a:r>
            <a:r>
              <a:rPr lang="en-US" sz="3200" b="1" dirty="0" smtClean="0"/>
              <a:t>it the of electric current through a conductor.</a:t>
            </a:r>
          </a:p>
          <a:p>
            <a:pPr algn="l"/>
            <a:r>
              <a:rPr lang="en-US" sz="3200" b="1" u="sng" dirty="0" smtClean="0"/>
              <a:t>Types of electricity</a:t>
            </a:r>
          </a:p>
          <a:p>
            <a:pPr algn="l"/>
            <a:r>
              <a:rPr lang="en-US" sz="3200" b="1" u="sng" dirty="0" smtClean="0"/>
              <a:t>1.Current electricity</a:t>
            </a:r>
            <a:r>
              <a:rPr lang="en-US" sz="3200" b="1" dirty="0" smtClean="0"/>
              <a:t>: It is the rate of flow electrons.</a:t>
            </a:r>
          </a:p>
          <a:p>
            <a:pPr algn="l"/>
            <a:r>
              <a:rPr lang="en-US" sz="3200" b="1" u="sng" dirty="0" smtClean="0"/>
              <a:t>Kinds of current electricity</a:t>
            </a:r>
          </a:p>
          <a:p>
            <a:pPr marL="514350" indent="-514350" algn="l">
              <a:buAutoNum type="arabicPeriod"/>
            </a:pPr>
            <a:r>
              <a:rPr lang="en-US" sz="3200" b="1" dirty="0" smtClean="0"/>
              <a:t>Direct Current(D.C) – Energy one gets from the battery.</a:t>
            </a:r>
          </a:p>
          <a:p>
            <a:pPr marL="514350" indent="-514350" algn="l">
              <a:buAutoNum type="arabicPeriod"/>
            </a:pPr>
            <a:r>
              <a:rPr lang="en-US" sz="3200" b="1" dirty="0" smtClean="0"/>
              <a:t>Alternating Current(A.C) – Energy one gets on the plugs on the</a:t>
            </a:r>
          </a:p>
          <a:p>
            <a:pPr algn="l"/>
            <a:r>
              <a:rPr lang="en-US" sz="3200" b="1" dirty="0" smtClean="0"/>
              <a:t>walls.</a:t>
            </a:r>
          </a:p>
          <a:p>
            <a:pPr algn="l"/>
            <a:r>
              <a:rPr lang="en-US" sz="3200" b="1" dirty="0" smtClean="0"/>
              <a:t>2. </a:t>
            </a:r>
            <a:r>
              <a:rPr lang="en-US" sz="3200" b="1" u="sng" dirty="0" smtClean="0"/>
              <a:t>Static electricity</a:t>
            </a:r>
            <a:r>
              <a:rPr lang="en-US" sz="3200" b="1" dirty="0" smtClean="0"/>
              <a:t>: It is when electrical charges build up on the surface of the material.    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47834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7"/>
            <a:ext cx="11256134" cy="948520"/>
          </a:xfrm>
        </p:spPr>
        <p:txBody>
          <a:bodyPr/>
          <a:lstStyle/>
          <a:p>
            <a:r>
              <a:rPr lang="en-US" b="1" u="sng" dirty="0" smtClean="0"/>
              <a:t>Basic safety rules in Electricity.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976" y="1413257"/>
            <a:ext cx="11045824" cy="51936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1. Use  </a:t>
            </a:r>
            <a:r>
              <a:rPr lang="en-US" u="sng" dirty="0" smtClean="0"/>
              <a:t>SABS</a:t>
            </a:r>
            <a:r>
              <a:rPr lang="en-US" dirty="0" smtClean="0"/>
              <a:t> approved electrical wires or cords.</a:t>
            </a:r>
          </a:p>
          <a:p>
            <a:pPr marL="0" indent="0">
              <a:buNone/>
            </a:pPr>
            <a:r>
              <a:rPr lang="en-US" dirty="0" smtClean="0"/>
              <a:t>2. Do not use electrical tools with </a:t>
            </a:r>
            <a:r>
              <a:rPr lang="en-US" u="sng" dirty="0" smtClean="0"/>
              <a:t>worn</a:t>
            </a:r>
            <a:r>
              <a:rPr lang="en-US" dirty="0" smtClean="0"/>
              <a:t> or </a:t>
            </a:r>
            <a:r>
              <a:rPr lang="en-US" u="sng" dirty="0" smtClean="0"/>
              <a:t>damaged</a:t>
            </a:r>
            <a:r>
              <a:rPr lang="en-US" dirty="0" smtClean="0"/>
              <a:t> wires.</a:t>
            </a:r>
          </a:p>
          <a:p>
            <a:pPr marL="0" indent="0">
              <a:buNone/>
            </a:pPr>
            <a:r>
              <a:rPr lang="en-US" dirty="0" smtClean="0"/>
              <a:t>3. Do not touch electrical machines or tools with wet </a:t>
            </a:r>
            <a:r>
              <a:rPr lang="en-US" u="sng" dirty="0" smtClean="0"/>
              <a:t>hands</a:t>
            </a:r>
            <a:r>
              <a:rPr lang="en-US" dirty="0" smtClean="0"/>
              <a:t> or </a:t>
            </a:r>
            <a:r>
              <a:rPr lang="en-US" u="sng" dirty="0" smtClean="0"/>
              <a:t>barefoot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4. Switch </a:t>
            </a:r>
            <a:r>
              <a:rPr lang="en-US" u="sng" dirty="0" smtClean="0"/>
              <a:t>off </a:t>
            </a:r>
            <a:r>
              <a:rPr lang="en-US" dirty="0" smtClean="0"/>
              <a:t>and </a:t>
            </a:r>
            <a:r>
              <a:rPr lang="en-US" u="sng" dirty="0" smtClean="0"/>
              <a:t>unplug</a:t>
            </a:r>
            <a:r>
              <a:rPr lang="en-US" dirty="0" smtClean="0"/>
              <a:t> after use all power hand tools.</a:t>
            </a:r>
          </a:p>
          <a:p>
            <a:pPr marL="0" indent="0">
              <a:buNone/>
            </a:pPr>
            <a:r>
              <a:rPr lang="en-US" dirty="0" smtClean="0"/>
              <a:t>5. Do not open the </a:t>
            </a:r>
            <a:r>
              <a:rPr lang="en-US" u="sng" dirty="0" smtClean="0"/>
              <a:t>distribution box</a:t>
            </a:r>
            <a:r>
              <a:rPr lang="en-US" dirty="0" smtClean="0"/>
              <a:t>(DB) in the workshop.</a:t>
            </a:r>
          </a:p>
          <a:p>
            <a:pPr marL="0" indent="0">
              <a:buNone/>
            </a:pPr>
            <a:r>
              <a:rPr lang="en-US" dirty="0" smtClean="0"/>
              <a:t>6. Learners should not play with electrical </a:t>
            </a:r>
            <a:r>
              <a:rPr lang="en-US" u="sng" dirty="0" smtClean="0"/>
              <a:t>sockets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7. Do not pull the </a:t>
            </a:r>
            <a:r>
              <a:rPr lang="en-US" u="sng" dirty="0" smtClean="0"/>
              <a:t>plugs</a:t>
            </a:r>
            <a:r>
              <a:rPr lang="en-US" dirty="0" smtClean="0"/>
              <a:t> by cord.</a:t>
            </a:r>
          </a:p>
          <a:p>
            <a:pPr marL="0" indent="0">
              <a:buNone/>
            </a:pPr>
            <a:r>
              <a:rPr lang="en-US" dirty="0" smtClean="0"/>
              <a:t>8. Do not attempt to </a:t>
            </a:r>
            <a:r>
              <a:rPr lang="en-US" u="sng" dirty="0" smtClean="0"/>
              <a:t>repair</a:t>
            </a:r>
            <a:r>
              <a:rPr lang="en-US" dirty="0" smtClean="0"/>
              <a:t> electrical machines or tools.</a:t>
            </a:r>
          </a:p>
          <a:p>
            <a:pPr marL="0" indent="0">
              <a:buNone/>
            </a:pPr>
            <a:r>
              <a:rPr lang="en-US" dirty="0" smtClean="0"/>
              <a:t>9. No </a:t>
            </a:r>
            <a:r>
              <a:rPr lang="en-US" u="sng" dirty="0" smtClean="0"/>
              <a:t>overloading</a:t>
            </a:r>
            <a:r>
              <a:rPr lang="en-US" dirty="0" smtClean="0"/>
              <a:t> of plugs.</a:t>
            </a:r>
          </a:p>
          <a:p>
            <a:pPr marL="0" indent="0">
              <a:buNone/>
            </a:pPr>
            <a:r>
              <a:rPr lang="en-US" dirty="0" smtClean="0"/>
              <a:t>10. Never put </a:t>
            </a:r>
            <a:r>
              <a:rPr lang="en-US" u="sng" dirty="0" smtClean="0"/>
              <a:t>bare </a:t>
            </a:r>
            <a:r>
              <a:rPr lang="en-US" dirty="0" smtClean="0"/>
              <a:t>wires into sockets.</a:t>
            </a:r>
          </a:p>
          <a:p>
            <a:pPr>
              <a:buFontTx/>
              <a:buChar char="-"/>
            </a:pPr>
            <a:r>
              <a:rPr lang="en-US" dirty="0" smtClean="0"/>
              <a:t>Feedback</a:t>
            </a:r>
          </a:p>
          <a:p>
            <a:pPr>
              <a:buFontTx/>
              <a:buChar char="-"/>
            </a:pPr>
            <a:r>
              <a:rPr lang="en-US" dirty="0" smtClean="0"/>
              <a:t>Activity : Worksheet 1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492</TotalTime>
  <Words>277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Maintenance Year 3&amp;4</vt:lpstr>
      <vt:lpstr>Electricity.</vt:lpstr>
      <vt:lpstr>Overview of electricity</vt:lpstr>
      <vt:lpstr>Basic safety rules in Electricity.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90</cp:revision>
  <cp:lastPrinted>2022-08-31T08:15:20Z</cp:lastPrinted>
  <dcterms:created xsi:type="dcterms:W3CDTF">2022-08-25T11:18:17Z</dcterms:created>
  <dcterms:modified xsi:type="dcterms:W3CDTF">2023-04-12T07:46:21Z</dcterms:modified>
</cp:coreProperties>
</file>