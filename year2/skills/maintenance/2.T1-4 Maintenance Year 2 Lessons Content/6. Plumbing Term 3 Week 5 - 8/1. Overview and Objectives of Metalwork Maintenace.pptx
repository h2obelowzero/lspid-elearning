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75" r:id="rId2"/>
    <p:sldId id="273" r:id="rId3"/>
    <p:sldId id="271" r:id="rId4"/>
  </p:sldIdLst>
  <p:sldSz cx="9144000" cy="6858000" type="screen4x3"/>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chanical Maintenance" id="{25789C3C-20BE-49D8-B36E-26D9627871CA}">
          <p14:sldIdLst>
            <p14:sldId id="275"/>
          </p14:sldIdLst>
        </p14:section>
        <p14:section name="Untitled Section" id="{D8063E0C-E7AC-4771-9279-1FD315CB2FD2}">
          <p14:sldIdLst>
            <p14:sldId id="273"/>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06" autoAdjust="0"/>
    <p:restoredTop sz="94660"/>
  </p:normalViewPr>
  <p:slideViewPr>
    <p:cSldViewPr snapToGrid="0">
      <p:cViewPr varScale="1">
        <p:scale>
          <a:sx n="74" d="100"/>
          <a:sy n="74" d="100"/>
        </p:scale>
        <p:origin x="130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3995201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835397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274974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715888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28090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760709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06158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049997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885731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044085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68807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3915615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124150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40457591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354982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085875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26CB59-8B0F-4B6D-9D62-930C7BAC7892}" type="datetimeFigureOut">
              <a:rPr lang="en-US" smtClean="0"/>
              <a:t>2/29/2024</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0525CBFB-9302-439C-B85F-FCC4E2FFAC59}" type="slidenum">
              <a:rPr lang="en-US" smtClean="0"/>
              <a:t>‹#›</a:t>
            </a:fld>
            <a:endParaRPr lang="en-US" dirty="0"/>
          </a:p>
        </p:txBody>
      </p:sp>
    </p:spTree>
    <p:extLst>
      <p:ext uri="{BB962C8B-B14F-4D97-AF65-F5344CB8AC3E}">
        <p14:creationId xmlns:p14="http://schemas.microsoft.com/office/powerpoint/2010/main" val="132947473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txBody>
          <a:bodyPr/>
          <a:lstStyle/>
          <a:p>
            <a:pPr marL="0" indent="0" algn="ctr">
              <a:buNone/>
            </a:pPr>
            <a:r>
              <a:rPr lang="en-US" sz="3600" b="1" dirty="0"/>
              <a:t>Kwa Thema Skills School</a:t>
            </a:r>
          </a:p>
          <a:p>
            <a:pPr marL="0" indent="0" algn="ctr">
              <a:buNone/>
            </a:pPr>
            <a:r>
              <a:rPr lang="en-US" sz="2700" b="1" dirty="0"/>
              <a:t>(School Of Specialization)</a:t>
            </a:r>
          </a:p>
          <a:p>
            <a:pPr marL="0" indent="0" algn="ctr">
              <a:buNone/>
            </a:pPr>
            <a:r>
              <a:rPr lang="en-US" sz="2700" b="1" dirty="0"/>
              <a:t>Maintenance Year </a:t>
            </a:r>
            <a:r>
              <a:rPr lang="en-US" sz="2700" b="1" dirty="0" smtClean="0"/>
              <a:t>1 Learning Content</a:t>
            </a:r>
            <a:endParaRPr lang="en-US" sz="2700" b="1" dirty="0"/>
          </a:p>
          <a:p>
            <a:pPr marL="0" indent="0" algn="ctr">
              <a:buNone/>
            </a:pPr>
            <a:endParaRPr lang="en-US" sz="2700" b="1" dirty="0"/>
          </a:p>
        </p:txBody>
      </p:sp>
      <p:pic>
        <p:nvPicPr>
          <p:cNvPr id="2" name="Picture 1"/>
          <p:cNvPicPr>
            <a:picLocks noChangeAspect="1"/>
          </p:cNvPicPr>
          <p:nvPr/>
        </p:nvPicPr>
        <p:blipFill>
          <a:blip r:embed="rId2"/>
          <a:stretch>
            <a:fillRect/>
          </a:stretch>
        </p:blipFill>
        <p:spPr>
          <a:xfrm>
            <a:off x="2657864" y="2785696"/>
            <a:ext cx="3519179" cy="3666620"/>
          </a:xfrm>
          <a:prstGeom prst="rect">
            <a:avLst/>
          </a:prstGeom>
        </p:spPr>
      </p:pic>
      <p:pic>
        <p:nvPicPr>
          <p:cNvPr id="4" name="Picture 3"/>
          <p:cNvPicPr>
            <a:picLocks noChangeAspect="1"/>
          </p:cNvPicPr>
          <p:nvPr/>
        </p:nvPicPr>
        <p:blipFill>
          <a:blip r:embed="rId3"/>
          <a:stretch>
            <a:fillRect/>
          </a:stretch>
        </p:blipFill>
        <p:spPr>
          <a:xfrm>
            <a:off x="673689" y="1838950"/>
            <a:ext cx="1072193" cy="1114171"/>
          </a:xfrm>
          <a:prstGeom prst="rect">
            <a:avLst/>
          </a:prstGeom>
        </p:spPr>
      </p:pic>
      <p:pic>
        <p:nvPicPr>
          <p:cNvPr id="5" name="Picture 4"/>
          <p:cNvPicPr>
            <a:picLocks noChangeAspect="1"/>
          </p:cNvPicPr>
          <p:nvPr/>
        </p:nvPicPr>
        <p:blipFill>
          <a:blip r:embed="rId4"/>
          <a:stretch>
            <a:fillRect/>
          </a:stretch>
        </p:blipFill>
        <p:spPr>
          <a:xfrm>
            <a:off x="6828201" y="1838949"/>
            <a:ext cx="1115665" cy="1114171"/>
          </a:xfrm>
          <a:prstGeom prst="rect">
            <a:avLst/>
          </a:prstGeom>
        </p:spPr>
      </p:pic>
    </p:spTree>
    <p:extLst>
      <p:ext uri="{BB962C8B-B14F-4D97-AF65-F5344CB8AC3E}">
        <p14:creationId xmlns:p14="http://schemas.microsoft.com/office/powerpoint/2010/main" val="1321691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
            <a:ext cx="9144000" cy="6857998"/>
          </a:xfrm>
        </p:spPr>
        <p:txBody>
          <a:bodyPr>
            <a:normAutofit fontScale="90000"/>
          </a:bodyPr>
          <a:lstStyle/>
          <a:p>
            <a:r>
              <a:rPr lang="en-GB" b="1" u="sng" dirty="0" smtClean="0">
                <a:solidFill>
                  <a:schemeClr val="tx1"/>
                </a:solidFill>
              </a:rPr>
              <a:t>Overview of Maintenance</a:t>
            </a:r>
            <a:br>
              <a:rPr lang="en-GB" b="1" u="sng" dirty="0" smtClean="0">
                <a:solidFill>
                  <a:schemeClr val="tx1"/>
                </a:solidFill>
              </a:rPr>
            </a:br>
            <a:r>
              <a:rPr lang="en-GB" sz="2400" b="1" dirty="0" smtClean="0">
                <a:solidFill>
                  <a:schemeClr val="tx1"/>
                </a:solidFill>
              </a:rPr>
              <a:t>- Maintenance management is vital in ensuring the long term </a:t>
            </a:r>
            <a:br>
              <a:rPr lang="en-GB" sz="2400" b="1" dirty="0" smtClean="0">
                <a:solidFill>
                  <a:schemeClr val="tx1"/>
                </a:solidFill>
              </a:rPr>
            </a:br>
            <a:r>
              <a:rPr lang="en-GB" sz="2400" b="1" dirty="0">
                <a:solidFill>
                  <a:schemeClr val="tx1"/>
                </a:solidFill>
              </a:rPr>
              <a:t> </a:t>
            </a:r>
            <a:r>
              <a:rPr lang="en-GB" sz="2400" b="1" dirty="0" smtClean="0">
                <a:solidFill>
                  <a:schemeClr val="tx1"/>
                </a:solidFill>
              </a:rPr>
              <a:t> success of your maintenance program by monitoring quality </a:t>
            </a:r>
            <a:br>
              <a:rPr lang="en-GB" sz="2400" b="1" dirty="0" smtClean="0">
                <a:solidFill>
                  <a:schemeClr val="tx1"/>
                </a:solidFill>
              </a:rPr>
            </a:br>
            <a:r>
              <a:rPr lang="en-GB" sz="2400" b="1" dirty="0">
                <a:solidFill>
                  <a:schemeClr val="tx1"/>
                </a:solidFill>
              </a:rPr>
              <a:t> </a:t>
            </a:r>
            <a:r>
              <a:rPr lang="en-GB" sz="2400" b="1" dirty="0" smtClean="0">
                <a:solidFill>
                  <a:schemeClr val="tx1"/>
                </a:solidFill>
              </a:rPr>
              <a:t> assurance, maintaining operational efficiency and keeping</a:t>
            </a:r>
            <a:br>
              <a:rPr lang="en-GB" sz="2400" b="1" dirty="0" smtClean="0">
                <a:solidFill>
                  <a:schemeClr val="tx1"/>
                </a:solidFill>
              </a:rPr>
            </a:br>
            <a:r>
              <a:rPr lang="en-GB" sz="2400" b="1" dirty="0" smtClean="0">
                <a:solidFill>
                  <a:schemeClr val="tx1"/>
                </a:solidFill>
              </a:rPr>
              <a:t>  assets in optimum running order. </a:t>
            </a:r>
            <a:br>
              <a:rPr lang="en-GB" sz="2400" b="1" dirty="0" smtClean="0">
                <a:solidFill>
                  <a:schemeClr val="tx1"/>
                </a:solidFill>
              </a:rPr>
            </a:br>
            <a:r>
              <a:rPr lang="en-GB" sz="2400" b="1" dirty="0" smtClean="0">
                <a:solidFill>
                  <a:schemeClr val="tx1"/>
                </a:solidFill>
              </a:rPr>
              <a:t>- Properly maintained assets and resources keep your </a:t>
            </a:r>
            <a:br>
              <a:rPr lang="en-GB" sz="2400" b="1" dirty="0" smtClean="0">
                <a:solidFill>
                  <a:schemeClr val="tx1"/>
                </a:solidFill>
              </a:rPr>
            </a:br>
            <a:r>
              <a:rPr lang="en-GB" sz="2400" b="1" dirty="0">
                <a:solidFill>
                  <a:schemeClr val="tx1"/>
                </a:solidFill>
              </a:rPr>
              <a:t> </a:t>
            </a:r>
            <a:r>
              <a:rPr lang="en-GB" sz="2400" b="1" dirty="0" smtClean="0">
                <a:solidFill>
                  <a:schemeClr val="tx1"/>
                </a:solidFill>
              </a:rPr>
              <a:t>production stable and greatly minimize the chances for unplanned</a:t>
            </a:r>
            <a:br>
              <a:rPr lang="en-GB" sz="2400" b="1" dirty="0" smtClean="0">
                <a:solidFill>
                  <a:schemeClr val="tx1"/>
                </a:solidFill>
              </a:rPr>
            </a:br>
            <a:r>
              <a:rPr lang="en-GB" sz="2400" b="1" dirty="0" smtClean="0">
                <a:solidFill>
                  <a:schemeClr val="tx1"/>
                </a:solidFill>
              </a:rPr>
              <a:t> downtime.</a:t>
            </a:r>
            <a:r>
              <a:rPr lang="en-GB" sz="2800" b="1" u="sng" dirty="0">
                <a:solidFill>
                  <a:schemeClr val="tx1"/>
                </a:solidFill>
              </a:rPr>
              <a:t/>
            </a:r>
            <a:br>
              <a:rPr lang="en-GB" sz="2800" b="1" u="sng" dirty="0">
                <a:solidFill>
                  <a:schemeClr val="tx1"/>
                </a:solidFill>
              </a:rPr>
            </a:br>
            <a:r>
              <a:rPr lang="en-GB" sz="2800" b="1" u="sng" dirty="0" smtClean="0">
                <a:solidFill>
                  <a:schemeClr val="tx1"/>
                </a:solidFill>
              </a:rPr>
              <a:t>At the end of the term learners should be able to: </a:t>
            </a:r>
            <a:br>
              <a:rPr lang="en-GB" sz="2800" b="1" u="sng" dirty="0" smtClean="0">
                <a:solidFill>
                  <a:schemeClr val="tx1"/>
                </a:solidFill>
              </a:rPr>
            </a:br>
            <a:r>
              <a:rPr lang="en-GB" sz="2800" b="1" u="sng" dirty="0" smtClean="0">
                <a:solidFill>
                  <a:schemeClr val="tx1"/>
                </a:solidFill>
              </a:rPr>
              <a:t/>
            </a:r>
            <a:br>
              <a:rPr lang="en-GB" sz="2800" b="1" u="sng" dirty="0" smtClean="0">
                <a:solidFill>
                  <a:schemeClr val="tx1"/>
                </a:solidFill>
              </a:rPr>
            </a:br>
            <a:r>
              <a:rPr lang="en-US" sz="2700" b="1" dirty="0">
                <a:solidFill>
                  <a:schemeClr val="tx1"/>
                </a:solidFill>
              </a:rPr>
              <a:t>1. Apply safety rules in the workshop.</a:t>
            </a:r>
            <a:br>
              <a:rPr lang="en-US" sz="2700" b="1" dirty="0">
                <a:solidFill>
                  <a:schemeClr val="tx1"/>
                </a:solidFill>
              </a:rPr>
            </a:br>
            <a:r>
              <a:rPr lang="en-US" sz="2700" b="1" dirty="0">
                <a:solidFill>
                  <a:schemeClr val="tx1"/>
                </a:solidFill>
              </a:rPr>
              <a:t>2. Name or identify marking and cutting hand tools.</a:t>
            </a:r>
            <a:br>
              <a:rPr lang="en-US" sz="2700" b="1" dirty="0">
                <a:solidFill>
                  <a:schemeClr val="tx1"/>
                </a:solidFill>
              </a:rPr>
            </a:br>
            <a:r>
              <a:rPr lang="en-US" sz="2700" b="1" dirty="0">
                <a:solidFill>
                  <a:schemeClr val="tx1"/>
                </a:solidFill>
              </a:rPr>
              <a:t>3. To know the uses of making and cutting hand tools.</a:t>
            </a:r>
            <a:br>
              <a:rPr lang="en-US" sz="2700" b="1" dirty="0">
                <a:solidFill>
                  <a:schemeClr val="tx1"/>
                </a:solidFill>
              </a:rPr>
            </a:br>
            <a:r>
              <a:rPr lang="en-US" sz="2700" b="1" dirty="0">
                <a:solidFill>
                  <a:schemeClr val="tx1"/>
                </a:solidFill>
              </a:rPr>
              <a:t>4. Maintain hand and power tools or machines.</a:t>
            </a:r>
            <a:br>
              <a:rPr lang="en-US" sz="2700" b="1" dirty="0">
                <a:solidFill>
                  <a:schemeClr val="tx1"/>
                </a:solidFill>
              </a:rPr>
            </a:br>
            <a:r>
              <a:rPr lang="en-US" sz="2700" b="1" dirty="0">
                <a:solidFill>
                  <a:schemeClr val="tx1"/>
                </a:solidFill>
              </a:rPr>
              <a:t>5. To know different types and sizes of sandpapers.</a:t>
            </a:r>
            <a:br>
              <a:rPr lang="en-US" sz="2700" b="1" dirty="0">
                <a:solidFill>
                  <a:schemeClr val="tx1"/>
                </a:solidFill>
              </a:rPr>
            </a:br>
            <a:r>
              <a:rPr lang="en-US" sz="2700" b="1" dirty="0">
                <a:solidFill>
                  <a:schemeClr val="tx1"/>
                </a:solidFill>
              </a:rPr>
              <a:t>6. To different types of hinges.</a:t>
            </a:r>
            <a:br>
              <a:rPr lang="en-US" sz="2700" b="1" dirty="0">
                <a:solidFill>
                  <a:schemeClr val="tx1"/>
                </a:solidFill>
              </a:rPr>
            </a:br>
            <a:r>
              <a:rPr lang="en-US" sz="2700" b="1" dirty="0">
                <a:solidFill>
                  <a:schemeClr val="tx1"/>
                </a:solidFill>
              </a:rPr>
              <a:t>7.To know different types of locks.</a:t>
            </a:r>
            <a:br>
              <a:rPr lang="en-US" sz="2700" b="1" dirty="0">
                <a:solidFill>
                  <a:schemeClr val="tx1"/>
                </a:solidFill>
              </a:rPr>
            </a:br>
            <a:r>
              <a:rPr lang="en-US" sz="2700" b="1" dirty="0">
                <a:solidFill>
                  <a:schemeClr val="tx1"/>
                </a:solidFill>
              </a:rPr>
              <a:t>8. To make a J</a:t>
            </a:r>
            <a:r>
              <a:rPr lang="en-US" sz="2700" b="1" dirty="0" smtClean="0">
                <a:solidFill>
                  <a:schemeClr val="tx1"/>
                </a:solidFill>
              </a:rPr>
              <a:t>ewelry Box</a:t>
            </a:r>
            <a:r>
              <a:rPr lang="en-US" sz="2700" b="1" dirty="0">
                <a:solidFill>
                  <a:schemeClr val="tx1"/>
                </a:solidFill>
              </a:rPr>
              <a:t>.</a:t>
            </a:r>
            <a:br>
              <a:rPr lang="en-US" sz="2700" b="1" dirty="0">
                <a:solidFill>
                  <a:schemeClr val="tx1"/>
                </a:solidFill>
              </a:rPr>
            </a:br>
            <a:endParaRPr lang="en-GB" sz="2700" dirty="0">
              <a:solidFill>
                <a:schemeClr val="tx1"/>
              </a:solidFill>
            </a:endParaRPr>
          </a:p>
        </p:txBody>
      </p:sp>
    </p:spTree>
    <p:extLst>
      <p:ext uri="{BB962C8B-B14F-4D97-AF65-F5344CB8AC3E}">
        <p14:creationId xmlns:p14="http://schemas.microsoft.com/office/powerpoint/2010/main" val="31255019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
            <a:ext cx="9144000" cy="953035"/>
          </a:xfrm>
        </p:spPr>
        <p:txBody>
          <a:bodyPr>
            <a:normAutofit fontScale="90000"/>
          </a:bodyPr>
          <a:lstStyle/>
          <a:p>
            <a:r>
              <a:rPr lang="en-GB" sz="6000" b="1" dirty="0" smtClean="0"/>
              <a:t>   </a:t>
            </a:r>
            <a:r>
              <a:rPr lang="en-GB" sz="6600" b="1" u="sng" dirty="0" smtClean="0"/>
              <a:t>Maintenance Year 4</a:t>
            </a:r>
            <a:endParaRPr lang="en-GB" sz="6600" u="sng" dirty="0"/>
          </a:p>
        </p:txBody>
      </p:sp>
      <p:sp>
        <p:nvSpPr>
          <p:cNvPr id="3" name="Content Placeholder 2"/>
          <p:cNvSpPr>
            <a:spLocks noGrp="1"/>
          </p:cNvSpPr>
          <p:nvPr>
            <p:ph idx="1"/>
          </p:nvPr>
        </p:nvSpPr>
        <p:spPr>
          <a:xfrm>
            <a:off x="0" y="953037"/>
            <a:ext cx="9144000" cy="5904963"/>
          </a:xfrm>
        </p:spPr>
        <p:txBody>
          <a:bodyPr>
            <a:normAutofit fontScale="40000" lnSpcReduction="20000"/>
          </a:bodyPr>
          <a:lstStyle/>
          <a:p>
            <a:pPr marL="0" indent="0">
              <a:buNone/>
            </a:pPr>
            <a:r>
              <a:rPr lang="en-US" sz="5400" b="1" smtClean="0"/>
              <a:t>                                     </a:t>
            </a:r>
            <a:r>
              <a:rPr lang="en-US" sz="5400" b="1" u="sng" smtClean="0"/>
              <a:t>Content</a:t>
            </a:r>
            <a:endParaRPr lang="en-US" sz="5400" b="1" u="sng" dirty="0" smtClean="0"/>
          </a:p>
          <a:p>
            <a:pPr marL="0" indent="0">
              <a:buNone/>
            </a:pPr>
            <a:r>
              <a:rPr lang="en-US" sz="3200" b="1" dirty="0" smtClean="0"/>
              <a:t>1. </a:t>
            </a:r>
            <a:r>
              <a:rPr lang="en-US" sz="3200" b="1" u="sng" dirty="0" smtClean="0"/>
              <a:t>Mechanical</a:t>
            </a:r>
          </a:p>
          <a:p>
            <a:pPr marL="0" indent="0">
              <a:buNone/>
            </a:pPr>
            <a:r>
              <a:rPr lang="en-US" sz="3000" b="1" dirty="0" smtClean="0"/>
              <a:t>1. Safety and Maintenance of :</a:t>
            </a:r>
          </a:p>
          <a:p>
            <a:pPr marL="0" indent="0">
              <a:buNone/>
            </a:pPr>
            <a:r>
              <a:rPr lang="en-US" sz="3000" b="1" dirty="0" smtClean="0"/>
              <a:t>                                               1.1 </a:t>
            </a:r>
            <a:r>
              <a:rPr lang="en-US" sz="3000" b="1" dirty="0"/>
              <a:t>W</a:t>
            </a:r>
            <a:r>
              <a:rPr lang="en-US" sz="3000" b="1" dirty="0" smtClean="0"/>
              <a:t>eed Eaters (Trimmers)</a:t>
            </a:r>
          </a:p>
          <a:p>
            <a:pPr marL="0" indent="0">
              <a:buNone/>
            </a:pPr>
            <a:r>
              <a:rPr lang="en-US" sz="3000" b="1" dirty="0" smtClean="0"/>
              <a:t>                                               1.2 Blowers</a:t>
            </a:r>
          </a:p>
          <a:p>
            <a:pPr marL="0" indent="0">
              <a:buNone/>
            </a:pPr>
            <a:r>
              <a:rPr lang="en-US" sz="3000" b="1" dirty="0" smtClean="0"/>
              <a:t>                                               1.3 Lawn Mowers (Pushers)</a:t>
            </a:r>
          </a:p>
          <a:p>
            <a:pPr marL="0" indent="0">
              <a:buNone/>
            </a:pPr>
            <a:r>
              <a:rPr lang="en-US" sz="3000" b="1" dirty="0" smtClean="0"/>
              <a:t>2. Identification of Serviceable Parts of a Car.</a:t>
            </a:r>
          </a:p>
          <a:p>
            <a:pPr marL="0" indent="0">
              <a:buNone/>
            </a:pPr>
            <a:r>
              <a:rPr lang="en-US" sz="3000" b="1" dirty="0" smtClean="0"/>
              <a:t>3. Minor Service of a Car.</a:t>
            </a:r>
          </a:p>
          <a:p>
            <a:pPr marL="0" indent="0">
              <a:buNone/>
            </a:pPr>
            <a:r>
              <a:rPr lang="en-US" sz="3500" dirty="0"/>
              <a:t>2</a:t>
            </a:r>
            <a:r>
              <a:rPr lang="en-US" sz="3500" dirty="0" smtClean="0"/>
              <a:t>. </a:t>
            </a:r>
            <a:r>
              <a:rPr lang="en-US" sz="3500" u="sng" dirty="0" smtClean="0"/>
              <a:t>Painting</a:t>
            </a:r>
            <a:endParaRPr lang="en-US" sz="3000" b="1" u="sng" dirty="0" smtClean="0"/>
          </a:p>
          <a:p>
            <a:pPr marL="0" indent="0">
              <a:buNone/>
            </a:pPr>
            <a:r>
              <a:rPr lang="en-US" sz="3000" b="1" dirty="0" smtClean="0"/>
              <a:t>1. Maintenance of Wood, Metals and Walls.</a:t>
            </a:r>
          </a:p>
          <a:p>
            <a:pPr marL="0" indent="0">
              <a:buNone/>
            </a:pPr>
            <a:r>
              <a:rPr lang="en-US" sz="3200" b="1" dirty="0" smtClean="0"/>
              <a:t>3.</a:t>
            </a:r>
            <a:r>
              <a:rPr lang="en-US" sz="3200" b="1" u="sng" dirty="0" smtClean="0"/>
              <a:t>Glazing</a:t>
            </a:r>
          </a:p>
          <a:p>
            <a:pPr marL="0" indent="0">
              <a:buNone/>
            </a:pPr>
            <a:r>
              <a:rPr lang="en-US" sz="3000" b="1" dirty="0" smtClean="0"/>
              <a:t>1. Glazing Methods.</a:t>
            </a:r>
          </a:p>
          <a:p>
            <a:pPr marL="0" indent="0">
              <a:buNone/>
            </a:pPr>
            <a:r>
              <a:rPr lang="en-US" sz="3000" b="1" dirty="0" smtClean="0"/>
              <a:t>2. How do you remove old putty?</a:t>
            </a:r>
          </a:p>
          <a:p>
            <a:pPr marL="0" indent="0">
              <a:buNone/>
            </a:pPr>
            <a:r>
              <a:rPr lang="en-US" sz="3000" b="1" dirty="0" smtClean="0"/>
              <a:t>3. How do you apply window glazing using a putty?</a:t>
            </a:r>
          </a:p>
          <a:p>
            <a:pPr marL="0" indent="0">
              <a:buNone/>
            </a:pPr>
            <a:r>
              <a:rPr lang="en-US" sz="3200" b="1" dirty="0" smtClean="0"/>
              <a:t>4.</a:t>
            </a:r>
            <a:r>
              <a:rPr lang="en-US" sz="3200" b="1" u="sng" dirty="0" smtClean="0"/>
              <a:t>Waterproofing</a:t>
            </a:r>
          </a:p>
          <a:p>
            <a:pPr marL="0" indent="0">
              <a:buNone/>
            </a:pPr>
            <a:r>
              <a:rPr lang="en-US" sz="3000" b="1" dirty="0" smtClean="0"/>
              <a:t>1. Purpose of Waterproofing.</a:t>
            </a:r>
          </a:p>
          <a:p>
            <a:pPr marL="0" indent="0">
              <a:buNone/>
            </a:pPr>
            <a:r>
              <a:rPr lang="en-US" sz="3000" b="1" dirty="0" smtClean="0"/>
              <a:t>2. Places where waterproofing is essential.</a:t>
            </a:r>
          </a:p>
          <a:p>
            <a:pPr marL="0" indent="0">
              <a:buNone/>
            </a:pPr>
            <a:r>
              <a:rPr lang="en-US" sz="3000" b="1" dirty="0" smtClean="0"/>
              <a:t>3. Waterproofing Methods.</a:t>
            </a:r>
          </a:p>
          <a:p>
            <a:pPr marL="0" indent="0">
              <a:buNone/>
            </a:pPr>
            <a:r>
              <a:rPr lang="en-US" sz="3200" b="1" dirty="0"/>
              <a:t>5</a:t>
            </a:r>
            <a:r>
              <a:rPr lang="en-US" sz="3200" b="1" dirty="0" smtClean="0"/>
              <a:t>. </a:t>
            </a:r>
            <a:r>
              <a:rPr lang="en-US" sz="3200" b="1" u="sng" dirty="0" smtClean="0"/>
              <a:t>Electrical</a:t>
            </a:r>
          </a:p>
          <a:p>
            <a:pPr marL="0" indent="0">
              <a:buNone/>
            </a:pPr>
            <a:r>
              <a:rPr lang="en-US" sz="3000" b="1" dirty="0" smtClean="0"/>
              <a:t>1. Soldering</a:t>
            </a:r>
          </a:p>
          <a:p>
            <a:pPr marL="0" indent="0">
              <a:buNone/>
            </a:pPr>
            <a:r>
              <a:rPr lang="en-US" sz="3000" b="1" dirty="0" smtClean="0"/>
              <a:t>2. How to wire a lamp</a:t>
            </a:r>
          </a:p>
          <a:p>
            <a:pPr>
              <a:buAutoNum type="arabicPeriod"/>
            </a:pPr>
            <a:endParaRPr lang="en-US" b="1" dirty="0" smtClean="0"/>
          </a:p>
        </p:txBody>
      </p:sp>
    </p:spTree>
    <p:extLst>
      <p:ext uri="{BB962C8B-B14F-4D97-AF65-F5344CB8AC3E}">
        <p14:creationId xmlns:p14="http://schemas.microsoft.com/office/powerpoint/2010/main" val="3487749907"/>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2621</TotalTime>
  <Words>141</Words>
  <Application>Microsoft Office PowerPoint</Application>
  <PresentationFormat>On-screen Show (4:3)</PresentationFormat>
  <Paragraphs>26</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Trebuchet MS</vt:lpstr>
      <vt:lpstr>Wingdings 3</vt:lpstr>
      <vt:lpstr>Facet</vt:lpstr>
      <vt:lpstr>PowerPoint Presentation</vt:lpstr>
      <vt:lpstr>Overview of Maintenance - Maintenance management is vital in ensuring the long term    success of your maintenance program by monitoring quality    assurance, maintaining operational efficiency and keeping   assets in optimum running order.  - Properly maintained assets and resources keep your   production stable and greatly minimize the chances for unplanned  downtime. At the end of the term learners should be able to:   1. Apply safety rules in the workshop. 2. Name or identify marking and cutting hand tools. 3. To know the uses of making and cutting hand tools. 4. Maintain hand and power tools or machines. 5. To know different types and sizes of sandpapers. 6. To different types of hinges. 7.To know different types of locks. 8. To make a Jewelry Box. </vt:lpstr>
      <vt:lpstr>   Maintenance Year 4</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Maintenance Year 2</dc:title>
  <dc:creator>Dr. MP Mazibuko</dc:creator>
  <cp:lastModifiedBy>Dr. MP Mazibuko</cp:lastModifiedBy>
  <cp:revision>191</cp:revision>
  <cp:lastPrinted>2023-10-11T06:37:44Z</cp:lastPrinted>
  <dcterms:created xsi:type="dcterms:W3CDTF">2022-08-25T11:18:17Z</dcterms:created>
  <dcterms:modified xsi:type="dcterms:W3CDTF">2024-02-29T07:04:28Z</dcterms:modified>
</cp:coreProperties>
</file>