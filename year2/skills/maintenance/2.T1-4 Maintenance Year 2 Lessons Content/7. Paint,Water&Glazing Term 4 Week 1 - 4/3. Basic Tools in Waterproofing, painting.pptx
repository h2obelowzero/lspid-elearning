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62" r:id="rId4"/>
    <p:sldId id="261" r:id="rId5"/>
    <p:sldId id="260" r:id="rId6"/>
    <p:sldId id="264" r:id="rId7"/>
    <p:sldId id="271" r:id="rId8"/>
    <p:sldId id="269" r:id="rId9"/>
    <p:sldId id="270" r:id="rId10"/>
  </p:sldIdLst>
  <p:sldSz cx="12192000" cy="6858000"/>
  <p:notesSz cx="6735763" cy="98663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6" d="100"/>
          <a:sy n="86" d="100"/>
        </p:scale>
        <p:origin x="9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B26CB59-8B0F-4B6D-9D62-930C7BAC7892}" type="datetimeFigureOut">
              <a:rPr lang="en-US" smtClean="0"/>
              <a:t>4/15/2024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a:p>
        </p:txBody>
      </p:sp>
    </p:spTree>
    <p:extLst>
      <p:ext uri="{BB962C8B-B14F-4D97-AF65-F5344CB8AC3E}">
        <p14:creationId xmlns:p14="http://schemas.microsoft.com/office/powerpoint/2010/main" val="28523685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26CB59-8B0F-4B6D-9D62-930C7BAC7892}" type="datetimeFigureOut">
              <a:rPr lang="en-US" smtClean="0"/>
              <a:t>4/15/2024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a:p>
        </p:txBody>
      </p:sp>
    </p:spTree>
    <p:extLst>
      <p:ext uri="{BB962C8B-B14F-4D97-AF65-F5344CB8AC3E}">
        <p14:creationId xmlns:p14="http://schemas.microsoft.com/office/powerpoint/2010/main" val="869070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4/15/2024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a:p>
        </p:txBody>
      </p:sp>
    </p:spTree>
    <p:extLst>
      <p:ext uri="{BB962C8B-B14F-4D97-AF65-F5344CB8AC3E}">
        <p14:creationId xmlns:p14="http://schemas.microsoft.com/office/powerpoint/2010/main" val="31710155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B26CB59-8B0F-4B6D-9D62-930C7BAC7892}" type="datetimeFigureOut">
              <a:rPr lang="en-US" smtClean="0"/>
              <a:t>4/15/2024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25CBFB-9302-439C-B85F-FCC4E2FFAC59}" type="slidenum">
              <a:rPr lang="en-US" smtClean="0"/>
              <a:t>‹#›</a:t>
            </a:fld>
            <a:endParaRPr lang="en-US"/>
          </a:p>
        </p:txBody>
      </p:sp>
    </p:spTree>
    <p:extLst>
      <p:ext uri="{BB962C8B-B14F-4D97-AF65-F5344CB8AC3E}">
        <p14:creationId xmlns:p14="http://schemas.microsoft.com/office/powerpoint/2010/main" val="3308219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B26CB59-8B0F-4B6D-9D62-930C7BAC7892}" type="datetimeFigureOut">
              <a:rPr lang="en-US" smtClean="0"/>
              <a:t>4/15/2024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525CBFB-9302-439C-B85F-FCC4E2FFAC59}" type="slidenum">
              <a:rPr lang="en-US" smtClean="0"/>
              <a:t>‹#›</a:t>
            </a:fld>
            <a:endParaRPr lang="en-US"/>
          </a:p>
        </p:txBody>
      </p:sp>
    </p:spTree>
    <p:extLst>
      <p:ext uri="{BB962C8B-B14F-4D97-AF65-F5344CB8AC3E}">
        <p14:creationId xmlns:p14="http://schemas.microsoft.com/office/powerpoint/2010/main" val="1080706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B26CB59-8B0F-4B6D-9D62-930C7BAC7892}" type="datetimeFigureOut">
              <a:rPr lang="en-US" smtClean="0"/>
              <a:t>4/15/2024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525CBFB-9302-439C-B85F-FCC4E2FFAC59}" type="slidenum">
              <a:rPr lang="en-US" smtClean="0"/>
              <a:t>‹#›</a:t>
            </a:fld>
            <a:endParaRPr lang="en-US"/>
          </a:p>
        </p:txBody>
      </p:sp>
    </p:spTree>
    <p:extLst>
      <p:ext uri="{BB962C8B-B14F-4D97-AF65-F5344CB8AC3E}">
        <p14:creationId xmlns:p14="http://schemas.microsoft.com/office/powerpoint/2010/main" val="2358166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26CB59-8B0F-4B6D-9D62-930C7BAC7892}" type="datetimeFigureOut">
              <a:rPr lang="en-US" smtClean="0"/>
              <a:t>4/15/2024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525CBFB-9302-439C-B85F-FCC4E2FFAC59}" type="slidenum">
              <a:rPr lang="en-US" smtClean="0"/>
              <a:t>‹#›</a:t>
            </a:fld>
            <a:endParaRPr lang="en-US"/>
          </a:p>
        </p:txBody>
      </p:sp>
    </p:spTree>
    <p:extLst>
      <p:ext uri="{BB962C8B-B14F-4D97-AF65-F5344CB8AC3E}">
        <p14:creationId xmlns:p14="http://schemas.microsoft.com/office/powerpoint/2010/main" val="959250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26CB59-8B0F-4B6D-9D62-930C7BAC7892}" type="datetimeFigureOut">
              <a:rPr lang="en-US" smtClean="0"/>
              <a:t>4/15/2024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25CBFB-9302-439C-B85F-FCC4E2FFAC59}" type="slidenum">
              <a:rPr lang="en-US" smtClean="0"/>
              <a:t>‹#›</a:t>
            </a:fld>
            <a:endParaRPr lang="en-US"/>
          </a:p>
        </p:txBody>
      </p:sp>
    </p:spTree>
    <p:extLst>
      <p:ext uri="{BB962C8B-B14F-4D97-AF65-F5344CB8AC3E}">
        <p14:creationId xmlns:p14="http://schemas.microsoft.com/office/powerpoint/2010/main" val="146774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26CB59-8B0F-4B6D-9D62-930C7BAC7892}" type="datetimeFigureOut">
              <a:rPr lang="en-US" smtClean="0"/>
              <a:t>4/15/2024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25CBFB-9302-439C-B85F-FCC4E2FFAC59}" type="slidenum">
              <a:rPr lang="en-US" smtClean="0"/>
              <a:t>‹#›</a:t>
            </a:fld>
            <a:endParaRPr lang="en-US"/>
          </a:p>
        </p:txBody>
      </p:sp>
    </p:spTree>
    <p:extLst>
      <p:ext uri="{BB962C8B-B14F-4D97-AF65-F5344CB8AC3E}">
        <p14:creationId xmlns:p14="http://schemas.microsoft.com/office/powerpoint/2010/main" val="927667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4/15/2024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a:p>
        </p:txBody>
      </p:sp>
    </p:spTree>
    <p:extLst>
      <p:ext uri="{BB962C8B-B14F-4D97-AF65-F5344CB8AC3E}">
        <p14:creationId xmlns:p14="http://schemas.microsoft.com/office/powerpoint/2010/main" val="3945807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4/15/2024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932805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4/15/2024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a:p>
        </p:txBody>
      </p:sp>
    </p:spTree>
    <p:extLst>
      <p:ext uri="{BB962C8B-B14F-4D97-AF65-F5344CB8AC3E}">
        <p14:creationId xmlns:p14="http://schemas.microsoft.com/office/powerpoint/2010/main" val="12272254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4/15/2024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8295991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4/15/2024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a:p>
        </p:txBody>
      </p:sp>
    </p:spTree>
    <p:extLst>
      <p:ext uri="{BB962C8B-B14F-4D97-AF65-F5344CB8AC3E}">
        <p14:creationId xmlns:p14="http://schemas.microsoft.com/office/powerpoint/2010/main" val="17064148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26CB59-8B0F-4B6D-9D62-930C7BAC7892}" type="datetimeFigureOut">
              <a:rPr lang="en-US" smtClean="0"/>
              <a:t>4/15/2024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a:p>
        </p:txBody>
      </p:sp>
    </p:spTree>
    <p:extLst>
      <p:ext uri="{BB962C8B-B14F-4D97-AF65-F5344CB8AC3E}">
        <p14:creationId xmlns:p14="http://schemas.microsoft.com/office/powerpoint/2010/main" val="35956320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26CB59-8B0F-4B6D-9D62-930C7BAC7892}" type="datetimeFigureOut">
              <a:rPr lang="en-US" smtClean="0"/>
              <a:t>4/15/2024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a:p>
        </p:txBody>
      </p:sp>
    </p:spTree>
    <p:extLst>
      <p:ext uri="{BB962C8B-B14F-4D97-AF65-F5344CB8AC3E}">
        <p14:creationId xmlns:p14="http://schemas.microsoft.com/office/powerpoint/2010/main" val="3033645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26CB59-8B0F-4B6D-9D62-930C7BAC7892}" type="datetimeFigureOut">
              <a:rPr lang="en-US" smtClean="0"/>
              <a:t>4/15/2024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525CBFB-9302-439C-B85F-FCC4E2FFAC59}" type="slidenum">
              <a:rPr lang="en-US" smtClean="0"/>
              <a:t>‹#›</a:t>
            </a:fld>
            <a:endParaRPr lang="en-US"/>
          </a:p>
        </p:txBody>
      </p:sp>
    </p:spTree>
    <p:extLst>
      <p:ext uri="{BB962C8B-B14F-4D97-AF65-F5344CB8AC3E}">
        <p14:creationId xmlns:p14="http://schemas.microsoft.com/office/powerpoint/2010/main" val="39699212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398061" cy="2387600"/>
          </a:xfrm>
        </p:spPr>
        <p:txBody>
          <a:bodyPr>
            <a:normAutofit/>
          </a:bodyPr>
          <a:lstStyle/>
          <a:p>
            <a:pPr algn="l"/>
            <a:r>
              <a:rPr lang="en-US" b="1" u="sng" dirty="0" smtClean="0"/>
              <a:t>Waterproofing, Painting &amp; Glazing</a:t>
            </a:r>
            <a:r>
              <a:rPr lang="en-US" b="1" dirty="0" smtClean="0"/>
              <a:t> </a:t>
            </a:r>
            <a:r>
              <a:rPr lang="en-US" sz="4000" b="1" dirty="0" smtClean="0"/>
              <a:t/>
            </a:r>
            <a:br>
              <a:rPr lang="en-US" sz="4000" b="1" dirty="0" smtClean="0"/>
            </a:br>
            <a:r>
              <a:rPr lang="en-US" sz="3600" b="1" dirty="0" smtClean="0"/>
              <a:t>									</a:t>
            </a:r>
            <a:endParaRPr lang="en-US" sz="3600" b="1" dirty="0"/>
          </a:p>
        </p:txBody>
      </p:sp>
      <p:pic>
        <p:nvPicPr>
          <p:cNvPr id="1026" name="Picture 2" descr="Flat roof installation with gas burner. Flat roof sealing. Flat roof  installation with gas bottle propane blowtorch during construction with  roofing felt. Heating and melting of bitumen tar paper. Roofer works. Roof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142" y="2560004"/>
            <a:ext cx="3038562" cy="308923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3"/>
          <a:stretch>
            <a:fillRect/>
          </a:stretch>
        </p:blipFill>
        <p:spPr>
          <a:xfrm>
            <a:off x="4088702" y="2387600"/>
            <a:ext cx="3013555" cy="3013555"/>
          </a:xfrm>
          <a:prstGeom prst="rect">
            <a:avLst/>
          </a:prstGeom>
        </p:spPr>
      </p:pic>
      <p:pic>
        <p:nvPicPr>
          <p:cNvPr id="9" name="Picture 8"/>
          <p:cNvPicPr>
            <a:picLocks noChangeAspect="1"/>
          </p:cNvPicPr>
          <p:nvPr/>
        </p:nvPicPr>
        <p:blipFill>
          <a:blip r:embed="rId4"/>
          <a:stretch>
            <a:fillRect/>
          </a:stretch>
        </p:blipFill>
        <p:spPr>
          <a:xfrm>
            <a:off x="7283183" y="2970452"/>
            <a:ext cx="2466975" cy="1847850"/>
          </a:xfrm>
          <a:prstGeom prst="rect">
            <a:avLst/>
          </a:prstGeom>
        </p:spPr>
      </p:pic>
    </p:spTree>
    <p:extLst>
      <p:ext uri="{BB962C8B-B14F-4D97-AF65-F5344CB8AC3E}">
        <p14:creationId xmlns:p14="http://schemas.microsoft.com/office/powerpoint/2010/main" val="263225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652" y="236336"/>
            <a:ext cx="11256134" cy="755337"/>
          </a:xfrm>
        </p:spPr>
        <p:txBody>
          <a:bodyPr/>
          <a:lstStyle/>
          <a:p>
            <a:r>
              <a:rPr lang="en-US" b="1" u="sng" dirty="0" smtClean="0"/>
              <a:t>Basic hand tools.</a:t>
            </a:r>
            <a:endParaRPr lang="en-US" b="1" u="sng" dirty="0"/>
          </a:p>
        </p:txBody>
      </p:sp>
      <p:sp>
        <p:nvSpPr>
          <p:cNvPr id="3" name="Content Placeholder 2"/>
          <p:cNvSpPr>
            <a:spLocks noGrp="1"/>
          </p:cNvSpPr>
          <p:nvPr>
            <p:ph idx="1"/>
          </p:nvPr>
        </p:nvSpPr>
        <p:spPr>
          <a:xfrm>
            <a:off x="463638" y="901521"/>
            <a:ext cx="10890161" cy="5956479"/>
          </a:xfrm>
        </p:spPr>
        <p:txBody>
          <a:bodyPr>
            <a:normAutofit lnSpcReduction="10000"/>
          </a:bodyPr>
          <a:lstStyle/>
          <a:p>
            <a:pPr marL="0" indent="0">
              <a:buNone/>
            </a:pPr>
            <a:r>
              <a:rPr lang="en-US" dirty="0" smtClean="0"/>
              <a:t>1. </a:t>
            </a:r>
            <a:r>
              <a:rPr lang="en-US" u="sng" dirty="0" smtClean="0"/>
              <a:t>Paint brushes and </a:t>
            </a:r>
            <a:r>
              <a:rPr lang="en-US" u="sng" dirty="0" err="1" smtClean="0"/>
              <a:t>Rolers</a:t>
            </a:r>
            <a:endParaRPr lang="en-US" u="sng" dirty="0" smtClean="0"/>
          </a:p>
          <a:p>
            <a:pPr marL="514350" indent="-514350">
              <a:buAutoNum type="arabicPeriod"/>
            </a:pPr>
            <a:endParaRPr lang="en-US" u="sng" dirty="0"/>
          </a:p>
          <a:p>
            <a:pPr marL="0" indent="0">
              <a:buNone/>
            </a:pPr>
            <a:endParaRPr lang="en-US" u="sng" dirty="0"/>
          </a:p>
          <a:p>
            <a:pPr marL="0" indent="0">
              <a:buNone/>
            </a:pPr>
            <a:endParaRPr lang="en-US" u="sng" dirty="0" smtClean="0"/>
          </a:p>
          <a:p>
            <a:pPr marL="0" indent="0">
              <a:buNone/>
            </a:pPr>
            <a:endParaRPr lang="en-US" u="sng" dirty="0" smtClean="0"/>
          </a:p>
          <a:p>
            <a:pPr marL="0" indent="0">
              <a:buNone/>
            </a:pPr>
            <a:endParaRPr lang="en-US" u="sng" dirty="0" smtClean="0"/>
          </a:p>
          <a:p>
            <a:pPr marL="0" indent="0">
              <a:buNone/>
            </a:pPr>
            <a:r>
              <a:rPr lang="en-US" dirty="0" smtClean="0"/>
              <a:t>- It is used for </a:t>
            </a:r>
            <a:r>
              <a:rPr lang="en-US" u="sng" dirty="0" smtClean="0"/>
              <a:t>removing</a:t>
            </a:r>
            <a:r>
              <a:rPr lang="en-US" dirty="0" smtClean="0"/>
              <a:t> and </a:t>
            </a:r>
            <a:r>
              <a:rPr lang="en-US" u="sng" dirty="0" smtClean="0"/>
              <a:t>replacing</a:t>
            </a:r>
            <a:r>
              <a:rPr lang="en-US" dirty="0" smtClean="0"/>
              <a:t> clamps.</a:t>
            </a:r>
          </a:p>
          <a:p>
            <a:pPr marL="0" indent="0">
              <a:buNone/>
            </a:pPr>
            <a:r>
              <a:rPr lang="en-US" dirty="0" smtClean="0"/>
              <a:t>2. </a:t>
            </a:r>
            <a:r>
              <a:rPr lang="en-US" u="sng" dirty="0" smtClean="0"/>
              <a:t>Trays</a:t>
            </a:r>
          </a:p>
          <a:p>
            <a:pPr marL="0" indent="0">
              <a:buNone/>
            </a:pPr>
            <a:endParaRPr lang="en-US" u="sng" dirty="0"/>
          </a:p>
          <a:p>
            <a:pPr marL="0" indent="0">
              <a:buNone/>
            </a:pPr>
            <a:endParaRPr lang="en-US" u="sng" dirty="0" smtClean="0"/>
          </a:p>
          <a:p>
            <a:pPr marL="0" indent="0">
              <a:buNone/>
            </a:pPr>
            <a:endParaRPr lang="en-US" u="sng" dirty="0" smtClean="0"/>
          </a:p>
          <a:p>
            <a:pPr marL="0" indent="0">
              <a:buNone/>
            </a:pPr>
            <a:endParaRPr lang="en-US" dirty="0" smtClean="0"/>
          </a:p>
          <a:p>
            <a:pPr marL="0" indent="0">
              <a:buNone/>
            </a:pPr>
            <a:endParaRPr lang="en-US" dirty="0"/>
          </a:p>
          <a:p>
            <a:pPr marL="0" indent="0">
              <a:buNone/>
            </a:pPr>
            <a:r>
              <a:rPr lang="en-US" dirty="0" smtClean="0"/>
              <a:t>- It is used to for </a:t>
            </a:r>
            <a:r>
              <a:rPr lang="en-US" u="sng" dirty="0" smtClean="0"/>
              <a:t>fastening</a:t>
            </a:r>
            <a:r>
              <a:rPr lang="en-US" dirty="0" smtClean="0"/>
              <a:t> and </a:t>
            </a:r>
            <a:r>
              <a:rPr lang="en-US" u="sng" dirty="0" smtClean="0"/>
              <a:t>loosing</a:t>
            </a:r>
            <a:r>
              <a:rPr lang="en-US" dirty="0" smtClean="0"/>
              <a:t> bolts and nuts.</a:t>
            </a:r>
          </a:p>
          <a:p>
            <a:pPr>
              <a:buFontTx/>
              <a:buChar char="-"/>
            </a:pPr>
            <a:endParaRPr lang="en-US" dirty="0"/>
          </a:p>
          <a:p>
            <a:pPr marL="0" indent="0">
              <a:buNone/>
            </a:pPr>
            <a:r>
              <a:rPr lang="en-US" dirty="0" smtClean="0"/>
              <a:t>                                         </a:t>
            </a:r>
          </a:p>
        </p:txBody>
      </p:sp>
      <p:sp>
        <p:nvSpPr>
          <p:cNvPr id="4" name="AutoShape 2" descr="How to Read a Tape Measure | Reading Measuring Tape With Pictures |  Construction Measuring Tools | Using Tape Measures | Johnson Level &amp; Tool  Mfg Compan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How to Read a Tape Measure | Reading Measuring Tape With Pictures |  Construction Measuring Tools | Using Tape Measures | Johnson Level &amp; Tool  Mfg Company"/>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a:stretch>
            <a:fillRect/>
          </a:stretch>
        </p:blipFill>
        <p:spPr>
          <a:xfrm>
            <a:off x="1408198" y="1369575"/>
            <a:ext cx="3126224" cy="1628451"/>
          </a:xfrm>
          <a:prstGeom prst="rect">
            <a:avLst/>
          </a:prstGeom>
        </p:spPr>
      </p:pic>
      <p:pic>
        <p:nvPicPr>
          <p:cNvPr id="7" name="Picture 6"/>
          <p:cNvPicPr>
            <a:picLocks noChangeAspect="1"/>
          </p:cNvPicPr>
          <p:nvPr/>
        </p:nvPicPr>
        <p:blipFill>
          <a:blip r:embed="rId3"/>
          <a:stretch>
            <a:fillRect/>
          </a:stretch>
        </p:blipFill>
        <p:spPr>
          <a:xfrm>
            <a:off x="1903957" y="3866889"/>
            <a:ext cx="2267503" cy="1799606"/>
          </a:xfrm>
          <a:prstGeom prst="rect">
            <a:avLst/>
          </a:prstGeom>
        </p:spPr>
      </p:pic>
    </p:spTree>
    <p:extLst>
      <p:ext uri="{BB962C8B-B14F-4D97-AF65-F5344CB8AC3E}">
        <p14:creationId xmlns:p14="http://schemas.microsoft.com/office/powerpoint/2010/main" val="2873049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 calcmode="lin" valueType="num">
                                      <p:cBhvr additive="base">
                                        <p:cTn id="2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anim calcmode="lin" valueType="num">
                                      <p:cBhvr additive="base">
                                        <p:cTn id="31"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60339"/>
            <a:ext cx="11353799" cy="6697662"/>
          </a:xfrm>
        </p:spPr>
        <p:txBody>
          <a:bodyPr>
            <a:normAutofit lnSpcReduction="10000"/>
          </a:bodyPr>
          <a:lstStyle/>
          <a:p>
            <a:pPr marL="0" indent="0">
              <a:buNone/>
            </a:pPr>
            <a:r>
              <a:rPr lang="en-US" dirty="0" smtClean="0"/>
              <a:t>3. </a:t>
            </a:r>
            <a:r>
              <a:rPr lang="en-US" u="sng" dirty="0" smtClean="0"/>
              <a:t>Scrapers</a:t>
            </a:r>
          </a:p>
          <a:p>
            <a:pPr>
              <a:buFontTx/>
              <a:buChar char="-"/>
            </a:pPr>
            <a:endParaRPr lang="en-US" dirty="0" smtClean="0"/>
          </a:p>
          <a:p>
            <a:pPr marL="0" indent="0">
              <a:buNone/>
            </a:pPr>
            <a:r>
              <a:rPr lang="en-US" dirty="0" smtClean="0"/>
              <a:t>                                 </a:t>
            </a:r>
            <a:endParaRPr lang="en-US" dirty="0"/>
          </a:p>
          <a:p>
            <a:pPr marL="0" indent="0">
              <a:buNone/>
            </a:pPr>
            <a:endParaRPr lang="en-US" dirty="0" smtClean="0"/>
          </a:p>
          <a:p>
            <a:pPr marL="0" indent="0">
              <a:buNone/>
            </a:pPr>
            <a:endParaRPr lang="en-US" dirty="0" smtClean="0"/>
          </a:p>
          <a:p>
            <a:pPr marL="0" indent="0">
              <a:buNone/>
            </a:pPr>
            <a:endParaRPr lang="en-US" dirty="0" smtClean="0"/>
          </a:p>
          <a:p>
            <a:pPr marL="0" indent="0">
              <a:buNone/>
            </a:pPr>
            <a:endParaRPr lang="en-US" dirty="0"/>
          </a:p>
          <a:p>
            <a:pPr marL="0" indent="0">
              <a:buNone/>
            </a:pPr>
            <a:r>
              <a:rPr lang="en-US" dirty="0" smtClean="0"/>
              <a:t>- It is used for </a:t>
            </a:r>
            <a:r>
              <a:rPr lang="en-US" u="sng" dirty="0" smtClean="0"/>
              <a:t>fastening</a:t>
            </a:r>
            <a:r>
              <a:rPr lang="en-US" dirty="0" smtClean="0"/>
              <a:t> and </a:t>
            </a:r>
            <a:r>
              <a:rPr lang="en-US" u="sng" dirty="0" smtClean="0"/>
              <a:t>loosing</a:t>
            </a:r>
            <a:r>
              <a:rPr lang="en-US" dirty="0" smtClean="0"/>
              <a:t> screws.</a:t>
            </a:r>
          </a:p>
          <a:p>
            <a:pPr marL="0" indent="0">
              <a:buNone/>
            </a:pPr>
            <a:r>
              <a:rPr lang="en-US" dirty="0" smtClean="0"/>
              <a:t>4</a:t>
            </a:r>
            <a:r>
              <a:rPr lang="en-US" dirty="0"/>
              <a:t> </a:t>
            </a:r>
            <a:r>
              <a:rPr lang="en-US" dirty="0" smtClean="0"/>
              <a:t>Measuring tape</a:t>
            </a:r>
            <a:endParaRPr lang="en-US" u="sng" dirty="0" smtClean="0"/>
          </a:p>
          <a:p>
            <a:pPr marL="0" indent="0">
              <a:buNone/>
            </a:pPr>
            <a:endParaRPr lang="en-US" u="sng" dirty="0"/>
          </a:p>
          <a:p>
            <a:pPr marL="0" indent="0">
              <a:buNone/>
            </a:pPr>
            <a:r>
              <a:rPr lang="en-US" u="sng" dirty="0" smtClean="0"/>
              <a:t>                     </a:t>
            </a:r>
          </a:p>
          <a:p>
            <a:pPr marL="0" indent="0">
              <a:buNone/>
            </a:pPr>
            <a:endParaRPr lang="en-US" dirty="0" smtClean="0"/>
          </a:p>
          <a:p>
            <a:pPr marL="0" indent="0">
              <a:buNone/>
            </a:pPr>
            <a:endParaRPr lang="en-US" dirty="0" smtClean="0"/>
          </a:p>
          <a:p>
            <a:pPr marL="0" indent="0">
              <a:buNone/>
            </a:pPr>
            <a:endParaRPr lang="en-US" dirty="0" smtClean="0"/>
          </a:p>
          <a:p>
            <a:pPr marL="0" indent="0">
              <a:buNone/>
            </a:pPr>
            <a:endParaRPr lang="en-US" dirty="0" smtClean="0"/>
          </a:p>
          <a:p>
            <a:pPr marL="0" indent="0">
              <a:buNone/>
            </a:pPr>
            <a:r>
              <a:rPr lang="en-US" dirty="0" smtClean="0"/>
              <a:t>- It is used for general </a:t>
            </a:r>
            <a:r>
              <a:rPr lang="en-US" u="sng" dirty="0" smtClean="0"/>
              <a:t>hammering</a:t>
            </a:r>
            <a:r>
              <a:rPr lang="en-US" dirty="0" smtClean="0"/>
              <a:t>.</a:t>
            </a:r>
          </a:p>
          <a:p>
            <a:pPr>
              <a:buFontTx/>
              <a:buChar char="-"/>
            </a:pPr>
            <a:endParaRPr lang="en-US" dirty="0"/>
          </a:p>
          <a:p>
            <a:pPr marL="0" indent="0">
              <a:buNone/>
            </a:pPr>
            <a:r>
              <a:rPr lang="en-US" dirty="0" smtClean="0"/>
              <a:t>                                         </a:t>
            </a:r>
          </a:p>
        </p:txBody>
      </p:sp>
      <p:sp>
        <p:nvSpPr>
          <p:cNvPr id="4" name="AutoShape 2" descr="How to Read a Tape Measure | Reading Measuring Tape With Pictures |  Construction Measuring Tools | Using Tape Measures | Johnson Level &amp; Tool  Mfg Compan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How to Read a Tape Measure | Reading Measuring Tape With Pictures |  Construction Measuring Tools | Using Tape Measures | Johnson Level &amp; Tool  Mfg Company"/>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p:cNvPicPr>
            <a:picLocks noChangeAspect="1"/>
          </p:cNvPicPr>
          <p:nvPr/>
        </p:nvPicPr>
        <p:blipFill>
          <a:blip r:embed="rId2"/>
          <a:stretch>
            <a:fillRect/>
          </a:stretch>
        </p:blipFill>
        <p:spPr>
          <a:xfrm>
            <a:off x="1453020" y="801253"/>
            <a:ext cx="2430048" cy="1793895"/>
          </a:xfrm>
          <a:prstGeom prst="rect">
            <a:avLst/>
          </a:prstGeom>
        </p:spPr>
      </p:pic>
      <p:pic>
        <p:nvPicPr>
          <p:cNvPr id="8" name="Picture 7"/>
          <p:cNvPicPr>
            <a:picLocks noChangeAspect="1"/>
          </p:cNvPicPr>
          <p:nvPr/>
        </p:nvPicPr>
        <p:blipFill>
          <a:blip r:embed="rId3"/>
          <a:stretch>
            <a:fillRect/>
          </a:stretch>
        </p:blipFill>
        <p:spPr>
          <a:xfrm>
            <a:off x="1283918" y="3767355"/>
            <a:ext cx="2768251" cy="1743075"/>
          </a:xfrm>
          <a:prstGeom prst="rect">
            <a:avLst/>
          </a:prstGeom>
        </p:spPr>
      </p:pic>
    </p:spTree>
    <p:extLst>
      <p:ext uri="{BB962C8B-B14F-4D97-AF65-F5344CB8AC3E}">
        <p14:creationId xmlns:p14="http://schemas.microsoft.com/office/powerpoint/2010/main" val="4176768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 calcmode="lin" valueType="num">
                                      <p:cBhvr additive="base">
                                        <p:cTn id="1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 calcmode="lin" valueType="num">
                                      <p:cBhvr additive="base">
                                        <p:cTn id="1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anim calcmode="lin" valueType="num">
                                      <p:cBhvr additive="base">
                                        <p:cTn id="2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15" end="15"/>
                                            </p:txEl>
                                          </p:spTgt>
                                        </p:tgtEl>
                                        <p:attrNameLst>
                                          <p:attrName>style.visibility</p:attrName>
                                        </p:attrNameLst>
                                      </p:cBhvr>
                                      <p:to>
                                        <p:strVal val="visible"/>
                                      </p:to>
                                    </p:set>
                                    <p:anim calcmode="lin" valueType="num">
                                      <p:cBhvr additive="base">
                                        <p:cTn id="29"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37"/>
            <a:ext cx="11353799" cy="6598925"/>
          </a:xfrm>
        </p:spPr>
        <p:txBody>
          <a:bodyPr>
            <a:noAutofit/>
          </a:bodyPr>
          <a:lstStyle/>
          <a:p>
            <a:pPr marL="0" indent="0">
              <a:buNone/>
            </a:pPr>
            <a:r>
              <a:rPr lang="en-US" sz="2000" dirty="0" smtClean="0"/>
              <a:t>5.Glass polishers</a:t>
            </a:r>
            <a:endParaRPr lang="en-US" sz="2000" u="sng" dirty="0" smtClean="0"/>
          </a:p>
          <a:p>
            <a:pPr marL="0" indent="0">
              <a:buNone/>
            </a:pPr>
            <a:endParaRPr lang="en-US" sz="2000" u="sng" dirty="0"/>
          </a:p>
          <a:p>
            <a:pPr marL="0" indent="0">
              <a:buNone/>
            </a:pPr>
            <a:r>
              <a:rPr lang="en-US" sz="2000" u="sng" dirty="0" smtClean="0"/>
              <a:t>                         </a:t>
            </a:r>
          </a:p>
          <a:p>
            <a:pPr marL="0" indent="0">
              <a:buNone/>
            </a:pPr>
            <a:endParaRPr lang="en-US" sz="2000" dirty="0" smtClean="0"/>
          </a:p>
          <a:p>
            <a:pPr marL="0" indent="0">
              <a:buNone/>
            </a:pPr>
            <a:endParaRPr lang="en-US" sz="2000" dirty="0"/>
          </a:p>
          <a:p>
            <a:pPr marL="0" indent="0">
              <a:buNone/>
            </a:pPr>
            <a:endParaRPr lang="en-US" sz="2000" dirty="0" smtClean="0"/>
          </a:p>
          <a:p>
            <a:pPr marL="0" indent="0">
              <a:buNone/>
            </a:pPr>
            <a:r>
              <a:rPr lang="en-US" sz="2000" dirty="0" smtClean="0"/>
              <a:t>- It is used for </a:t>
            </a:r>
            <a:r>
              <a:rPr lang="en-US" sz="2000" u="sng" dirty="0" smtClean="0"/>
              <a:t>cutting </a:t>
            </a:r>
            <a:r>
              <a:rPr lang="en-US" sz="2000" dirty="0" smtClean="0"/>
              <a:t>pipes.</a:t>
            </a:r>
          </a:p>
          <a:p>
            <a:pPr marL="0" indent="0">
              <a:buNone/>
            </a:pPr>
            <a:endParaRPr lang="en-US" sz="2000" dirty="0" smtClean="0"/>
          </a:p>
          <a:p>
            <a:pPr marL="0" indent="0">
              <a:buNone/>
            </a:pPr>
            <a:r>
              <a:rPr lang="en-US" sz="2000" dirty="0" smtClean="0"/>
              <a:t>6. </a:t>
            </a:r>
            <a:r>
              <a:rPr lang="en-US" sz="2000" u="sng" dirty="0" smtClean="0"/>
              <a:t>Glass cutter.</a:t>
            </a:r>
          </a:p>
          <a:p>
            <a:pPr marL="0" indent="0">
              <a:buNone/>
            </a:pPr>
            <a:endParaRPr lang="en-US" sz="2000" u="sng" dirty="0"/>
          </a:p>
          <a:p>
            <a:pPr marL="0" indent="0">
              <a:buNone/>
            </a:pPr>
            <a:endParaRPr lang="en-US" sz="2000" u="sng" dirty="0" smtClean="0"/>
          </a:p>
          <a:p>
            <a:pPr marL="0" indent="0">
              <a:buNone/>
            </a:pPr>
            <a:endParaRPr lang="en-US" sz="2000" u="sng" dirty="0"/>
          </a:p>
          <a:p>
            <a:pPr marL="0" indent="0">
              <a:buNone/>
            </a:pPr>
            <a:endParaRPr lang="en-US" sz="2000" u="sng" dirty="0" smtClean="0"/>
          </a:p>
          <a:p>
            <a:pPr marL="0" indent="0">
              <a:buNone/>
            </a:pPr>
            <a:r>
              <a:rPr lang="en-US" sz="2000" dirty="0" smtClean="0"/>
              <a:t>- It is used for </a:t>
            </a:r>
            <a:r>
              <a:rPr lang="en-US" sz="2000" u="sng" dirty="0" smtClean="0"/>
              <a:t>fastening</a:t>
            </a:r>
            <a:r>
              <a:rPr lang="en-US" sz="2000" dirty="0" smtClean="0"/>
              <a:t> and </a:t>
            </a:r>
            <a:r>
              <a:rPr lang="en-US" sz="2000" u="sng" dirty="0" smtClean="0"/>
              <a:t>loosening</a:t>
            </a:r>
            <a:r>
              <a:rPr lang="en-US" sz="2000" dirty="0" smtClean="0"/>
              <a:t> of bolts and nuts.</a:t>
            </a:r>
          </a:p>
          <a:p>
            <a:pPr>
              <a:buFontTx/>
              <a:buChar char="-"/>
            </a:pPr>
            <a:endParaRPr lang="en-US" sz="2000" dirty="0"/>
          </a:p>
          <a:p>
            <a:pPr marL="0" indent="0">
              <a:buNone/>
            </a:pPr>
            <a:r>
              <a:rPr lang="en-US" sz="2000" dirty="0" smtClean="0"/>
              <a:t>                                         </a:t>
            </a:r>
          </a:p>
        </p:txBody>
      </p:sp>
      <p:sp>
        <p:nvSpPr>
          <p:cNvPr id="4" name="AutoShape 2" descr="How to Read a Tape Measure | Reading Measuring Tape With Pictures |  Construction Measuring Tools | Using Tape Measures | Johnson Level &amp; Tool  Mfg Compan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How to Read a Tape Measure | Reading Measuring Tape With Pictures |  Construction Measuring Tools | Using Tape Measures | Johnson Level &amp; Tool  Mfg Company"/>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p:cNvPicPr>
            <a:picLocks noChangeAspect="1"/>
          </p:cNvPicPr>
          <p:nvPr/>
        </p:nvPicPr>
        <p:blipFill>
          <a:blip r:embed="rId2"/>
          <a:stretch>
            <a:fillRect/>
          </a:stretch>
        </p:blipFill>
        <p:spPr>
          <a:xfrm rot="1879346">
            <a:off x="1932402" y="3635098"/>
            <a:ext cx="1751897" cy="1751897"/>
          </a:xfrm>
          <a:prstGeom prst="rect">
            <a:avLst/>
          </a:prstGeom>
        </p:spPr>
      </p:pic>
      <p:pic>
        <p:nvPicPr>
          <p:cNvPr id="8" name="Picture 7"/>
          <p:cNvPicPr>
            <a:picLocks noChangeAspect="1"/>
          </p:cNvPicPr>
          <p:nvPr/>
        </p:nvPicPr>
        <p:blipFill>
          <a:blip r:embed="rId3"/>
          <a:stretch>
            <a:fillRect/>
          </a:stretch>
        </p:blipFill>
        <p:spPr>
          <a:xfrm>
            <a:off x="1392625" y="579533"/>
            <a:ext cx="2619375" cy="1743075"/>
          </a:xfrm>
          <a:prstGeom prst="rect">
            <a:avLst/>
          </a:prstGeom>
        </p:spPr>
      </p:pic>
    </p:spTree>
    <p:extLst>
      <p:ext uri="{BB962C8B-B14F-4D97-AF65-F5344CB8AC3E}">
        <p14:creationId xmlns:p14="http://schemas.microsoft.com/office/powerpoint/2010/main" val="16126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 calcmode="lin" valueType="num">
                                      <p:cBhvr additive="base">
                                        <p:cTn id="1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3" end="13"/>
                                            </p:txEl>
                                          </p:spTgt>
                                        </p:tgtEl>
                                        <p:attrNameLst>
                                          <p:attrName>style.visibility</p:attrName>
                                        </p:attrNameLst>
                                      </p:cBhvr>
                                      <p:to>
                                        <p:strVal val="visible"/>
                                      </p:to>
                                    </p:set>
                                    <p:anim calcmode="lin" valueType="num">
                                      <p:cBhvr additive="base">
                                        <p:cTn id="19"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7938"/>
            <a:ext cx="11198136" cy="6850062"/>
          </a:xfrm>
        </p:spPr>
        <p:txBody>
          <a:bodyPr>
            <a:normAutofit fontScale="92500" lnSpcReduction="20000"/>
          </a:bodyPr>
          <a:lstStyle/>
          <a:p>
            <a:pPr marL="0" indent="0">
              <a:buNone/>
            </a:pPr>
            <a:r>
              <a:rPr lang="en-US" sz="2000" dirty="0" smtClean="0"/>
              <a:t>7. </a:t>
            </a:r>
            <a:r>
              <a:rPr lang="en-US" sz="2000" u="sng" dirty="0" smtClean="0"/>
              <a:t>Hot air gun</a:t>
            </a:r>
          </a:p>
          <a:p>
            <a:pPr marL="0" indent="0">
              <a:buNone/>
            </a:pPr>
            <a:r>
              <a:rPr lang="en-US" sz="2000" dirty="0" smtClean="0"/>
              <a:t>                          </a:t>
            </a:r>
          </a:p>
          <a:p>
            <a:pPr marL="0" indent="0">
              <a:buNone/>
            </a:pPr>
            <a:r>
              <a:rPr lang="en-US" sz="2000" dirty="0" smtClean="0"/>
              <a:t>                     </a:t>
            </a:r>
            <a:endParaRPr lang="en-US" sz="2000" dirty="0"/>
          </a:p>
          <a:p>
            <a:pPr marL="0" indent="0">
              <a:buNone/>
            </a:pPr>
            <a:endParaRPr lang="en-US" sz="2000" dirty="0" smtClean="0"/>
          </a:p>
          <a:p>
            <a:pPr marL="0" indent="0">
              <a:buNone/>
            </a:pPr>
            <a:endParaRPr lang="en-US" sz="2000" dirty="0"/>
          </a:p>
          <a:p>
            <a:pPr marL="0" indent="0">
              <a:buNone/>
            </a:pPr>
            <a:endParaRPr lang="en-US" sz="2000" dirty="0" smtClean="0"/>
          </a:p>
          <a:p>
            <a:pPr marL="0" indent="0">
              <a:buNone/>
            </a:pPr>
            <a:endParaRPr lang="en-US" sz="2000" dirty="0" smtClean="0"/>
          </a:p>
          <a:p>
            <a:pPr marL="0" indent="0">
              <a:buNone/>
            </a:pPr>
            <a:r>
              <a:rPr lang="en-US" sz="2000" dirty="0" smtClean="0"/>
              <a:t>- It </a:t>
            </a:r>
            <a:r>
              <a:rPr lang="en-US" sz="2000" dirty="0"/>
              <a:t>is </a:t>
            </a:r>
            <a:r>
              <a:rPr lang="en-US" sz="2000" dirty="0" smtClean="0"/>
              <a:t>used for </a:t>
            </a:r>
            <a:r>
              <a:rPr lang="en-US" sz="2000" u="sng" dirty="0" smtClean="0"/>
              <a:t>fastening</a:t>
            </a:r>
            <a:r>
              <a:rPr lang="en-US" sz="2000" dirty="0" smtClean="0"/>
              <a:t> and </a:t>
            </a:r>
            <a:r>
              <a:rPr lang="en-US" sz="2000" u="sng" dirty="0" smtClean="0"/>
              <a:t>loosening </a:t>
            </a:r>
            <a:r>
              <a:rPr lang="en-US" sz="2000" dirty="0" smtClean="0"/>
              <a:t>of bolts, nuts and fittings.</a:t>
            </a:r>
          </a:p>
          <a:p>
            <a:pPr marL="0" indent="0">
              <a:buNone/>
            </a:pPr>
            <a:r>
              <a:rPr lang="en-US" sz="2000" dirty="0" smtClean="0"/>
              <a:t>8. </a:t>
            </a:r>
            <a:r>
              <a:rPr lang="en-US" sz="2000" u="sng" dirty="0" smtClean="0"/>
              <a:t>Chisel</a:t>
            </a:r>
          </a:p>
          <a:p>
            <a:pPr>
              <a:buFontTx/>
              <a:buChar char="-"/>
            </a:pPr>
            <a:endParaRPr lang="en-US" sz="2000" dirty="0" smtClean="0"/>
          </a:p>
          <a:p>
            <a:pPr>
              <a:buFontTx/>
              <a:buChar char="-"/>
            </a:pPr>
            <a:endParaRPr lang="en-US" sz="2000" dirty="0"/>
          </a:p>
          <a:p>
            <a:pPr>
              <a:buFontTx/>
              <a:buChar char="-"/>
            </a:pPr>
            <a:endParaRPr lang="en-US" sz="2000" dirty="0" smtClean="0"/>
          </a:p>
          <a:p>
            <a:pPr marL="0" indent="0">
              <a:buNone/>
            </a:pPr>
            <a:endParaRPr lang="en-US" sz="2000" dirty="0" smtClean="0"/>
          </a:p>
          <a:p>
            <a:pPr marL="0" indent="0">
              <a:buNone/>
            </a:pPr>
            <a:endParaRPr lang="en-US" sz="2000" dirty="0" smtClean="0"/>
          </a:p>
          <a:p>
            <a:pPr marL="0" indent="0">
              <a:buNone/>
            </a:pPr>
            <a:endParaRPr lang="en-US" sz="2000" dirty="0" smtClean="0"/>
          </a:p>
          <a:p>
            <a:pPr marL="0" indent="0">
              <a:buNone/>
            </a:pPr>
            <a:r>
              <a:rPr lang="en-US" sz="2000" dirty="0" smtClean="0"/>
              <a:t>- It is used as a </a:t>
            </a:r>
            <a:r>
              <a:rPr lang="en-US" sz="2000" u="sng" dirty="0" smtClean="0"/>
              <a:t>cutting</a:t>
            </a:r>
            <a:r>
              <a:rPr lang="en-US" sz="2000" dirty="0" smtClean="0"/>
              <a:t> tool..</a:t>
            </a:r>
          </a:p>
          <a:p>
            <a:pPr>
              <a:buFontTx/>
              <a:buChar char="-"/>
            </a:pPr>
            <a:endParaRPr lang="en-US" dirty="0"/>
          </a:p>
          <a:p>
            <a:pPr marL="0" indent="0">
              <a:buNone/>
            </a:pPr>
            <a:r>
              <a:rPr lang="en-US" dirty="0" smtClean="0"/>
              <a:t>                                         </a:t>
            </a:r>
          </a:p>
        </p:txBody>
      </p:sp>
      <p:sp>
        <p:nvSpPr>
          <p:cNvPr id="4" name="AutoShape 2" descr="How to Read a Tape Measure | Reading Measuring Tape With Pictures |  Construction Measuring Tools | Using Tape Measures | Johnson Level &amp; Tool  Mfg Compan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How to Read a Tape Measure | Reading Measuring Tape With Pictures |  Construction Measuring Tools | Using Tape Measures | Johnson Level &amp; Tool  Mfg Company"/>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p:cNvPicPr>
            <a:picLocks noChangeAspect="1"/>
          </p:cNvPicPr>
          <p:nvPr/>
        </p:nvPicPr>
        <p:blipFill>
          <a:blip r:embed="rId2"/>
          <a:stretch>
            <a:fillRect/>
          </a:stretch>
        </p:blipFill>
        <p:spPr>
          <a:xfrm>
            <a:off x="2054268" y="473487"/>
            <a:ext cx="2116899" cy="1617802"/>
          </a:xfrm>
          <a:prstGeom prst="rect">
            <a:avLst/>
          </a:prstGeom>
        </p:spPr>
      </p:pic>
      <p:pic>
        <p:nvPicPr>
          <p:cNvPr id="8" name="Picture 7"/>
          <p:cNvPicPr>
            <a:picLocks noChangeAspect="1"/>
          </p:cNvPicPr>
          <p:nvPr/>
        </p:nvPicPr>
        <p:blipFill>
          <a:blip r:embed="rId3"/>
          <a:stretch>
            <a:fillRect/>
          </a:stretch>
        </p:blipFill>
        <p:spPr>
          <a:xfrm>
            <a:off x="1575341" y="3432969"/>
            <a:ext cx="2595826" cy="1496730"/>
          </a:xfrm>
          <a:prstGeom prst="rect">
            <a:avLst/>
          </a:prstGeom>
        </p:spPr>
      </p:pic>
    </p:spTree>
    <p:extLst>
      <p:ext uri="{BB962C8B-B14F-4D97-AF65-F5344CB8AC3E}">
        <p14:creationId xmlns:p14="http://schemas.microsoft.com/office/powerpoint/2010/main" val="2640062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 calcmode="lin" valueType="num">
                                      <p:cBhvr additive="base">
                                        <p:cTn id="1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 calcmode="lin" valueType="num">
                                      <p:cBhvr additive="base">
                                        <p:cTn id="1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15" end="15"/>
                                            </p:txEl>
                                          </p:spTgt>
                                        </p:tgtEl>
                                        <p:attrNameLst>
                                          <p:attrName>style.visibility</p:attrName>
                                        </p:attrNameLst>
                                      </p:cBhvr>
                                      <p:to>
                                        <p:strVal val="visible"/>
                                      </p:to>
                                    </p:set>
                                    <p:anim calcmode="lin" valueType="num">
                                      <p:cBhvr additive="base">
                                        <p:cTn id="25"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
            <a:ext cx="10890161" cy="6530864"/>
          </a:xfrm>
        </p:spPr>
        <p:txBody>
          <a:bodyPr>
            <a:normAutofit fontScale="25000" lnSpcReduction="20000"/>
          </a:bodyPr>
          <a:lstStyle/>
          <a:p>
            <a:pPr marL="0" indent="0">
              <a:buNone/>
            </a:pPr>
            <a:r>
              <a:rPr lang="en-US" sz="9600" dirty="0" smtClean="0"/>
              <a:t>9. </a:t>
            </a:r>
            <a:r>
              <a:rPr lang="en-US" sz="9600" u="sng" dirty="0" smtClean="0"/>
              <a:t>Blow torch</a:t>
            </a:r>
          </a:p>
          <a:p>
            <a:pPr>
              <a:buFontTx/>
              <a:buChar char="-"/>
            </a:pPr>
            <a:endParaRPr lang="en-US" sz="9600" dirty="0" smtClean="0"/>
          </a:p>
          <a:p>
            <a:pPr>
              <a:buFontTx/>
              <a:buChar char="-"/>
            </a:pPr>
            <a:endParaRPr lang="en-US" sz="8000" dirty="0"/>
          </a:p>
          <a:p>
            <a:pPr>
              <a:buFontTx/>
              <a:buChar char="-"/>
            </a:pPr>
            <a:endParaRPr lang="en-US" sz="8000" dirty="0" smtClean="0"/>
          </a:p>
          <a:p>
            <a:pPr marL="0" indent="0">
              <a:buNone/>
            </a:pPr>
            <a:endParaRPr lang="en-US" sz="8000" dirty="0" smtClean="0"/>
          </a:p>
          <a:p>
            <a:pPr marL="0" indent="0">
              <a:buNone/>
            </a:pPr>
            <a:endParaRPr lang="en-US" sz="8000" dirty="0" smtClean="0"/>
          </a:p>
          <a:p>
            <a:pPr marL="0" indent="0">
              <a:buNone/>
            </a:pPr>
            <a:r>
              <a:rPr lang="en-US" sz="8000" dirty="0" smtClean="0"/>
              <a:t>- It is used for </a:t>
            </a:r>
            <a:r>
              <a:rPr lang="en-US" sz="8000" u="sng" dirty="0" smtClean="0"/>
              <a:t>heating</a:t>
            </a:r>
            <a:r>
              <a:rPr lang="en-US" sz="8000" dirty="0" smtClean="0"/>
              <a:t> of metals and pipes</a:t>
            </a:r>
          </a:p>
          <a:p>
            <a:pPr marL="0" indent="0">
              <a:buNone/>
            </a:pPr>
            <a:r>
              <a:rPr lang="en-US" sz="8000" dirty="0" smtClean="0"/>
              <a:t>10. </a:t>
            </a:r>
            <a:r>
              <a:rPr lang="en-US" sz="8000" u="sng" dirty="0" smtClean="0"/>
              <a:t>Groove cutting tool</a:t>
            </a:r>
          </a:p>
          <a:p>
            <a:pPr marL="0" indent="0">
              <a:buNone/>
            </a:pPr>
            <a:endParaRPr lang="en-US" sz="8000" u="sng" dirty="0"/>
          </a:p>
          <a:p>
            <a:pPr marL="0" indent="0">
              <a:buNone/>
            </a:pPr>
            <a:endParaRPr lang="en-US" sz="8000" u="sng" dirty="0" smtClean="0"/>
          </a:p>
          <a:p>
            <a:pPr marL="0" indent="0">
              <a:buNone/>
            </a:pPr>
            <a:endParaRPr lang="en-US" sz="8000" u="sng" dirty="0"/>
          </a:p>
          <a:p>
            <a:pPr marL="0" indent="0">
              <a:buNone/>
            </a:pPr>
            <a:endParaRPr lang="en-US" sz="8000" u="sng" dirty="0" smtClean="0"/>
          </a:p>
          <a:p>
            <a:pPr marL="0" indent="0">
              <a:buNone/>
            </a:pPr>
            <a:endParaRPr lang="en-US" sz="8000" dirty="0" smtClean="0"/>
          </a:p>
          <a:p>
            <a:pPr marL="0" indent="0">
              <a:buNone/>
            </a:pPr>
            <a:endParaRPr lang="en-US" sz="8000" dirty="0" smtClean="0"/>
          </a:p>
          <a:p>
            <a:pPr marL="0" indent="0">
              <a:buNone/>
            </a:pPr>
            <a:r>
              <a:rPr lang="en-US" sz="8000" dirty="0" smtClean="0"/>
              <a:t>- It is used for </a:t>
            </a:r>
            <a:r>
              <a:rPr lang="en-US" sz="8000" u="sng" dirty="0" smtClean="0"/>
              <a:t>cutting</a:t>
            </a:r>
            <a:r>
              <a:rPr lang="en-US" sz="8000" dirty="0" smtClean="0"/>
              <a:t> pipes.</a:t>
            </a:r>
          </a:p>
          <a:p>
            <a:pPr>
              <a:buFontTx/>
              <a:buChar char="-"/>
            </a:pPr>
            <a:endParaRPr lang="en-US" sz="8000" dirty="0"/>
          </a:p>
          <a:p>
            <a:pPr marL="0" indent="0">
              <a:buNone/>
            </a:pPr>
            <a:r>
              <a:rPr lang="en-US" dirty="0" smtClean="0"/>
              <a:t>                                         </a:t>
            </a:r>
          </a:p>
        </p:txBody>
      </p:sp>
      <p:sp>
        <p:nvSpPr>
          <p:cNvPr id="4" name="AutoShape 2" descr="How to Read a Tape Measure | Reading Measuring Tape With Pictures |  Construction Measuring Tools | Using Tape Measures | Johnson Level &amp; Tool  Mfg Compan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How to Read a Tape Measure | Reading Measuring Tape With Pictures |  Construction Measuring Tools | Using Tape Measures | Johnson Level &amp; Tool  Mfg Company"/>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a:stretch>
            <a:fillRect/>
          </a:stretch>
        </p:blipFill>
        <p:spPr>
          <a:xfrm>
            <a:off x="1445060" y="645024"/>
            <a:ext cx="2838450" cy="1609725"/>
          </a:xfrm>
          <a:prstGeom prst="rect">
            <a:avLst/>
          </a:prstGeom>
        </p:spPr>
      </p:pic>
      <p:pic>
        <p:nvPicPr>
          <p:cNvPr id="7" name="Picture 6"/>
          <p:cNvPicPr>
            <a:picLocks noChangeAspect="1"/>
          </p:cNvPicPr>
          <p:nvPr/>
        </p:nvPicPr>
        <p:blipFill>
          <a:blip r:embed="rId3"/>
          <a:stretch>
            <a:fillRect/>
          </a:stretch>
        </p:blipFill>
        <p:spPr>
          <a:xfrm>
            <a:off x="1665962" y="3250313"/>
            <a:ext cx="2617548" cy="1778883"/>
          </a:xfrm>
          <a:prstGeom prst="rect">
            <a:avLst/>
          </a:prstGeom>
        </p:spPr>
      </p:pic>
    </p:spTree>
    <p:extLst>
      <p:ext uri="{BB962C8B-B14F-4D97-AF65-F5344CB8AC3E}">
        <p14:creationId xmlns:p14="http://schemas.microsoft.com/office/powerpoint/2010/main" val="2282087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 calcmode="lin" valueType="num">
                                      <p:cBhvr additive="base">
                                        <p:cTn id="1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14" end="14"/>
                                            </p:txEl>
                                          </p:spTgt>
                                        </p:tgtEl>
                                        <p:attrNameLst>
                                          <p:attrName>style.visibility</p:attrName>
                                        </p:attrNameLst>
                                      </p:cBhvr>
                                      <p:to>
                                        <p:strVal val="visible"/>
                                      </p:to>
                                    </p:set>
                                    <p:anim calcmode="lin" valueType="num">
                                      <p:cBhvr additive="base">
                                        <p:cTn id="25"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652" y="236336"/>
            <a:ext cx="11256134" cy="1325563"/>
          </a:xfrm>
        </p:spPr>
        <p:txBody>
          <a:bodyPr/>
          <a:lstStyle/>
          <a:p>
            <a:pPr algn="ctr"/>
            <a:r>
              <a:rPr lang="en-US" b="1" u="sng" dirty="0" smtClean="0"/>
              <a:t>Basic hand tools</a:t>
            </a:r>
            <a:r>
              <a:rPr lang="en-US" b="1" dirty="0" smtClean="0"/>
              <a:t>. </a:t>
            </a:r>
            <a:r>
              <a:rPr lang="en-US" dirty="0" smtClean="0"/>
              <a:t>(continues)</a:t>
            </a:r>
            <a:endParaRPr lang="en-US" dirty="0"/>
          </a:p>
        </p:txBody>
      </p:sp>
      <p:sp>
        <p:nvSpPr>
          <p:cNvPr id="3" name="Content Placeholder 2"/>
          <p:cNvSpPr>
            <a:spLocks noGrp="1"/>
          </p:cNvSpPr>
          <p:nvPr>
            <p:ph idx="1"/>
          </p:nvPr>
        </p:nvSpPr>
        <p:spPr>
          <a:xfrm>
            <a:off x="463638" y="1465016"/>
            <a:ext cx="10890161" cy="5141846"/>
          </a:xfrm>
        </p:spPr>
        <p:txBody>
          <a:bodyPr>
            <a:normAutofit/>
          </a:bodyPr>
          <a:lstStyle/>
          <a:p>
            <a:pPr marL="0" indent="0">
              <a:buNone/>
            </a:pPr>
            <a:r>
              <a:rPr lang="en-US" dirty="0" smtClean="0"/>
              <a:t>13. </a:t>
            </a:r>
            <a:r>
              <a:rPr lang="en-US" u="sng" dirty="0" smtClean="0"/>
              <a:t>Pipe brush</a:t>
            </a:r>
          </a:p>
          <a:p>
            <a:pPr marL="0" indent="0">
              <a:buNone/>
            </a:pPr>
            <a:endParaRPr lang="en-US" u="sng" dirty="0"/>
          </a:p>
          <a:p>
            <a:pPr marL="0" indent="0">
              <a:buNone/>
            </a:pPr>
            <a:endParaRPr lang="en-US" u="sng" dirty="0" smtClean="0"/>
          </a:p>
          <a:p>
            <a:pPr marL="0" indent="0">
              <a:buNone/>
            </a:pPr>
            <a:endParaRPr lang="en-US" u="sng" dirty="0"/>
          </a:p>
          <a:p>
            <a:pPr marL="0" indent="0">
              <a:buNone/>
            </a:pPr>
            <a:endParaRPr lang="en-US" dirty="0" smtClean="0"/>
          </a:p>
          <a:p>
            <a:pPr marL="0" indent="0">
              <a:buNone/>
            </a:pPr>
            <a:r>
              <a:rPr lang="en-US" dirty="0" smtClean="0"/>
              <a:t>- It is used for </a:t>
            </a:r>
            <a:r>
              <a:rPr lang="en-US" u="sng" dirty="0" smtClean="0"/>
              <a:t>cleaning</a:t>
            </a:r>
            <a:r>
              <a:rPr lang="en-US" dirty="0" smtClean="0"/>
              <a:t> of oxide films.</a:t>
            </a:r>
          </a:p>
          <a:p>
            <a:pPr marL="0" indent="0">
              <a:buNone/>
            </a:pPr>
            <a:r>
              <a:rPr lang="en-US" dirty="0" smtClean="0"/>
              <a:t>                          </a:t>
            </a:r>
            <a:endParaRPr lang="en-US" dirty="0"/>
          </a:p>
          <a:p>
            <a:pPr marL="0" indent="0">
              <a:buNone/>
            </a:pPr>
            <a:r>
              <a:rPr lang="en-US" u="sng" dirty="0" smtClean="0"/>
              <a:t>Feedback</a:t>
            </a:r>
            <a:r>
              <a:rPr lang="en-US" dirty="0" smtClean="0"/>
              <a:t>  </a:t>
            </a:r>
          </a:p>
          <a:p>
            <a:pPr marL="0" indent="0">
              <a:buNone/>
            </a:pPr>
            <a:endParaRPr lang="en-US" dirty="0"/>
          </a:p>
          <a:p>
            <a:pPr marL="0" indent="0">
              <a:buNone/>
            </a:pPr>
            <a:r>
              <a:rPr lang="en-US" dirty="0" smtClean="0"/>
              <a:t>Activity : Worksheet 1                        </a:t>
            </a:r>
          </a:p>
        </p:txBody>
      </p:sp>
      <p:sp>
        <p:nvSpPr>
          <p:cNvPr id="4" name="AutoShape 2" descr="How to Read a Tape Measure | Reading Measuring Tape With Pictures |  Construction Measuring Tools | Using Tape Measures | Johnson Level &amp; Tool  Mfg Compan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How to Read a Tape Measure | Reading Measuring Tape With Pictures |  Construction Measuring Tools | Using Tape Measures | Johnson Level &amp; Tool  Mfg Company"/>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a:stretch>
            <a:fillRect/>
          </a:stretch>
        </p:blipFill>
        <p:spPr>
          <a:xfrm>
            <a:off x="2126959" y="1970469"/>
            <a:ext cx="2316252" cy="1272346"/>
          </a:xfrm>
          <a:prstGeom prst="rect">
            <a:avLst/>
          </a:prstGeom>
        </p:spPr>
      </p:pic>
    </p:spTree>
    <p:extLst>
      <p:ext uri="{BB962C8B-B14F-4D97-AF65-F5344CB8AC3E}">
        <p14:creationId xmlns:p14="http://schemas.microsoft.com/office/powerpoint/2010/main" val="542942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 calcmode="lin" valueType="num">
                                      <p:cBhvr additive="base">
                                        <p:cTn id="2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 calcmode="lin" valueType="num">
                                      <p:cBhvr additive="base">
                                        <p:cTn id="3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5"/>
            <a:ext cx="11353800" cy="1579585"/>
          </a:xfrm>
        </p:spPr>
        <p:txBody>
          <a:bodyPr>
            <a:normAutofit fontScale="90000"/>
          </a:bodyPr>
          <a:lstStyle/>
          <a:p>
            <a:r>
              <a:rPr lang="en-US" sz="3200" dirty="0" smtClean="0"/>
              <a:t>Kwa Thema Skills School</a:t>
            </a:r>
            <a:br>
              <a:rPr lang="en-US" sz="3200" dirty="0" smtClean="0"/>
            </a:br>
            <a:r>
              <a:rPr lang="en-US" sz="2700" dirty="0" smtClean="0"/>
              <a:t>Subject  : Maintenance						</a:t>
            </a:r>
            <a:r>
              <a:rPr lang="en-US" sz="2700" smtClean="0"/>
              <a:t>        Marks : </a:t>
            </a:r>
            <a:r>
              <a:rPr lang="en-US" sz="2700" dirty="0" smtClean="0"/>
              <a:t>10</a:t>
            </a:r>
            <a:br>
              <a:rPr lang="en-US" sz="2700" dirty="0" smtClean="0"/>
            </a:br>
            <a:r>
              <a:rPr lang="en-US" sz="2700" dirty="0" smtClean="0"/>
              <a:t>Grade	   : Year 2 						             Time  :  30mins</a:t>
            </a:r>
            <a:br>
              <a:rPr lang="en-US" sz="2700" dirty="0" smtClean="0"/>
            </a:br>
            <a:r>
              <a:rPr lang="en-US" sz="2700" smtClean="0"/>
              <a:t>Date      :</a:t>
            </a:r>
            <a:endParaRPr lang="en-US" sz="2700" dirty="0"/>
          </a:p>
        </p:txBody>
      </p:sp>
      <p:sp>
        <p:nvSpPr>
          <p:cNvPr id="3" name="Content Placeholder 2"/>
          <p:cNvSpPr>
            <a:spLocks noGrp="1"/>
          </p:cNvSpPr>
          <p:nvPr>
            <p:ph idx="1"/>
          </p:nvPr>
        </p:nvSpPr>
        <p:spPr>
          <a:xfrm>
            <a:off x="0" y="1825624"/>
            <a:ext cx="12192000" cy="5032375"/>
          </a:xfrm>
        </p:spPr>
        <p:txBody>
          <a:bodyPr>
            <a:normAutofit lnSpcReduction="10000"/>
          </a:bodyPr>
          <a:lstStyle/>
          <a:p>
            <a:pPr marL="0" indent="0">
              <a:buNone/>
            </a:pPr>
            <a:r>
              <a:rPr lang="en-US" sz="2400" u="sng" dirty="0" smtClean="0"/>
              <a:t>Question:1</a:t>
            </a:r>
          </a:p>
          <a:p>
            <a:pPr marL="514350" indent="-514350">
              <a:buAutoNum type="arabicPeriod"/>
            </a:pPr>
            <a:r>
              <a:rPr lang="en-US" sz="2400" dirty="0" smtClean="0"/>
              <a:t>Name the following </a:t>
            </a:r>
            <a:r>
              <a:rPr lang="en-US" sz="2400" dirty="0"/>
              <a:t>H</a:t>
            </a:r>
            <a:r>
              <a:rPr lang="en-US" sz="2400" dirty="0" smtClean="0"/>
              <a:t>and and Power </a:t>
            </a:r>
            <a:r>
              <a:rPr lang="en-US" sz="2400" dirty="0" smtClean="0"/>
              <a:t>tools that are used in waterproofing, painting                     and glazing.</a:t>
            </a:r>
          </a:p>
          <a:p>
            <a:pPr marL="0" indent="0">
              <a:buNone/>
            </a:pPr>
            <a:endParaRPr lang="en-US" sz="2400" dirty="0" smtClean="0"/>
          </a:p>
          <a:p>
            <a:pPr marL="0" indent="0">
              <a:buNone/>
            </a:pPr>
            <a:r>
              <a:rPr lang="en-US" sz="2400" dirty="0" smtClean="0"/>
              <a:t>									</a:t>
            </a:r>
            <a:endParaRPr lang="en-US" sz="2400" dirty="0"/>
          </a:p>
          <a:p>
            <a:pPr marL="0" indent="0">
              <a:buNone/>
            </a:pPr>
            <a:endParaRPr lang="en-US" sz="2400" dirty="0" smtClean="0"/>
          </a:p>
          <a:p>
            <a:pPr marL="0" indent="0">
              <a:buNone/>
            </a:pPr>
            <a:r>
              <a:rPr lang="en-US" sz="2400" dirty="0" smtClean="0"/>
              <a:t>1.__________________				       2.______________________</a:t>
            </a:r>
          </a:p>
          <a:p>
            <a:pPr marL="0" indent="0">
              <a:buNone/>
            </a:pPr>
            <a:endParaRPr lang="en-US" sz="2400" dirty="0"/>
          </a:p>
          <a:p>
            <a:pPr marL="0" indent="0">
              <a:buNone/>
            </a:pPr>
            <a:endParaRPr lang="en-US" sz="2400" dirty="0" smtClean="0"/>
          </a:p>
          <a:p>
            <a:pPr marL="0" indent="0">
              <a:buNone/>
            </a:pPr>
            <a:r>
              <a:rPr lang="en-US" sz="2400" dirty="0" smtClean="0"/>
              <a:t>									</a:t>
            </a:r>
          </a:p>
          <a:p>
            <a:pPr marL="0" indent="0">
              <a:buNone/>
            </a:pPr>
            <a:r>
              <a:rPr lang="en-US" sz="2400" dirty="0" smtClean="0"/>
              <a:t>3.___________________  				 4. ______________________</a:t>
            </a:r>
            <a:endParaRPr lang="en-US" sz="2400" dirty="0"/>
          </a:p>
        </p:txBody>
      </p:sp>
      <p:pic>
        <p:nvPicPr>
          <p:cNvPr id="4" name="Picture 3"/>
          <p:cNvPicPr>
            <a:picLocks noChangeAspect="1"/>
          </p:cNvPicPr>
          <p:nvPr/>
        </p:nvPicPr>
        <p:blipFill>
          <a:blip r:embed="rId2"/>
          <a:stretch>
            <a:fillRect/>
          </a:stretch>
        </p:blipFill>
        <p:spPr>
          <a:xfrm>
            <a:off x="743825" y="3180906"/>
            <a:ext cx="1592976" cy="1081742"/>
          </a:xfrm>
          <a:prstGeom prst="rect">
            <a:avLst/>
          </a:prstGeom>
        </p:spPr>
      </p:pic>
      <p:pic>
        <p:nvPicPr>
          <p:cNvPr id="5" name="Picture 4"/>
          <p:cNvPicPr>
            <a:picLocks noChangeAspect="1"/>
          </p:cNvPicPr>
          <p:nvPr/>
        </p:nvPicPr>
        <p:blipFill>
          <a:blip r:embed="rId3"/>
          <a:stretch>
            <a:fillRect/>
          </a:stretch>
        </p:blipFill>
        <p:spPr>
          <a:xfrm>
            <a:off x="6096000" y="2657747"/>
            <a:ext cx="2767824" cy="1743607"/>
          </a:xfrm>
          <a:prstGeom prst="rect">
            <a:avLst/>
          </a:prstGeom>
        </p:spPr>
      </p:pic>
      <p:pic>
        <p:nvPicPr>
          <p:cNvPr id="6" name="Picture 5"/>
          <p:cNvPicPr>
            <a:picLocks noChangeAspect="1"/>
          </p:cNvPicPr>
          <p:nvPr/>
        </p:nvPicPr>
        <p:blipFill>
          <a:blip r:embed="rId4"/>
          <a:stretch>
            <a:fillRect/>
          </a:stretch>
        </p:blipFill>
        <p:spPr>
          <a:xfrm>
            <a:off x="743825" y="5032022"/>
            <a:ext cx="2100072" cy="1212718"/>
          </a:xfrm>
          <a:prstGeom prst="rect">
            <a:avLst/>
          </a:prstGeom>
        </p:spPr>
      </p:pic>
      <p:pic>
        <p:nvPicPr>
          <p:cNvPr id="7" name="Picture 6"/>
          <p:cNvPicPr>
            <a:picLocks noChangeAspect="1"/>
          </p:cNvPicPr>
          <p:nvPr/>
        </p:nvPicPr>
        <p:blipFill>
          <a:blip r:embed="rId5"/>
          <a:stretch>
            <a:fillRect/>
          </a:stretch>
        </p:blipFill>
        <p:spPr>
          <a:xfrm>
            <a:off x="6536266" y="4820092"/>
            <a:ext cx="1935079" cy="1287053"/>
          </a:xfrm>
          <a:prstGeom prst="rect">
            <a:avLst/>
          </a:prstGeom>
        </p:spPr>
      </p:pic>
    </p:spTree>
    <p:extLst>
      <p:ext uri="{BB962C8B-B14F-4D97-AF65-F5344CB8AC3E}">
        <p14:creationId xmlns:p14="http://schemas.microsoft.com/office/powerpoint/2010/main" val="3953861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 calcmode="lin" valueType="num">
                                      <p:cBhvr additive="base">
                                        <p:cTn id="3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1353800" cy="6858000"/>
          </a:xfrm>
        </p:spPr>
        <p:txBody>
          <a:bodyPr>
            <a:normAutofit/>
          </a:bodyPr>
          <a:lstStyle/>
          <a:p>
            <a:pPr marL="0" indent="0">
              <a:buNone/>
            </a:pPr>
            <a:endParaRPr lang="en-US" dirty="0" smtClean="0"/>
          </a:p>
          <a:p>
            <a:pPr marL="0" indent="0">
              <a:buNone/>
            </a:pPr>
            <a:endParaRPr lang="en-US" dirty="0"/>
          </a:p>
          <a:p>
            <a:pPr marL="0" indent="0">
              <a:buNone/>
            </a:pPr>
            <a:endParaRPr lang="en-US" dirty="0" smtClean="0"/>
          </a:p>
          <a:p>
            <a:pPr marL="0" indent="0">
              <a:buNone/>
            </a:pPr>
            <a:r>
              <a:rPr lang="en-US" sz="2000" dirty="0" smtClean="0"/>
              <a:t>5. _________________  				              6. ____________________</a:t>
            </a:r>
          </a:p>
          <a:p>
            <a:pPr marL="0" indent="0">
              <a:buNone/>
            </a:pPr>
            <a:endParaRPr lang="en-US" sz="2000" dirty="0"/>
          </a:p>
          <a:p>
            <a:pPr marL="0" indent="0">
              <a:buNone/>
            </a:pPr>
            <a:r>
              <a:rPr lang="en-US" sz="2000" dirty="0" smtClean="0"/>
              <a:t>		</a:t>
            </a:r>
          </a:p>
          <a:p>
            <a:pPr marL="3657600" lvl="8" indent="0">
              <a:buNone/>
            </a:pPr>
            <a:r>
              <a:rPr lang="en-US" sz="2000" dirty="0" smtClean="0"/>
              <a:t>					</a:t>
            </a:r>
          </a:p>
          <a:p>
            <a:pPr marL="0" indent="0">
              <a:buNone/>
            </a:pPr>
            <a:r>
              <a:rPr lang="en-US" sz="2000" dirty="0" smtClean="0"/>
              <a:t>7. __________________ 				          8. ___________________</a:t>
            </a:r>
          </a:p>
          <a:p>
            <a:pPr marL="0" indent="0">
              <a:buNone/>
            </a:pPr>
            <a:endParaRPr lang="en-US" sz="2000" dirty="0"/>
          </a:p>
          <a:p>
            <a:pPr marL="0" indent="0">
              <a:buNone/>
            </a:pPr>
            <a:endParaRPr lang="en-US" sz="2000" dirty="0"/>
          </a:p>
          <a:p>
            <a:pPr marL="0" indent="0">
              <a:buNone/>
            </a:pPr>
            <a:endParaRPr lang="en-US" sz="2000" dirty="0" smtClean="0"/>
          </a:p>
          <a:p>
            <a:pPr marL="0" indent="0">
              <a:buNone/>
            </a:pPr>
            <a:r>
              <a:rPr lang="en-US" sz="2000" dirty="0" smtClean="0"/>
              <a:t>9. __________________ 				        10. ___________________</a:t>
            </a:r>
          </a:p>
          <a:p>
            <a:pPr marL="0" indent="0">
              <a:buNone/>
            </a:pPr>
            <a:endParaRPr lang="en-US" sz="2000" dirty="0"/>
          </a:p>
          <a:p>
            <a:pPr marL="0" indent="0">
              <a:buNone/>
            </a:pPr>
            <a:r>
              <a:rPr lang="en-US" sz="2000" dirty="0" smtClean="0"/>
              <a:t>																			(10) </a:t>
            </a:r>
            <a:endParaRPr lang="en-US" sz="2000" dirty="0"/>
          </a:p>
        </p:txBody>
      </p:sp>
      <p:pic>
        <p:nvPicPr>
          <p:cNvPr id="2" name="Picture 1"/>
          <p:cNvPicPr>
            <a:picLocks noChangeAspect="1"/>
          </p:cNvPicPr>
          <p:nvPr/>
        </p:nvPicPr>
        <p:blipFill>
          <a:blip r:embed="rId2"/>
          <a:stretch>
            <a:fillRect/>
          </a:stretch>
        </p:blipFill>
        <p:spPr>
          <a:xfrm>
            <a:off x="6400800" y="3562768"/>
            <a:ext cx="1363149" cy="1007842"/>
          </a:xfrm>
          <a:prstGeom prst="rect">
            <a:avLst/>
          </a:prstGeom>
        </p:spPr>
      </p:pic>
      <p:pic>
        <p:nvPicPr>
          <p:cNvPr id="4" name="Picture 3"/>
          <p:cNvPicPr>
            <a:picLocks noChangeAspect="1"/>
          </p:cNvPicPr>
          <p:nvPr/>
        </p:nvPicPr>
        <p:blipFill>
          <a:blip r:embed="rId3"/>
          <a:stretch>
            <a:fillRect/>
          </a:stretch>
        </p:blipFill>
        <p:spPr>
          <a:xfrm>
            <a:off x="836059" y="1795748"/>
            <a:ext cx="1393147" cy="1063931"/>
          </a:xfrm>
          <a:prstGeom prst="rect">
            <a:avLst/>
          </a:prstGeom>
        </p:spPr>
      </p:pic>
      <p:pic>
        <p:nvPicPr>
          <p:cNvPr id="6" name="Picture 5"/>
          <p:cNvPicPr>
            <a:picLocks noChangeAspect="1"/>
          </p:cNvPicPr>
          <p:nvPr/>
        </p:nvPicPr>
        <p:blipFill>
          <a:blip r:embed="rId4"/>
          <a:stretch>
            <a:fillRect/>
          </a:stretch>
        </p:blipFill>
        <p:spPr>
          <a:xfrm>
            <a:off x="836059" y="3314197"/>
            <a:ext cx="1584875" cy="1261083"/>
          </a:xfrm>
          <a:prstGeom prst="rect">
            <a:avLst/>
          </a:prstGeom>
        </p:spPr>
      </p:pic>
      <p:pic>
        <p:nvPicPr>
          <p:cNvPr id="7" name="Picture 6"/>
          <p:cNvPicPr>
            <a:picLocks noChangeAspect="1"/>
          </p:cNvPicPr>
          <p:nvPr/>
        </p:nvPicPr>
        <p:blipFill>
          <a:blip r:embed="rId5"/>
          <a:stretch>
            <a:fillRect/>
          </a:stretch>
        </p:blipFill>
        <p:spPr>
          <a:xfrm>
            <a:off x="5982159" y="1633005"/>
            <a:ext cx="2029142" cy="1149556"/>
          </a:xfrm>
          <a:prstGeom prst="rect">
            <a:avLst/>
          </a:prstGeom>
        </p:spPr>
      </p:pic>
      <p:pic>
        <p:nvPicPr>
          <p:cNvPr id="8" name="Picture 7"/>
          <p:cNvPicPr>
            <a:picLocks noChangeAspect="1"/>
          </p:cNvPicPr>
          <p:nvPr/>
        </p:nvPicPr>
        <p:blipFill>
          <a:blip r:embed="rId6"/>
          <a:stretch>
            <a:fillRect/>
          </a:stretch>
        </p:blipFill>
        <p:spPr>
          <a:xfrm>
            <a:off x="462708" y="79248"/>
            <a:ext cx="2129112" cy="1171011"/>
          </a:xfrm>
          <a:prstGeom prst="rect">
            <a:avLst/>
          </a:prstGeom>
        </p:spPr>
      </p:pic>
      <p:pic>
        <p:nvPicPr>
          <p:cNvPr id="9" name="Picture 8"/>
          <p:cNvPicPr>
            <a:picLocks noChangeAspect="1"/>
          </p:cNvPicPr>
          <p:nvPr/>
        </p:nvPicPr>
        <p:blipFill>
          <a:blip r:embed="rId7"/>
          <a:stretch>
            <a:fillRect/>
          </a:stretch>
        </p:blipFill>
        <p:spPr>
          <a:xfrm>
            <a:off x="6317106" y="121034"/>
            <a:ext cx="1446843" cy="1129225"/>
          </a:xfrm>
          <a:prstGeom prst="rect">
            <a:avLst/>
          </a:prstGeom>
        </p:spPr>
      </p:pic>
    </p:spTree>
    <p:extLst>
      <p:ext uri="{BB962C8B-B14F-4D97-AF65-F5344CB8AC3E}">
        <p14:creationId xmlns:p14="http://schemas.microsoft.com/office/powerpoint/2010/main" val="1893032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 calcmode="lin" valueType="num">
                                      <p:cBhvr additive="base">
                                        <p:cTn id="1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 calcmode="lin" valueType="num">
                                      <p:cBhvr additive="base">
                                        <p:cTn id="1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 calcmode="lin" valueType="num">
                                      <p:cBhvr additive="base">
                                        <p:cTn id="2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anim calcmode="lin" valueType="num">
                                      <p:cBhvr additive="base">
                                        <p:cTn id="2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 calcmode="lin" valueType="num">
                                      <p:cBhvr additive="base">
                                        <p:cTn id="3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605</TotalTime>
  <Words>214</Words>
  <Application>Microsoft Office PowerPoint</Application>
  <PresentationFormat>Widescreen</PresentationFormat>
  <Paragraphs>123</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Trebuchet MS</vt:lpstr>
      <vt:lpstr>Wingdings 3</vt:lpstr>
      <vt:lpstr>Facet</vt:lpstr>
      <vt:lpstr>Waterproofing, Painting &amp; Glazing           </vt:lpstr>
      <vt:lpstr>Basic hand tools.</vt:lpstr>
      <vt:lpstr>PowerPoint Presentation</vt:lpstr>
      <vt:lpstr>PowerPoint Presentation</vt:lpstr>
      <vt:lpstr>PowerPoint Presentation</vt:lpstr>
      <vt:lpstr>PowerPoint Presentation</vt:lpstr>
      <vt:lpstr>Basic hand tools. (continues)</vt:lpstr>
      <vt:lpstr>Kwa Thema Skills School Subject  : Maintenance              Marks : 10 Grade    : Year 2                    Time  :  30mins Date      :</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Maintenance Year 2</dc:title>
  <dc:creator>Dr. MP Mazibuko</dc:creator>
  <cp:lastModifiedBy>Dr. MP Mazibuko</cp:lastModifiedBy>
  <cp:revision>97</cp:revision>
  <cp:lastPrinted>2022-08-31T07:07:01Z</cp:lastPrinted>
  <dcterms:created xsi:type="dcterms:W3CDTF">2022-08-25T11:18:17Z</dcterms:created>
  <dcterms:modified xsi:type="dcterms:W3CDTF">2024-04-15T08:06:17Z</dcterms:modified>
</cp:coreProperties>
</file>