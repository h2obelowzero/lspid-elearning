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701" r:id="rId2"/>
    <p:sldMasterId id="2147483713" r:id="rId3"/>
    <p:sldMasterId id="2147483725" r:id="rId4"/>
    <p:sldMasterId id="2147483761" r:id="rId5"/>
    <p:sldMasterId id="2147483773" r:id="rId6"/>
  </p:sldMasterIdLst>
  <p:sldIdLst>
    <p:sldId id="345" r:id="rId7"/>
    <p:sldId id="256" r:id="rId8"/>
    <p:sldId id="257" r:id="rId9"/>
    <p:sldId id="293" r:id="rId10"/>
    <p:sldId id="297" r:id="rId11"/>
    <p:sldId id="294" r:id="rId12"/>
    <p:sldId id="298" r:id="rId13"/>
    <p:sldId id="258" r:id="rId14"/>
    <p:sldId id="259" r:id="rId15"/>
    <p:sldId id="260" r:id="rId16"/>
    <p:sldId id="299" r:id="rId17"/>
    <p:sldId id="261" r:id="rId18"/>
    <p:sldId id="262" r:id="rId19"/>
    <p:sldId id="263" r:id="rId20"/>
    <p:sldId id="264" r:id="rId21"/>
    <p:sldId id="265" r:id="rId22"/>
    <p:sldId id="267" r:id="rId23"/>
    <p:sldId id="270" r:id="rId24"/>
    <p:sldId id="301" r:id="rId25"/>
    <p:sldId id="303" r:id="rId26"/>
    <p:sldId id="272" r:id="rId27"/>
    <p:sldId id="302" r:id="rId28"/>
    <p:sldId id="341" r:id="rId29"/>
    <p:sldId id="273" r:id="rId30"/>
    <p:sldId id="275" r:id="rId31"/>
    <p:sldId id="276" r:id="rId32"/>
    <p:sldId id="277" r:id="rId33"/>
    <p:sldId id="281" r:id="rId34"/>
    <p:sldId id="279" r:id="rId35"/>
    <p:sldId id="315" r:id="rId36"/>
    <p:sldId id="306" r:id="rId37"/>
    <p:sldId id="324" r:id="rId38"/>
    <p:sldId id="327" r:id="rId39"/>
    <p:sldId id="280" r:id="rId40"/>
    <p:sldId id="282" r:id="rId41"/>
    <p:sldId id="304" r:id="rId42"/>
    <p:sldId id="283" r:id="rId43"/>
    <p:sldId id="284" r:id="rId44"/>
    <p:sldId id="285" r:id="rId45"/>
    <p:sldId id="309" r:id="rId46"/>
    <p:sldId id="286" r:id="rId47"/>
    <p:sldId id="288" r:id="rId48"/>
    <p:sldId id="287" r:id="rId49"/>
    <p:sldId id="335" r:id="rId50"/>
    <p:sldId id="312" r:id="rId51"/>
    <p:sldId id="332" r:id="rId52"/>
    <p:sldId id="333" r:id="rId53"/>
    <p:sldId id="289" r:id="rId54"/>
    <p:sldId id="290" r:id="rId55"/>
    <p:sldId id="291" r:id="rId56"/>
    <p:sldId id="292" r:id="rId57"/>
    <p:sldId id="295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evor Mkhonta" initials="TM" lastIdx="1" clrIdx="0">
    <p:extLst>
      <p:ext uri="{19B8F6BF-5375-455C-9EA6-DF929625EA0E}">
        <p15:presenceInfo xmlns:p15="http://schemas.microsoft.com/office/powerpoint/2012/main" userId="5e7cbe428c5f0f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2203" autoAdjust="0"/>
  </p:normalViewPr>
  <p:slideViewPr>
    <p:cSldViewPr snapToGrid="0">
      <p:cViewPr varScale="1">
        <p:scale>
          <a:sx n="72" d="100"/>
          <a:sy n="72" d="100"/>
        </p:scale>
        <p:origin x="6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61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36488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678259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25317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440129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7279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72140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86085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6184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48604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03717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82872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00707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509337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49032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89831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540622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38594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688643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246144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951045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232609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749058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65826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44778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269474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52893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419106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566169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153878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947151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289731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36814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302593"/>
      </p:ext>
    </p:extLst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463571"/>
      </p:ext>
    </p:extLst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681427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205425"/>
      </p:ext>
    </p:extLst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737247"/>
      </p:ext>
    </p:extLst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657188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785367"/>
      </p:ext>
    </p:extLst>
  </p:cSld>
  <p:clrMapOvr>
    <a:masterClrMapping/>
  </p:clrMapOvr>
  <p:transition spd="slow">
    <p:wip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400190"/>
      </p:ext>
    </p:extLst>
  </p:cSld>
  <p:clrMapOvr>
    <a:masterClrMapping/>
  </p:clrMapOvr>
  <p:transition spd="slow">
    <p:wip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463599"/>
      </p:ext>
    </p:extLst>
  </p:cSld>
  <p:clrMapOvr>
    <a:masterClrMapping/>
  </p:clrMapOvr>
  <p:transition spd="slow">
    <p:wip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465753"/>
      </p:ext>
    </p:extLst>
  </p:cSld>
  <p:clrMapOvr>
    <a:masterClrMapping/>
  </p:clrMapOvr>
  <p:transition spd="slow">
    <p:wip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995775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22945"/>
      </p:ext>
    </p:extLst>
  </p:cSld>
  <p:clrMapOvr>
    <a:masterClrMapping/>
  </p:clrMapOvr>
  <p:transition spd="slow">
    <p:wip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417B-632B-B00F-E117-A0548147B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67429-AE11-0E8E-432D-0196DDEF3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01C02-6F83-F5B5-CFBA-9E9206AB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57D3-6328-8475-80A7-128124E9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0AC39-30B0-DEE4-788B-6675277A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506996"/>
      </p:ext>
    </p:extLst>
  </p:cSld>
  <p:clrMapOvr>
    <a:masterClrMapping/>
  </p:clrMapOvr>
  <p:transition spd="slow"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2B67-CA9D-06DD-AE53-08627925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14A8-3449-D5DD-A293-B9A79D01A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9205A-8746-508C-9B13-539CD843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608B0-2228-5737-EFF2-9125E4C3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75F9A-B4F4-B3EE-BFEF-EFBFB8A0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052796"/>
      </p:ext>
    </p:extLst>
  </p:cSld>
  <p:clrMapOvr>
    <a:masterClrMapping/>
  </p:clrMapOvr>
  <p:transition spd="slow">
    <p:wip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84A1-E5F2-55BA-243C-6C4B38D57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D0BD-51CF-D164-2917-A5D3CE18A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77600-3EF1-ED65-BC3C-A6E4014C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A3200-D704-F77B-0F43-940E973F6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4BC1E-5068-0378-4CF5-E58287B0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074242"/>
      </p:ext>
    </p:extLst>
  </p:cSld>
  <p:clrMapOvr>
    <a:masterClrMapping/>
  </p:clrMapOvr>
  <p:transition spd="slow">
    <p:wip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A371-CA3C-526C-1DE2-F7A4F8BA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DC74-FB49-0772-5435-353B45E96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043EC-CB0E-1AE8-AE1B-ACF5986FF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630DA-336E-A323-EAE9-7CACA591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97C82-FBEC-5354-35F6-09D0CDEC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B6893-3820-E10B-7656-14012411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69646"/>
      </p:ext>
    </p:extLst>
  </p:cSld>
  <p:clrMapOvr>
    <a:masterClrMapping/>
  </p:clrMapOvr>
  <p:transition spd="slow">
    <p:wip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2F35-A673-F8DA-566B-D9116ED0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24637-F606-6B74-5ADE-660691AF4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8ADB4-5CE7-FB50-2023-A273BB261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1003D-1056-FAFE-67CB-C0DC385DC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4F48F-C4F9-C12C-A3C9-51B22383F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25EF3-CAED-2464-2278-3F82B583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B8F22-3D7D-C760-9C89-5E9C0393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2B800-5399-225B-3164-F6E4255B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953990"/>
      </p:ext>
    </p:extLst>
  </p:cSld>
  <p:clrMapOvr>
    <a:masterClrMapping/>
  </p:clrMapOvr>
  <p:transition spd="slow"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CCEC-2148-D59E-43FE-07C7875E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76202-09CD-C2D3-F4AB-E06EB0C5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AA44-4004-925E-3781-6DF73731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085FE-E57E-118C-BDDE-E1A0DF8B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098697"/>
      </p:ext>
    </p:extLst>
  </p:cSld>
  <p:clrMapOvr>
    <a:masterClrMapping/>
  </p:clrMapOvr>
  <p:transition spd="slow">
    <p:wip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49BCC-ED6E-5E56-E5CC-3C346A08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9632D-AFB3-5889-A6B7-2FFD1077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571AE-5564-EF69-43C1-1C716269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4651"/>
      </p:ext>
    </p:extLst>
  </p:cSld>
  <p:clrMapOvr>
    <a:masterClrMapping/>
  </p:clrMapOvr>
  <p:transition spd="slow">
    <p:wip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C610-5E16-8E13-1518-35122794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D491-CBA7-7646-D118-74F44C7B5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78377-236D-5EEA-249B-CA6C8316E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6651A-8BD5-9103-6C1D-DB8E3039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89D0E-BC14-DE83-DE24-AC4DF8FB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1F77B-2E99-66D3-F352-4ACD1EB3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356017"/>
      </p:ext>
    </p:extLst>
  </p:cSld>
  <p:clrMapOvr>
    <a:masterClrMapping/>
  </p:clrMapOvr>
  <p:transition spd="slow">
    <p:wip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843C-6731-CC21-6182-CD89BA23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438DE-8362-A189-4729-6E0F95E20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8FEB7-88B8-E88B-798D-73E5D903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4459D-7722-1A26-AD74-7AE13A05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78D35-A73F-D071-ECB1-6449292F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6F797-EFFD-9006-CD79-BA09E53D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672826"/>
      </p:ext>
    </p:extLst>
  </p:cSld>
  <p:clrMapOvr>
    <a:masterClrMapping/>
  </p:clrMapOvr>
  <p:transition spd="slow">
    <p:wip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E182-8200-F41C-F5F0-15081BF3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3D68F-5F00-0AAE-7074-21D77F42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BC025-2585-A06B-6C3A-51D583EA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47B89-46CE-D688-2B2B-EB650661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4A91A-BDBD-B818-64CC-E7B7DE36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828109"/>
      </p:ext>
    </p:extLst>
  </p:cSld>
  <p:clrMapOvr>
    <a:masterClrMapping/>
  </p:clrMapOvr>
  <p:transition spd="slow">
    <p:wip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EF5CE-08ED-F462-199F-BBA0B511B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433D2-6C22-EEB0-17E8-BEFF81608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942B9-3BCA-AA3A-D347-BC5E75D9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38FCF-EC8F-A0EE-73F3-3EED85D8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2885F-D326-4018-8C93-239236B2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803264"/>
      </p:ext>
    </p:extLst>
  </p:cSld>
  <p:clrMapOvr>
    <a:masterClrMapping/>
  </p:clrMapOvr>
  <p:transition spd="slow">
    <p:wip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808444"/>
      </p:ext>
    </p:extLst>
  </p:cSld>
  <p:clrMapOvr>
    <a:masterClrMapping/>
  </p:clrMapOvr>
  <p:transition spd="slow">
    <p:wip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465497"/>
      </p:ext>
    </p:extLst>
  </p:cSld>
  <p:clrMapOvr>
    <a:masterClrMapping/>
  </p:clrMapOvr>
  <p:transition spd="slow">
    <p:wip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474292"/>
      </p:ext>
    </p:extLst>
  </p:cSld>
  <p:clrMapOvr>
    <a:masterClrMapping/>
  </p:clrMapOvr>
  <p:transition spd="slow">
    <p:wip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401011"/>
      </p:ext>
    </p:extLst>
  </p:cSld>
  <p:clrMapOvr>
    <a:masterClrMapping/>
  </p:clrMapOvr>
  <p:transition spd="slow">
    <p:wip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885676"/>
      </p:ext>
    </p:extLst>
  </p:cSld>
  <p:clrMapOvr>
    <a:masterClrMapping/>
  </p:clrMapOvr>
  <p:transition spd="slow">
    <p:wip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979955"/>
      </p:ext>
    </p:extLst>
  </p:cSld>
  <p:clrMapOvr>
    <a:masterClrMapping/>
  </p:clrMapOvr>
  <p:transition spd="slow">
    <p:wip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226157"/>
      </p:ext>
    </p:extLst>
  </p:cSld>
  <p:clrMapOvr>
    <a:masterClrMapping/>
  </p:clrMapOvr>
  <p:transition spd="slow">
    <p:wip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484579"/>
      </p:ext>
    </p:extLst>
  </p:cSld>
  <p:clrMapOvr>
    <a:masterClrMapping/>
  </p:clrMapOvr>
  <p:transition spd="slow">
    <p:wip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063501"/>
      </p:ext>
    </p:extLst>
  </p:cSld>
  <p:clrMapOvr>
    <a:masterClrMapping/>
  </p:clrMapOvr>
  <p:transition spd="slow">
    <p:wip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3810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95642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1615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7547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4359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3219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269516"/>
      </p:ext>
    </p:extLst>
  </p:cSld>
  <p:clrMapOvr>
    <a:masterClrMapping/>
  </p:clrMapOvr>
  <p:transition spd="slow">
    <p:wip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23820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24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04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9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28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8AAAB-6640-DDC2-7047-096F38BC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A8BCE-FCD7-C73B-4471-0BC311782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E363F-BFF6-AF37-61A9-34D21D5E5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4C75-1B7B-4082-31D9-633A465EE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B5FC3-0152-59FB-B401-93663DABA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36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A7B5A9-3724-4752-B4A7-49A06A9BDB2B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1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ransition spd="slow">
    <p:wip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urt rules for Ariz. in &lt;strong&gt;English&lt;/strong&gt; learner case | Voxitatis Blo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82" y="327491"/>
            <a:ext cx="975360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6295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4FA04E-4A04-1446-C48F-ED0A03FA1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13651"/>
              </p:ext>
            </p:extLst>
          </p:nvPr>
        </p:nvGraphicFramePr>
        <p:xfrm>
          <a:off x="434340" y="1005840"/>
          <a:ext cx="11269980" cy="4686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34990">
                  <a:extLst>
                    <a:ext uri="{9D8B030D-6E8A-4147-A177-3AD203B41FA5}">
                      <a16:colId xmlns:a16="http://schemas.microsoft.com/office/drawing/2014/main" val="894803012"/>
                    </a:ext>
                  </a:extLst>
                </a:gridCol>
                <a:gridCol w="5634990">
                  <a:extLst>
                    <a:ext uri="{9D8B030D-6E8A-4147-A177-3AD203B41FA5}">
                      <a16:colId xmlns:a16="http://schemas.microsoft.com/office/drawing/2014/main" val="427969949"/>
                    </a:ext>
                  </a:extLst>
                </a:gridCol>
              </a:tblGrid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SUBJECT 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 smtClean="0">
                          <a:effectLst/>
                        </a:rPr>
                        <a:t>ENGLISH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4013954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GRADE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2</a:t>
                      </a:r>
                      <a:r>
                        <a:rPr lang="en-ZA" sz="4400" kern="1400" dirty="0" smtClean="0">
                          <a:effectLst/>
                        </a:rPr>
                        <a:t> </a:t>
                      </a:r>
                      <a:r>
                        <a:rPr lang="en-ZA" sz="4400" kern="1400" dirty="0">
                          <a:effectLst/>
                        </a:rPr>
                        <a:t>YEAR </a:t>
                      </a:r>
                      <a:r>
                        <a:rPr lang="en-ZA" sz="4400" kern="1400" dirty="0" smtClean="0">
                          <a:effectLst/>
                        </a:rPr>
                        <a:t>1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796625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TERM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261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63819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3A03BF-EA6B-45AD-8CE2-585CD05A3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334842"/>
              </p:ext>
            </p:extLst>
          </p:nvPr>
        </p:nvGraphicFramePr>
        <p:xfrm>
          <a:off x="946052" y="1203573"/>
          <a:ext cx="10721340" cy="56303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9518">
                  <a:extLst>
                    <a:ext uri="{9D8B030D-6E8A-4147-A177-3AD203B41FA5}">
                      <a16:colId xmlns:a16="http://schemas.microsoft.com/office/drawing/2014/main" val="3929995469"/>
                    </a:ext>
                  </a:extLst>
                </a:gridCol>
                <a:gridCol w="4871822">
                  <a:extLst>
                    <a:ext uri="{9D8B030D-6E8A-4147-A177-3AD203B41FA5}">
                      <a16:colId xmlns:a16="http://schemas.microsoft.com/office/drawing/2014/main" val="3632659282"/>
                    </a:ext>
                  </a:extLst>
                </a:gridCol>
              </a:tblGrid>
              <a:tr h="9628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</a:t>
                      </a:r>
                      <a:r>
                        <a:rPr lang="en-ZA" sz="4400" dirty="0" smtClean="0">
                          <a:effectLst/>
                        </a:rPr>
                        <a:t>1-2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 smtClean="0">
                          <a:solidFill>
                            <a:schemeClr val="tx1"/>
                          </a:solidFill>
                          <a:effectLst/>
                        </a:rPr>
                        <a:t>SEASONS</a:t>
                      </a:r>
                      <a:endParaRPr lang="en-GB" sz="4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34498"/>
                  </a:ext>
                </a:extLst>
              </a:tr>
              <a:tr h="19694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</a:t>
                      </a:r>
                      <a:r>
                        <a:rPr lang="en-ZA" sz="4400" dirty="0" smtClean="0">
                          <a:effectLst/>
                        </a:rPr>
                        <a:t>3-4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000" dirty="0" smtClean="0">
                          <a:solidFill>
                            <a:schemeClr val="tx1"/>
                          </a:solidFill>
                          <a:effectLst/>
                        </a:rPr>
                        <a:t>CREATURES LIVING IN WATER:</a:t>
                      </a:r>
                      <a:r>
                        <a:rPr lang="en-US" sz="4000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4000" dirty="0" smtClean="0">
                          <a:solidFill>
                            <a:schemeClr val="tx1"/>
                          </a:solidFill>
                          <a:effectLst/>
                        </a:rPr>
                        <a:t>OCEAN,RIVER,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000" dirty="0" smtClean="0">
                          <a:solidFill>
                            <a:schemeClr val="tx1"/>
                          </a:solidFill>
                          <a:effectLst/>
                        </a:rPr>
                        <a:t>POND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1663776"/>
                  </a:ext>
                </a:extLst>
              </a:tr>
              <a:tr h="12684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</a:t>
                      </a:r>
                      <a:r>
                        <a:rPr lang="en-ZA" sz="4400" dirty="0" smtClean="0">
                          <a:effectLst/>
                        </a:rPr>
                        <a:t>5-7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000" dirty="0" smtClean="0">
                          <a:effectLst/>
                        </a:rPr>
                        <a:t>ANIMALS AND THEIR SHELTERS</a:t>
                      </a:r>
                      <a:endParaRPr lang="en-GB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862217"/>
                  </a:ext>
                </a:extLst>
              </a:tr>
              <a:tr h="829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</a:t>
                      </a:r>
                      <a:r>
                        <a:rPr lang="en-ZA" sz="4400" dirty="0" smtClean="0">
                          <a:effectLst/>
                        </a:rPr>
                        <a:t>8-9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000" dirty="0" smtClean="0">
                          <a:solidFill>
                            <a:schemeClr val="tx1"/>
                          </a:solidFill>
                          <a:effectLst/>
                        </a:rPr>
                        <a:t>FARM AND WILD ANIMALS</a:t>
                      </a:r>
                      <a:endParaRPr lang="en-GB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057675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FEFCB91-6FC2-AD9D-4047-53F1C3B2B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290738"/>
            <a:ext cx="970121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altLang="en-US" sz="6000" b="1" dirty="0">
                <a:latin typeface="ABC Junior Typing" charset="0"/>
                <a:ea typeface="Calibri" panose="020F0502020204030204" pitchFamily="34" charset="0"/>
                <a:cs typeface="Times New Roman" panose="02020603050405020304" pitchFamily="18" charset="0"/>
              </a:rPr>
              <a:t>LESSON PLAN CONTENT</a:t>
            </a:r>
            <a:endParaRPr kumimoji="0" lang="en-GB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5853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DA8D-17B2-D1DE-4C15-4DD658A8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36550"/>
            <a:ext cx="10515600" cy="1325563"/>
          </a:xfrm>
        </p:spPr>
        <p:txBody>
          <a:bodyPr/>
          <a:lstStyle/>
          <a:p>
            <a:r>
              <a:rPr lang="en-GB" b="1" dirty="0" smtClean="0"/>
              <a:t>LESSON OBJECTIVES</a:t>
            </a:r>
            <a:endParaRPr lang="en-GB" b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39788" y="1470148"/>
            <a:ext cx="5157787" cy="823912"/>
          </a:xfrm>
        </p:spPr>
        <p:txBody>
          <a:bodyPr/>
          <a:lstStyle/>
          <a:p>
            <a:r>
              <a:rPr lang="en-ZA" dirty="0" smtClean="0"/>
              <a:t>LISTENING AND SPEAKING </a:t>
            </a:r>
            <a:endParaRPr lang="en-ZA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ZA" dirty="0" smtClean="0"/>
              <a:t>Display </a:t>
            </a:r>
            <a:r>
              <a:rPr lang="en-ZA" dirty="0"/>
              <a:t>listening behaviour</a:t>
            </a:r>
          </a:p>
          <a:p>
            <a:pPr algn="just"/>
            <a:r>
              <a:rPr lang="en-ZA" dirty="0" smtClean="0"/>
              <a:t>Follow </a:t>
            </a:r>
            <a:r>
              <a:rPr lang="en-ZA" dirty="0"/>
              <a:t>simple classroom instructions</a:t>
            </a:r>
          </a:p>
          <a:p>
            <a:pPr algn="just"/>
            <a:r>
              <a:rPr lang="en-ZA" dirty="0" smtClean="0"/>
              <a:t>Use </a:t>
            </a:r>
            <a:r>
              <a:rPr lang="en-ZA" dirty="0"/>
              <a:t>visual and pictorial cues to make </a:t>
            </a:r>
          </a:p>
          <a:p>
            <a:pPr algn="just"/>
            <a:r>
              <a:rPr lang="en-ZA" dirty="0" smtClean="0"/>
              <a:t>Meaning</a:t>
            </a:r>
          </a:p>
          <a:p>
            <a:pPr algn="just"/>
            <a:r>
              <a:rPr lang="en-US" dirty="0"/>
              <a:t> Listen to stories and respond to </a:t>
            </a:r>
            <a:r>
              <a:rPr lang="en-US" dirty="0" smtClean="0"/>
              <a:t>questions</a:t>
            </a:r>
            <a:endParaRPr lang="en-ZA" dirty="0"/>
          </a:p>
          <a:p>
            <a:pPr algn="just"/>
            <a:r>
              <a:rPr lang="en-ZA" dirty="0" smtClean="0"/>
              <a:t>Process </a:t>
            </a:r>
            <a:r>
              <a:rPr lang="en-ZA" dirty="0"/>
              <a:t>information</a:t>
            </a:r>
          </a:p>
          <a:p>
            <a:pPr algn="just"/>
            <a:r>
              <a:rPr lang="en-ZA" dirty="0" smtClean="0"/>
              <a:t>Compare </a:t>
            </a:r>
            <a:r>
              <a:rPr lang="en-ZA" dirty="0"/>
              <a:t>and classify information</a:t>
            </a:r>
          </a:p>
          <a:p>
            <a:pPr algn="just"/>
            <a:r>
              <a:rPr lang="en-ZA" dirty="0" smtClean="0"/>
              <a:t>Use </a:t>
            </a:r>
            <a:r>
              <a:rPr lang="en-ZA" dirty="0"/>
              <a:t>language for communication</a:t>
            </a:r>
          </a:p>
          <a:p>
            <a:pPr algn="just"/>
            <a:r>
              <a:rPr lang="en-ZA" dirty="0" smtClean="0"/>
              <a:t>Participate </a:t>
            </a:r>
            <a:r>
              <a:rPr lang="en-ZA" dirty="0"/>
              <a:t>in discussions</a:t>
            </a:r>
          </a:p>
          <a:p>
            <a:pPr algn="just"/>
            <a:r>
              <a:rPr lang="en-ZA" dirty="0" smtClean="0"/>
              <a:t>Build </a:t>
            </a:r>
            <a:r>
              <a:rPr lang="en-ZA" dirty="0"/>
              <a:t>oral vocabulary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 smtClean="0"/>
              <a:t>PHONOLOGICAL/PHONEMIC </a:t>
            </a:r>
            <a:r>
              <a:rPr lang="en-ZA" dirty="0"/>
              <a:t>AWARENESS/ PHONICS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Develop auditory sequential </a:t>
            </a:r>
            <a:r>
              <a:rPr lang="en-US" dirty="0" smtClean="0"/>
              <a:t>memory and </a:t>
            </a:r>
            <a:r>
              <a:rPr lang="en-US" dirty="0"/>
              <a:t>recall</a:t>
            </a:r>
          </a:p>
          <a:p>
            <a:r>
              <a:rPr lang="en-US" dirty="0" smtClean="0"/>
              <a:t>Classify </a:t>
            </a:r>
            <a:r>
              <a:rPr lang="en-US" dirty="0"/>
              <a:t>and compare sounds</a:t>
            </a:r>
          </a:p>
          <a:p>
            <a:r>
              <a:rPr lang="en-US" dirty="0" smtClean="0"/>
              <a:t>Identify </a:t>
            </a:r>
            <a:r>
              <a:rPr lang="en-US" dirty="0"/>
              <a:t>letter-sound relationship of </a:t>
            </a:r>
            <a:r>
              <a:rPr lang="en-US" dirty="0" smtClean="0"/>
              <a:t>single </a:t>
            </a:r>
            <a:r>
              <a:rPr lang="en-US" dirty="0"/>
              <a:t>sounds (z)</a:t>
            </a:r>
          </a:p>
          <a:p>
            <a:r>
              <a:rPr lang="en-US" dirty="0" err="1" smtClean="0"/>
              <a:t>Recognise</a:t>
            </a:r>
            <a:r>
              <a:rPr lang="en-US" dirty="0" smtClean="0"/>
              <a:t> </a:t>
            </a:r>
            <a:r>
              <a:rPr lang="en-US" dirty="0"/>
              <a:t>words that end on -</a:t>
            </a:r>
            <a:r>
              <a:rPr lang="en-US" dirty="0" err="1"/>
              <a:t>zz</a:t>
            </a:r>
            <a:endParaRPr lang="en-US" dirty="0"/>
          </a:p>
          <a:p>
            <a:r>
              <a:rPr lang="en-US" dirty="0" err="1" smtClean="0"/>
              <a:t>Recognise</a:t>
            </a:r>
            <a:r>
              <a:rPr lang="en-US" dirty="0" smtClean="0"/>
              <a:t> </a:t>
            </a:r>
            <a:r>
              <a:rPr lang="en-US" dirty="0"/>
              <a:t>and use sight </a:t>
            </a:r>
            <a:r>
              <a:rPr lang="en-US" dirty="0" smtClean="0"/>
              <a:t>words</a:t>
            </a:r>
          </a:p>
          <a:p>
            <a:r>
              <a:rPr lang="en-US" dirty="0"/>
              <a:t>Build and blend words three letter </a:t>
            </a:r>
            <a:r>
              <a:rPr lang="en-US" dirty="0" smtClean="0"/>
              <a:t>words 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6452588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Cont.…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smtClean="0"/>
              <a:t>HANDWRITING				</a:t>
            </a:r>
            <a:endParaRPr lang="en-Z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ZA" dirty="0" smtClean="0"/>
              <a:t>Develop </a:t>
            </a:r>
            <a:r>
              <a:rPr lang="en-ZA" dirty="0"/>
              <a:t>fine motor skills </a:t>
            </a:r>
          </a:p>
          <a:p>
            <a:r>
              <a:rPr lang="en-ZA" dirty="0" smtClean="0"/>
              <a:t>Develop </a:t>
            </a:r>
            <a:r>
              <a:rPr lang="en-ZA" dirty="0"/>
              <a:t>gross-motor </a:t>
            </a:r>
            <a:r>
              <a:rPr lang="en-ZA" dirty="0" smtClean="0"/>
              <a:t>skills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46653"/>
            <a:ext cx="5183188" cy="823912"/>
          </a:xfrm>
        </p:spPr>
        <p:txBody>
          <a:bodyPr/>
          <a:lstStyle/>
          <a:p>
            <a:r>
              <a:rPr lang="en-ZA" dirty="0" smtClean="0"/>
              <a:t>WRITING </a:t>
            </a:r>
            <a:endParaRPr lang="en-ZA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Draw a picture to convey messages</a:t>
            </a:r>
          </a:p>
          <a:p>
            <a:r>
              <a:rPr lang="en-US" dirty="0"/>
              <a:t>Imitate writing</a:t>
            </a:r>
          </a:p>
          <a:p>
            <a:r>
              <a:rPr lang="en-US" dirty="0"/>
              <a:t>Work with </a:t>
            </a:r>
            <a:r>
              <a:rPr lang="en-US" dirty="0" smtClean="0"/>
              <a:t>words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0815642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99B2-A315-A072-49A6-3D66AE41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ASSESSMENT GOALS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27100" y="1278732"/>
            <a:ext cx="5157787" cy="823912"/>
          </a:xfrm>
        </p:spPr>
        <p:txBody>
          <a:bodyPr/>
          <a:lstStyle/>
          <a:p>
            <a:r>
              <a:rPr lang="en-ZA" dirty="0" smtClean="0"/>
              <a:t>LISTENING AND SPEAKING</a:t>
            </a:r>
            <a:endParaRPr lang="en-ZA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Listen </a:t>
            </a:r>
            <a:r>
              <a:rPr lang="en-US" dirty="0"/>
              <a:t>to stories and respond to questions</a:t>
            </a:r>
          </a:p>
          <a:p>
            <a:r>
              <a:rPr lang="en-US" dirty="0" smtClean="0"/>
              <a:t>Use </a:t>
            </a:r>
            <a:r>
              <a:rPr lang="en-US" dirty="0"/>
              <a:t>visual and pictorial cues to make meaning</a:t>
            </a:r>
          </a:p>
          <a:p>
            <a:r>
              <a:rPr lang="en-US" dirty="0" smtClean="0"/>
              <a:t>Process </a:t>
            </a:r>
            <a:r>
              <a:rPr lang="en-US" dirty="0"/>
              <a:t>information</a:t>
            </a:r>
          </a:p>
          <a:p>
            <a:r>
              <a:rPr lang="en-US" dirty="0" smtClean="0"/>
              <a:t>Compare </a:t>
            </a:r>
            <a:r>
              <a:rPr lang="en-US" dirty="0"/>
              <a:t>and classify information</a:t>
            </a:r>
          </a:p>
          <a:p>
            <a:r>
              <a:rPr lang="en-US" dirty="0" smtClean="0"/>
              <a:t>Use </a:t>
            </a:r>
            <a:r>
              <a:rPr lang="en-US" dirty="0"/>
              <a:t>language for communication</a:t>
            </a:r>
          </a:p>
          <a:p>
            <a:r>
              <a:rPr lang="en-US" dirty="0" smtClean="0"/>
              <a:t>Solve </a:t>
            </a:r>
            <a:r>
              <a:rPr lang="en-US" dirty="0"/>
              <a:t>and complete ten or more piece jig-saw puzzles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 smtClean="0"/>
              <a:t>PHONOLOGICAL/PHONEMIC </a:t>
            </a:r>
            <a:r>
              <a:rPr lang="en-ZA" dirty="0"/>
              <a:t>AWARENESS/ PHONICS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Distinguish </a:t>
            </a:r>
            <a:r>
              <a:rPr lang="en-US" dirty="0"/>
              <a:t>aurally between different sounds at the end of words</a:t>
            </a:r>
          </a:p>
          <a:p>
            <a:r>
              <a:rPr lang="en-US" dirty="0" smtClean="0"/>
              <a:t>Listen </a:t>
            </a:r>
            <a:r>
              <a:rPr lang="en-US" dirty="0"/>
              <a:t>to and repeat an auditory sequence</a:t>
            </a:r>
          </a:p>
          <a:p>
            <a:r>
              <a:rPr lang="en-US" dirty="0" smtClean="0"/>
              <a:t>Compare </a:t>
            </a:r>
            <a:r>
              <a:rPr lang="en-US" dirty="0"/>
              <a:t>different sounds</a:t>
            </a:r>
          </a:p>
          <a:p>
            <a:r>
              <a:rPr lang="en-US" dirty="0" smtClean="0"/>
              <a:t>Segment </a:t>
            </a:r>
            <a:r>
              <a:rPr lang="en-US" dirty="0"/>
              <a:t>sentences into individual words by clapping on each word</a:t>
            </a:r>
          </a:p>
          <a:p>
            <a:r>
              <a:rPr lang="en-US" dirty="0" smtClean="0"/>
              <a:t>Build </a:t>
            </a:r>
            <a:r>
              <a:rPr lang="en-US" dirty="0"/>
              <a:t>three letter words using short ‘-a-’ words. the taught word families</a:t>
            </a:r>
          </a:p>
          <a:p>
            <a:r>
              <a:rPr lang="en-US" dirty="0" err="1" smtClean="0"/>
              <a:t>Recognise</a:t>
            </a:r>
            <a:r>
              <a:rPr lang="en-US" dirty="0" smtClean="0"/>
              <a:t> </a:t>
            </a:r>
            <a:r>
              <a:rPr lang="en-US" dirty="0"/>
              <a:t>that words are made up of sounds in three letter words, </a:t>
            </a:r>
            <a:r>
              <a:rPr lang="en-US" dirty="0" smtClean="0"/>
              <a:t>e.g.t-a-p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5024851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Cont.…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smtClean="0"/>
              <a:t>HANDWRITING 		</a:t>
            </a:r>
            <a:endParaRPr lang="en-Z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Make patterns, e.g. rounded, pointed, vertical lines </a:t>
            </a:r>
          </a:p>
          <a:p>
            <a:r>
              <a:rPr lang="en-US" dirty="0" smtClean="0"/>
              <a:t>Trace </a:t>
            </a:r>
            <a:r>
              <a:rPr lang="en-US" dirty="0"/>
              <a:t>patterns, letters and words</a:t>
            </a:r>
          </a:p>
          <a:p>
            <a:r>
              <a:rPr lang="en-US" dirty="0" smtClean="0"/>
              <a:t>Copy </a:t>
            </a:r>
            <a:r>
              <a:rPr lang="en-US" dirty="0"/>
              <a:t>patterns and letters onto pegboards</a:t>
            </a:r>
          </a:p>
          <a:p>
            <a:r>
              <a:rPr lang="en-US" dirty="0" smtClean="0"/>
              <a:t>Copy </a:t>
            </a:r>
            <a:r>
              <a:rPr lang="en-US" dirty="0"/>
              <a:t>patterns, letters and words onto paper using big movements</a:t>
            </a:r>
          </a:p>
          <a:p>
            <a:r>
              <a:rPr lang="en-US" dirty="0" smtClean="0"/>
              <a:t>Trace </a:t>
            </a:r>
            <a:r>
              <a:rPr lang="en-US" dirty="0"/>
              <a:t>simple outlines of pictures and shapes</a:t>
            </a:r>
          </a:p>
          <a:p>
            <a:r>
              <a:rPr lang="en-US" dirty="0" smtClean="0"/>
              <a:t>Use </a:t>
            </a:r>
            <a:r>
              <a:rPr lang="en-US" dirty="0"/>
              <a:t>a range of writing tools</a:t>
            </a:r>
          </a:p>
          <a:p>
            <a:r>
              <a:rPr lang="en-US" dirty="0" smtClean="0"/>
              <a:t>“</a:t>
            </a:r>
            <a:r>
              <a:rPr lang="en-US" dirty="0"/>
              <a:t>Write” in sand trays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 smtClean="0"/>
              <a:t>WRITING </a:t>
            </a:r>
            <a:endParaRPr lang="en-ZA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Draw or paints pictures </a:t>
            </a:r>
          </a:p>
          <a:p>
            <a:r>
              <a:rPr lang="en-US" dirty="0" smtClean="0"/>
              <a:t>Understand </a:t>
            </a:r>
            <a:r>
              <a:rPr lang="en-US" dirty="0"/>
              <a:t>that writing and drawing are different: pretend writing </a:t>
            </a:r>
            <a:r>
              <a:rPr lang="en-US" dirty="0" smtClean="0"/>
              <a:t>represented </a:t>
            </a:r>
            <a:r>
              <a:rPr lang="en-US" dirty="0"/>
              <a:t>using squiggles and </a:t>
            </a:r>
            <a:r>
              <a:rPr lang="en-US" dirty="0" smtClean="0"/>
              <a:t>scribbles</a:t>
            </a:r>
          </a:p>
          <a:p>
            <a:r>
              <a:rPr lang="en-US" dirty="0" smtClean="0"/>
              <a:t>‘</a:t>
            </a:r>
            <a:r>
              <a:rPr lang="en-US" dirty="0"/>
              <a:t>Read’ own writing: ‘read’ what squiggles and scribbles ‘say’</a:t>
            </a:r>
          </a:p>
          <a:p>
            <a:r>
              <a:rPr lang="en-US" dirty="0" smtClean="0"/>
              <a:t>Copy </a:t>
            </a:r>
            <a:r>
              <a:rPr lang="en-US" dirty="0"/>
              <a:t>known letters in own name to represent writing</a:t>
            </a:r>
          </a:p>
          <a:p>
            <a:r>
              <a:rPr lang="en-US" dirty="0" smtClean="0"/>
              <a:t>Role-play </a:t>
            </a:r>
            <a:r>
              <a:rPr lang="en-US" dirty="0"/>
              <a:t>writing in play situations, e.g. write lists</a:t>
            </a:r>
          </a:p>
          <a:p>
            <a:r>
              <a:rPr lang="en-US" dirty="0" smtClean="0"/>
              <a:t>Understand </a:t>
            </a:r>
            <a:r>
              <a:rPr lang="en-US" dirty="0"/>
              <a:t>and use the past tense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7918259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2BA29-6C42-E78F-B22D-895707F4578D}"/>
              </a:ext>
            </a:extLst>
          </p:cNvPr>
          <p:cNvSpPr txBox="1"/>
          <p:nvPr/>
        </p:nvSpPr>
        <p:spPr>
          <a:xfrm>
            <a:off x="2185986" y="1086312"/>
            <a:ext cx="7672388" cy="65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3600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SEASONS 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Centro Plurilingüe A FRAGA: CHANGING &lt;strong&gt;SEASONS&lt;/strong&gt;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2025748"/>
            <a:ext cx="6696808" cy="483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806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96AB0C-E2AA-3107-9F41-CBA08BB6489D}"/>
              </a:ext>
            </a:extLst>
          </p:cNvPr>
          <p:cNvSpPr txBox="1"/>
          <p:nvPr/>
        </p:nvSpPr>
        <p:spPr>
          <a:xfrm>
            <a:off x="3019864" y="1241714"/>
            <a:ext cx="6096000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 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10758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Image result for seasonsphonicsWorksheets Exercis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5" name="AutoShape 6" descr="Image result for seasonsphonicsWorksheets Exercis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67" y="312738"/>
            <a:ext cx="5880295" cy="558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4476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095" y="309705"/>
            <a:ext cx="4783016" cy="62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9000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0B939-3285-97FB-D408-3187C07C560B}"/>
              </a:ext>
            </a:extLst>
          </p:cNvPr>
          <p:cNvSpPr txBox="1"/>
          <p:nvPr/>
        </p:nvSpPr>
        <p:spPr>
          <a:xfrm>
            <a:off x="2658532" y="2790987"/>
            <a:ext cx="7247467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2 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98999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2" y="754086"/>
            <a:ext cx="6696220" cy="481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6330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seasons tracing Worksheets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790" y="281353"/>
            <a:ext cx="7204564" cy="63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67536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452775-A7E2-4A15-EFD8-D059741EB35C}"/>
              </a:ext>
            </a:extLst>
          </p:cNvPr>
          <p:cNvSpPr txBox="1"/>
          <p:nvPr/>
        </p:nvSpPr>
        <p:spPr>
          <a:xfrm>
            <a:off x="2710375" y="2614694"/>
            <a:ext cx="6096000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3 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79868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418" y="109188"/>
            <a:ext cx="5795890" cy="614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7869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877" y="0"/>
            <a:ext cx="5967227" cy="673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4301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1A9D2F-9914-9FBA-1BE7-4814ECB98605}"/>
              </a:ext>
            </a:extLst>
          </p:cNvPr>
          <p:cNvSpPr txBox="1"/>
          <p:nvPr/>
        </p:nvSpPr>
        <p:spPr>
          <a:xfrm>
            <a:off x="999068" y="1862668"/>
            <a:ext cx="9787466" cy="327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21629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193" y="563220"/>
            <a:ext cx="4318781" cy="575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2177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1378"/>
            <a:ext cx="4839286" cy="612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60869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C9FBB-90B7-F703-997B-839739CA5AD9}"/>
              </a:ext>
            </a:extLst>
          </p:cNvPr>
          <p:cNvSpPr txBox="1"/>
          <p:nvPr/>
        </p:nvSpPr>
        <p:spPr>
          <a:xfrm>
            <a:off x="2865119" y="2397164"/>
            <a:ext cx="6096000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2 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59862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1" y="436684"/>
            <a:ext cx="5148773" cy="608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18930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0"/>
            <a:ext cx="5815012" cy="6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08531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707637-27F9-ACAB-E09D-6FBDB17EBD15}"/>
              </a:ext>
            </a:extLst>
          </p:cNvPr>
          <p:cNvSpPr txBox="1"/>
          <p:nvPr/>
        </p:nvSpPr>
        <p:spPr>
          <a:xfrm>
            <a:off x="3118339" y="2163873"/>
            <a:ext cx="6096000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3 Year 1</a:t>
            </a:r>
            <a:endParaRPr lang="en-GB" sz="9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000690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530" y="332056"/>
            <a:ext cx="4131873" cy="583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5084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947" y="784713"/>
            <a:ext cx="7157677" cy="526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26457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3EC0C7-1CDE-39CA-237D-0C6560D0EFFB}"/>
              </a:ext>
            </a:extLst>
          </p:cNvPr>
          <p:cNvSpPr txBox="1"/>
          <p:nvPr/>
        </p:nvSpPr>
        <p:spPr>
          <a:xfrm>
            <a:off x="1101970" y="520506"/>
            <a:ext cx="9659814" cy="2265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6600" b="1" dirty="0" smtClean="0">
                <a:latin typeface="ABC Junior Typing"/>
                <a:ea typeface="Calibri" panose="020F0502020204030204" pitchFamily="34" charset="0"/>
                <a:cs typeface="Calibri Light" panose="020F0302020204030204" pitchFamily="34" charset="0"/>
              </a:rPr>
              <a:t>ANIMALS &amp; THEIR SHELTERS</a:t>
            </a:r>
            <a:endParaRPr lang="en-GB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ntiquity Oaks: New pig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986" y="2927060"/>
            <a:ext cx="3810000" cy="3238500"/>
          </a:xfrm>
          <a:prstGeom prst="rect">
            <a:avLst/>
          </a:prstGeom>
        </p:spPr>
      </p:pic>
      <p:pic>
        <p:nvPicPr>
          <p:cNvPr id="4" name="Picture 3" descr="&lt;strong&gt;Animals&lt;/strong&gt; &lt;strong&gt;shelter&lt;/strong&gt;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241" y="2927060"/>
            <a:ext cx="4495303" cy="33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1845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54EE56-CFDE-7002-D28D-B4C038CF54B7}"/>
              </a:ext>
            </a:extLst>
          </p:cNvPr>
          <p:cNvSpPr txBox="1"/>
          <p:nvPr/>
        </p:nvSpPr>
        <p:spPr>
          <a:xfrm>
            <a:off x="2498170" y="2312756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 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676100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509587"/>
            <a:ext cx="4514850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85284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35616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509587"/>
            <a:ext cx="4514850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86122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74854" t="-122892" r="-89717" b="-161339"/>
          <a:stretch/>
        </p:blipFill>
        <p:spPr>
          <a:xfrm>
            <a:off x="-3549888" y="-6252316"/>
            <a:ext cx="20738193" cy="209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91176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412" y="176213"/>
            <a:ext cx="4514850" cy="589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14871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9E9245-37D7-EA09-B846-BDE4357298F3}"/>
              </a:ext>
            </a:extLst>
          </p:cNvPr>
          <p:cNvSpPr txBox="1"/>
          <p:nvPr/>
        </p:nvSpPr>
        <p:spPr>
          <a:xfrm>
            <a:off x="2821727" y="1961064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2 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31703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jpeg;base64,/9j/4AAQSkZJRgABAQAAAQABAAD/2wBDAAsJCQcJCQcJCQkJCwkJCQkJCQsJCwsMCwsLDA0QDBEODQ4MEhkSJRodJR0ZHxwpKRYlNzU2GioyPi0pMBk7IRP/2wBDAQcICAsJCxULCxUsHRkdLCwsLCwsLCwsLCwsLCwsLCwsLCwsLCwsLCwsLCwsLCwsLCwsLCwsLCwsLCwsLCwsLCz/wAARCAEcAMkDASIAAhEBAxEB/8QAGwAAAgMBAQEAAAAAAAAAAAAAAAQCAwUBBgf/xABHEAACAQIEAgUEDQsEAwEAAAABAgMEEQAFEiETMQYUIkFRMmFxkSMzNEJSU1R0gZOhs9EVFnKSlLGy0tPh8CRDYsFEgqLC/8QAGAEBAQEBAQAAAAAAAAAAAAAAAAEEAwL/xAAbEQEBAQACAwAAAAAAAAAAAAAAAgEDBBESUf/aAAwDAQACEQMRAD8A+t4MGDAGDBgwBg2whm1ccvoKmpRdU/scFJGLEy1c7iGGMAkc2I78eVoM9zyCjpMvMsU+ZQ9Ic0yGonzJWDukNPPXwVDpA45oEB3+nbAe5wY8BJ0ozJEbNo40LzdGuilYKV5pjSRy5jmL0z2QHyt735kAA8sMfndmcBqjWRZakcKdJouLeqRBPk1VFT8Rgut9Dhx2QpNxz37Ie32wY+ejpNm9RmuVXMUfVKrprRTQio6tSVrZdSQTQvOWd1Ub89TW3N7ctql6RVUmTVldU9Wgq6bNIsqnjlgqEWnqHmggaIqjyB2BfslZdLbEslzww9Rg2x4SXphnIy6Csjp8v4i5X0gzCpSXjWJyivSjKx6JDbiAkjc2Pebb3TZ5XVnSDKqaOVaaCk6TVOUyUyvKs9VEuVvU8aVQ+gxsSCg0e9BB3sA9rcYMeSqI65eleV0AzbMxBV0mYZrIgnVVV4KqnMcKoFtw9OpCLbhib33GJlvSzOMvymWWojWvVMqzzMqdmkmaqLUmcmhCzuxI4YDqbgbCM7nuD6Rtg2x4Ss6RZzDU5ZNURRI0NL0wlRaerBpKtMvpoZ4pZooJZFF720mQlSCb9rbRkrOkVb0dpqsT5dTVuYvlc9CkUs0CzQTrDMaQzSaisr9tFYA8xyO6h6rbBtj5c3SrMqNxmVLJUS0sfRn8oy0eb1BkbUc9elcI0JCkgHTG+91Vb31Y0836S5zUUfTGOnhFNDl8WeUy1EVSkdZTzUHCEc2kSiUiTUSLRDSCvabXsHvsGPFVPSbM6KrzuHVTTpHnmS5VRKUGqmirqWCU1Mx4iApckC7LdmA1AbC2HpF0jmqYoGo8pgeHIYs7rUmqy0ZXrFRTukdVC7RAHQrBiCAG3vbAewwYxujuaVea0lVJWJHHV0tbLRVMEcTx9XmjjjZomJkkRrE7MrkEEHYkquzgDBgwYAwYMGAMGDBgDBhQNVCvkXWrU5poNMeuMMkgkl1votqsRoHPu7vfZh/OUrw6eejLsrvLK0qOykOQGhXRpCkDSARtY+nAatZQ0WYRCCri4sSyJKq6nSzrezAxkHb04z/zZ6OEljRksWLFjU1ZYsdixJkvfHKn86GkqoqVsvRSH4TE3miUl+G5VlI3sBuOYbutYlTpNx6uWlno5IHLxwiYhljAY8ljA7S7jdt+/lsHfzY6N8uo7WUW6xVWsNwPbO7uwfmz0cH/AIXcw90VXvtm/wBzv7/HHan85zPKsHUFpiumIuzCZ24dieW2+454pl/OwxyxXy5ZZrLCwlaN1XS3EKdk7i4Km21u/lgLfzZ6OfIz32/1FX3jSf8Ac8Nsd/Nvo8E4QpXEViOEKqsEVudtHF0/Zjkp6UCClEYoOO1ROJ2diFEJY8Phra2q257Xd332pkTpNLBNItXSxPNPS8MwyKYhEYmjZYmdCd2KEb3O477YC782OjZveive971FUb33N7yd/fjv5t9HtQbqj6hps3WqvUNIstm4t9u7wxEt0pESakozUSVSqBEp4UUAp3YtIztfdgo2W++3iOBOliiJtVExCKkkTHsX1e2B9Ou9rX35323Fgt/N3ISwc08pkA0hzWVpcDwDcW9vpxEdGejqm60ZU2ZbrU1anS3MbS8j347GOk/Eg4rUBj1wmYIrKwQxkuAbnk1gOzuBzBOKTF0okiqW41Mssq0yQcKSyRxgSGR07JGokrvvtyseYWDoz0cAUCiICgqoFRVWVSdwo4lgD346ejfR9k4bUrtFYDhtVVhjsOXYMun0bYXWHpgk00vGpGDxsEikYtEjBG06AoU7m2okn997Zh0pB4aT5epdp1ibSEkKjtIVV9QLWHa7PefC+AmejPR0+VRk2UINVTVmyDku8vIdwwHo10eYsWpGYuoVy1TVkuo5KxMu4HcMQcdJ2qamSmkoGgDSwxo7FgqhyQzIvvwLDy9++3dyOPpUrOOsUTxNOd3Gt40MqBlWwHIayLlt7DlvgLD0a6PNq1UjNqURvqqas6kXkjXl3A7hgHRro+CSKRwSgjJFVWAlBtoPsvk+blh6h/KHBArxFxw73aDyGXUdJC9xtzFz6cMkqouxAGwuxsLk2G5wClDluX5ajx0UPBjdgzIJJXW4FuyJGNvow5io1FKL3nhFgGN5UFge874mrI99LBrEA6SDYkBrG3mIP04CWDHAykuAwJQhXAIJVrBrN57EH6fPjuAMGDBgD/OWD/OWDBgM7TCc4DcWbjii7EZij4QiEq6ysmnXckpqGr3o8MY5oMglD/66pp1rS4cMYoxOqSyyMg1obJd3uNh2v+W/ozTUxmFQY04wFhIR2gOWx/zl5tsMz08kgQ9HJiNUrgtEmxabSTspAJsGO/4kKaen6PVBBXMZi09DVU8scrxrJwJFkkc1A07FQ/fysPpnEmRUL9bjzSpciKWoSKJwyBansmdYEULz7yD4c9sCVMdOjFejsovxqYiKLyg/CDggp5J2ue8RnvUKeJPRtJf82pw0qxRlzCASupF0ys6Dsrz5nyR/6hFcuyVXhjOd1jPLCJYw0yEyxMvFVhZPAG1u7FBpshkWmP5azCRFtQo4ZdMZvKQ7NwxzswB3B25rhoSQzpJI3RzamhpEiSaJuIyNLwGSMcK1kSxHq2A1Yi0lLGkdujrdXkhLmKKmbiI8cssNyAlrabkbA9rkdWwXV1HkTT1aVGZTo8sqh6fihgjygmyRlCe1q+m4wvDRdHZ4Ep0zGVuCaioAcxq6IeCHKqyAabqpuO8mx8LIqkz1cIOSFbVEEaTVFNKJFijj1gmUqTqDKliSBt4i2K4aoRxzr+bjozwspEEDCLgiPUI31orEgiwAXfntexCcS5G9NCpzepBkaWoXrUx45aZY17SuOYsBa3vitu0cQaLo9HFDN+U62QSOSsqSSMzaKiMsXdFGw1qDuNuXK+JyywQxZe0fR3UJ1jqJIxTmRoUXVZW0ptJbffvNue+OCdCY4/zbbqxIKIYgrxvI4Ql+yY7WClu0Lae/bAcemyNI1MWcBEerjNRMHRnlempjTECRB5XaRid99xu1xxqXo9G7RNnE8dRTexSStIgksCzmNpGSxtpNwOQt5r6tLS5fWUsfGyyKFQzMlPLEDww5DXsVABNgSB4YvGVZQNdqGlAk4ge0KDUJAVYNbxub+nAYrJkcEMqHNayMVaLA0jSduNaUvrks4sLlTqOm9z3asdahyenMxOcSiaBJ4B1mVG4EtZAw5ABgWHasGBJt6MbL5VlEjvJJQ0rSPxNbtEhZuITruee9zf0+fHZMsyuY6paOmchxIC8SGzhQgYX77AC/mHhsGBDQ5SYHeTNqqNYZmp6oKxp4+MJTYFWvIAbbXffbe/K2SnyConaR82nDTVAkjUSoFEjyCVRHdNrFrDvHpGNp8syuRWV6OmZXk4zholIaXftm/fud/P58cOU5QedDSntBvaU8ob3wGLwsqd44zmVUY1lhy2J02XrID1B1N5PJtC9kadIHMC1kVNkQWtJzaWYSGnp3aWVW4Oh+MI1Okbtp7Xf2e441lyvKVThrRUoQycXQIkC8SwXXble2AZVlARohQ0ojZo3KiFNJZCxU2812t6T47hgNR9GwgWPMXftU0Yih4TtqlngVXZAt7kqms+AF+4m6SLJZ56x2zWrp5BM0cyq6054lOiUzSDSg+ANJ7tW1g9jtLlmVra1HTi0iy7Rr7YpDB/Texv5vNt1suy1g4akpzrkaV7xqdUjbMzec9+AwOFkdM8FWM2q3vVxheGqyIJYVVCpUR2CgMLg9wFvJFvSU9TSVKyNTzxTKkjRO0TB1VxYlbj04q/JuV6OH1Om0cUz6eEtuKQFL28TYerF0NPT06cOCJIo7ltEahVBPOwG2At/zlg/zlgwYAxQ8s3G4MUcbWiErNJIyc2KgAKjeGL8Lj3ZJ81j+8fAS1VvxNP8AtEn9LFU1RPTxPNMlLHGgGpmqJLbmwAHBvcnYDv8ApxfxoDMacSx8dYxM0WteKI2JUOUvqsSCAbd2M3NJYIKzI5qiaJYUnqAUkkRSHaLSs4ViLhNwxHIPfkCQFxrcwJ9jyyWRdu3xY4gbgHZZ9L+tRiEeZ1E8aS01BNPE6hxIjBFIuR2eMFJ9IBHgTfeWaWkSgoiDw8xrUpJgCV9hSGWqkU27mEZU+ZsaAAAAAAAAAAFgAO4YBOOsmkk4QihSbQJOFNLNHJoNu0FaHcC9iQSAdsXaq34mn+vk/pYTzDRJVZRTxEdbWqjq1K6g0VNFcTOxA5MDo35lvNtp4BaWWsijmlMFORHG8hAqHuQoLW9qxLVW/E0/18n9LHav3LW/Np/4DhHPo6qXK62OmqainlYLpkpJVgnvqACpO6sq3NrtpO1/G4DgzaVxO8FNFNBAzpNULVxxwLIh0sivKouQeewHnOL1rKvUizUsMLOAV4lQTG1zbSsiRlb+bb6e7z1MtEMtp8mXJaKuphLFHVB6ilemlcSAyVDWjDM4O5tFue/YkbCSM+ZVlDVR06UpoIhSQlw4qItbRyM0bKFFropHa5jfexDQ1VvxNP8AtEn9LBqrfiaf9ok/pYVoZ1aprqSEhqalSl4RCFQvEVrxhjsQLAiwtY8zbbRwFOqt+Jp/2iT+lg1VvxNP+0Sf0sXYMAss1YzzIIKf2MqCTUSbllDbexYnqrfiaf8AaJP6WCL26s/Ti+6XEZ62jpmVZplRmICg3ub3ty9B9XmwEtVb8TT/ALRJ/SxzVW/E0/7RJ/SxVLmVDEATJqJBIVFOrSvlMdVgFHeSe8DmQCu2d0N6ZYw8kkxXWimMNAmoqWlDN3WNrXvbbbcg7qrfiaf9ok/pYNVb8TT/ALRJ/SwhVSlqtleoaCGnjO4YqGkKg2GlgSTqAH6J+FhanzOaGdhNIz0gEihnAMl434ZZHAAIuCGGo2J5+IbOqt+Jp/2iT+liDTVUZj1xQhXljjJSZ2I1tpuAYwPtxdFKk0aSITpcXGoEEb2IIO4I5HFVV5MHzqm+8GAYwYMGAMLj3ZJ81j+8fDGFx7sk+ax/ePgM+pkifMgaZI1rKSHTPMyuzvDLYiFYohrdVLKzdoBdSm5uRhDNqp6O9ZUx0cssYWkjmkilAo4pXKTTilkOoqw2uJLNYDYeVsVeWxVEwqI5Ghn7OplFw+kEKx0lXDAEgFXBsbG4FghUZAKgK0lQJWE9NLIkqsYqhIiexKzu8puCQO2QN7DtHWHi8wzbPso6dZHkTVscuVvVU1TQxywR+wmqp5aMR3iCsFDFtIBsAR3C2NfpH0vzjI83yXJmpaQjNTSjryNIxhWWc076ad9iy7EXe3mwkeiXSqp6aJ0nzJcukpoJxLT0tNVSMyrDEY4FBmiUbGzMfG9hvtbnfRXpLn3SnJc4mSghy3LGo9MD1btNIsEpna+iErdibc+Q9QepoaijoqqahrpqaPNJBHKZZahOLmMV2VZkEh17HUCg2XkNmBO1jKiyakkqXzDM4KOszFigjlkp0ZaSKO5SGl4oZgASWJvckk7Cypq4Cmr9yVvzaf8AgOFM7lEOV5m9pj/p3QdXdY5AZCIwVdiALXucN1fuSt+bT/wHC2cjXlmYxjTqmhanTUEYGSYiJAQ4K7kj3p9GAqoqfMoaaCn6zTlII4oUkjhNykYAsAXPnG57sPTQRzxlJQrGzaSBYoxBGpCdwfDGTlsk9DWyZPPJFIOrirp5IrCwBCNHKC19Z8u9gDdrDsYdjnMuZVcIdjHTQwal1JpWaQF7aVGrlY9o9+3LAU5dTU2XyS03DkEzR0+qpkJPW1jThqdbG+ob3Hnv3405HjiSSWR1SONWeR3YKiIouWZjsAO/FFZTx1EShn4ZilhqUkFuw8LCQE6trbWbzE8uYzZ6ha6pyyhZXLrUwZgwhZxDNRKkmmSRium2vSClzvbcjfAaFFX09etQ0SToYJjBKlTE8MivpWQXV99wQfp3sdsN4zcnLSU09Y2q+YVdRWKGN7Qs3DhtueaKh+nGlgEpZjTrmUqoZHVoxFGL3kkMShEFvE2H292FOCtGmt26zmtYNILkOzNcFuEtrBFvudPcL9wGjF7bW/pxfdLimahWQ1DJLJHLU8NJplI4wgT/AGYmPkjnyHeTzNwGBKJoIi6jjsKqaJmj4ohVgyqLJZlLbgi/PSRvc4upnplZYalIyjRzQ1MUyxDhx6A5jK6i23Z7t7NbGnUx07JDllPGboaeQiIdiniR9QZ2bbexsOZ9AuG53is8YmiimdbKWK6geY2O+A85VVVJSiSOOZpquQpPxqjSxeEHshSp2UHSOV77nwZZPyoopa9VeS6zz1MMZBjeJDFDIY41uSCGF+ROjxO+5BFTzCspKyMGeVyzFwNTdmwKMRzHMYoyVJaKWWgqliEsYl4DuwMtRCXuGiLEsV5ah3G2wvgHcmqKeoo2eFrgTyhwVKMrsRIwZSAQbm9rDnhqq8mD51TfeDHIaSOCaWWFmRJReSBbcIybeygWuDYWNjY+F98dqvJg+dU33gwDGDBgwBhN5oYqxuI4XVSpa997SNhzCrMqVU7sbKlGrsT3BXck4DrV1Ag1PUwot7anYKPW2ILmeUs2ha+kZ720JPGz38NIN/sxEmYvcLGJZAkoaUi0ItZY1uCSTvfl5R8d+BWLGCopKMU0hVUVCJLP7Z7IjIF3N7W7x59gY65R/HJ9v4YOuUfxyfb+GFo6gUkho5UnKonEp5I45ZVMJfQFYrqbUpNjta1jfchWDW0KW11MMd/jXEZ9T2wHeuUfxyfb+GDrlH8cn2/hicc1PMNUM0ci+MTq49anFmARq6ujNLWDjJvTzjv+AfNjPrFnepNTBWUUw4iPDDmCzmKkdVCcSIQEKSO0263u3lgAAbFX7lrfm0/8Bxd/fAeRpqilpK+WeuWulmWarmjeKjqahqmeQiFZS8Csirp7ECauyuosdRuOxTVkNRBVTtNHNODVVbUkUlVHrdNJp3ijbmgCJGQrX3NxcjHrcGAx482kOpZaWoe4uG0U1OtrcistSzXPoH40wRNI809VXdWdwIoafL5CI4IFkd1BkdCSx1dq1gLAAbajuO6RqzuwVVsSzEADu3JxCCeOoQvHq03I7YKt6Sp3384wFEEuW00MFPDIiwwxpFEt3OlEGkC7b4t65R/HJ9v4YvwYBKOrpBNWezJ5cR7/AIpfNi7rlH8cn2/hjsXt1Z+nF90uKcwnlghUxkgu+gva+kWuSL7XwEKythjppnjlUNZRq7XZBIBPLC0X5JqaWPTJGJdIDSC5fi231nvxVmEctMKSeGtmSCaURVbtqkPBeJ21BhyJICjY+V3WuK6GGrqKaWrpqyakEpZVWZkq4QkRKl1ZSjWO9rtfbn3YC6F6WqgUS1AWWnmMaSoTq0qRtcj6BjS61RbEyxkjkTe47udsL8Sso0QOtPLBuQ8QkiKKAXIKkyA7Am+ob+m4apahaqngqEV1SZA6iSwbSeROkkejfAHXKP45Pt/DFM9TTSdXVJVLGqprAXue3fww7hep8mD51TfeDAMYMGDAGM+rMayVDyECNKemklJBYcNKgs1wvmGNDCkkaTVFTE4OiWiWN7Gx0s7g2OAQry0NUZ5IopYeGskZqULiKojIAWEhTYsD6b4shLVFZGVp40iCCprJlUgy1K2WGLU6i+kFibHYgDvsW6eZ2Z6aqC9ZjLN2UKxzR37MsQJO24BF7g+Ygm2XgRwzl1AjKkOFAu2oaLADvPIYCpZI5K0hHYmCm9kUFeGvGcFD43Ok+rDeFqYW4srJwzpSMKwXUkca3AdhsTuSdyBfzXNUlU0kiRpqSnlJiWqUrZpSNljJvz3s1iL7DnuDEsEcovbTIB2JEsJEPcQf+uWOU06TxqQ6OQo1Mnkt3ah6bH0bjuxTDUSrI0FSVJMrxwSIDZwAGUS22Dkb+B7rcsUQgxZhMiybO8rtGRyLjiEi3jcH1+JwDtX7krfm0/8AAcX/AN8U1fuSt+bT/wABxd/fAQllihQySNpUFVvYndiFAAGBJYpBeNgw77d3pGCaJJo3ie+lxY25g8wR6OeMgZdmEVQsyGmmXtXVy8RAJ96yg9rlvb9+wOZiCyQKfajOplPKwCkrv6bG/iB6RFnFM0jR2ZUjhOnUo1B2KhS7m1+8G/p57dm0qjCqhqDEbatMvEjUWuWY6gdv883Vny9Y+GJYy1lCrMdbHey7bki/LALvX1vaI6mnYEqqesSEx3sX1aFFuVja3n78aFP1nh3qCnEJvZB5IsNjba/P/Nyo8D1kkTtCKfR5cuiNpZSNgi6xfRvc6l7uXfi+VZYKJ0iZmkihChttZAsC1h388BKJk49aupdWuI6bi/tS93PE6hIJInWYqqH3zELY9xBPfjHpTTNKzwQSS1KGBm0khNfBUFpHO3nw2q/lOIibVE0MzKeHyOwvs3fiaPP5xWVFNTLTQtLMjVrwCBI5EqJJIUkkEaXsLEqCSCbi1vL3syaplloXj1ZfUZUaaOACSB6elkmqZZEaBDIG1XuAy221Bbk3wznVFTrPTy8BRE8MsVRMsiJOu0UUccMjKzKx5ra1zGBztdXKZ6WmklphToyZczPTzVZmEwknnMJiVuEVJTUAGA3Eg5XNqFcp6N11NndbV5nVzNSZhUNUU9GQFjM6KUWOXgSGPSqAcNbEdnuK2b26gKAAAABYAAAADuGMWaoqvyhl8dQaRZI5VmWmgkaQxxOskLT1MjqtuemMAC5J527G2MTR3C9V5MHzqm+8GGML1XkwfOqb7wYoYwYMGAMLj3ZJ81j+8fDHqwm8EE1Y3ERW00qab32vI1+WAnWpG9NUa0kbTFIy8EEyhtJA4dt7+GEomSJIJ5tZZ1o6WJGkkeI1hLIWiBvYG/leA9bHV6Z5aiJIIhwo4yJCWa0j6zYpccgFPlb37uZop6TLDK0ctBTxVah5Oyt1kUlQ0sTcyL6Q3eDa/cWBxaSJkKzapS78STWZCjPfVshYrbwHmxTXyx2WkYiPjrfjOLLGFYWMdxu/eAOVrm217+pUXxKfb+OOdRoSQTBGSOV77ejfAZtTG8yrUTCZZKmZ4aVEYxPC9/8ATv3fBLG599a1tg9SJJx8wll0tJqp4VZUZRpSCNmC37tRb93dibZfl7qVemjZTzVwWB9IOBMvy+NQqU0SKOSqCqi++wBtgJ1d+q1u3/jz+PwDi/8AvhGroqPqtZ7Cm1PMffdyHz4u6lRfEp9v44Bjfwwb+GF+p0XxKf8A1+OOGkoVBZokCgXJJIAHnJOAZtfuxn1P+lkgkjpITCGLOUjXUHO17gbenECcvWp4D06opVSkjE6XJ7xvyPccSqEyiLVHLCGOkF0RWbSrcte9h68BbVTv1Rpae5LaQGAOpQTY7ePdhLgq89N1VptYQSVMpLHTyPM++Ph+Gy/V6OC8sUSzUUh0yIdV0/4tc8/A4vhyqBgXppUFPLz7JMgA2IuTa4wF0CTVUlTPFNLToWjUxqo7oxuOQv8ARjRiiSFFjQEKt+dySTuST4nCNNl9BG9UiwLpVoVFyxO0S898WzQ5ZTprmSFFLBAXYLdm5KC7AX+nAUVGS0U1YK9HqqeruuuSmlIEmiJ4V1xyBo7gMbHTfz4qkyGjmrkrZpauRoqWOlgRqichNMvGZ2JY6iSF5jbT47i9fyQVLMscQW5bjXjsBbe7G1vDfDHU6LY8FLEXv2uXrxAlV5JDXIIqisrzFqLOI2hhdw0ZhZGliiWSzDyu1fYb7Y0oYY6eGCCJSIoY0ijUlmIRAFUamJJ28ThfgZZq0Wg13tp1jVcd1r3xZ1Ki+JT/AOvxwDH0fvwvU30wbf8AlU33gwdSoviU/wDr8cVTU1LH1d0iUMKqnsRfa7geOKHcGD1YPVgDC492SfNY/vHwxhce7JPmsf3j4DNzGSrpaulhy5oRWZvKQwqEZ4oYqeIcWrIQhiVXSoXUASyi43OMymbpN1lGnqZeHPVU9BHO9NQSSmIxNUvJStAdAAK6X1I17XHk9r0GYZbTZgsHEeeGenkMtLU0khiqIHKlGKPYixBswIIPeDbbyOdU1NltRlwWrrqqrp0YUwlqjEUBicmJY6PhJoKqzSbBiQnaAwG91KVTUnL89rHraYamhqqiKqhD21BKmHSGAa3cynwOMmavzmaMCTOIUjlyyLM4o6CCOOpqKZ3tUQrI0jsHXZUZOV789w4cirIaOrZ81dnkELzxiOkoqU08T8WSk4kMRdIiNYuDcaiSWJJOGaajmy6aSNnjglq6KqMbEwTT2lmlhMCB1XsnWHRWQXiLKwG5D1y5L0dDGHqNK0yRqxeRTJUaHJUM00hMm9jvq7sVnLa2iV5MnrZTZtQosxnlqaRyAVMayyap0v4hiAfenlhLLKDLa6I1lHU19JVHgLUy0mY1FQsy8NZojerMiMhVgyXW4DW2Nxh1MkljhemXOs4EEhlaQCSlWYmVy7lahIBKtySTZgd9iMAylZFX5TJVxBlWejnbQ9tcbhWV43tcXUgg2PdjQOFJIKely6amp41iggopIoY0FlREjKhQMTq54ooplMqJK8NQ0ILAOxRdyo57XHd3jx3BDMM1p0daOB6iSZ3eOZqEI8lOoQm+p+wGJsO/ny8EKWh6P1UoQ0aVNTCDNIuZz1FRK7X08RhMGjJBPhtfYC4u+ldXNls81Nl7xTQyPDDC5DK0SEASpa1wRyG32b5FRVVMtOuauaenzGi1RlEluJEe8ckBcAWO4MbEDc2t2dwoMuW0uZZpaF6WjYw5dSUdMA5q80RmaWWlhUiNQB2WJ030km2i508tzOKOrky+vgqKWqqYjVR9b4LLNEmlGKyRO6EC4v2tr+fGfDBlq5YmXVjQpMzA8VkMc9MrdmlKW3ErbEdrck/C3QyyM5lXUvXqeOGZepR1zsiK4qKXL9RVXtpsWkUqL2PCJ9IespVp+uVkULxvTtGoZQysus9rSPRvjSjjjiRY41CoosoHdiiWhoJKZ6SSCM07JpZbadh74MLEEcwQbgi99sL5HUPU5VQzPOai6yIlQbBqiOORo0ma212ABPpwDkXt1Z+nF90uFVWJKtnqAWqJC6QNI4K8PdgsCkBQfEDc2vva4ai9urP04vulx2fq+i07IqMQAXcL2uYKk9/hgM6mpsvo5a8U7S66qWWrqhUmokiVnHaI4nYUEjkNt+W+GBT00mgBFjLiOVo9L6VZSHuo2W/0fRiEuYUCI0NTPGGYaFHlcYNcARi1i1tyoufN48kmlp5YLyRTEssJVIhxTy1nUHuLAFiTttbbmQZ0UtQHUxixQBlIWxVr8wO/n58Rgl4Z6vI7GxAgkla7SLy0knfUPWRv42XlXNXKup0h1ja0bhYowfK3RTK7fQB/3GWGulieJ6qEkJrjV4RdNAurS6yzb2Bvde/AauF6ryYPnVN94MdpGZ4I3ZHTXd1SQjWqMdSq1r727r7cu7HKryYPnVN94MAxgwYMAYXHuyT5rH94+GMLSR1Qn4sPBIMIjYSlwQQxYEFQfHAM4w06L5Jx+sTrU1UoaJ1NTUSFVMZUg8OMqhJKqXJBLaRcm2NS+Y/BpP15f5cF8x+DSfry/wAuA7WUsNbTVFLKWCTLbVGdMkbg6lkjbuZSAynuIB7sZNN0ZyyGF45NUjtTrTLIgSDgxh2kvCsIABJZmY7kkm9wxB1b5j8Gk/Xl/lwXzH4NJ+vL/LgKaDLKPLuOYNZabhcRn0C6xKVRQsSqgAueS9/qewvfMfg0n68v8uC+Y/BpP15f5cBKr9yVvzaf+A4rqKGnqZoppC4aOGopyEcqskUxRmR7b2uqnYj1GxhULmklPUxotJrkhkRbtKRdhbcFccjmqTCsMskKZg0bNpG6g32817YCipgWNlL5hJHqQK6GRhxQNtTKh59xIAv33xiVWQ15WnngnpZKeK8iUuhzAh3s+kbve92v+7G7RcN2q4qpb1LuTJxALsoAFh6P+8WU8FTS1DRpdqVwWuSOwe4eN8AouWZXmQapYTCWR4jO/EcuZYACjIxOxX3pW1vTjQpqCipVmSKPaZg8zSvJM8rBQgLvKSxsAAN8MqqqAFAUeCgAb7nYY7gFZaChnieGWIPA+nXCXfguAb6WjB0keItY4YREjVURVVVAVVUAKoGwAA2tiWK5OsbcERE++4pYbebSDgIxe3Vn6cX3S4hWUcFYmlyVYMhWRAnEXS6vZS6m17b/APXPEFXMVed7UnsjIbapdtKBfg+bFl8x+DSfry/y4BKKKrp1leaAzrFrmgj1lmQKLoiJdgZOYB7Pd6TRTPLJO80/FVgjQrTU124JIEjjVCSpYnZrlRsO8XbUvmPwaT9eX+XHAMwGwSkA52DSj/8AOArWmVIkjipVCqoQB6mQMAOQZgGP2nHY6Qtc1IhKatSQRL7CpBBDPq3Zu+5A9FxfFl8x+DSfry/y4L5j8Gk/Xl/lwDGKKryYPnVN94McvmPwaT9eX+XEWStkMQkFOqLNHIxRpC1kbVYAgDf04BrBgwYAxVJPTRELLNEjEFgHdVJHK9ji3/OWF/8AzJPmsf3j4DvXKH5TB9Yv44OuUPymD6xcR4oRZJA5eJWYsN9aAcwPHzDCqzzyBXkdkL6AsKtoCaj75/NzPqwDnW6L5RBvy7a4Ot0W3+og/XXCt5hJtFdrgzPFI0gsASt1JXn6fowRSTXPERmDWDaTJrFxcApKwsPRgGuuUPymD6xcHXKH5TB9Yv44XEsyrI8RleNV1AyBSptuQtjqH045JXlm4FOvszmNUeSwQaxctbzd3j+8OVeaUsAXTLEQyveTWhVGA2uL4UVoqmESSVdMJhpaGVZVDMPgyWtuDiVea6mp6ozuKinkgmV9QsBdD6vNhymhqYJiqMGpHBcFj2lJ5ADAJpNSVgUzVCQ1NO6q0isoLgeB8fx8+NPrlD8pg+sX8cX4zpK2WR36rd44mMUhRQ7PJcX08zZe86d/o3BrrlD8pg+sX8cHXKH5TB9Yv44W41T2rGrLAbKY003+iH/vBTVc/EWKqAVpVDRbaDq31IyHfzg2F727u0DPXKH5TB9Yv44OuUPymD6xfxxfgwFHXKDcdZp7jn7Im19998HXKH5TB9Yv447F7dW/pxfdLi7AUdcoflMH1i/jg65Q/KYPrF/HFrMqDUx2HrJ8BjgLn3th/wAjv6h+OAr65Q/KYPrF/HB1yh+UwfWL+OLe38IfQD/2cd38cBT1yh+UwfWL+OBaqjZlVaiEsxCqA6kknkAMWRszhiSCNRCkd4HeR68VVXkwfOqb7wYBjBg/zlg/zlgDC492SfNY/vHwxhce7JPmsf3j4CFRTayHS6kspcKSpNiDcW7/APPPheN5EMkcg1G+lBYsQpNzqRdgFFvT9uNF3jS2pgtzYXO5Nr2AwrK5ksoiB7TbOj6mI2BW1gAfEtywEEalQgmN1vtYJ2FXlfTHt3ef/oUyy0+nhwmNaicaGDAEpvcltW/iPp9VOYVOYUcKWKIkmtOyXaVCovZTa1j3dnEBl5aCGWEMzmJWViFubgEh9J2PoH0YCNJVvIxoZtmJVVZwCull3R9+fwT9uNWppI54gCwWSNexIdrW+F5sZpkoq2KKKpdFrFBjDFbre+yM63X7f7yhhr6m9PLI4pojaUnfVbkqtzPm3tgI1MtVNS1dDNpR+DKJHcnU6qpYBRa1z43xuABQAOQFh6BthDMqOKainC9h4aaURtuSFVDse/D4FgBcmwtc8zbvOAoq5uHGqK4WWd+BCSwWzspN7kHkAbbYqSJo1VbThQAFSRY5ggAtpVvKt6Tjlmmqpz7ETCDCInBuY2COXPpOw2tt48prHod7U8yBu0Winul/Mpcfw4AI2J0n9lJOKZYHlXSFm2KsntdPFG6nUsp0jWSp3A3HmxXFmGT1VRNR09es1VDq4tPT18Lzx6TY6o0l1C3fthjha3ANNK+hSFapnDJv/wAdTb/+uAvpplqII5Vt2hvpIYagbGxGLsJ091nq1LoxfhSyrGpCxyaRHpv6FB33+ggBzAUxe3Vn6cX3S47NMsQAsWkfVw418uRgL2UfvPdjkXt1Z+nF90uKqmnlaemq4GQTU8c8OiS/DkimaNmUldwbopBseR2N9gujSQ2eYJrNrKtyse3IMRv6bD0YtwsKoI0aVEbQtIdKMxVome19IkU8/C4F8Ly5tSRT9XeOr1XsW6tIIwbgDtG3PAPu4jUsQxAtcIpY7m17D7cUmpQaCo1K2jdWFxqcR8j58ckqoVhlkVlJQHY3tqtcA6QdsIwxMuZxs5YpLQic3sg4wl21INr9prejxF8BolhHNGCAOOTGttu2qtIbj0A+rEaryYPnVN94MQX2ephmQXigSdA5Ozu5VewPNYi/n2vfadV5MHzqm+8GAYwYMGAMKtJFHWvrkRL0qW1sq3tI/K5w1/nPC2lWrJLqDalS1wD/ALj+OAmZ6Q85oD6ZE/HGdWVtPERDSCBqmVgQwkjCxk82azA38P341dEfwE9S/hhCsoEe88CKsykMQAo1kd48+Az+FRmA09RV6nM3EZ3lQyNPfUoi1WFv/b998dVI4I0iqcwRYXY+xwyhjbn2rm1vHn/3i2mWKqqGkq2jvAoKxsqqOzuSQRyHM/2wT1MMkyytTRvl6HgzNIg7LndZU27tww8CNxazBx0ymSoo46eSmKxESzusyNYBgVu2q98a/WKX4+H6xPxwlDUUqdbXgwpFFmEVFDw1Xt8RYl1ED/kWH/r5sOr1dmdFEZaPTrAC3XULi+Apq6im6rWezw708w9sT4B8+LusU3x8P1ifjiurSPqtb2E9zz+9HwD5sX6I/gJ3+9H4YCmRqCXy5ICRcK3EUMt/gsDcevEL0unQKwgaSvukFrEW8pyWv574vYRICxRbDnZQbeoYqcrpJREFt/JUk27rd304DzWW9C+heUV1PmVAZYqyAyGOQ17v7YpRtSuxBuCb3GPRnqbW11WoAg2NTpBI8QjAHEnK6AwVQGKhSETv79zjuqMDeNDttpA+0HcYDqS0SKFSWBVHIK8YH2HEusUvx8P1ifjiWiO3kJ6h+GO6I/gJ6l/DALRVFLxq32eHy4v9xPil8+LusUvx8P1ifjiESR8at7CeXF70fFLjlTUZfSIJKl4YlLKi6gNTs7BFVFA1Ek7AAG+Am0tG4KtLAytsQzxkHzEE4pVMtQ3WSNBuoCzkL5wF1W29GKpJVChqxYKaFyUjiLK08hJsAxXYbbkAm3wrDCklFltJJTy5bB1d5nvMtDGkcM0KLqd5EKlDpBBB03JsL77RT7x5dIkkbzoUlvxV46gPcae1Y3O22ICmyZTGy8AFE4a2mtZNtvKxYeLGyELBLC4Yl2UIymw0bqCCDvvYW28dupUU7SLBJEYZ2DFElRQJAvMxOLofGwNwOYGKi1ZqNQFWWABQAAJEAAGwAAOKqiaBxTqssTN1qmsFdST7IOQBwzoj+AnqX8MUVKoFpyFUHrVNuAPjBgGcGDB/nPAGFx7sk+ax/ePhjC492SfNY/vHwDGMyStq+PUwwLDIY56eLQjXmWKThhp2BIFgSwIttpvvewcrHaOlqnXVqWGQroIDX02GkkEX8MZOX1KQLVFxDw6aCLWUWNGiJ0hIdRsSp3YFgOZ3I3AVzK71SLMWfizGI8CJUf28xamLPp8DsuwsTfVs3WSCKCWGNlp1WOSOFJoSFeSJlkLrITptYHY8+fdhOqcREVySRCGjNTNKDJK6wqy9uS7II7DdvKW2m9zey0U+uGipqOUM9I2uXiSw69ZlkJEaGUxi51avJbYsLG2wEMiI0AD8RKNoC5kuBJLH1iQEE7E3PPwQ8+7ayrU1IJ5CTNVu1TNqJJDSW0rY8gF0gDu/fjw00c1NJAKari9iiKGKOfgSGEOnZYgsCQwDHvAuBjUy56mJY6aagenVQQjqyyJIwuWdyvLVzFyTv5sA7V+5K35tP/AcXf3xTV+5K35tP/AcXf3wFMzsO4aVUybki+kjnt9OF3LIb6SrEm+4IZhe558/7YYlW92LHTYqw2FlPMg8/TigoG5KAvIvzvzvpP2385+gERWKJuAFbUl2vpOkau4Hkbb4dhOoAqR2rG5IJNyByAt/n0mvhIAXCjZ77d6jY89/Pi0LptdS6+UORew32tue637zgGIhILXYadCnSBsCfAne2LcVRRoFVgN7DlsBvewHhi3AUJcyVwBsS8YBtex4S72wnI1DR08tZUyAU9CryNPNZ3kkQNqkY8zY3CjxvbuxdKJCMxCM6EtHdo7cRV4S34d9tR5Dwvfux4rps1VU5fRU2XwVTqsl56emQ1CimjBCyKYAw0XC33ve17d/jkr1nddOOfesll5B0jr6/phQzVUjmGrjq8vgiYAiCJlMyW/5XQaj338Nh9T0DWJLm4QoBfaxIN7Y+G9FXjHSTIWLArDUzSSW7RVUp5Qeytze9hy78fbet06xNLKxhVVDMJwY2W5sLg4z9WtqN2vrv25ybzJ+JxAIGi7ktoFttB5D6OX0YVqqZKmanjuymCKWohYbiKfUipJpPeO1bzEjvxNpk67QhBqFRTVJDq10KxtEynbbfUbYbsLlrbkAX8wubY1siMTSMimRQr2swBuL+Y+GKqryYPnVN94MMYXqvJg+dU33gwDGDBgwBhR5NFY3scr3pU9rW9rSPz3GG8Lj3ZJ81j+8fALVES1EscrflRQisnDhkaOJgxBuyow322N/34oFDApui16WP+3FTqSASwBIXexJIPMX542MLy1UUU0MLAlpNNyNNk1toXUCb7nbYYBPqsJFm/LDeN6mffnzAktb6MXmSmhCu9PUExgKskkfEk57AMSW9GHcJVTB5aeAqLBuMxN7WAZQo0737/o8+AtWpDAMsFQQQCDwxYg738rHesH5PUfVj+bEaG3V1Ue8eVCOdisjC22GcAlV1B6rWewVO9PMPax8A/8ALF3WD8RU9/8Atj+bBV+5a35tP/AcX/3wFBnuCDT1BB5+xj+bETIDyp6lT3FY1B/iwzgwCiuAoXg1Wwt7Wov9ANsSSXQLCCpPnMa3Pp7WJz1NJTKGqJ4YVJsDM6pc+A1HFoKkAggggEEbgg94wFPWD8RU/Vj+bB1g/EVP1Y/mxfgwCUVQeNW+wVHlxH2sfFL58WLIilitLMpbyisSgm3jY4lF7dW/pxfdLiyRtCM+ktpBNl5nAZ8tLRSyxVAoXjqon4kdRHTxCZSQQRqG9iCQRfE1E6url66Ui208FMQB/wAeGqkHAauSRUa4jjtrd4iJCAt9SkkWFiDckf2tmkZVYdYjAZkXybyLc7gBT4ebbn3YnhfKqSOB0gQ0tRpicsnsdmQtcEoytcHfb/LMCewAEFTYC26b7elsc4cB0trLGQAQ6pTuAC1oyDfz4rbixiUh3jKtrHFLPEVsCdJA1ea3qGKi7rB+Iqfqx/NimebX1deDOv8AqqbdkAUeyDmb4tpp2nUkxsoXs6nK9sjYkKNwDzFwMFV5MHzqm+8GAYwYMGAMLj3ZJ81j+8fDGFx7sk+ax/ePgLpHSNHd2CogLMx5Ko3JOMYxvIZZnLJPICoDszNH7Nri4agHZd7jznl3adRTpLZnllVU7VkYBQRuGIseXdjOIgM5IlcxkC1+yzyDcjlfSNtrd/gNwfiq4jHeR0V0QtIPJHZJBZL8wbbWJwpc1E1Q3aAKjRYklOxpUnT4XJ+k+GKn4IkThqrDUNLyI99/OwvYeYeb0S1xQOzGdS8hR04ajTcHTpABG3fufHxxAxSTkEKyMqTMWUspXTLezIdrb+9xoYxOLoUJKY3ja7MwJKXPiosQRvt6PHZmOeWFVCcWeMkEXQnSnI6XvqPiLg8+fhQ3V+5K35tP/AcWSyxQpJLNIkcUal5JJWCIijmzMxsBiqpbVR1bWI1UsxswIIuhO4OMfpVl0Ndlrq4dmE9IEXiOAoM6anSMdkuBfTcc8AjnPSsLl1RUZK8EvvYKlvZEkYOEfgx3BIG92O2x2Nr4wqHOs8zSGspXrauprJmmEYpNMEUERURh5JacKFANzu9+WxJsWocny5FrSIUZ4q5KOIspnIEckbdsz353a1tPk91992gaNGbh9bCSwaVSGJi0SlmW4RCdIPO4NuVrDYBj0XRfIYby5zLS1lZJCtPMJ6xlQpp4dm1oJGJvvq7yLAWxbGmcdHpA+UzjMMiAFstkmlnqabffq05QsyjuBJI5bjyfIdIM8z2HO8yy6gqOBS0k6Uys8VP1iodYklLTzVatvdjpFgLAbePsuic+ZyZfLU1Uh6wJZ4HFHSRshWGWSMNaI6SWtc2G97233D0uXZtl2axs9JKGaMhZojYSwt8F1B/7w/hDJ3SXLaCZbESRar6dN7sTyO+H8BTF7dWfpxfdLiFY0qwNw9WosgJUE6VLC7G29rXvbE4vbqz9OL7pcXYBJQUC8HRLAdgQqyFRcggaWBP9sKVLgrGIurRzQSRF4411OeKQoAQgNZtidgdue2+hLR08xkLcRTIoSThSugdbEWYKbHme792w9HQyDS1NAR2gPY1BGrnYgX3wGdTTDXIamfQqgyKX1xW7VuZY6R3W1H7MXNLDoaKOSpSUG10JlZyDfskMQSeZ3G3O2KEKLPSsW1/6pQm5bR5UK+Va+xI830767RxSKquisoIYBgCARtcYBalQxSSxFRfhQsXt225rZyCeXd9OLKryYPnVN94MWRwwxGQxoFMhBc7kkgWHPFdV5MHzqm+8GAYwYMGAMJyTQQ1bGWREDUqhS5sCRI17E4cwevAL9doPlMH64wddoPlUH1gwx68HrwC/XaD5TB+uMc67Qd9TB9Lrhn14PXgFuuZeLWqKceh1x3rtB8pg/XGGPXg9eARqqyhNLWKtRCSaeZVAcEklCAABiFVLSVAjCV8Eehw5DaZFYjcbEjccwb+vljR9eD14DzsdFTRvIwzam9krYa5wsSKGeNuJpID2sTv4+ffe5IaVSb5nAQC2gINBVC5fTqWTlub+nuxuevB68B4GfoblE+a1mbNn7CaqkkneMJFw1lZQishLa+zYWuxxrZTlNDlNGlJHnCTWMpaSUBSxkleUnTFIouNRA/y3qPXg9eAysuNJQUsNK2YwzJCiRxEhEKoqhbHSTfx+n1O9doPlMH64wx68HrwCMdZQiWrvUQgF4iDrFiOGo2xY1dSbaKimJvvqltb1A4a9eD14BHr0RI/1FEBbc8VmN/RYfvxBqkSJIrZjSR6iwDQCzhTyszsRfz2xo+vB68BgFTdwtbl+hY4RGC0valj1dtjquDvsQcNQVBjMgfMYWUtrXjSJKwuPIBVU7I84v6741fXg9eATFbT6u1VUhW3vWIa/0kjEZqqkl6ukc8buaqnsqNqJs4J2GHvXg9eAMGDBgDBgwYAwYMGAMGDBgDBgwYAwYMGAMGDHMB3BgxzAdwYMGAMGDBgDBgwYAwYMGAMGDBgDBgxzA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366" y="179417"/>
            <a:ext cx="4726743" cy="667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36523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246" y="318552"/>
            <a:ext cx="4628271" cy="653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50000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B46C89-7692-A9C2-4FD0-626E04F74919}"/>
              </a:ext>
            </a:extLst>
          </p:cNvPr>
          <p:cNvSpPr txBox="1"/>
          <p:nvPr/>
        </p:nvSpPr>
        <p:spPr>
          <a:xfrm>
            <a:off x="2962404" y="2312756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3 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488707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34" y="411772"/>
            <a:ext cx="5267205" cy="42446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647" y="1375996"/>
            <a:ext cx="4146236" cy="44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58559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5B6B5D-88B4-9431-4DBA-2983514C99FB}"/>
              </a:ext>
            </a:extLst>
          </p:cNvPr>
          <p:cNvSpPr txBox="1"/>
          <p:nvPr/>
        </p:nvSpPr>
        <p:spPr>
          <a:xfrm>
            <a:off x="1214438" y="2014538"/>
            <a:ext cx="9944099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 smtClean="0">
                <a:latin typeface="ABC Junior Typing"/>
                <a:ea typeface="Calibri" panose="020F0502020204030204" pitchFamily="34" charset="0"/>
                <a:cs typeface="Calibri Light" panose="020F0302020204030204" pitchFamily="34" charset="0"/>
              </a:rPr>
              <a:t>WILD AND FARM ANIMALS</a:t>
            </a:r>
            <a:endParaRPr lang="en-GB" sz="9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93770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64" y="901989"/>
            <a:ext cx="10059272" cy="50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36373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SLOVENGLISH: &lt;strong&gt;FARM ANIMALS&lt;/strong&gt;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28625"/>
            <a:ext cx="10058400" cy="528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726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296643-34E3-CDC6-582C-C610C2C8115F}"/>
              </a:ext>
            </a:extLst>
          </p:cNvPr>
          <p:cNvSpPr txBox="1"/>
          <p:nvPr/>
        </p:nvSpPr>
        <p:spPr>
          <a:xfrm>
            <a:off x="1900238" y="1792751"/>
            <a:ext cx="8229600" cy="327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14338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096" y="275785"/>
            <a:ext cx="4726743" cy="606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90772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6" y="0"/>
            <a:ext cx="4467224" cy="655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88827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35715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475" y="723900"/>
            <a:ext cx="38290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73345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0"/>
            <a:ext cx="4514850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74950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92BE2-CEDC-3605-728E-3F119AF5DFDB}"/>
              </a:ext>
            </a:extLst>
          </p:cNvPr>
          <p:cNvSpPr txBox="1"/>
          <p:nvPr/>
        </p:nvSpPr>
        <p:spPr>
          <a:xfrm>
            <a:off x="3117148" y="2087673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2 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339290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731" y="168812"/>
            <a:ext cx="7820025" cy="696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04846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3 Year 1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829371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912" y="298432"/>
            <a:ext cx="4432176" cy="626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81955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3E6E-2C3F-A955-7618-6A1BCDCB9F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REFERENCES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FBA25-7E5A-14E0-3EC9-7BF51AE55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www.Games4esl.com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109376"/>
      </p:ext>
    </p:extLst>
  </p:cSld>
  <p:clrMapOvr>
    <a:masterClrMapping/>
  </p:clrMapOvr>
  <p:transition spd="slow">
    <p:wipe/>
  </p:transition>
</p:sld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2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4.xml><?xml version="1.0" encoding="utf-8"?>
<a:theme xmlns:a="http://schemas.openxmlformats.org/drawingml/2006/main" name="3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1205</TotalTime>
  <Words>430</Words>
  <Application>Microsoft Office PowerPoint</Application>
  <PresentationFormat>Widescreen</PresentationFormat>
  <Paragraphs>95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ABC Junior Typing</vt:lpstr>
      <vt:lpstr>Arial</vt:lpstr>
      <vt:lpstr>Calibri</vt:lpstr>
      <vt:lpstr>Calibri Light</vt:lpstr>
      <vt:lpstr>Garamond</vt:lpstr>
      <vt:lpstr>Gill Sans MT</vt:lpstr>
      <vt:lpstr>Times New Roman</vt:lpstr>
      <vt:lpstr>Gallery</vt:lpstr>
      <vt:lpstr>1_Gallery</vt:lpstr>
      <vt:lpstr>2_Gallery</vt:lpstr>
      <vt:lpstr>3_Gallery</vt:lpstr>
      <vt:lpstr>Office Theme</vt:lpstr>
      <vt:lpstr>Organic</vt:lpstr>
      <vt:lpstr>PowerPoint Presentation</vt:lpstr>
      <vt:lpstr>PowerPoint Presentation</vt:lpstr>
      <vt:lpstr>PowerPoint Presentation</vt:lpstr>
      <vt:lpstr>LESSON OBJECTIVES</vt:lpstr>
      <vt:lpstr>Cont.…</vt:lpstr>
      <vt:lpstr>ASSESSMENT GOALS</vt:lpstr>
      <vt:lpstr>Cont.…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Mkhonta</dc:creator>
  <cp:lastModifiedBy>user</cp:lastModifiedBy>
  <cp:revision>38</cp:revision>
  <dcterms:created xsi:type="dcterms:W3CDTF">2024-06-04T14:41:11Z</dcterms:created>
  <dcterms:modified xsi:type="dcterms:W3CDTF">2024-07-16T07:29:49Z</dcterms:modified>
</cp:coreProperties>
</file>