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304" r:id="rId4"/>
    <p:sldId id="305" r:id="rId5"/>
    <p:sldId id="302" r:id="rId6"/>
    <p:sldId id="303" r:id="rId7"/>
    <p:sldId id="259" r:id="rId8"/>
    <p:sldId id="260" r:id="rId9"/>
    <p:sldId id="261" r:id="rId10"/>
    <p:sldId id="262" r:id="rId11"/>
    <p:sldId id="308" r:id="rId12"/>
    <p:sldId id="263" r:id="rId13"/>
    <p:sldId id="264" r:id="rId14"/>
    <p:sldId id="309" r:id="rId15"/>
    <p:sldId id="267" r:id="rId16"/>
    <p:sldId id="268" r:id="rId17"/>
    <p:sldId id="277" r:id="rId18"/>
    <p:sldId id="278" r:id="rId19"/>
    <p:sldId id="269" r:id="rId20"/>
    <p:sldId id="316" r:id="rId21"/>
    <p:sldId id="270" r:id="rId22"/>
    <p:sldId id="271" r:id="rId23"/>
    <p:sldId id="272" r:id="rId24"/>
    <p:sldId id="315" r:id="rId25"/>
    <p:sldId id="273" r:id="rId26"/>
    <p:sldId id="274" r:id="rId27"/>
    <p:sldId id="275" r:id="rId28"/>
    <p:sldId id="276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314" r:id="rId38"/>
    <p:sldId id="287" r:id="rId39"/>
    <p:sldId id="288" r:id="rId40"/>
    <p:sldId id="289" r:id="rId41"/>
    <p:sldId id="290" r:id="rId42"/>
    <p:sldId id="313" r:id="rId43"/>
    <p:sldId id="291" r:id="rId44"/>
    <p:sldId id="292" r:id="rId45"/>
    <p:sldId id="293" r:id="rId46"/>
    <p:sldId id="294" r:id="rId47"/>
    <p:sldId id="295" r:id="rId48"/>
    <p:sldId id="296" r:id="rId49"/>
    <p:sldId id="312" r:id="rId50"/>
    <p:sldId id="297" r:id="rId51"/>
    <p:sldId id="298" r:id="rId52"/>
    <p:sldId id="299" r:id="rId53"/>
    <p:sldId id="307" r:id="rId54"/>
    <p:sldId id="311" r:id="rId55"/>
    <p:sldId id="30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81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57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19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37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7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901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027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1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01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97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B49D-25D3-4921-AAA4-A7D0D5B645C8}" type="datetimeFigureOut">
              <a:rPr lang="en-ZA" smtClean="0"/>
              <a:t>2024/07/17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5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bing.com/images/search?view=detailV2&amp;ccid=9lQyio4R&amp;id=25295F00C113015CE9EB4BFE4607D3AAE9403C68&amp;thid=OIP.9lQyio4R5Es1Wil1eGH_4gAAAA&amp;mediaurl=https%3A%2F%2Fth.bing.com%2Fth%2Fid%2FR.f654328a8e11e44b355a29757861ffe2%3Frik%3DaDxA6arTB0b%252bSw%26riu%3Dhttp%253a%252f%252fmedia.gettyimages.com%252fvectors%252fdrink-water-bottle-vector-id468492600%253fs%253d170667a%2526w%253d1007%26ehk%3DUXK5u%252fxzJnezY48T7E%252bs3FMJ3eAFRiljNSJ%252bLu%252b8ixs%253d%26risl%3D%26pid%3DImgRaw%26r%3D0&amp;exph=676&amp;expw=254&amp;q=water+clip+art+black+and+white&amp;form=IRPRST&amp;ck=6186708AD97C89AD1C05BA1358C17DC1&amp;selectedindex=2&amp;ajaxhist=0&amp;ajaxserp=0&amp;vt=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bing.com/images/search?view=detailV2&amp;ccid=nr8z7b%2Bs&amp;id=120FB97935F700692FA47DEDB87E4E7D6DD62876&amp;thid=OIP.nr8z7b-sk1DDBeSBdMk6-wHaJv&amp;mediaurl=https%3A%2F%2Fhdclipartall.com%2Fimages%2Fwater-clipart-black-and-white-glass-of-water-clipart-black-and-white-6-1000x1316.jpg&amp;exph=1316&amp;expw=1000&amp;q=Glass+of+Water+Clip+Art+Black+and+White&amp;simid=608007420746668284&amp;form=IRPRST&amp;ck=7138E1B1264436D320E1A263D8CA1546&amp;selectedindex=1&amp;ajaxhist=0&amp;ajaxserp=0&amp;vt=2&amp;sim=11&amp;cdnurl=https%3A%2F%2Fth.bing.com%2Fth%2Fid%2FR.9ebf33edbfac9350c305e48174c93afb%3Frik%3DdijWbX1OfrjtfQ%26pid%3DImgRaw%26r%3D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s://th.bing.com/th/id/OIP.Nf6VTxle16YtwHqxzvj24QAAAA?rs=1&amp;pid=ImgDetMain" TargetMode="External"/><Relationship Id="rId3" Type="http://schemas.openxmlformats.org/officeDocument/2006/relationships/hyperlink" Target="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" TargetMode="External"/><Relationship Id="rId7" Type="http://schemas.openxmlformats.org/officeDocument/2006/relationships/hyperlink" Target="https://th.bing.com/th/id/OIP.sfoXR83NPVP-oQz6Fw5fKgAAAA?w=178&amp;h=241&amp;c=7&amp;r=0&amp;o=5&amp;pid=1.7" TargetMode="External"/><Relationship Id="rId2" Type="http://schemas.openxmlformats.org/officeDocument/2006/relationships/hyperlink" Target="https://cdn4.vectorstock.com/i/1000x1000/81/78/transport-cartoons-vector-598178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.bing.com/th/id/OIP.j1aGQgbLnwFPQ_I9JjVwygHaKe?w=178&amp;h=252&amp;c=7&amp;r=0&amp;o=5&amp;pid=1.7" TargetMode="External"/><Relationship Id="rId5" Type="http://schemas.openxmlformats.org/officeDocument/2006/relationships/hyperlink" Target="https://th.bing.com/th/id/OIP.fRSAqPJELZxVQ3CRL-bfpgAAAA?rs=1&amp;pid=ImgDetMain" TargetMode="External"/><Relationship Id="rId4" Type="http://schemas.openxmlformats.org/officeDocument/2006/relationships/hyperlink" Target="https://www.kids-pages.com/folders/worksheets/Transportation/TransportationFillIn.jpg" TargetMode="External"/><Relationship Id="rId9" Type="http://schemas.openxmlformats.org/officeDocument/2006/relationships/hyperlink" Target="https://th.bing.com/th/id/OIP.G22CAwskSgcV--pN-tS4-gAAAA?rs=1&amp;pid=ImgDet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A923-0714-4031-A893-1F905F1FEF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TERM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5CB9C-FD8A-4C01-A2D1-9D29CB646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English</a:t>
            </a:r>
          </a:p>
          <a:p>
            <a:r>
              <a:rPr lang="en-ZA" dirty="0"/>
              <a:t>GRADE 2 YEAR 1</a:t>
            </a:r>
          </a:p>
        </p:txBody>
      </p:sp>
    </p:spTree>
    <p:extLst>
      <p:ext uri="{BB962C8B-B14F-4D97-AF65-F5344CB8AC3E}">
        <p14:creationId xmlns:p14="http://schemas.microsoft.com/office/powerpoint/2010/main" val="241004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EEA5-77CB-47DB-BA8E-291871F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AAFBFCA-B211-4540-B012-1F19BEFD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200928"/>
              </p:ext>
            </p:extLst>
          </p:nvPr>
        </p:nvGraphicFramePr>
        <p:xfrm>
          <a:off x="1450975" y="2016125"/>
          <a:ext cx="9604375" cy="326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987">
                  <a:extLst>
                    <a:ext uri="{9D8B030D-6E8A-4147-A177-3AD203B41FA5}">
                      <a16:colId xmlns:a16="http://schemas.microsoft.com/office/drawing/2014/main" val="4145566532"/>
                    </a:ext>
                  </a:extLst>
                </a:gridCol>
                <a:gridCol w="6724388">
                  <a:extLst>
                    <a:ext uri="{9D8B030D-6E8A-4147-A177-3AD203B41FA5}">
                      <a16:colId xmlns:a16="http://schemas.microsoft.com/office/drawing/2014/main" val="116578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1-2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WATER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540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3-5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OUR COUNTRY SOUTH AFRICA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356642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6-7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COMMUNICATION IN OUR WORLD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28129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8-9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LIFE AT NIGHT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92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E2EC-8C6C-4C1E-92D3-D4CAF3C9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Lesson objectives</a:t>
            </a:r>
            <a:br>
              <a:rPr lang="en-ZA" dirty="0"/>
            </a:br>
            <a:r>
              <a:rPr lang="en-ZA" sz="3100" dirty="0"/>
              <a:t>Learners will be able to</a:t>
            </a:r>
            <a:r>
              <a:rPr lang="en-ZA" dirty="0"/>
              <a:t>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E9EF-7FA1-465B-9029-9F4189DBB0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Discuss the water cycle</a:t>
            </a:r>
          </a:p>
          <a:p>
            <a:r>
              <a:rPr lang="en-GB" dirty="0"/>
              <a:t> Save water</a:t>
            </a:r>
          </a:p>
          <a:p>
            <a:r>
              <a:rPr lang="en-GB" dirty="0"/>
              <a:t>Water purification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668D-9CC1-4893-B748-F51ACD5D2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Know the name of our country South Africa</a:t>
            </a:r>
          </a:p>
          <a:p>
            <a:r>
              <a:rPr lang="en-GB" dirty="0"/>
              <a:t>Recognise the map of South Africa</a:t>
            </a:r>
          </a:p>
          <a:p>
            <a:r>
              <a:rPr lang="en-GB" dirty="0"/>
              <a:t>Recognise the symbols of South Africa</a:t>
            </a:r>
          </a:p>
          <a:p>
            <a:r>
              <a:rPr lang="en-GB" dirty="0"/>
              <a:t>Name own province</a:t>
            </a:r>
          </a:p>
          <a:p>
            <a:r>
              <a:rPr lang="en-GB" dirty="0"/>
              <a:t>Name own town</a:t>
            </a:r>
          </a:p>
          <a:p>
            <a:r>
              <a:rPr lang="en-GB" dirty="0"/>
              <a:t>Recognise the South African </a:t>
            </a:r>
          </a:p>
          <a:p>
            <a:r>
              <a:rPr lang="en-GB" dirty="0"/>
              <a:t>flag and places where we can </a:t>
            </a:r>
          </a:p>
          <a:p>
            <a:r>
              <a:rPr lang="en-GB" dirty="0"/>
              <a:t>see it flying. Meaning of colours</a:t>
            </a:r>
          </a:p>
          <a:p>
            <a:r>
              <a:rPr lang="en-GB" dirty="0"/>
              <a:t>Listen/hum/sing South African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164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03BB-165D-4A25-8755-2E450EE5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objectives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7F02-0EAF-4E40-8193-E96826C8E7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Identify common communication skills</a:t>
            </a:r>
          </a:p>
          <a:p>
            <a:r>
              <a:rPr lang="en-GB" dirty="0"/>
              <a:t>Identify common communication technologies</a:t>
            </a:r>
          </a:p>
          <a:p>
            <a:r>
              <a:rPr lang="en-GB" dirty="0"/>
              <a:t>Identify ways that a person’s privacy and reputation may be compromised online </a:t>
            </a:r>
          </a:p>
          <a:p>
            <a:r>
              <a:rPr lang="en-GB" dirty="0"/>
              <a:t>Identify examples of texting style language, including abbreviations and emoticons. </a:t>
            </a:r>
          </a:p>
          <a:p>
            <a:r>
              <a:rPr lang="en-GB" dirty="0"/>
              <a:t>Describe the appropriate and inappropriate uses of texting style language. </a:t>
            </a:r>
          </a:p>
          <a:p>
            <a:r>
              <a:rPr lang="en-GB" dirty="0"/>
              <a:t>Describe some potential consequences of the inappropriate use of texting style language 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5A46E-E5A9-4A17-A167-2EB8B8E27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Discuss things they do at night get ready for bed, read and tell stories, sleep and dream</a:t>
            </a:r>
          </a:p>
          <a:p>
            <a:r>
              <a:rPr lang="en-GB" dirty="0"/>
              <a:t>Identify people who work at night - such as security officers, doctors, pilots, truck drivers</a:t>
            </a:r>
          </a:p>
          <a:p>
            <a:r>
              <a:rPr lang="en-GB" dirty="0"/>
              <a:t>Identify night animals - such as owls, hamsters, porcupines, leopards, jackal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855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74C-0814-4705-A4AE-4FC9F2C8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F127-2552-4C85-BB2A-58C8D0C124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Know and discuss the water cycle using basic vocabulary</a:t>
            </a:r>
          </a:p>
          <a:p>
            <a:r>
              <a:rPr lang="en-GB" dirty="0"/>
              <a:t>Know how to save water</a:t>
            </a:r>
          </a:p>
          <a:p>
            <a:r>
              <a:rPr lang="en-GB" dirty="0"/>
              <a:t>Know and explain how water purification works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00D0B-980F-4CD3-A0CC-C7A96516F2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Know the province of residence</a:t>
            </a:r>
          </a:p>
          <a:p>
            <a:r>
              <a:rPr lang="en-GB" dirty="0"/>
              <a:t>Know town of residence</a:t>
            </a:r>
          </a:p>
          <a:p>
            <a:r>
              <a:rPr lang="en-GB" dirty="0"/>
              <a:t>Know and label the flag and the meaning of the colours</a:t>
            </a:r>
          </a:p>
          <a:p>
            <a:r>
              <a:rPr lang="en-GB" dirty="0"/>
              <a:t>Know and sing/hum the anthem</a:t>
            </a:r>
          </a:p>
          <a:p>
            <a:r>
              <a:rPr lang="en-GB" dirty="0"/>
              <a:t>Understand the term rainbow nation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07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5176-B3D7-4D56-AAAA-02ED157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1D7F-EB26-4572-B8EC-425B51E844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Identify ways that a person’s privacy and reputation may be compromised online.</a:t>
            </a:r>
          </a:p>
          <a:p>
            <a:r>
              <a:rPr lang="en-GB" dirty="0"/>
              <a:t>Identify examples of texting-style language, including abbreviations and emoticons. </a:t>
            </a:r>
          </a:p>
          <a:p>
            <a:r>
              <a:rPr lang="en-GB" dirty="0"/>
              <a:t>Describe and discuss the appropriate and inappropriate uses of texting-style language.</a:t>
            </a:r>
          </a:p>
          <a:p>
            <a:r>
              <a:rPr lang="en-GB" dirty="0"/>
              <a:t>Describe and discuss some potential consequences of the inappropriate use of texting-style language.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FD418-288D-482F-B3CD-A7DB10B6C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Identify, name and label people who work at night - such as security officers, doctors, pilots, truck drivers</a:t>
            </a:r>
          </a:p>
          <a:p>
            <a:r>
              <a:rPr lang="en-GB" dirty="0"/>
              <a:t> Identify night animals - such as owls, hamsters, porcupines, leopards, jackal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660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8858-880E-4DAB-BB49-88341D53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D1B3-DE08-40F5-B0E9-7429D2CE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8E7B1-66C9-4F53-A7BB-A60B4C05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556931"/>
            <a:ext cx="5430078" cy="35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5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3879-B00A-4D82-8591-9F60ACF2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</a:t>
            </a:r>
          </a:p>
        </p:txBody>
      </p:sp>
      <p:pic>
        <p:nvPicPr>
          <p:cNvPr id="1026" name="Picture 2" descr="Premium Vector | Water cycle diagram earth hydrologic process ...">
            <a:extLst>
              <a:ext uri="{FF2B5EF4-FFF2-40B4-BE49-F238E27FC236}">
                <a16:creationId xmlns:a16="http://schemas.microsoft.com/office/drawing/2014/main" id="{7C84F454-8D5F-44AA-B92A-AF847DBFC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3532" y="2016125"/>
            <a:ext cx="4879261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01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FB33-8FE4-4035-9DDE-CE7BFDD8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r>
              <a:rPr lang="en-ZA" dirty="0"/>
              <a:t>Group 1</a:t>
            </a:r>
            <a:br>
              <a:rPr lang="en-ZA" dirty="0"/>
            </a:b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Colour in the bottle</a:t>
            </a:r>
            <a:b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</a:br>
            <a:endParaRPr lang="en-ZA" dirty="0"/>
          </a:p>
        </p:txBody>
      </p:sp>
      <p:pic>
        <p:nvPicPr>
          <p:cNvPr id="8" name="Content Placeholder 7" descr="See related image detail">
            <a:hlinkClick r:id="rId2"/>
            <a:extLst>
              <a:ext uri="{FF2B5EF4-FFF2-40B4-BE49-F238E27FC236}">
                <a16:creationId xmlns:a16="http://schemas.microsoft.com/office/drawing/2014/main" id="{FB4333FE-C4AE-42FE-9560-16E3327025D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4512" y="2074069"/>
            <a:ext cx="1257300" cy="333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679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3425-B4CC-4557-BCF6-67EB466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Practical task</a:t>
            </a:r>
            <a:br>
              <a:rPr lang="en-ZA" dirty="0"/>
            </a:br>
            <a:r>
              <a:rPr lang="en-ZA" dirty="0"/>
              <a:t>HOW TO SAVE WATER</a:t>
            </a:r>
          </a:p>
        </p:txBody>
      </p:sp>
      <p:pic>
        <p:nvPicPr>
          <p:cNvPr id="5" name="Content Placeholder 4" descr="Image result for Water Theme for Preschool">
            <a:extLst>
              <a:ext uri="{FF2B5EF4-FFF2-40B4-BE49-F238E27FC236}">
                <a16:creationId xmlns:a16="http://schemas.microsoft.com/office/drawing/2014/main" id="{20C12DD8-905A-4A0D-96FE-2097518237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2100" y="2416969"/>
            <a:ext cx="1762125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21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F9B8-841E-462B-8F9E-24F6DDF9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200" u="sng" dirty="0">
                <a:effectLst/>
                <a:latin typeface="ABC Junior Plain"/>
                <a:ea typeface="Calibri" panose="020F0502020204030204" pitchFamily="34" charset="0"/>
                <a:cs typeface="Times New Roman" panose="02020603050405020304" pitchFamily="18" charset="0"/>
              </a:rPr>
              <a:t>Colour in the picture below</a:t>
            </a:r>
            <a:b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6" name="Content Placeholder 5" descr="See related image detail">
            <a:hlinkClick r:id="rId2"/>
            <a:extLst>
              <a:ext uri="{FF2B5EF4-FFF2-40B4-BE49-F238E27FC236}">
                <a16:creationId xmlns:a16="http://schemas.microsoft.com/office/drawing/2014/main" id="{02273662-7BDE-4F0B-963D-CC01E862969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9"/>
          <a:stretch/>
        </p:blipFill>
        <p:spPr bwMode="auto">
          <a:xfrm>
            <a:off x="4682330" y="2483556"/>
            <a:ext cx="3321491" cy="29500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8900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F156-FCB0-4EE7-8B4A-FC29244E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in the water bottle picture below</a:t>
            </a:r>
          </a:p>
        </p:txBody>
      </p:sp>
      <p:pic>
        <p:nvPicPr>
          <p:cNvPr id="4098" name="Picture 2" descr="Water Bottle and Glass coloring page | Free Printable Coloring Pages">
            <a:extLst>
              <a:ext uri="{FF2B5EF4-FFF2-40B4-BE49-F238E27FC236}">
                <a16:creationId xmlns:a16="http://schemas.microsoft.com/office/drawing/2014/main" id="{DDD3888E-22E7-4C7E-A4DC-98788F966A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1" y="2557463"/>
            <a:ext cx="450573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12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C778-8E5C-41C1-9CAB-CF6A6A3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water cycle</a:t>
            </a:r>
          </a:p>
        </p:txBody>
      </p:sp>
      <p:pic>
        <p:nvPicPr>
          <p:cNvPr id="5" name="Content Placeholder 4" descr="See the source image">
            <a:extLst>
              <a:ext uri="{FF2B5EF4-FFF2-40B4-BE49-F238E27FC236}">
                <a16:creationId xmlns:a16="http://schemas.microsoft.com/office/drawing/2014/main" id="{846BC00A-42E6-4A6D-B7A7-3A8A32D5ADF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097139" y="2016125"/>
            <a:ext cx="4312047" cy="34496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4607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80BB-2556-433A-BD22-6556FE5C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154" y="870181"/>
            <a:ext cx="8761413" cy="706964"/>
          </a:xfrm>
        </p:spPr>
        <p:txBody>
          <a:bodyPr/>
          <a:lstStyle/>
          <a:p>
            <a:r>
              <a:rPr lang="en-ZA" dirty="0"/>
              <a:t>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CAA70D-344E-413F-B701-3F53D7FBA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367232"/>
              </p:ext>
            </p:extLst>
          </p:nvPr>
        </p:nvGraphicFramePr>
        <p:xfrm>
          <a:off x="2547532" y="2788356"/>
          <a:ext cx="7635048" cy="1030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8762">
                  <a:extLst>
                    <a:ext uri="{9D8B030D-6E8A-4147-A177-3AD203B41FA5}">
                      <a16:colId xmlns:a16="http://schemas.microsoft.com/office/drawing/2014/main" val="503532450"/>
                    </a:ext>
                  </a:extLst>
                </a:gridCol>
                <a:gridCol w="1908762">
                  <a:extLst>
                    <a:ext uri="{9D8B030D-6E8A-4147-A177-3AD203B41FA5}">
                      <a16:colId xmlns:a16="http://schemas.microsoft.com/office/drawing/2014/main" val="2215240238"/>
                    </a:ext>
                  </a:extLst>
                </a:gridCol>
                <a:gridCol w="1908762">
                  <a:extLst>
                    <a:ext uri="{9D8B030D-6E8A-4147-A177-3AD203B41FA5}">
                      <a16:colId xmlns:a16="http://schemas.microsoft.com/office/drawing/2014/main" val="624136507"/>
                    </a:ext>
                  </a:extLst>
                </a:gridCol>
                <a:gridCol w="1908762">
                  <a:extLst>
                    <a:ext uri="{9D8B030D-6E8A-4147-A177-3AD203B41FA5}">
                      <a16:colId xmlns:a16="http://schemas.microsoft.com/office/drawing/2014/main" val="1612375923"/>
                    </a:ext>
                  </a:extLst>
                </a:gridCol>
              </a:tblGrid>
              <a:tr h="10305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600">
                          <a:effectLst/>
                        </a:rPr>
                        <a:t>condensation</a:t>
                      </a:r>
                      <a:endParaRPr lang="en-Z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600">
                          <a:effectLst/>
                        </a:rPr>
                        <a:t>precipitation</a:t>
                      </a:r>
                      <a:endParaRPr lang="en-Z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600" dirty="0">
                          <a:effectLst/>
                        </a:rPr>
                        <a:t>Collection</a:t>
                      </a:r>
                      <a:endParaRPr lang="en-Z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600" dirty="0">
                          <a:effectLst/>
                        </a:rPr>
                        <a:t>Exploration</a:t>
                      </a:r>
                      <a:endParaRPr lang="en-Z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064612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579767E-80A6-4474-BBEA-970F0E9A6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977" y="-33010"/>
            <a:ext cx="690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C Junior Plain" charset="0"/>
                <a:ea typeface="Calibri" panose="020F0502020204030204" pitchFamily="34" charset="0"/>
                <a:cs typeface="Times New Roman" panose="02020603050405020304" pitchFamily="18" charset="0"/>
              </a:rPr>
              <a:t>Fill in the water </a:t>
            </a:r>
            <a:r>
              <a:rPr kumimoji="0" lang="en-ZA" altLang="en-US" sz="28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C Junior Plain" charset="0"/>
                <a:ea typeface="Calibri" panose="020F0502020204030204" pitchFamily="34" charset="0"/>
                <a:cs typeface="Times New Roman" panose="02020603050405020304" pitchFamily="18" charset="0"/>
              </a:rPr>
              <a:t>cyle</a:t>
            </a:r>
            <a:r>
              <a:rPr kumimoji="0" lang="en-ZA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C Junior Plain" charset="0"/>
                <a:ea typeface="Calibri" panose="020F0502020204030204" pitchFamily="34" charset="0"/>
                <a:cs typeface="Times New Roman" panose="02020603050405020304" pitchFamily="18" charset="0"/>
              </a:rPr>
              <a:t> using the following words</a:t>
            </a:r>
            <a:endParaRPr kumimoji="0" lang="en-ZA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DA25B-5375-4B07-9C89-0E574BE1F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087" y="4169832"/>
            <a:ext cx="6383446" cy="18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1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C67E64-3A91-4AF5-AC35-0748E0DC6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017" y="1770744"/>
            <a:ext cx="5002609" cy="37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C04B-DF10-4F07-A3F3-1704FFC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Where do we get water?</a:t>
            </a:r>
            <a:br>
              <a:rPr lang="en-ZA" dirty="0"/>
            </a:br>
            <a:r>
              <a:rPr lang="en-ZA" dirty="0"/>
              <a:t>Colour the picture below</a:t>
            </a:r>
          </a:p>
        </p:txBody>
      </p:sp>
      <p:pic>
        <p:nvPicPr>
          <p:cNvPr id="7170" name="Picture 2" descr="Water coloring pages to download and print for free">
            <a:extLst>
              <a:ext uri="{FF2B5EF4-FFF2-40B4-BE49-F238E27FC236}">
                <a16:creationId xmlns:a16="http://schemas.microsoft.com/office/drawing/2014/main" id="{09AB56DD-A9E3-4585-A2DD-4F4CA31E0E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271" y="2557463"/>
            <a:ext cx="421063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90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EBB-BDB3-4108-B013-75C313D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sz="2700" dirty="0"/>
              <a:t>Tick the images that shows the ways we use water</a:t>
            </a:r>
          </a:p>
        </p:txBody>
      </p:sp>
      <p:pic>
        <p:nvPicPr>
          <p:cNvPr id="4" name="Content Placeholder 3" descr="Water Worksheet: Free Natural Resources Printable for Kids">
            <a:extLst>
              <a:ext uri="{FF2B5EF4-FFF2-40B4-BE49-F238E27FC236}">
                <a16:creationId xmlns:a16="http://schemas.microsoft.com/office/drawing/2014/main" id="{880625A5-BC9F-42F7-BB37-6FA0D35434A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4" b="2522"/>
          <a:stretch/>
        </p:blipFill>
        <p:spPr bwMode="auto">
          <a:xfrm>
            <a:off x="3856383" y="2557463"/>
            <a:ext cx="3830971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7646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D7F0-EC4B-4AEF-9838-86A34C7F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are the 3 ways you can save water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88B109-3EFA-43C8-9EFB-AD32E12A6E2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922588" y="2016125"/>
            <a:ext cx="2661149" cy="34496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8726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Our Country South Africa - Juffrou met hart">
            <a:extLst>
              <a:ext uri="{FF2B5EF4-FFF2-40B4-BE49-F238E27FC236}">
                <a16:creationId xmlns:a16="http://schemas.microsoft.com/office/drawing/2014/main" id="{79891A52-B994-4B66-8039-B40E0C2E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947738"/>
            <a:ext cx="72675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10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 descr="CHART: NATIONAL ANTHEM AND FLAG A2">
            <a:extLst>
              <a:ext uri="{FF2B5EF4-FFF2-40B4-BE49-F238E27FC236}">
                <a16:creationId xmlns:a16="http://schemas.microsoft.com/office/drawing/2014/main" id="{E8C64870-082A-4CDD-A661-BEEE23D65AF9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5"/>
          <a:stretch/>
        </p:blipFill>
        <p:spPr bwMode="auto">
          <a:xfrm>
            <a:off x="3716215" y="2603500"/>
            <a:ext cx="3903785" cy="38793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DC4737-424C-4994-B64E-907071A2628F}"/>
              </a:ext>
            </a:extLst>
          </p:cNvPr>
          <p:cNvSpPr txBox="1"/>
          <p:nvPr/>
        </p:nvSpPr>
        <p:spPr>
          <a:xfrm>
            <a:off x="4187687" y="14254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u="sng" dirty="0">
                <a:effectLst/>
                <a:latin typeface="ABC Junior Plain"/>
                <a:ea typeface="Calibri" panose="020F0502020204030204" pitchFamily="34" charset="0"/>
                <a:cs typeface="Times New Roman" panose="02020603050405020304" pitchFamily="18" charset="0"/>
              </a:rPr>
              <a:t>Sing the national anthem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3971753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8D1D-CCEA-423B-A713-F75FFD17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0242" name="Picture 2" descr="South African Flag - ClipArt Best">
            <a:extLst>
              <a:ext uri="{FF2B5EF4-FFF2-40B4-BE49-F238E27FC236}">
                <a16:creationId xmlns:a16="http://schemas.microsoft.com/office/drawing/2014/main" id="{C577BB56-E9C9-493A-B067-9816A342B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7844" y="2016125"/>
            <a:ext cx="5670637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211225-6B52-4B03-AACE-9639376D4F29}"/>
              </a:ext>
            </a:extLst>
          </p:cNvPr>
          <p:cNvSpPr txBox="1"/>
          <p:nvPr/>
        </p:nvSpPr>
        <p:spPr>
          <a:xfrm>
            <a:off x="3048000" y="3061924"/>
            <a:ext cx="6096000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ZA" sz="1800" u="sng" dirty="0">
                <a:effectLst/>
                <a:latin typeface="ABC Junior Plain"/>
                <a:ea typeface="Calibri" panose="020F0502020204030204" pitchFamily="34" charset="0"/>
                <a:cs typeface="Times New Roman" panose="02020603050405020304" pitchFamily="18" charset="0"/>
              </a:rPr>
              <a:t>Colour the South African flag using; black, red, yellow, green, blue and white</a:t>
            </a:r>
            <a:endParaRPr lang="en-ZA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25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4E32-EC34-48D6-8A6A-E9EBE307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                  GROUP 2</a:t>
            </a:r>
            <a:br>
              <a:rPr lang="en-ZA" dirty="0"/>
            </a:br>
            <a:r>
              <a:rPr lang="en-ZA" dirty="0"/>
              <a:t>Point out 9 South African provinces</a:t>
            </a:r>
          </a:p>
        </p:txBody>
      </p:sp>
      <p:pic>
        <p:nvPicPr>
          <p:cNvPr id="11266" name="Picture 2" descr="1: Provinces of South Africa (South African Government, 2016 ...">
            <a:extLst>
              <a:ext uri="{FF2B5EF4-FFF2-40B4-BE49-F238E27FC236}">
                <a16:creationId xmlns:a16="http://schemas.microsoft.com/office/drawing/2014/main" id="{8C7EFD49-BECF-4229-8838-A18DB45DBA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69704"/>
            <a:ext cx="5151953" cy="296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7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FFC6F-1EC6-43F5-BCD8-6E0CD890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sz="4000" u="sng" dirty="0">
                <a:effectLst/>
                <a:latin typeface="ABC Junior Plain"/>
                <a:ea typeface="Calibri" panose="020F0502020204030204" pitchFamily="34" charset="0"/>
                <a:cs typeface="Times New Roman" panose="02020603050405020304" pitchFamily="18" charset="0"/>
              </a:rPr>
              <a:t>Sing the national anthem</a:t>
            </a:r>
            <a:br>
              <a:rPr lang="en-Z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pic>
        <p:nvPicPr>
          <p:cNvPr id="7" name="Content Placeholder 6" descr="CHART: NATIONAL ANTHEM AND FLAG A2">
            <a:extLst>
              <a:ext uri="{FF2B5EF4-FFF2-40B4-BE49-F238E27FC236}">
                <a16:creationId xmlns:a16="http://schemas.microsoft.com/office/drawing/2014/main" id="{DCF29A4A-E7CF-44A5-836B-344CD845C6B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028554" y="2016125"/>
            <a:ext cx="2449217" cy="34496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26664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23D1-F249-41FF-B5C1-FCD3A1CD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2000" dirty="0"/>
              <a:t>Trace the words and colour the 6 colours of South African flag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B0E3F9-E3E1-4D32-B3A0-BCE7F9255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6350" y="2412206"/>
            <a:ext cx="2333625" cy="2657475"/>
          </a:xfrm>
        </p:spPr>
      </p:pic>
    </p:spTree>
    <p:extLst>
      <p:ext uri="{BB962C8B-B14F-4D97-AF65-F5344CB8AC3E}">
        <p14:creationId xmlns:p14="http://schemas.microsoft.com/office/powerpoint/2010/main" val="212664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B8DA-31CA-4C71-B40F-5CAD9960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9 South African provinces</a:t>
            </a:r>
          </a:p>
        </p:txBody>
      </p:sp>
      <p:pic>
        <p:nvPicPr>
          <p:cNvPr id="13314" name="Picture 2" descr="South Africa free map, free blank map, free outline map, free base map ...">
            <a:extLst>
              <a:ext uri="{FF2B5EF4-FFF2-40B4-BE49-F238E27FC236}">
                <a16:creationId xmlns:a16="http://schemas.microsoft.com/office/drawing/2014/main" id="{6248F7C5-C280-4AA5-80AC-3E46434026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557463"/>
            <a:ext cx="5228120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96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89C-0BD5-49E1-8D74-220921F2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the national springbok</a:t>
            </a:r>
          </a:p>
        </p:txBody>
      </p:sp>
      <p:pic>
        <p:nvPicPr>
          <p:cNvPr id="14338" name="Picture 2" descr="Springbok From South Africa Coloring Page. Free Printable Coloring Page ...">
            <a:extLst>
              <a:ext uri="{FF2B5EF4-FFF2-40B4-BE49-F238E27FC236}">
                <a16:creationId xmlns:a16="http://schemas.microsoft.com/office/drawing/2014/main" id="{DEFC626E-88BB-4B0D-B228-36667BE45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43" y="2557463"/>
            <a:ext cx="545989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522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89FD-0046-427C-ABAC-DC4160F0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FF944-21FC-4546-BC50-AE1EC0E7A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2400" y="2082688"/>
            <a:ext cx="540152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4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783C-8F54-4690-99AE-1F1D70A2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Colour in the protea national flower using different colours</a:t>
            </a:r>
          </a:p>
        </p:txBody>
      </p:sp>
      <p:pic>
        <p:nvPicPr>
          <p:cNvPr id="15362" name="Picture 2" descr="a drawing of a flower with leaves and petals in black and white on a ...">
            <a:extLst>
              <a:ext uri="{FF2B5EF4-FFF2-40B4-BE49-F238E27FC236}">
                <a16:creationId xmlns:a16="http://schemas.microsoft.com/office/drawing/2014/main" id="{DC433BC4-C09A-45B7-B7FF-DFBEE7D9E0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57" y="2629916"/>
            <a:ext cx="3485321" cy="317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2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CE7F-3F78-4AE9-BF7F-70060E1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Practical 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E9241C-6164-4476-91C7-ADBF2519C0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8" y="2557463"/>
            <a:ext cx="4982816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886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170-A34C-476D-A6E5-9C1537B9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and colour the map</a:t>
            </a:r>
            <a:endParaRPr lang="en-ZA" dirty="0"/>
          </a:p>
        </p:txBody>
      </p:sp>
      <p:pic>
        <p:nvPicPr>
          <p:cNvPr id="4" name="Content Placeholder 3" descr="Geography Provinces of SA - Learning with Mrs Du Preez">
            <a:extLst>
              <a:ext uri="{FF2B5EF4-FFF2-40B4-BE49-F238E27FC236}">
                <a16:creationId xmlns:a16="http://schemas.microsoft.com/office/drawing/2014/main" id="{EB014A53-5FB4-43D3-BBB5-FC88A53858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529" y="2557463"/>
            <a:ext cx="474427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3129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253-9C6A-40DB-96F5-36BA806A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Communication in our world </a:t>
            </a:r>
          </a:p>
        </p:txBody>
      </p:sp>
      <p:pic>
        <p:nvPicPr>
          <p:cNvPr id="16386" name="Picture 2" descr="Communication | FREE Infographic Maker">
            <a:extLst>
              <a:ext uri="{FF2B5EF4-FFF2-40B4-BE49-F238E27FC236}">
                <a16:creationId xmlns:a16="http://schemas.microsoft.com/office/drawing/2014/main" id="{F406ACBC-07B0-4902-8521-AD8251F695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95737" y="2331244"/>
            <a:ext cx="45148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90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008D-DF25-4FDE-9661-A03802E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Introduction </a:t>
            </a:r>
            <a:br>
              <a:rPr lang="en-ZA" dirty="0"/>
            </a:br>
            <a:r>
              <a:rPr lang="en-ZA" dirty="0"/>
              <a:t>What is communication?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98B53A-4845-4A3E-958B-F5198A13B4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376" y="261475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A714F-0410-47A6-8B08-84B27585709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3"/>
          <a:stretch/>
        </p:blipFill>
        <p:spPr bwMode="auto">
          <a:xfrm>
            <a:off x="4665980" y="2693987"/>
            <a:ext cx="2860040" cy="14700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2163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61B5-8313-4E26-9654-C02AAD8B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telephone picture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04428-C279-4D8A-8C62-33801F7D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609" y="2557463"/>
            <a:ext cx="445272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40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85E-C4D0-4995-ADC1-CEC2ABCE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Colour in the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D1E5D4-48AA-4A4D-A83D-8EDA84B5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225" y="2557463"/>
            <a:ext cx="507558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67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E0BE-D7C6-4054-BDA9-3E8C35C3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sz="2200" dirty="0"/>
              <a:t>Tick the correct form of communication that is used now</a:t>
            </a:r>
            <a:endParaRPr lang="en-ZA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6420F5-D21D-4481-8C3E-0E193659DEA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6" b="3755"/>
          <a:stretch/>
        </p:blipFill>
        <p:spPr bwMode="auto">
          <a:xfrm>
            <a:off x="3445565" y="2557463"/>
            <a:ext cx="4558748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0127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2286-BFE5-4433-B1D0-EBC18BC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Colour in the mail communication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D84B38-6CB3-4EC8-918E-7E74648A4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6296" y="2557463"/>
            <a:ext cx="41151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72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669CB5-5449-47B7-8811-D65E600E0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44" y="447675"/>
            <a:ext cx="6016978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0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F10F-0F0A-43F8-AE37-5371F7B4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endParaRPr lang="en-ZA" sz="31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BF27891-151A-4563-9A04-79E92F778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349" y="2977905"/>
            <a:ext cx="3990622" cy="2244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A1C0A8-1641-4DD2-A761-8F37DB5C5491}"/>
              </a:ext>
            </a:extLst>
          </p:cNvPr>
          <p:cNvSpPr txBox="1"/>
          <p:nvPr/>
        </p:nvSpPr>
        <p:spPr>
          <a:xfrm>
            <a:off x="2379105" y="135746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ZA" sz="1600" b="1" dirty="0">
                <a:solidFill>
                  <a:srgbClr val="000000"/>
                </a:solidFill>
                <a:effectLst/>
                <a:latin typeface="ABC Junior Plain"/>
                <a:ea typeface="Times New Roman" panose="02020603050405020304" pitchFamily="18" charset="0"/>
              </a:rPr>
              <a:t>Answer the following questions given in the</a:t>
            </a:r>
            <a:r>
              <a:rPr lang="en-ZA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Cambria" panose="02040503050406030204" pitchFamily="18" charset="0"/>
              </a:rPr>
              <a:t> </a:t>
            </a:r>
            <a:r>
              <a:rPr lang="en-ZA" sz="1600" b="1" dirty="0">
                <a:solidFill>
                  <a:srgbClr val="000000"/>
                </a:solidFill>
                <a:effectLst/>
                <a:latin typeface="ABC Junior Plain"/>
                <a:ea typeface="Times New Roman" panose="02020603050405020304" pitchFamily="18" charset="0"/>
              </a:rPr>
              <a:t>worksheet on water and its uses:</a:t>
            </a:r>
            <a:endParaRPr lang="en-ZA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60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DE95-50C5-45E6-807C-FD1C23D6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Colour in the picture of verbal communication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9E9645-46E0-4706-944E-93814ECC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061" y="2557463"/>
            <a:ext cx="413432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13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BFB8-4531-435E-917F-4AACC14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Circle the object that we use to communicate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A74615-2BA4-4E8D-91CB-2FD21477574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2" b="9657"/>
          <a:stretch/>
        </p:blipFill>
        <p:spPr bwMode="auto">
          <a:xfrm>
            <a:off x="3405808" y="2557463"/>
            <a:ext cx="4505739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801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7B21-8D24-4BF0-B3B9-71A116A8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Draw lines to connect the pictures and matching communication tools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8E89FD-D006-430A-8519-6B3A01045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758" y="2557463"/>
            <a:ext cx="44207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38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A321-132B-442B-9837-A283BBCF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Rewrite the following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3EF0C-BC0B-41AA-82AD-403FB5BF0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dirty="0"/>
              <a:t>I can talk on the phone with my friends.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My father reads the newspaper everyday.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I love listening to the radio.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I can chat with my friends on my laptop.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81799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F74B-86FA-49E2-8A5B-933805EB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AT NIGHT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EE8725-297F-49A8-B07A-EB2328AD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348" y="2557463"/>
            <a:ext cx="426975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43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ED3E-2E97-4CE5-B36B-D27EFACD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moon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C8456-1D19-40C6-835B-91CB443D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357" y="2557463"/>
            <a:ext cx="382397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AF21-E853-4499-8BC2-33DF58BA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in the star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9C7F8-AB24-44C2-AE9D-DE7D84E97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870" y="2557463"/>
            <a:ext cx="393642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2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9F59-4149-4D06-9372-72A2E405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dirty="0"/>
              <a:t>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7518C-AB1E-43C1-A446-D35BB53A9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65177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09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5A6D-DF4A-4DAF-81E1-ECEC0D68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Trace and 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3F74D-9FEE-41C7-BDC0-9AD4B1597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38646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010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EA37-BBB9-47E9-BF4B-B3C91342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Tick the correct box of what we see at night and during the day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8C3C55-9E35-4CED-BBFF-F30C6E76E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287" y="2557463"/>
            <a:ext cx="450491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70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68EB2-41F6-4ABE-B891-020080CF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67" y="575732"/>
            <a:ext cx="5683010" cy="568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08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8A52-741A-4966-965D-D8F8EBB7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2700" dirty="0"/>
              <a:t>Draw and colour in any image that represents the night</a:t>
            </a:r>
            <a:endParaRPr lang="en-ZA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D148-0304-4688-91F7-49FF14B66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4163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B5E-255B-4163-A64E-1E873978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the images that represent night life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4B7B09-6F15-41D2-877A-05AA0940E31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198" y="2689984"/>
            <a:ext cx="280360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he fantasy author J. R. R. Tolkien of Middle-earth fame included Earths sun and moon for the cosmology of his fictionalized version of existence.">
            <a:extLst>
              <a:ext uri="{FF2B5EF4-FFF2-40B4-BE49-F238E27FC236}">
                <a16:creationId xmlns:a16="http://schemas.microsoft.com/office/drawing/2014/main" id="{6B83AE4C-361D-4EF1-AB34-843DE07B30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706" y="2689984"/>
            <a:ext cx="2278587" cy="267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AC042-977F-46EE-8F7F-3B29158F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48" y="3114054"/>
            <a:ext cx="2485253" cy="24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8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1567-5548-43E3-9E0C-36846F21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Tick√ the correct picture of night time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257C03-5528-449D-8090-7B9BD3C4A35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-602" r="-128" b="4364"/>
          <a:stretch/>
        </p:blipFill>
        <p:spPr bwMode="auto">
          <a:xfrm>
            <a:off x="3101009" y="2557463"/>
            <a:ext cx="5485320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82888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F4C94E-2BB5-4689-BF1E-6C94AFDF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78" y="541866"/>
            <a:ext cx="6794111" cy="57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036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0D88-E4F4-42D4-97F4-96AED411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Rewrite the following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66D29-96B5-4A70-A318-3FBF0CCD3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dirty="0"/>
              <a:t>My favourite time of the night is when I go to sleep 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I do not play with my friends at night.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My baby brother has peaceful sleep at night.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My mother works nightshifts at work.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564240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508B-45EB-4FA9-850B-C48B91ED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5FD9-4DDA-4339-892A-3B9BF547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https://cdn4.vectorstock.com/i/1000x1000/81/78/transport-cartoons-vector-598178.jpg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https://www.kids-pages.com/folders/worksheets/Transportation/TransportationFillIn.jpg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https://th.bing.com/th/id/OIP.fRSAqPJELZxVQ3CRL-bfpgAAAA?rs=1&amp;pid=ImgDetMain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https://th.bing.com/th/id/OIP.j1aGQgbLnwFPQ_I9JjVwygHaKe?w=178&amp;h=252&amp;c=7&amp;r=0&amp;o=5&amp;pid=1.7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https://th.bing.com/th/id/OIP.sfoXR83NPVP-oQz6Fw5fKgAAAA?w=178&amp;h=241&amp;c=7&amp;r=0&amp;o=5&amp;pid=1.7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https://th.bing.com/th/id/OIP.Nf6VTxle16YtwHqxzvj24QAAAA?rs=1&amp;pid=ImgDetMain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https://th.bing.com/th/id/OIP.G22CAwskSgcV--pN-tS4-gAAAA?rs=1&amp;pid=ImgDetMain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65229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473</TotalTime>
  <Words>1029</Words>
  <Application>Microsoft Office PowerPoint</Application>
  <PresentationFormat>Widescreen</PresentationFormat>
  <Paragraphs>127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ABC Junior Plain</vt:lpstr>
      <vt:lpstr>Arial</vt:lpstr>
      <vt:lpstr>Calibri</vt:lpstr>
      <vt:lpstr>Cambria</vt:lpstr>
      <vt:lpstr>Garamond</vt:lpstr>
      <vt:lpstr>Gill Sans MT</vt:lpstr>
      <vt:lpstr>Times New Roman</vt:lpstr>
      <vt:lpstr>Gallery</vt:lpstr>
      <vt:lpstr>TERM 4</vt:lpstr>
      <vt:lpstr>LESSON PLAN CONTENT</vt:lpstr>
      <vt:lpstr>Lesson objectives Learners will be able to… </vt:lpstr>
      <vt:lpstr>Lesson objectives cont…</vt:lpstr>
      <vt:lpstr>ASSESSMENT GOALS</vt:lpstr>
      <vt:lpstr>ASSESSMENT GOALS cont…</vt:lpstr>
      <vt:lpstr>WATER</vt:lpstr>
      <vt:lpstr>Introduction </vt:lpstr>
      <vt:lpstr>Group 1 Colour in the bottle </vt:lpstr>
      <vt:lpstr>Practical task HOW TO SAVE WATER</vt:lpstr>
      <vt:lpstr>Colour in the picture below </vt:lpstr>
      <vt:lpstr>Colour in the water bottle picture below</vt:lpstr>
      <vt:lpstr>Group 2 water cycle</vt:lpstr>
      <vt:lpstr> </vt:lpstr>
      <vt:lpstr>PowerPoint Presentation</vt:lpstr>
      <vt:lpstr>Where do we get water? Colour the picture below</vt:lpstr>
      <vt:lpstr>Group 3 Tick the images that shows the ways we use water</vt:lpstr>
      <vt:lpstr>What are the 3 ways you can save water</vt:lpstr>
      <vt:lpstr>PowerPoint Presentation</vt:lpstr>
      <vt:lpstr>PowerPoint Presentation</vt:lpstr>
      <vt:lpstr>GROUP 1 Colour the South African flag</vt:lpstr>
      <vt:lpstr>                   GROUP 2 Point out 9 South African provinces</vt:lpstr>
      <vt:lpstr>Sing the national anthem </vt:lpstr>
      <vt:lpstr>Trace the words and colour the 6 colours of South African flag</vt:lpstr>
      <vt:lpstr>Colour 9 South African provinces</vt:lpstr>
      <vt:lpstr>Colour the national springbok</vt:lpstr>
      <vt:lpstr>GROUP 3 Colour the South African flag</vt:lpstr>
      <vt:lpstr>Colour in the protea national flower using different colours</vt:lpstr>
      <vt:lpstr>Practical work</vt:lpstr>
      <vt:lpstr>Complete and colour the map</vt:lpstr>
      <vt:lpstr>Communication in our world </vt:lpstr>
      <vt:lpstr>Introduction  What is communication?</vt:lpstr>
      <vt:lpstr>Group 1 Colour in the telephone picture</vt:lpstr>
      <vt:lpstr> Colour in the picture below</vt:lpstr>
      <vt:lpstr>Group 2 Tick the correct form of communication that is used now</vt:lpstr>
      <vt:lpstr>Colour in the mail communication picture below</vt:lpstr>
      <vt:lpstr>PowerPoint Presentation</vt:lpstr>
      <vt:lpstr>Group 3 </vt:lpstr>
      <vt:lpstr>Colour in the picture of verbal communication</vt:lpstr>
      <vt:lpstr>Circle the object that we use to communicate </vt:lpstr>
      <vt:lpstr>Draw lines to connect the pictures and matching communication tools</vt:lpstr>
      <vt:lpstr>Rewrite the following sentences</vt:lpstr>
      <vt:lpstr>LIFE AT NIGHT</vt:lpstr>
      <vt:lpstr>GROUP 1 Colour in the moon below</vt:lpstr>
      <vt:lpstr>Colour in the star picture below</vt:lpstr>
      <vt:lpstr>GROUP 2 Colour in the moon picture below</vt:lpstr>
      <vt:lpstr>Trace and colour in the moon picture below</vt:lpstr>
      <vt:lpstr>Tick the correct box of what we see at night and during the day </vt:lpstr>
      <vt:lpstr>PowerPoint Presentation</vt:lpstr>
      <vt:lpstr>GROUP 3 Draw and colour in any image that represents the night</vt:lpstr>
      <vt:lpstr>Colour the images that represent night life</vt:lpstr>
      <vt:lpstr>Tick√ the correct picture of night time</vt:lpstr>
      <vt:lpstr>PowerPoint Presentation</vt:lpstr>
      <vt:lpstr>Rewrite the following sentences</vt:lpstr>
      <vt:lpstr>REFERENCE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4</dc:title>
  <dc:creator>Student_PC</dc:creator>
  <cp:lastModifiedBy>Student_PC</cp:lastModifiedBy>
  <cp:revision>46</cp:revision>
  <dcterms:created xsi:type="dcterms:W3CDTF">2024-06-13T06:02:28Z</dcterms:created>
  <dcterms:modified xsi:type="dcterms:W3CDTF">2024-07-17T10:10:52Z</dcterms:modified>
</cp:coreProperties>
</file>