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9" r:id="rId4"/>
    <p:sldId id="274" r:id="rId5"/>
    <p:sldId id="260" r:id="rId6"/>
    <p:sldId id="258" r:id="rId7"/>
    <p:sldId id="262" r:id="rId8"/>
    <p:sldId id="264" r:id="rId9"/>
    <p:sldId id="261" r:id="rId10"/>
    <p:sldId id="263" r:id="rId11"/>
    <p:sldId id="267" r:id="rId12"/>
    <p:sldId id="265" r:id="rId13"/>
    <p:sldId id="266" r:id="rId14"/>
    <p:sldId id="268" r:id="rId15"/>
    <p:sldId id="271" r:id="rId16"/>
    <p:sldId id="272" r:id="rId17"/>
    <p:sldId id="273" r:id="rId18"/>
    <p:sldId id="269" r:id="rId19"/>
    <p:sldId id="270" r:id="rId20"/>
    <p:sldId id="281" r:id="rId21"/>
    <p:sldId id="282" r:id="rId22"/>
    <p:sldId id="283" r:id="rId23"/>
    <p:sldId id="284" r:id="rId24"/>
    <p:sldId id="286" r:id="rId25"/>
    <p:sldId id="275" r:id="rId26"/>
    <p:sldId id="276" r:id="rId27"/>
    <p:sldId id="277" r:id="rId28"/>
    <p:sldId id="290" r:id="rId29"/>
    <p:sldId id="300" r:id="rId30"/>
    <p:sldId id="287" r:id="rId31"/>
    <p:sldId id="291" r:id="rId32"/>
    <p:sldId id="288" r:id="rId33"/>
    <p:sldId id="289" r:id="rId34"/>
    <p:sldId id="292" r:id="rId35"/>
    <p:sldId id="278" r:id="rId36"/>
    <p:sldId id="279" r:id="rId37"/>
    <p:sldId id="280" r:id="rId38"/>
    <p:sldId id="293" r:id="rId39"/>
    <p:sldId id="294" r:id="rId40"/>
    <p:sldId id="298" r:id="rId41"/>
    <p:sldId id="295" r:id="rId42"/>
    <p:sldId id="301" r:id="rId43"/>
    <p:sldId id="299" r:id="rId44"/>
    <p:sldId id="296" r:id="rId45"/>
    <p:sldId id="297" r:id="rId46"/>
    <p:sldId id="28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93131" autoAdjust="0"/>
  </p:normalViewPr>
  <p:slideViewPr>
    <p:cSldViewPr snapToGrid="0">
      <p:cViewPr varScale="1">
        <p:scale>
          <a:sx n="61" d="100"/>
          <a:sy n="61" d="100"/>
        </p:scale>
        <p:origin x="11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B54C-C41F-4074-BBD5-B3F10C0D8CA1}" type="datetimeFigureOut">
              <a:rPr lang="en-ZA" smtClean="0"/>
              <a:t>2024/07/09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C32F-CDE3-47E4-8B24-744C15757A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056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F1D-86F1-422B-B7AB-5BF8C5F22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B946-0E69-45D8-A978-B207D97B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5D28-C89D-40D2-B27A-11384F4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6C22-E024-47CC-9456-DAEA9FA125B6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795E-2FD1-4F5D-A309-CCC944EB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F24C-5917-446C-A6A3-6006A06A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DFA9-08BD-4208-8C11-E1D8B19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100-CA05-4F9A-9153-A1955CCE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62CC-BF23-499E-8824-4F07AA3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1B4C-70E6-4B02-802A-1D1BAAD914F5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12C3-5292-4E19-BE03-3786F5F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8AB5-59A2-4A00-A1A8-DBC91CF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24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7236-1AD0-4BF8-B71A-D8D7FC9D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B976-CB0B-4422-A558-15527BAF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7C5-8F8E-493A-966C-4214B6C0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21CE-AA09-470C-A60E-88DB4848377D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DAB9-2F93-4414-A533-B330905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017-E368-4AB8-B069-9D0E8BA9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02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0B5E-14B7-4042-B4CD-550C9AC1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FA4F-40D1-482D-9709-3BF23984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5399B-D72D-4542-BDA6-E6B6786A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A9AB-E3C8-4AA3-AA9C-81FCAABB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83CC-B15C-431D-9430-0F7EC02FA5D3}" type="datetime1">
              <a:rPr lang="en-ZA" smtClean="0"/>
              <a:t>2024/07/09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872-6795-4673-9498-0B4B6E1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4CA9-4B78-4809-A124-4C0009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88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AD9-6050-45C0-A250-34CFEE1B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4741-86DE-40B7-9FEB-F2349B1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098B-DAFC-4144-9649-8485E708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D2347-A66B-4CA2-976A-88ED3847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11F04-C93D-4E2B-A926-2C871C2FA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43176-C0CB-4EB0-BF0F-30BF9BEC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4EA3-F207-4F92-9D0C-2086238A9231}" type="datetime1">
              <a:rPr lang="en-ZA" smtClean="0"/>
              <a:t>2024/07/09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41841-51AC-4DD4-AC93-84A2332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2B74-F226-48ED-BF8B-1AB80D1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55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00D-F60C-4E49-9871-A29F99DC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371E4-7E73-4937-94B4-3DC9337B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8823-313B-43A5-A4F3-01C8E7BEB51B}" type="datetime1">
              <a:rPr lang="en-ZA" smtClean="0"/>
              <a:t>2024/07/09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CA04-5671-4C59-BF05-D70BF63F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5877-C08A-4BC4-86B8-5BA5281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274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2E10-1428-43D4-9F0A-5F8498D3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BD82-8AC3-4846-BFDC-FDD620499ACF}" type="datetime1">
              <a:rPr lang="en-ZA" smtClean="0"/>
              <a:t>2024/07/09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FE40D-0686-44FF-8468-7129157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7473-04D8-412F-924D-9B2694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5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451D-2C7A-4B97-B5FE-8CD362F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925-C629-4195-A88E-8F04764A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BBACE-7FF5-4AC7-BB05-46BC6B5D8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576B-8D8A-4E19-A88C-4D717D1B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C5F9-C295-4DB6-8F23-946C54A76EB5}" type="datetime1">
              <a:rPr lang="en-ZA" smtClean="0"/>
              <a:t>2024/07/09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F2D8-1480-4DC5-B047-1A1125C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9BCE-1049-4A6B-8B1B-F0AA4D8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94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D9D-D65F-4025-A312-BB6CCE6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8695-924B-4E22-A09F-DEC2AC48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1D12-6E02-40EA-B8DF-BFBD4DA5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65D81-723D-4AAE-A664-46A06B6A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EA82-FA1D-4D66-B429-2112ED018133}" type="datetime1">
              <a:rPr lang="en-ZA" smtClean="0"/>
              <a:t>2024/07/09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6A00-AEA5-4894-A614-0FC0BD87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8942-24D5-4894-A235-29CC8AA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10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6AD-04D2-4545-BBA1-1D03CCA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C51F-9F35-45FC-AFC1-D58D3725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29D1-4FB2-4D84-9AE3-4F589B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6384-DD36-481B-9082-88EB77272D85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E474-D23A-4CFD-94EB-25FBE4C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8833-63C0-45DD-BCF7-541D03A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3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11633-A422-41E2-BB41-52E35147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9728A-7F0D-4051-89D7-D8406C48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4F5D-244E-43CC-B889-92A09F3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F9D1-6C96-4017-B0AF-AFFA8B5F518B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C064-9D3F-4DA5-9A9A-A570399E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8E0-E81D-4EB8-97C3-2327522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1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A255D-E155-4097-BCEE-D54E07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82CF-FE64-4DE8-B3B6-9404FA7F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CB-8A17-45EB-B27D-A293F9E1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66507-EADD-43D1-BD60-23CC440F4D56}" type="datetime1">
              <a:rPr lang="en-ZA" smtClean="0"/>
              <a:t>2024/07/09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22B9-CA78-4AA5-B199-0411F58FB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4E0F1-F2BB-4D01-9BF9-C1EA36081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30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d3gQPtgW_0?start=30&amp;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0.jpeg"/><Relationship Id="rId7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jpeg"/><Relationship Id="rId5" Type="http://schemas.openxmlformats.org/officeDocument/2006/relationships/image" Target="../media/image2.jpeg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.jpeg"/><Relationship Id="rId4" Type="http://schemas.openxmlformats.org/officeDocument/2006/relationships/image" Target="../media/image17.png"/><Relationship Id="rId9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xw6FoUNeT4?feature=oembed" TargetMode="Externa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Relationship Id="rId9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ido68T4czc?feature=oembed" TargetMode="Externa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4.png"/><Relationship Id="rId7" Type="http://schemas.openxmlformats.org/officeDocument/2006/relationships/image" Target="../media/image2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eaDowUYtks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83.png"/><Relationship Id="rId7" Type="http://schemas.openxmlformats.org/officeDocument/2006/relationships/image" Target="../media/image2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nkl.co.za/" TargetMode="External"/><Relationship Id="rId2" Type="http://schemas.openxmlformats.org/officeDocument/2006/relationships/hyperlink" Target="http://www.k5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://www.pinter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ED64-549E-49ED-9CCF-A38842217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LIFE SKILLS</a:t>
            </a:r>
            <a:br>
              <a:rPr lang="en-ZA" dirty="0"/>
            </a:br>
            <a:r>
              <a:rPr lang="en-ZA" dirty="0"/>
              <a:t>GRADE 2</a:t>
            </a:r>
            <a:br>
              <a:rPr lang="en-ZA" dirty="0"/>
            </a:br>
            <a:r>
              <a:rPr lang="en-ZA" dirty="0"/>
              <a:t>YEAR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D66B7-F13D-4AFA-91CB-487BE8C5A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GB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GB" sz="19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BEGINNING KNOWLEDGE AND PERSONAL AND SOCIAL WELLBEING </a:t>
            </a:r>
          </a:p>
          <a:p>
            <a:endParaRPr lang="en-GB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3D674-BA24-4A63-B632-814405E6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1" y="5807076"/>
            <a:ext cx="11056256" cy="914399"/>
          </a:xfrm>
        </p:spPr>
        <p:txBody>
          <a:bodyPr/>
          <a:lstStyle/>
          <a:p>
            <a:fld id="{18D86AF0-743D-4A14-AF96-E81FDEFCDC7E}" type="slidenum">
              <a:rPr lang="en-ZA" smtClean="0"/>
              <a:t>1</a:t>
            </a:fld>
            <a:endParaRPr lang="en-ZA" dirty="0"/>
          </a:p>
        </p:txBody>
      </p:sp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ED0E4C80-036B-4C9C-B377-38205E3C5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07" y="5897562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8261055-4F60-443B-81EB-2B0EDCFB4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95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7403-B05F-474C-9E87-A313894B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A23955B-D9B1-41D5-A325-478A7E2A0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843039"/>
              </p:ext>
            </p:extLst>
          </p:nvPr>
        </p:nvGraphicFramePr>
        <p:xfrm>
          <a:off x="838200" y="1843314"/>
          <a:ext cx="10515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02870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0317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24627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 &amp;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44138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3 &amp;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Creatures living in water, Ocean, River and Pond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261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5, 6 &amp;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Animals and their shelters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0763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8 &amp;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Farm and wild 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4226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E174B-8E33-48A6-A48A-33A025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791200"/>
            <a:ext cx="10943771" cy="930275"/>
          </a:xfrm>
        </p:spPr>
        <p:txBody>
          <a:bodyPr/>
          <a:lstStyle/>
          <a:p>
            <a:fld id="{9DC6C3C8-958B-4510-B0FB-87EFE345857F}" type="slidenum">
              <a:rPr lang="en-ZA" smtClean="0"/>
              <a:t>2</a:t>
            </a:fld>
            <a:endParaRPr lang="en-ZA" dirty="0"/>
          </a:p>
        </p:txBody>
      </p:sp>
      <p:pic>
        <p:nvPicPr>
          <p:cNvPr id="10" name="Picture 9" descr="Nokuthula logo Freehand">
            <a:extLst>
              <a:ext uri="{FF2B5EF4-FFF2-40B4-BE49-F238E27FC236}">
                <a16:creationId xmlns:a16="http://schemas.microsoft.com/office/drawing/2014/main" id="{F7A3DF08-2A60-4F00-A406-CA910135E5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B81C5DD3-0C23-480A-9348-5E5A64A288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214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7F65-2285-4620-BA7F-C38CEC26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3AA0-6C8D-476B-A8BC-F8F2A539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Name four seasons</a:t>
            </a:r>
            <a:endParaRPr lang="en-ZA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how seasons affect our - clothes, food and activities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how seasons affect growing things - sowing, growing and harvesting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how seasons affect animals - include farming e.g., sheep shearing, animal dipping; birds e.g. migration and nesting </a:t>
            </a:r>
            <a:endParaRPr lang="en-ZA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00102-1E64-4517-BE5E-6DB4144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92800"/>
            <a:ext cx="10947400" cy="828675"/>
          </a:xfrm>
        </p:spPr>
        <p:txBody>
          <a:bodyPr/>
          <a:lstStyle/>
          <a:p>
            <a:fld id="{61777DBD-C39A-44EC-8ED1-0FEAAFC39734}" type="slidenum">
              <a:rPr lang="en-ZA" smtClean="0"/>
              <a:t>3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0007D398-7514-44B6-A718-9B50029B7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06A77572-704E-4BB5-A9EC-8A089AF18A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9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FA6-441E-4427-B26E-270E6E656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1 &amp;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5095-E291-4069-A22A-C00C0DC33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b="1" dirty="0"/>
          </a:p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SEASONS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F5FBB-8E18-453B-BBA0-08CFFFE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5" y="5573486"/>
            <a:ext cx="11335656" cy="1147989"/>
          </a:xfrm>
        </p:spPr>
        <p:txBody>
          <a:bodyPr/>
          <a:lstStyle/>
          <a:p>
            <a:fld id="{D84E4103-5636-4989-BD21-38036635CA93}" type="slidenum">
              <a:rPr lang="en-ZA" smtClean="0"/>
              <a:t>4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95CD89D-A908-4096-9901-D590316843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735637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77CB91E2-6954-4FB0-B27D-8C21BAC8AF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78076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942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sz="1800" b="0" i="0" u="none" strike="noStrike" baseline="0" dirty="0">
              <a:latin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the four seasons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Know how seasons affect our clothes/food and activities </a:t>
            </a:r>
          </a:p>
          <a:p>
            <a:pPr marL="0" indent="0">
              <a:buNone/>
            </a:pPr>
            <a:r>
              <a:rPr lang="en-ZA" sz="18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	</a:t>
            </a:r>
          </a:p>
          <a:p>
            <a:pPr>
              <a:buFont typeface="Wingdings" panose="05000000000000000000" pitchFamily="2" charset="2"/>
              <a:buChar char="Ø"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301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DB2-F410-41E7-A78E-FCD2E51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SEASONS</a:t>
            </a:r>
          </a:p>
        </p:txBody>
      </p:sp>
      <p:pic>
        <p:nvPicPr>
          <p:cNvPr id="18" name="Online Media 17" title="Seasons in English - Vocabulary lesson - winter, spring, summer, autumn / fall">
            <a:hlinkClick r:id="" action="ppaction://media"/>
            <a:extLst>
              <a:ext uri="{FF2B5EF4-FFF2-40B4-BE49-F238E27FC236}">
                <a16:creationId xmlns:a16="http://schemas.microsoft.com/office/drawing/2014/main" id="{550CD5C6-C256-4C4C-A150-C9C36F4E574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38629" y="1456191"/>
            <a:ext cx="10261600" cy="434952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A688-E324-4871-BD09-1F2D4EA1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29" y="5762171"/>
            <a:ext cx="10715171" cy="1095829"/>
          </a:xfrm>
        </p:spPr>
        <p:txBody>
          <a:bodyPr/>
          <a:lstStyle/>
          <a:p>
            <a:fld id="{40C24BD2-1B75-4659-9115-783B024422F5}" type="slidenum">
              <a:rPr lang="en-ZA" smtClean="0"/>
              <a:t>6</a:t>
            </a:fld>
            <a:endParaRPr lang="en-ZA" dirty="0"/>
          </a:p>
        </p:txBody>
      </p:sp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044E67F2-4D05-4A3D-B2BD-6805E3297D7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75DB53FF-FA87-4439-8CBD-7A30DF02CD8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58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13E-CF33-459F-BE8B-E6F58BD1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1   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595C-1116-4F4B-9495-A841A012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the food pictures that you will eat during summer and winter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564E-FBBC-48AA-897C-7CF5D637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562" y="5986418"/>
            <a:ext cx="10739437" cy="735058"/>
          </a:xfrm>
        </p:spPr>
        <p:txBody>
          <a:bodyPr/>
          <a:lstStyle/>
          <a:p>
            <a:fld id="{0B0641A7-CE6A-4E71-8BCD-5AD6C2D1182A}" type="slidenum">
              <a:rPr lang="en-ZA" smtClean="0"/>
              <a:t>7</a:t>
            </a:fld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FA02F1CF-290E-43C7-81FD-E54E1B430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27929"/>
              </p:ext>
            </p:extLst>
          </p:nvPr>
        </p:nvGraphicFramePr>
        <p:xfrm>
          <a:off x="1393370" y="1967773"/>
          <a:ext cx="996043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744">
                  <a:extLst>
                    <a:ext uri="{9D8B030D-6E8A-4147-A177-3AD203B41FA5}">
                      <a16:colId xmlns:a16="http://schemas.microsoft.com/office/drawing/2014/main" val="787769782"/>
                    </a:ext>
                  </a:extLst>
                </a:gridCol>
                <a:gridCol w="7173686">
                  <a:extLst>
                    <a:ext uri="{9D8B030D-6E8A-4147-A177-3AD203B41FA5}">
                      <a16:colId xmlns:a16="http://schemas.microsoft.com/office/drawing/2014/main" val="4075025244"/>
                    </a:ext>
                  </a:extLst>
                </a:gridCol>
              </a:tblGrid>
              <a:tr h="3547655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Summer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Ice cream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peaches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 cold drink 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Milo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419757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D3FDF501-7A7B-4016-A78C-28DBEF0BA8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0610" y="2645589"/>
            <a:ext cx="2225676" cy="2608581"/>
          </a:xfrm>
          <a:prstGeom prst="rect">
            <a:avLst/>
          </a:prstGeom>
        </p:spPr>
      </p:pic>
      <p:pic>
        <p:nvPicPr>
          <p:cNvPr id="18" name="Picture 17" descr="Free Printable Ice Cream Coloring Pages For Kids | Ice cream coloring  pages, Truck coloring pages, Coloring pages to print">
            <a:extLst>
              <a:ext uri="{FF2B5EF4-FFF2-40B4-BE49-F238E27FC236}">
                <a16:creationId xmlns:a16="http://schemas.microsoft.com/office/drawing/2014/main" id="{FC132232-A54F-412E-93A6-A4D92223334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t="8659" r="14607" b="8289"/>
          <a:stretch/>
        </p:blipFill>
        <p:spPr bwMode="auto">
          <a:xfrm>
            <a:off x="4401456" y="2354580"/>
            <a:ext cx="942975" cy="13360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Picture 18" descr="peach coloring page download free. Peach or is a fruiting plant from the  Rosaceae family. Peaches have… | Fruit coloring pages, Coloring pages,  Hello kitty coloring">
            <a:extLst>
              <a:ext uri="{FF2B5EF4-FFF2-40B4-BE49-F238E27FC236}">
                <a16:creationId xmlns:a16="http://schemas.microsoft.com/office/drawing/2014/main" id="{BB5DD54B-2C07-4065-8C40-609EADB70F4B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7" b="17624"/>
          <a:stretch/>
        </p:blipFill>
        <p:spPr bwMode="auto">
          <a:xfrm>
            <a:off x="7313657" y="2700020"/>
            <a:ext cx="1162686" cy="990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 descr="Poster Kopje koffie • Pixers® - We leven om te veranderen">
            <a:extLst>
              <a:ext uri="{FF2B5EF4-FFF2-40B4-BE49-F238E27FC236}">
                <a16:creationId xmlns:a16="http://schemas.microsoft.com/office/drawing/2014/main" id="{57FDE9B5-F223-4E4A-B536-68D19173FE67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0" b="9351"/>
          <a:stretch/>
        </p:blipFill>
        <p:spPr bwMode="auto">
          <a:xfrm>
            <a:off x="5091293" y="4149202"/>
            <a:ext cx="1093470" cy="10858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 descr="Hand Drawn Cold Drink With Ice Or Iced Coffee Takeaway Cup. In Doodle  Style, Black Outline Isolated On A White Background. Cute Stock  Illustration - Illustration of card, cute: 166274078">
            <a:extLst>
              <a:ext uri="{FF2B5EF4-FFF2-40B4-BE49-F238E27FC236}">
                <a16:creationId xmlns:a16="http://schemas.microsoft.com/office/drawing/2014/main" id="{19904803-7EE1-414E-9DD5-336069B0737B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2" t="12572" r="21923" b="10675"/>
          <a:stretch/>
        </p:blipFill>
        <p:spPr bwMode="auto">
          <a:xfrm>
            <a:off x="9048976" y="3948724"/>
            <a:ext cx="828675" cy="1104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 descr="New GDE logo">
            <a:extLst>
              <a:ext uri="{FF2B5EF4-FFF2-40B4-BE49-F238E27FC236}">
                <a16:creationId xmlns:a16="http://schemas.microsoft.com/office/drawing/2014/main" id="{A5578CBF-7503-4DA0-9F6E-335F3A7C081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2" y="5941991"/>
            <a:ext cx="1152525" cy="823911"/>
          </a:xfrm>
          <a:prstGeom prst="rect">
            <a:avLst/>
          </a:prstGeom>
          <a:noFill/>
        </p:spPr>
      </p:pic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D12F8AE5-B255-40EA-AB3C-6094EDCDB765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349" y="5986418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891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E6B0-243F-4344-BC84-35C801FF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1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98DC73E-AD26-4784-B4FC-46AF2C4D2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4607"/>
              </p:ext>
            </p:extLst>
          </p:nvPr>
        </p:nvGraphicFramePr>
        <p:xfrm>
          <a:off x="838200" y="1825624"/>
          <a:ext cx="10686144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115">
                  <a:extLst>
                    <a:ext uri="{9D8B030D-6E8A-4147-A177-3AD203B41FA5}">
                      <a16:colId xmlns:a16="http://schemas.microsoft.com/office/drawing/2014/main" val="2371795581"/>
                    </a:ext>
                  </a:extLst>
                </a:gridCol>
                <a:gridCol w="6633029">
                  <a:extLst>
                    <a:ext uri="{9D8B030D-6E8A-4147-A177-3AD203B41FA5}">
                      <a16:colId xmlns:a16="http://schemas.microsoft.com/office/drawing/2014/main" val="805366564"/>
                    </a:ext>
                  </a:extLst>
                </a:gridCol>
              </a:tblGrid>
              <a:tr h="3675289">
                <a:tc>
                  <a:txBody>
                    <a:bodyPr/>
                    <a:lstStyle/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Winter 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r>
                        <a:rPr lang="en-ZA" dirty="0"/>
                        <a:t>           </a:t>
                      </a:r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soup                                                    oranges  </a:t>
                      </a: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</a:t>
                      </a: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</a:t>
                      </a:r>
                      <a:r>
                        <a:rPr lang="en-ZA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Chrismas</a:t>
                      </a:r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pudding </a:t>
                      </a: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Hot chocolate         </a:t>
                      </a:r>
                      <a:endParaRPr lang="en-ZA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4764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52391-6418-42F3-887F-9C6CFA4C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27064"/>
            <a:ext cx="10686144" cy="994411"/>
          </a:xfrm>
        </p:spPr>
        <p:txBody>
          <a:bodyPr/>
          <a:lstStyle/>
          <a:p>
            <a:fld id="{D2F4EE7F-D334-47E2-AD56-9E45F746ED39}" type="slidenum">
              <a:rPr lang="en-ZA" smtClean="0"/>
              <a:t>8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DB19E-E8A2-4191-B1FF-C8557A2715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7857" y="2438400"/>
            <a:ext cx="2659743" cy="2801257"/>
          </a:xfrm>
          <a:prstGeom prst="rect">
            <a:avLst/>
          </a:prstGeom>
        </p:spPr>
      </p:pic>
      <p:pic>
        <p:nvPicPr>
          <p:cNvPr id="7" name="Picture 6" descr="Hot Potato Salads for Winter | The Vashon Loop">
            <a:extLst>
              <a:ext uri="{FF2B5EF4-FFF2-40B4-BE49-F238E27FC236}">
                <a16:creationId xmlns:a16="http://schemas.microsoft.com/office/drawing/2014/main" id="{2B31F8A6-B4EC-45A0-9153-14BBD9C070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941" y="1825624"/>
            <a:ext cx="1439545" cy="130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Fruit black and white orange fruit clipart black and white clipartfest 4 -  WikiClipArt">
            <a:extLst>
              <a:ext uri="{FF2B5EF4-FFF2-40B4-BE49-F238E27FC236}">
                <a16:creationId xmlns:a16="http://schemas.microsoft.com/office/drawing/2014/main" id="{92D9935B-A486-4B81-AF05-D050E9BBD77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62" y="1912710"/>
            <a:ext cx="1561602" cy="127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ree Hot Chocolate Clip Art Black And White, Download Free Hot Chocolate  Clip Art Black And White png images, Free ClipArts on Clipart Library">
            <a:extLst>
              <a:ext uri="{FF2B5EF4-FFF2-40B4-BE49-F238E27FC236}">
                <a16:creationId xmlns:a16="http://schemas.microsoft.com/office/drawing/2014/main" id="{D8E15FA2-9711-44F6-A103-89723BC4462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941" y="3857533"/>
            <a:ext cx="1271315" cy="143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artoon Vector Black And White Christmas Pudding Illustration For Coloring  Art Stock Vector - Illustration of cream, element: 164429771">
            <a:extLst>
              <a:ext uri="{FF2B5EF4-FFF2-40B4-BE49-F238E27FC236}">
                <a16:creationId xmlns:a16="http://schemas.microsoft.com/office/drawing/2014/main" id="{636156BE-D6B5-4BD7-85E6-8A10864981F3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87" y="3467416"/>
            <a:ext cx="1453470" cy="127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2CADA526-E748-4ED3-AC4D-26E02959CD44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63D8FAFD-4F71-4CF0-8FB8-C35B810D089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190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21A-37C5-47DA-8E87-58871200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GROUP 1	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76E00-E7AA-44C0-9570-C89B5E1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47658"/>
            <a:ext cx="10515600" cy="973818"/>
          </a:xfrm>
        </p:spPr>
        <p:txBody>
          <a:bodyPr/>
          <a:lstStyle/>
          <a:p>
            <a:fld id="{A48A9EB8-31C7-43A4-A567-E063F0A09927}" type="slidenum">
              <a:rPr lang="en-ZA" smtClean="0"/>
              <a:t>9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72064-09CC-435C-8143-1B4F2F411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1800" b="1" kern="1400" dirty="0">
                <a:solidFill>
                  <a:srgbClr val="000000"/>
                </a:solidFill>
                <a:effectLst/>
                <a:latin typeface="Junior Typing"/>
                <a:ea typeface="Times New Roman" panose="02020603050405020304" pitchFamily="18" charset="0"/>
                <a:cs typeface="Arial" panose="020B0604020202020204" pitchFamily="34" charset="0"/>
              </a:rPr>
              <a:t>Task 2: Cut, match and paste the clothes to wear during the seasons</a:t>
            </a:r>
            <a:endParaRPr lang="en-ZA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A42DA7-1B77-44B6-A7B1-B2CB7AED3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009779"/>
              </p:ext>
            </p:extLst>
          </p:nvPr>
        </p:nvGraphicFramePr>
        <p:xfrm>
          <a:off x="838200" y="2322513"/>
          <a:ext cx="10515600" cy="385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Document" r:id="rId3" imgW="9500391" imgH="3920677" progId="Word.Document.12">
                  <p:embed/>
                </p:oleObj>
              </mc:Choice>
              <mc:Fallback>
                <p:oleObj name="Document" r:id="rId3" imgW="9500391" imgH="3920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322513"/>
                        <a:ext cx="10515600" cy="385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 descr="New GDE logo">
            <a:extLst>
              <a:ext uri="{FF2B5EF4-FFF2-40B4-BE49-F238E27FC236}">
                <a16:creationId xmlns:a16="http://schemas.microsoft.com/office/drawing/2014/main" id="{382CA0AE-8FF2-44B1-9309-BE589CBBE9E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9" name="Picture 18" descr="Nokuthula logo Freehand">
            <a:extLst>
              <a:ext uri="{FF2B5EF4-FFF2-40B4-BE49-F238E27FC236}">
                <a16:creationId xmlns:a16="http://schemas.microsoft.com/office/drawing/2014/main" id="{E751A8B1-7B37-4270-9263-E5085FCD02C1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995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301-9EB6-4B2E-86EC-3D3EFAD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2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FB62-3B69-48A5-8E60-6C31E7A5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1175658"/>
            <a:ext cx="11364686" cy="5001305"/>
          </a:xfrm>
        </p:spPr>
        <p:txBody>
          <a:bodyPr/>
          <a:lstStyle/>
          <a:p>
            <a:pPr marL="0" indent="0">
              <a:buNone/>
            </a:pP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 the pictures and paste in the correct spaces on the previous page</a:t>
            </a:r>
          </a:p>
          <a:p>
            <a:endParaRPr lang="en-ZA" sz="1800" kern="1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</a:t>
            </a: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---------------------------------------------------------------------------------------------------------------------------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1CC4-9F70-494C-AABA-D2140FF1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086" y="5682342"/>
            <a:ext cx="11190514" cy="1039133"/>
          </a:xfrm>
        </p:spPr>
        <p:txBody>
          <a:bodyPr/>
          <a:lstStyle/>
          <a:p>
            <a:fld id="{73FD08A1-CC3A-4331-86E7-66C4B503BA30}" type="slidenum">
              <a:rPr lang="en-ZA" smtClean="0"/>
              <a:t>10</a:t>
            </a:fld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EE541E0-81A2-4A29-AB71-046B6075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77513"/>
              </p:ext>
            </p:extLst>
          </p:nvPr>
        </p:nvGraphicFramePr>
        <p:xfrm>
          <a:off x="838200" y="2627086"/>
          <a:ext cx="10715168" cy="2351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396">
                  <a:extLst>
                    <a:ext uri="{9D8B030D-6E8A-4147-A177-3AD203B41FA5}">
                      <a16:colId xmlns:a16="http://schemas.microsoft.com/office/drawing/2014/main" val="349359404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63386735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20408698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190122899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907082024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067547293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4097198861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410884939"/>
                    </a:ext>
                  </a:extLst>
                </a:gridCol>
              </a:tblGrid>
              <a:tr h="235131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867457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CC3DE05C-0A56-4DAD-828A-311ECDE442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0810" y="3062265"/>
            <a:ext cx="1035319" cy="1228090"/>
          </a:xfrm>
          <a:prstGeom prst="rect">
            <a:avLst/>
          </a:prstGeom>
        </p:spPr>
      </p:pic>
      <p:pic>
        <p:nvPicPr>
          <p:cNvPr id="26" name="Picture 25" descr="Free Autumn Clothing Cliparts, Download Free Autumn Clothing Cliparts png  images, Free ClipArts on Clipart Library">
            <a:extLst>
              <a:ext uri="{FF2B5EF4-FFF2-40B4-BE49-F238E27FC236}">
                <a16:creationId xmlns:a16="http://schemas.microsoft.com/office/drawing/2014/main" id="{6723B419-FDC0-447F-819F-9013828FC25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361" y="2916555"/>
            <a:ext cx="1147714" cy="161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94F9E3D-EC7F-473B-8ED8-BB2894C068B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688307" y="2975178"/>
            <a:ext cx="1022440" cy="16113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4CAE47E-FE4B-46A6-A9A3-A30662828E5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974909" y="2975177"/>
            <a:ext cx="1022440" cy="15527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DFEF692-442F-4BAA-A063-27B852FE1DC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306182" y="3062265"/>
            <a:ext cx="863875" cy="13355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366CCD5-9A6A-4A4C-A930-F1DA1F487CE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796981" y="3137488"/>
            <a:ext cx="863875" cy="12280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F6C46D-F748-4901-A384-29C0DA55255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8994762" y="3108178"/>
            <a:ext cx="1118235" cy="1478336"/>
          </a:xfrm>
          <a:prstGeom prst="rect">
            <a:avLst/>
          </a:prstGeom>
        </p:spPr>
      </p:pic>
      <p:pic>
        <p:nvPicPr>
          <p:cNvPr id="33" name="Picture 32" descr="New GDE logo">
            <a:extLst>
              <a:ext uri="{FF2B5EF4-FFF2-40B4-BE49-F238E27FC236}">
                <a16:creationId xmlns:a16="http://schemas.microsoft.com/office/drawing/2014/main" id="{1A0E8022-83B7-42A4-AD38-C3FA31CCB579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34" name="Picture 33" descr="Nokuthula logo Freehand">
            <a:extLst>
              <a:ext uri="{FF2B5EF4-FFF2-40B4-BE49-F238E27FC236}">
                <a16:creationId xmlns:a16="http://schemas.microsoft.com/office/drawing/2014/main" id="{8BFEC68C-4BB3-4BB1-88BD-02E4CA6CF1ED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699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EC91-46BD-483A-9A38-6BB558EA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6360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2 </a:t>
            </a: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5EF1-096B-47E9-9EDF-934B0B0B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390"/>
            <a:ext cx="10515600" cy="527557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1: What do you eat and wear in the summer season. Colour them</a:t>
            </a: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9143A-CB19-4547-81A2-122AFF30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602" y="5799930"/>
            <a:ext cx="10109198" cy="846561"/>
          </a:xfrm>
        </p:spPr>
        <p:txBody>
          <a:bodyPr/>
          <a:lstStyle/>
          <a:p>
            <a:fld id="{C4732FE8-2667-496B-BD48-20AF2C2785DE}" type="slidenum">
              <a:rPr lang="en-ZA" smtClean="0"/>
              <a:t>11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50C34-9D1A-4053-AC64-9BA34070A61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9"/>
          <a:stretch/>
        </p:blipFill>
        <p:spPr bwMode="auto">
          <a:xfrm>
            <a:off x="1117600" y="1658341"/>
            <a:ext cx="9503229" cy="42982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E8C5E1BC-71F5-447E-A5A2-27DB18EF3F8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3055E6E-C1E1-4233-949B-9E8FAA0E754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1306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013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978-3762-498C-AB90-52281641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 				</a:t>
            </a: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C351-3746-4D15-8F61-243D8F58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57"/>
            <a:ext cx="10515600" cy="529680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2: </a:t>
            </a: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pictures with the correct season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E7C5-1291-42EB-8A3C-A7A420F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977843"/>
            <a:ext cx="10642600" cy="743633"/>
          </a:xfrm>
        </p:spPr>
        <p:txBody>
          <a:bodyPr/>
          <a:lstStyle/>
          <a:p>
            <a:fld id="{5F8A2FD7-9076-4565-A02F-4FFBC1377DBE}" type="slidenum">
              <a:rPr lang="en-ZA" smtClean="0"/>
              <a:t>12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24EB61F-F951-4D33-8AAC-9E572CABC7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09522211-6EB8-482B-8084-AF10B63C9A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71609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A876B-8492-4471-82DB-ACAE03124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342" y="1395187"/>
            <a:ext cx="8979808" cy="48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77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08B-8B9E-4BAF-9D2B-31C0D7B4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3	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0B5-2AD0-440A-8FF5-772A51C9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5012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Match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seasons</a:t>
            </a:r>
            <a:r>
              <a:rPr lang="en-US" sz="2400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pictures.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DF1CF-8AD8-4B8F-A661-ED7705E6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67"/>
            <a:ext cx="10642600" cy="919502"/>
          </a:xfrm>
        </p:spPr>
        <p:txBody>
          <a:bodyPr/>
          <a:lstStyle/>
          <a:p>
            <a:fld id="{7BAB846A-8439-433E-BDC7-87DEE9A84108}" type="slidenum">
              <a:rPr lang="en-ZA" smtClean="0"/>
              <a:t>13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38C5A17F-8BD0-43B9-ADDD-9FF101CA90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3736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F557A9E-02E5-4258-ABA1-15193B054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6B5F4FE-FD38-4E50-8728-792686A48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91043"/>
              </p:ext>
            </p:extLst>
          </p:nvPr>
        </p:nvGraphicFramePr>
        <p:xfrm>
          <a:off x="1146629" y="1640113"/>
          <a:ext cx="10058400" cy="402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51792253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022411576"/>
                    </a:ext>
                  </a:extLst>
                </a:gridCol>
              </a:tblGrid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55339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spcBef>
                          <a:spcPts val="925"/>
                        </a:spcBef>
                        <a:spcAft>
                          <a:spcPts val="0"/>
                        </a:spcAft>
                      </a:pPr>
                      <a:endParaRPr lang="en-ZA" sz="9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1635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73007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75"/>
                  </a:ext>
                </a:extLst>
              </a:tr>
            </a:tbl>
          </a:graphicData>
        </a:graphic>
      </p:graphicFrame>
      <p:pic>
        <p:nvPicPr>
          <p:cNvPr id="8" name="image2.png">
            <a:extLst>
              <a:ext uri="{FF2B5EF4-FFF2-40B4-BE49-F238E27FC236}">
                <a16:creationId xmlns:a16="http://schemas.microsoft.com/office/drawing/2014/main" id="{5CDE4ACD-A9FF-4951-815B-35329338019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462" y="1566814"/>
            <a:ext cx="1506220" cy="947118"/>
          </a:xfrm>
          <a:prstGeom prst="rect">
            <a:avLst/>
          </a:prstGeom>
        </p:spPr>
      </p:pic>
      <p:pic>
        <p:nvPicPr>
          <p:cNvPr id="9" name="image3.png">
            <a:extLst>
              <a:ext uri="{FF2B5EF4-FFF2-40B4-BE49-F238E27FC236}">
                <a16:creationId xmlns:a16="http://schemas.microsoft.com/office/drawing/2014/main" id="{77F5655C-7622-4912-AA81-A310FA54F86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3492" y="2739411"/>
            <a:ext cx="1434465" cy="844825"/>
          </a:xfrm>
          <a:prstGeom prst="rect">
            <a:avLst/>
          </a:prstGeom>
        </p:spPr>
      </p:pic>
      <p:pic>
        <p:nvPicPr>
          <p:cNvPr id="10" name="image4.png">
            <a:extLst>
              <a:ext uri="{FF2B5EF4-FFF2-40B4-BE49-F238E27FC236}">
                <a16:creationId xmlns:a16="http://schemas.microsoft.com/office/drawing/2014/main" id="{598E7146-8B3C-4003-8F06-4AE28BD614B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3492" y="3809715"/>
            <a:ext cx="1286828" cy="835562"/>
          </a:xfrm>
          <a:prstGeom prst="rect">
            <a:avLst/>
          </a:prstGeom>
        </p:spPr>
      </p:pic>
      <p:pic>
        <p:nvPicPr>
          <p:cNvPr id="11" name="image5.png">
            <a:extLst>
              <a:ext uri="{FF2B5EF4-FFF2-40B4-BE49-F238E27FC236}">
                <a16:creationId xmlns:a16="http://schemas.microsoft.com/office/drawing/2014/main" id="{DCFA0FE9-38D9-4B70-B083-C3641D4771D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7599" y="4876326"/>
            <a:ext cx="1286828" cy="782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6214-87F4-4682-AB0C-278431CDBB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769" y="1672606"/>
            <a:ext cx="1733333" cy="7142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3F257D-DE8B-4E96-BC49-59DB779EAC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390" y="3836913"/>
            <a:ext cx="1733333" cy="714286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3C3CCC-D11B-43DE-9BEC-B6C9E11F5BD5}"/>
              </a:ext>
            </a:extLst>
          </p:cNvPr>
          <p:cNvSpPr/>
          <p:nvPr/>
        </p:nvSpPr>
        <p:spPr>
          <a:xfrm>
            <a:off x="8403770" y="4876326"/>
            <a:ext cx="1733333" cy="610074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b="1" dirty="0">
                <a:ln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</a:rPr>
              <a:t>Autumn</a:t>
            </a:r>
            <a:r>
              <a:rPr lang="en-ZA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8E2077-567A-4879-A006-8D100026EC7D}"/>
              </a:ext>
            </a:extLst>
          </p:cNvPr>
          <p:cNvSpPr/>
          <p:nvPr/>
        </p:nvSpPr>
        <p:spPr>
          <a:xfrm>
            <a:off x="8335389" y="2812177"/>
            <a:ext cx="1733333" cy="610074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b="1" dirty="0">
                <a:ln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</a:rPr>
              <a:t>Spring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97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8E8-6C94-4751-816B-8F7A62F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F885-8269-46E5-9617-AF91A575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2"/>
            <a:ext cx="10515600" cy="4986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Write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word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season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shown.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91FF-FAFE-45E8-A8F7-0A02EBFC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188" y="6036008"/>
            <a:ext cx="10615612" cy="747910"/>
          </a:xfrm>
        </p:spPr>
        <p:txBody>
          <a:bodyPr/>
          <a:lstStyle/>
          <a:p>
            <a:fld id="{D1505E39-761D-4DEC-B6AF-668791C0DBCB}" type="slidenum">
              <a:rPr lang="en-ZA" smtClean="0"/>
              <a:t>14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96F0BB4-2F97-4323-BC8D-2436A5F0F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47659"/>
              </p:ext>
            </p:extLst>
          </p:nvPr>
        </p:nvGraphicFramePr>
        <p:xfrm>
          <a:off x="1117601" y="1644377"/>
          <a:ext cx="81570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7028">
                  <a:extLst>
                    <a:ext uri="{9D8B030D-6E8A-4147-A177-3AD203B41FA5}">
                      <a16:colId xmlns:a16="http://schemas.microsoft.com/office/drawing/2014/main" val="2677733231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Spring             Autumn                 Winter         Summer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736692"/>
                  </a:ext>
                </a:extLst>
              </a:tr>
            </a:tbl>
          </a:graphicData>
        </a:graphic>
      </p:graphicFrame>
      <p:pic>
        <p:nvPicPr>
          <p:cNvPr id="6" name="image2.png">
            <a:extLst>
              <a:ext uri="{FF2B5EF4-FFF2-40B4-BE49-F238E27FC236}">
                <a16:creationId xmlns:a16="http://schemas.microsoft.com/office/drawing/2014/main" id="{CEBC5579-F296-424F-9533-2409E7572B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1" y="2251935"/>
            <a:ext cx="1546225" cy="1349375"/>
          </a:xfrm>
          <a:prstGeom prst="rect">
            <a:avLst/>
          </a:prstGeom>
        </p:spPr>
      </p:pic>
      <p:pic>
        <p:nvPicPr>
          <p:cNvPr id="7" name="image3.png">
            <a:extLst>
              <a:ext uri="{FF2B5EF4-FFF2-40B4-BE49-F238E27FC236}">
                <a16:creationId xmlns:a16="http://schemas.microsoft.com/office/drawing/2014/main" id="{95DA6514-F865-4893-B93C-52AD2F2BD4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7175" y="2280964"/>
            <a:ext cx="1546225" cy="1462405"/>
          </a:xfrm>
          <a:prstGeom prst="rect">
            <a:avLst/>
          </a:prstGeom>
        </p:spPr>
      </p:pic>
      <p:pic>
        <p:nvPicPr>
          <p:cNvPr id="8" name="image4.png">
            <a:extLst>
              <a:ext uri="{FF2B5EF4-FFF2-40B4-BE49-F238E27FC236}">
                <a16:creationId xmlns:a16="http://schemas.microsoft.com/office/drawing/2014/main" id="{5EB45815-5017-483F-A2E6-139124117F9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601" y="4187144"/>
            <a:ext cx="1546860" cy="1403985"/>
          </a:xfrm>
          <a:prstGeom prst="rect">
            <a:avLst/>
          </a:prstGeom>
        </p:spPr>
      </p:pic>
      <p:pic>
        <p:nvPicPr>
          <p:cNvPr id="9" name="image5.png">
            <a:extLst>
              <a:ext uri="{FF2B5EF4-FFF2-40B4-BE49-F238E27FC236}">
                <a16:creationId xmlns:a16="http://schemas.microsoft.com/office/drawing/2014/main" id="{4B08BF50-4999-46D1-8176-6EE61A826A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1785" y="4065202"/>
            <a:ext cx="1491615" cy="1457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73D559-70C9-4FDC-89D4-412308C87474}"/>
              </a:ext>
            </a:extLst>
          </p:cNvPr>
          <p:cNvSpPr txBox="1"/>
          <p:nvPr/>
        </p:nvSpPr>
        <p:spPr>
          <a:xfrm flipH="1">
            <a:off x="8449490" y="3059668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0DBFF-151E-4DA5-ADF0-4CA4FD646195}"/>
              </a:ext>
            </a:extLst>
          </p:cNvPr>
          <p:cNvSpPr txBox="1"/>
          <p:nvPr/>
        </p:nvSpPr>
        <p:spPr>
          <a:xfrm flipH="1">
            <a:off x="8717275" y="4921793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E3D37-E2F2-4C24-BF03-8A5DEEBCA604}"/>
              </a:ext>
            </a:extLst>
          </p:cNvPr>
          <p:cNvSpPr txBox="1"/>
          <p:nvPr/>
        </p:nvSpPr>
        <p:spPr>
          <a:xfrm flipH="1">
            <a:off x="967376" y="5591129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94CBC-452F-40ED-92BB-698F8EB7BE80}"/>
              </a:ext>
            </a:extLst>
          </p:cNvPr>
          <p:cNvSpPr txBox="1"/>
          <p:nvPr/>
        </p:nvSpPr>
        <p:spPr>
          <a:xfrm flipH="1">
            <a:off x="1049651" y="3624869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4" name="Picture 13" descr="New GDE logo">
            <a:extLst>
              <a:ext uri="{FF2B5EF4-FFF2-40B4-BE49-F238E27FC236}">
                <a16:creationId xmlns:a16="http://schemas.microsoft.com/office/drawing/2014/main" id="{5C5658C4-BBF1-46E5-95C1-42CCD3D85166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15" name="Picture 14" descr="Nokuthula logo Freehand">
            <a:extLst>
              <a:ext uri="{FF2B5EF4-FFF2-40B4-BE49-F238E27FC236}">
                <a16:creationId xmlns:a16="http://schemas.microsoft.com/office/drawing/2014/main" id="{11C14C97-15F9-4571-955D-262AF6AF3AE3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102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1AE-AA32-4355-86B9-49F785D97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3 &amp;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9779C-1DAC-4011-BB52-FA5B291DA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b="1" dirty="0">
                <a:latin typeface="Arial" panose="020B0604020202020204" pitchFamily="34" charset="0"/>
                <a:cs typeface="Arial" panose="020B0604020202020204" pitchFamily="34" charset="0"/>
              </a:rPr>
              <a:t>CREATURES LIVING IN WATER, OCEAN, RIVER AND POND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FA0B-A3A5-48E4-8AE4-293415F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" y="5735638"/>
            <a:ext cx="10537371" cy="985838"/>
          </a:xfrm>
        </p:spPr>
        <p:txBody>
          <a:bodyPr/>
          <a:lstStyle/>
          <a:p>
            <a:fld id="{BB747520-444E-42E4-AC52-8C6410DEDE35}" type="slidenum">
              <a:rPr lang="en-ZA" smtClean="0"/>
              <a:t>15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80924DA-FD28-446B-9FE4-AA955AC97C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581323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82BA9061-93CF-4887-B3E9-EAD45932E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492" y="581323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745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5F00-FC43-4021-8FE6-7CC2EB52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6358-D9A1-4988-9B2B-0A478CE1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2"/>
            <a:ext cx="10515600" cy="4986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Compare salt/fresh water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Identify land animals (All animals done up to now)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Identify water animals - River - e.g. fish, crocodile, hippo, crabs, Ponds and dams - e.g. fish, frog, dragonfly, Salt water - Sea - e.g. fish - shark, dolphin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Compare characteristics of land animals with water animals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E9BEC-3B0A-4F59-8525-91334C38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5863772"/>
            <a:ext cx="10515599" cy="857704"/>
          </a:xfrm>
        </p:spPr>
        <p:txBody>
          <a:bodyPr/>
          <a:lstStyle/>
          <a:p>
            <a:fld id="{6F3A2D4A-CB4B-4A6C-8A63-3157597ACD2A}" type="slidenum">
              <a:rPr lang="en-ZA" smtClean="0"/>
              <a:t>16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4887890F-B132-4908-97B0-B6023D832BD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43E9FF45-3694-4867-8E0A-BCEC0B89264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49" y="592591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092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EB32-CBC8-414D-96F3-696BD0CA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GAOLS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9A2E-EB46-483C-BA1E-EA24C70DE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314"/>
            <a:ext cx="10515600" cy="4484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Compare salt and fresh water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Identify and label land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Identify and label water animals, e.g. fish/crocodile/ hippo/crabs/frog/dragonfly /shark/dolphin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ABA9E-2224-43F2-941D-E4CCEA23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457" y="5820230"/>
            <a:ext cx="11248571" cy="901246"/>
          </a:xfrm>
        </p:spPr>
        <p:txBody>
          <a:bodyPr/>
          <a:lstStyle/>
          <a:p>
            <a:fld id="{91557C3D-E4B2-4142-B64E-37E2B9308068}" type="slidenum">
              <a:rPr lang="en-ZA" smtClean="0"/>
              <a:t>17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812AD54C-AD2C-48FE-AFDF-EB2307A8B2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2" y="5890825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3E62E5F-835B-4D31-8693-FFFB5DE78C1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2" y="5890825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768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B2D-1364-491A-BEC1-FAD1A27C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</p:spPr>
        <p:txBody>
          <a:bodyPr>
            <a:normAutofit fontScale="90000"/>
          </a:bodyPr>
          <a:lstStyle/>
          <a:p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CREATURES LIVING IN WATER, OCEAN, RIVER AND POND</a:t>
            </a: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/>
          </a:p>
        </p:txBody>
      </p:sp>
      <p:pic>
        <p:nvPicPr>
          <p:cNvPr id="5" name="Online Media 4" title="Kids vocabulary - Sea Animals - Learn English for kids - English educational video">
            <a:hlinkClick r:id="" action="ppaction://media"/>
            <a:extLst>
              <a:ext uri="{FF2B5EF4-FFF2-40B4-BE49-F238E27FC236}">
                <a16:creationId xmlns:a16="http://schemas.microsoft.com/office/drawing/2014/main" id="{D403A554-9751-4799-B0D2-91C484E3D8B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54188" y="1292225"/>
            <a:ext cx="8683625" cy="462960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F2F5-F106-47D0-9AD6-616078CB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072642"/>
            <a:ext cx="10395856" cy="648834"/>
          </a:xfrm>
        </p:spPr>
        <p:txBody>
          <a:bodyPr/>
          <a:lstStyle/>
          <a:p>
            <a:fld id="{8235136C-AF8F-444E-9D22-AC52AD20D29D}" type="slidenum">
              <a:rPr lang="en-ZA" smtClean="0"/>
              <a:t>18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A3F15F97-2F04-4EA6-92A2-8B1C7FD1BFB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91D236D-AB71-4505-AFBC-355F38E9DCE2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69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29C-1F3E-47E5-A5AA-5E6FE83B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1CDB-14F7-4DAF-9818-23236AA1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the animals that live in the ocean.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8761-8073-4A7F-A1A6-4632499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657" y="5849258"/>
            <a:ext cx="10686143" cy="872218"/>
          </a:xfrm>
        </p:spPr>
        <p:txBody>
          <a:bodyPr/>
          <a:lstStyle/>
          <a:p>
            <a:fld id="{E7694E06-7945-4B3F-8665-AD0128BEE64D}" type="slidenum">
              <a:rPr lang="en-ZA" smtClean="0"/>
              <a:t>19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E3D08E0-72FE-4E91-87A8-FE0C5DF568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B2CEF4B0-F289-412F-8574-367679BB1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717387-2400-4415-8B4D-D4BAD9C07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7" y="1605756"/>
            <a:ext cx="2554514" cy="2153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8FF1E1-12C3-457A-A8EE-621A3FBFB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613" y="1605756"/>
            <a:ext cx="2772229" cy="2153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875650-4E77-4178-8AE4-F83A878BD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626" y="1605756"/>
            <a:ext cx="2968174" cy="2153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E3EE24-1B47-468A-B7EF-1CFF608BB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4613" y="3759197"/>
            <a:ext cx="3067958" cy="1966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E1AA68-2254-4721-928F-343DE3C1017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064" t="12915" r="475" b="18188"/>
          <a:stretch/>
        </p:blipFill>
        <p:spPr>
          <a:xfrm>
            <a:off x="8432800" y="3759197"/>
            <a:ext cx="3218543" cy="2201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97F389-8099-46CC-9B7F-7D35B40A5F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37" y="3910351"/>
            <a:ext cx="2161775" cy="15331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893C01-AF85-4D74-A240-371F8A8CFD72}"/>
              </a:ext>
            </a:extLst>
          </p:cNvPr>
          <p:cNvSpPr txBox="1"/>
          <p:nvPr/>
        </p:nvSpPr>
        <p:spPr>
          <a:xfrm>
            <a:off x="1340289" y="5429126"/>
            <a:ext cx="130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Sea turtle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33830-9FEB-4C21-9C58-CC8BBE868C47}"/>
              </a:ext>
            </a:extLst>
          </p:cNvPr>
          <p:cNvSpPr txBox="1"/>
          <p:nvPr/>
        </p:nvSpPr>
        <p:spPr>
          <a:xfrm>
            <a:off x="10922946" y="4829738"/>
            <a:ext cx="1254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Starfish</a:t>
            </a:r>
          </a:p>
        </p:txBody>
      </p:sp>
    </p:spTree>
    <p:extLst>
      <p:ext uri="{BB962C8B-B14F-4D97-AF65-F5344CB8AC3E}">
        <p14:creationId xmlns:p14="http://schemas.microsoft.com/office/powerpoint/2010/main" val="172364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569A-8B14-49B2-AA01-FB989DD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1155-6ADB-430E-90D8-52F0E812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613"/>
            <a:ext cx="10318499" cy="454473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sea animals.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99C2C-5384-46DB-907E-18394273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50"/>
            <a:ext cx="10496298" cy="784126"/>
          </a:xfrm>
        </p:spPr>
        <p:txBody>
          <a:bodyPr/>
          <a:lstStyle/>
          <a:p>
            <a:fld id="{FF85F0C0-9731-46D2-B2A7-3D188241C94C}" type="slidenum">
              <a:rPr lang="en-ZA" smtClean="0"/>
              <a:t>20</a:t>
            </a:fld>
            <a:endParaRPr lang="en-ZA" dirty="0"/>
          </a:p>
        </p:txBody>
      </p:sp>
      <p:pic>
        <p:nvPicPr>
          <p:cNvPr id="5" name="Picture 4" descr="Sea Animals Worksheets for Kindergarten - Kidpid">
            <a:extLst>
              <a:ext uri="{FF2B5EF4-FFF2-40B4-BE49-F238E27FC236}">
                <a16:creationId xmlns:a16="http://schemas.microsoft.com/office/drawing/2014/main" id="{3F5A8EF3-3308-40D2-ACB2-9987D68CB99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6" t="24059" r="-4616" b="6555"/>
          <a:stretch/>
        </p:blipFill>
        <p:spPr bwMode="auto">
          <a:xfrm>
            <a:off x="2046514" y="1930399"/>
            <a:ext cx="7590972" cy="37446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49D682B-316A-4B99-9651-72389F4A726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3426CD3-6ADC-460F-B546-4A2EC7471D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7221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BBB4-260F-4BAC-8165-2A778C72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8E69D-7BE9-4F6B-91EF-04E8560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57D5C-0D88-4640-84DB-D60ECE45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630"/>
            <a:ext cx="10515600" cy="5073876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and trace the animals that live in the ocean.</a:t>
            </a:r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10DE384-49F0-46A6-A76B-0024A5EC7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20784"/>
              </p:ext>
            </p:extLst>
          </p:nvPr>
        </p:nvGraphicFramePr>
        <p:xfrm>
          <a:off x="1456871" y="1770744"/>
          <a:ext cx="8964384" cy="4170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128">
                  <a:extLst>
                    <a:ext uri="{9D8B030D-6E8A-4147-A177-3AD203B41FA5}">
                      <a16:colId xmlns:a16="http://schemas.microsoft.com/office/drawing/2014/main" val="181402754"/>
                    </a:ext>
                  </a:extLst>
                </a:gridCol>
                <a:gridCol w="2988128">
                  <a:extLst>
                    <a:ext uri="{9D8B030D-6E8A-4147-A177-3AD203B41FA5}">
                      <a16:colId xmlns:a16="http://schemas.microsoft.com/office/drawing/2014/main" val="459869868"/>
                    </a:ext>
                  </a:extLst>
                </a:gridCol>
                <a:gridCol w="2988128">
                  <a:extLst>
                    <a:ext uri="{9D8B030D-6E8A-4147-A177-3AD203B41FA5}">
                      <a16:colId xmlns:a16="http://schemas.microsoft.com/office/drawing/2014/main" val="3199454036"/>
                    </a:ext>
                  </a:extLst>
                </a:gridCol>
              </a:tblGrid>
              <a:tr h="1407885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7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octopus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4000" dirty="0">
                          <a:latin typeface="KG Primary Dots" panose="02000506000000020003" pitchFamily="2" charset="0"/>
                        </a:rPr>
                        <a:t>crab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71402"/>
                  </a:ext>
                </a:extLst>
              </a:tr>
              <a:tr h="1214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8549"/>
                  </a:ext>
                </a:extLst>
              </a:tr>
              <a:tr h="846351"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Sea turtle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jellyfish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starfish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9290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5BBBED6-B287-4BDB-BD2A-73174C7ED5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2610" r="5000" b="18942"/>
          <a:stretch/>
        </p:blipFill>
        <p:spPr>
          <a:xfrm>
            <a:off x="1558316" y="1928134"/>
            <a:ext cx="1471698" cy="12398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9F31A-23EC-44AD-A1E3-FF424B9D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02" y="1873265"/>
            <a:ext cx="1573298" cy="1239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1B674B-EE5A-47BF-A118-DEAE727D9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404" y="1872343"/>
            <a:ext cx="1689694" cy="1103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B62C31-4ABC-4324-BDFB-95B5B3877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404" y="3906604"/>
            <a:ext cx="1689694" cy="1103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EC7C82-2208-499C-8676-79FCEDB3F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316" y="3996694"/>
            <a:ext cx="1862392" cy="922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8564BB-69C5-455B-A226-BF5731340B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00" t="14711" r="5000" b="23124"/>
          <a:stretch/>
        </p:blipFill>
        <p:spPr>
          <a:xfrm>
            <a:off x="5140467" y="3975439"/>
            <a:ext cx="1862392" cy="110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28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1D6D-A369-467F-B5DF-C44D911B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9E76B-414D-46DF-BF76-FEB606B6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1"/>
            <a:ext cx="10515600" cy="4986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Identify and label water animals. Use the words in the word box.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C0D35-2EF9-43AD-9FA9-E03A389D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943" y="5959085"/>
            <a:ext cx="10395857" cy="762391"/>
          </a:xfrm>
        </p:spPr>
        <p:txBody>
          <a:bodyPr/>
          <a:lstStyle/>
          <a:p>
            <a:fld id="{0B7AFEAE-B949-4D6E-B42B-C9BB4A9BCF60}" type="slidenum">
              <a:rPr lang="en-ZA" smtClean="0"/>
              <a:t>22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457BE24-2230-409A-BCE1-D65F82987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80945"/>
              </p:ext>
            </p:extLst>
          </p:nvPr>
        </p:nvGraphicFramePr>
        <p:xfrm>
          <a:off x="1582057" y="1872343"/>
          <a:ext cx="8055429" cy="1657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143">
                  <a:extLst>
                    <a:ext uri="{9D8B030D-6E8A-4147-A177-3AD203B41FA5}">
                      <a16:colId xmlns:a16="http://schemas.microsoft.com/office/drawing/2014/main" val="378040162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236377107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164479676"/>
                    </a:ext>
                  </a:extLst>
                </a:gridCol>
              </a:tblGrid>
              <a:tr h="1291771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47389"/>
                  </a:ext>
                </a:extLst>
              </a:tr>
              <a:tr h="359892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638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B6060E-ABC2-4D19-8B73-A93FF2A9D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582138"/>
              </p:ext>
            </p:extLst>
          </p:nvPr>
        </p:nvGraphicFramePr>
        <p:xfrm>
          <a:off x="1582057" y="4111333"/>
          <a:ext cx="8055429" cy="1726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143">
                  <a:extLst>
                    <a:ext uri="{9D8B030D-6E8A-4147-A177-3AD203B41FA5}">
                      <a16:colId xmlns:a16="http://schemas.microsoft.com/office/drawing/2014/main" val="378040162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236377107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164479676"/>
                    </a:ext>
                  </a:extLst>
                </a:gridCol>
              </a:tblGrid>
              <a:tr h="136055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47389"/>
                  </a:ext>
                </a:extLst>
              </a:tr>
              <a:tr h="359892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63898"/>
                  </a:ext>
                </a:extLst>
              </a:tr>
            </a:tbl>
          </a:graphicData>
        </a:graphic>
      </p:graphicFrame>
      <p:pic>
        <p:nvPicPr>
          <p:cNvPr id="7" name="Picture 6" descr="Photo Ark: New Guinea Crocodile | National Geographic Society">
            <a:extLst>
              <a:ext uri="{FF2B5EF4-FFF2-40B4-BE49-F238E27FC236}">
                <a16:creationId xmlns:a16="http://schemas.microsoft.com/office/drawing/2014/main" id="{28569FFB-4F70-4C92-8596-849DF459C83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14" y="1890486"/>
            <a:ext cx="1659890" cy="1104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rish brown crab exports to China squeezed by new testing regime">
            <a:extLst>
              <a:ext uri="{FF2B5EF4-FFF2-40B4-BE49-F238E27FC236}">
                <a16:creationId xmlns:a16="http://schemas.microsoft.com/office/drawing/2014/main" id="{458258E6-D878-47D6-9363-7A3E99426D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0" y="1917156"/>
            <a:ext cx="1690370" cy="107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Download Free png Transparent Bottlenose Dolphin Png, Png Download ,  Transparent Png ... - DLPNG.com">
            <a:extLst>
              <a:ext uri="{FF2B5EF4-FFF2-40B4-BE49-F238E27FC236}">
                <a16:creationId xmlns:a16="http://schemas.microsoft.com/office/drawing/2014/main" id="{E5CBB6FA-5245-4F82-BE85-C2079885FD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254" y="1958430"/>
            <a:ext cx="1767205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Hippopotamus | Habitat + Diet + Lifestyle + Facts | - Science4Fun">
            <a:extLst>
              <a:ext uri="{FF2B5EF4-FFF2-40B4-BE49-F238E27FC236}">
                <a16:creationId xmlns:a16="http://schemas.microsoft.com/office/drawing/2014/main" id="{FEA00812-3FCE-426B-9EFF-8DE6B44B605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896" y="4232772"/>
            <a:ext cx="1753235" cy="95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merican Green Tree Frog, Isolated Stock Image - Image of isolated,  american: 101756875">
            <a:extLst>
              <a:ext uri="{FF2B5EF4-FFF2-40B4-BE49-F238E27FC236}">
                <a16:creationId xmlns:a16="http://schemas.microsoft.com/office/drawing/2014/main" id="{17AAFF0B-E045-48BB-8155-796014FEEA95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0" y="4232772"/>
            <a:ext cx="1567180" cy="103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River shark: Extinction Watch: This shark doesn't need saltwater to survive  - The Economic Times">
            <a:extLst>
              <a:ext uri="{FF2B5EF4-FFF2-40B4-BE49-F238E27FC236}">
                <a16:creationId xmlns:a16="http://schemas.microsoft.com/office/drawing/2014/main" id="{5580BD4A-53EE-4B8A-ABEF-B504D3773A1B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083" y="4211499"/>
            <a:ext cx="1439545" cy="107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F8DDBC0-1AF7-4128-9C63-062189B81816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4" name="Picture 13" descr="Nokuthula logo Freehand">
            <a:extLst>
              <a:ext uri="{FF2B5EF4-FFF2-40B4-BE49-F238E27FC236}">
                <a16:creationId xmlns:a16="http://schemas.microsoft.com/office/drawing/2014/main" id="{1ED528D2-DD0F-45A2-9E62-FF85A5085DB4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5510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A6E-0651-48A7-9C88-1B118152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</p:spPr>
        <p:txBody>
          <a:bodyPr>
            <a:normAutofit/>
          </a:bodyPr>
          <a:lstStyle/>
          <a:p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1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7EFA44-CC6B-4FDB-B6EE-D7FF7FDB03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894007"/>
              </p:ext>
            </p:extLst>
          </p:nvPr>
        </p:nvGraphicFramePr>
        <p:xfrm>
          <a:off x="979714" y="1494971"/>
          <a:ext cx="7307943" cy="1611086"/>
        </p:xfrm>
        <a:graphic>
          <a:graphicData uri="http://schemas.openxmlformats.org/drawingml/2006/table">
            <a:tbl>
              <a:tblPr firstRow="1" firstCol="1" bandRow="1"/>
              <a:tblGrid>
                <a:gridCol w="2451932">
                  <a:extLst>
                    <a:ext uri="{9D8B030D-6E8A-4147-A177-3AD203B41FA5}">
                      <a16:colId xmlns:a16="http://schemas.microsoft.com/office/drawing/2014/main" val="3840402974"/>
                    </a:ext>
                  </a:extLst>
                </a:gridCol>
                <a:gridCol w="2452748">
                  <a:extLst>
                    <a:ext uri="{9D8B030D-6E8A-4147-A177-3AD203B41FA5}">
                      <a16:colId xmlns:a16="http://schemas.microsoft.com/office/drawing/2014/main" val="4255668143"/>
                    </a:ext>
                  </a:extLst>
                </a:gridCol>
                <a:gridCol w="2403263">
                  <a:extLst>
                    <a:ext uri="{9D8B030D-6E8A-4147-A177-3AD203B41FA5}">
                      <a16:colId xmlns:a16="http://schemas.microsoft.com/office/drawing/2014/main" val="2167973418"/>
                    </a:ext>
                  </a:extLst>
                </a:gridCol>
              </a:tblGrid>
              <a:tr h="8055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dolphin</a:t>
                      </a:r>
                      <a:endParaRPr lang="en-ZA" sz="2000" kern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frog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crab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928573"/>
                  </a:ext>
                </a:extLst>
              </a:tr>
              <a:tr h="8055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shark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crocodile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hippopotamus</a:t>
                      </a:r>
                      <a:endParaRPr lang="en-ZA" sz="2000" kern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765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1342A-3D15-45F2-B581-02EBD5FC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714" y="5892800"/>
            <a:ext cx="10515600" cy="828675"/>
          </a:xfrm>
        </p:spPr>
        <p:txBody>
          <a:bodyPr/>
          <a:lstStyle/>
          <a:p>
            <a:fld id="{0840B9F2-6879-403E-836D-8F158F3A229B}" type="slidenum">
              <a:rPr lang="en-ZA" smtClean="0"/>
              <a:t>23</a:t>
            </a:fld>
            <a:endParaRPr lang="en-ZA" dirty="0"/>
          </a:p>
        </p:txBody>
      </p:sp>
      <p:pic>
        <p:nvPicPr>
          <p:cNvPr id="10" name="Picture 9" descr="New GDE logo">
            <a:extLst>
              <a:ext uri="{FF2B5EF4-FFF2-40B4-BE49-F238E27FC236}">
                <a16:creationId xmlns:a16="http://schemas.microsoft.com/office/drawing/2014/main" id="{4C9C24D4-6FBA-4F90-BB91-3085AFAA7C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1" name="Picture 10" descr="Nokuthula logo Freehand">
            <a:extLst>
              <a:ext uri="{FF2B5EF4-FFF2-40B4-BE49-F238E27FC236}">
                <a16:creationId xmlns:a16="http://schemas.microsoft.com/office/drawing/2014/main" id="{001B37E0-0A41-46C2-A45C-6A10E7A0E60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9276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CD1-4B66-4EBF-AC65-F3210B64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340A-9C87-4BE2-B901-E7654D3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Draw your favourite water animals. 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D490-B2D6-44D4-8E88-D6CB3F1F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834744"/>
            <a:ext cx="10160000" cy="886732"/>
          </a:xfrm>
        </p:spPr>
        <p:txBody>
          <a:bodyPr/>
          <a:lstStyle/>
          <a:p>
            <a:fld id="{D3DFC495-2FCF-456C-8511-EA77886F0F89}" type="slidenum">
              <a:rPr lang="en-ZA" smtClean="0"/>
              <a:t>24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57A11D5-2CA3-4F97-B55E-D5B6EB11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65756"/>
              </p:ext>
            </p:extLst>
          </p:nvPr>
        </p:nvGraphicFramePr>
        <p:xfrm>
          <a:off x="1190171" y="1973943"/>
          <a:ext cx="9129486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486">
                  <a:extLst>
                    <a:ext uri="{9D8B030D-6E8A-4147-A177-3AD203B41FA5}">
                      <a16:colId xmlns:a16="http://schemas.microsoft.com/office/drawing/2014/main" val="1188291295"/>
                    </a:ext>
                  </a:extLst>
                </a:gridCol>
              </a:tblGrid>
              <a:tr h="3860800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91605"/>
                  </a:ext>
                </a:extLst>
              </a:tr>
            </a:tbl>
          </a:graphicData>
        </a:graphic>
      </p:graphicFrame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1E7E38A6-CD94-46DF-B372-7F67C8486F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F2E1B58F-9786-4094-B55F-DCFCE807C8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358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5,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Animals and their shelters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25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961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06C4-D817-4B0F-994D-06EFCB95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6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7A7-9EFC-47CC-9410-E9EE025AF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772"/>
            <a:ext cx="10515600" cy="4885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</a:rPr>
              <a:t>The learner must be able to:</a:t>
            </a:r>
            <a:endParaRPr lang="en-ZA" sz="2400" b="0" i="0" u="none" strike="noStrike" baseline="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make their homes - such as birds, some bees, ants, </a:t>
            </a:r>
            <a:r>
              <a:rPr lang="en-ZA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spiders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find their homes - such as baboons, snakes, squirrels etc.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carry their homes - such as snails, tortoises etc. </a:t>
            </a:r>
          </a:p>
          <a:p>
            <a:pPr marL="0" indent="0">
              <a:buNone/>
            </a:pPr>
            <a:r>
              <a:rPr lang="en-ZA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DA75A-F142-4498-B771-DB9DE0D9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143" y="5718628"/>
            <a:ext cx="10700657" cy="928915"/>
          </a:xfrm>
        </p:spPr>
        <p:txBody>
          <a:bodyPr/>
          <a:lstStyle/>
          <a:p>
            <a:fld id="{F17CE628-5810-4382-8B26-B50A62A6259C}" type="slidenum">
              <a:rPr lang="en-ZA" smtClean="0"/>
              <a:t>26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5389056E-B944-4FF8-A6F0-944C9A9664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7318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30E60C3-0CA4-46AC-9733-0B11E5A3748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1"/>
            <a:ext cx="1009650" cy="6887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3682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560C-E2A6-4189-8AF7-E70854A3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48E59-28B6-4EDD-B79D-078881C0E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 animals and creatures that make own homes - such as birds, some bees, ants, spiders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 animals and creatures that find their homes - such as baboons, snakes, squirrels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 animals and creatures that carry their homes - such as snails, tortoises etc.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28276-8941-4C03-B6FF-075D0591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457" y="5752221"/>
            <a:ext cx="10889343" cy="930275"/>
          </a:xfrm>
        </p:spPr>
        <p:txBody>
          <a:bodyPr/>
          <a:lstStyle/>
          <a:p>
            <a:fld id="{B3A9CB83-6399-4C16-B3BB-00B4FF173953}" type="slidenum">
              <a:rPr lang="en-ZA" smtClean="0"/>
              <a:t>27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427B2754-7791-4F5F-A9D6-7A9858FEEFD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" y="5802032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484211E-07FE-4CF0-B41E-B5DF95B14D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9258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1211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AC22-69AE-4DCC-B4A2-94751C36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ANIMALS AND THEIR SHELTERS</a:t>
            </a:r>
          </a:p>
        </p:txBody>
      </p:sp>
      <p:pic>
        <p:nvPicPr>
          <p:cNvPr id="5" name="Online Media 4" title="Animals and their homes | Animals home | Home of animals | Animal homes | Animal shelter for kids">
            <a:hlinkClick r:id="" action="ppaction://media"/>
            <a:extLst>
              <a:ext uri="{FF2B5EF4-FFF2-40B4-BE49-F238E27FC236}">
                <a16:creationId xmlns:a16="http://schemas.microsoft.com/office/drawing/2014/main" id="{EE29BB53-9383-46A1-96BB-64E02481488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97038" y="1204913"/>
            <a:ext cx="8799512" cy="49720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ADE67-02A6-44BE-9FD0-8B25C160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" y="5890825"/>
            <a:ext cx="10515600" cy="830651"/>
          </a:xfrm>
        </p:spPr>
        <p:txBody>
          <a:bodyPr/>
          <a:lstStyle/>
          <a:p>
            <a:fld id="{DDD7C4A6-E027-4273-BCC8-004378214456}" type="slidenum">
              <a:rPr lang="en-ZA" smtClean="0"/>
              <a:t>28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39395FB-9030-45E3-8FDC-7DBBAC3E30B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5E6F676-A76B-4F2F-8B10-A387D3486BB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64" y="593943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815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8F5C-57F0-4AAD-AF3F-6FF0AD73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2411-FC15-41D2-8C3E-15CD8A76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257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Colour the animal homes below.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B9BE9-78EE-49FF-977D-E2F1F54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3203" y="6220505"/>
            <a:ext cx="10518444" cy="593384"/>
          </a:xfrm>
        </p:spPr>
        <p:txBody>
          <a:bodyPr/>
          <a:lstStyle/>
          <a:p>
            <a:fld id="{8C1AEF06-7241-4103-97E9-73F686DCBE48}" type="slidenum">
              <a:rPr lang="en-ZA" smtClean="0"/>
              <a:t>29</a:t>
            </a:fld>
            <a:endParaRPr lang="en-ZA" dirty="0"/>
          </a:p>
        </p:txBody>
      </p:sp>
      <p:pic>
        <p:nvPicPr>
          <p:cNvPr id="2050" name="Picture 2" descr="Image result for animal homes coloring sheets">
            <a:extLst>
              <a:ext uri="{FF2B5EF4-FFF2-40B4-BE49-F238E27FC236}">
                <a16:creationId xmlns:a16="http://schemas.microsoft.com/office/drawing/2014/main" id="{511F9ED4-932C-4780-A2B0-2B64AA13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4" y="1986756"/>
            <a:ext cx="22764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B70D67-00D3-4AA9-B289-C303B85A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314" y="1773237"/>
            <a:ext cx="2931886" cy="2033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0185D3-E3ED-4723-B944-37DC9A2A9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446" y="1164943"/>
            <a:ext cx="2743201" cy="231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A10BE-6133-4935-9807-D0B52F9F3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2" y="4027144"/>
            <a:ext cx="2046741" cy="2054341"/>
          </a:xfrm>
          <a:prstGeom prst="rect">
            <a:avLst/>
          </a:prstGeom>
        </p:spPr>
      </p:pic>
      <p:pic>
        <p:nvPicPr>
          <p:cNvPr id="11" name="Picture 10" descr="a farm scene with animals and a barn coloring pages for kids, free ...">
            <a:extLst>
              <a:ext uri="{FF2B5EF4-FFF2-40B4-BE49-F238E27FC236}">
                <a16:creationId xmlns:a16="http://schemas.microsoft.com/office/drawing/2014/main" id="{FC240F3F-7FFB-4CCB-BBA9-3CBC6C2CE1BF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8" r="11927" b="11363"/>
          <a:stretch/>
        </p:blipFill>
        <p:spPr bwMode="auto">
          <a:xfrm>
            <a:off x="4057197" y="3901848"/>
            <a:ext cx="2743202" cy="23186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New GDE logo">
            <a:extLst>
              <a:ext uri="{FF2B5EF4-FFF2-40B4-BE49-F238E27FC236}">
                <a16:creationId xmlns:a16="http://schemas.microsoft.com/office/drawing/2014/main" id="{8F706324-2F7C-47DA-A16A-B65E917E5136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13" name="Picture 12" descr="Nokuthula logo Freehand">
            <a:extLst>
              <a:ext uri="{FF2B5EF4-FFF2-40B4-BE49-F238E27FC236}">
                <a16:creationId xmlns:a16="http://schemas.microsoft.com/office/drawing/2014/main" id="{D7AB1F93-7EE4-44F7-AAB7-915D83DC59CC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0658B7-BA2D-47B9-9DA0-3AE6A5ACAD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901" y="3615755"/>
            <a:ext cx="2629175" cy="232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6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4932-0A58-4D0B-9627-FAC26B73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2432-C2EE-4609-99EF-E39B2FF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Cut and paste each animal home in front of the animal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5130F-ED17-44B6-AE50-3E2B8D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2778"/>
            <a:ext cx="10628085" cy="818698"/>
          </a:xfrm>
        </p:spPr>
        <p:txBody>
          <a:bodyPr/>
          <a:lstStyle/>
          <a:p>
            <a:fld id="{CDC4391E-E57C-4434-A149-18FD16FA7F4B}" type="slidenum">
              <a:rPr lang="en-ZA" smtClean="0"/>
              <a:t>30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A13692C-50D2-4233-9323-723F4D5206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11250BCE-4414-4C8A-8CE7-941D7D8C5B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Animal Homes Worksheet for Grade 1-5">
            <a:extLst>
              <a:ext uri="{FF2B5EF4-FFF2-40B4-BE49-F238E27FC236}">
                <a16:creationId xmlns:a16="http://schemas.microsoft.com/office/drawing/2014/main" id="{A2BCE3E1-0B9E-493B-B344-2C146AAF96F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7" t="21019" r="997" b="11236"/>
          <a:stretch/>
        </p:blipFill>
        <p:spPr bwMode="auto">
          <a:xfrm>
            <a:off x="2380344" y="1640114"/>
            <a:ext cx="7170056" cy="47414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0E359-C40E-4899-8D2A-AAAA896B3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99918"/>
            <a:ext cx="9998307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95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E7E3-E7A0-4A3C-8016-E8CB00AA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316D7-5831-4B6F-A085-4963986C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1834"/>
            <a:ext cx="10849430" cy="75964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80194-679C-4C56-8D1F-FB96991E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Match the images on the left with their corresponding images on the right.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11" name="Content Placeholder 4" descr="Homes of Farm Animals | Turtle Diary Worksheet">
            <a:extLst>
              <a:ext uri="{FF2B5EF4-FFF2-40B4-BE49-F238E27FC236}">
                <a16:creationId xmlns:a16="http://schemas.microsoft.com/office/drawing/2014/main" id="{EFAFB81A-0A4C-4D37-85E7-4E3C2B0BA7F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7" b="1870"/>
          <a:stretch/>
        </p:blipFill>
        <p:spPr bwMode="auto">
          <a:xfrm>
            <a:off x="1712687" y="1741714"/>
            <a:ext cx="9100456" cy="4220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C0FF69-E49E-4E4A-8E9A-93B2E8402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56F7FA21-F500-44D5-92F3-C4C0352D54F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6899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0F4B-3AA8-4773-BFF8-CD82E54B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28C-B273-466A-BD11-B0205651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572"/>
            <a:ext cx="10515600" cy="5088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Identify the type of animal that lives each picture below. 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7F34-8700-429F-AF17-5318D17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79886"/>
            <a:ext cx="10614056" cy="741589"/>
          </a:xfrm>
        </p:spPr>
        <p:txBody>
          <a:bodyPr/>
          <a:lstStyle/>
          <a:p>
            <a:fld id="{92E21127-EA37-4C7C-97C5-55206C3EFCB6}" type="slidenum">
              <a:rPr lang="en-ZA" smtClean="0"/>
              <a:t>32</a:t>
            </a:fld>
            <a:endParaRPr lang="en-ZA" dirty="0"/>
          </a:p>
        </p:txBody>
      </p:sp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9366C6E0-A03A-49B3-8462-BEE4AB6433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9082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8A033-A4AC-43F1-BB84-43898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6" y="5989893"/>
            <a:ext cx="1037423" cy="731583"/>
          </a:xfrm>
          <a:prstGeom prst="rect">
            <a:avLst/>
          </a:prstGeom>
        </p:spPr>
      </p:pic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E02A13B-FEA7-4DE3-AED9-492E8D054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11587"/>
              </p:ext>
            </p:extLst>
          </p:nvPr>
        </p:nvGraphicFramePr>
        <p:xfrm>
          <a:off x="1872343" y="1683657"/>
          <a:ext cx="8469433" cy="490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717">
                  <a:extLst>
                    <a:ext uri="{9D8B030D-6E8A-4147-A177-3AD203B41FA5}">
                      <a16:colId xmlns:a16="http://schemas.microsoft.com/office/drawing/2014/main" val="3774253480"/>
                    </a:ext>
                  </a:extLst>
                </a:gridCol>
                <a:gridCol w="1464983">
                  <a:extLst>
                    <a:ext uri="{9D8B030D-6E8A-4147-A177-3AD203B41FA5}">
                      <a16:colId xmlns:a16="http://schemas.microsoft.com/office/drawing/2014/main" val="1113690426"/>
                    </a:ext>
                  </a:extLst>
                </a:gridCol>
                <a:gridCol w="3326733">
                  <a:extLst>
                    <a:ext uri="{9D8B030D-6E8A-4147-A177-3AD203B41FA5}">
                      <a16:colId xmlns:a16="http://schemas.microsoft.com/office/drawing/2014/main" val="4041479093"/>
                    </a:ext>
                  </a:extLst>
                </a:gridCol>
              </a:tblGrid>
              <a:tr h="817154">
                <a:tc rowSpan="2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KG Primary Dots" panose="02000506000000020003" pitchFamily="2" charset="0"/>
                        </a:rPr>
                        <a:t>cave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066041"/>
                  </a:ext>
                </a:extLst>
              </a:tr>
              <a:tr h="140789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kennel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94892"/>
                  </a:ext>
                </a:extLst>
              </a:tr>
              <a:tr h="676365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751341"/>
                  </a:ext>
                </a:extLst>
              </a:tr>
              <a:tr h="81715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den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36111"/>
                  </a:ext>
                </a:extLst>
              </a:tr>
              <a:tr h="81715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pond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60984"/>
                  </a:ext>
                </a:extLst>
              </a:tr>
              <a:tr h="92601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coop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8804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C5C25C6-0179-4660-9EE3-24D4D5728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486" y="1683656"/>
            <a:ext cx="1219200" cy="904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D70016-D7E6-452A-99DB-4C235F573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666" y="3858396"/>
            <a:ext cx="1181100" cy="809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F8EA73-C137-4F08-A26A-3BB9BAC33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469" y="2860819"/>
            <a:ext cx="628650" cy="809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8487D-7AB0-4DB8-AD08-1F11849535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7486" y="4804885"/>
            <a:ext cx="1181100" cy="7668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D4A3DF-F9B0-46A2-A4E4-D15460BE41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511" y="5708580"/>
            <a:ext cx="1181100" cy="7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15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B859-5F3F-422C-A31E-2C8F23A6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1718-88BC-44EE-8BF8-65638B28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All living things need shelter to protect them. Tick √ the correct animal home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8C04-2D4B-45CB-A808-35D8C01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50858"/>
            <a:ext cx="10806371" cy="770618"/>
          </a:xfrm>
        </p:spPr>
        <p:txBody>
          <a:bodyPr/>
          <a:lstStyle/>
          <a:p>
            <a:fld id="{7D9AF13F-449C-4A3A-8DBB-A47A50A56E3D}" type="slidenum">
              <a:rPr lang="en-ZA" smtClean="0"/>
              <a:t>33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E85BE-7280-4E03-A77B-71614004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86" y="1870075"/>
            <a:ext cx="8606971" cy="3870326"/>
          </a:xfrm>
          <a:prstGeom prst="rect">
            <a:avLst/>
          </a:prstGeom>
        </p:spPr>
      </p:pic>
      <p:pic>
        <p:nvPicPr>
          <p:cNvPr id="9" name="Picture 8" descr="New GDE logo">
            <a:extLst>
              <a:ext uri="{FF2B5EF4-FFF2-40B4-BE49-F238E27FC236}">
                <a16:creationId xmlns:a16="http://schemas.microsoft.com/office/drawing/2014/main" id="{3A53091B-DDD6-4284-AF28-B2A30C3AF0C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77F24-3F59-4CFE-837F-39406092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14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FEF7-694D-4E07-AA38-E0E6D956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4CFB-D5EA-4681-902E-A733B553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686"/>
            <a:ext cx="10515600" cy="501581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Write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z="2400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name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 </a:t>
            </a:r>
            <a:r>
              <a:rPr lang="en-US" sz="2400" spc="-4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home.</a:t>
            </a:r>
            <a:endParaRPr lang="en-ZA" sz="2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57981-EB51-45D0-AD2E-86777968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876" y="5750758"/>
            <a:ext cx="1012024" cy="7315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8C098-5DF4-41C7-945C-44904BBD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660" y="5700349"/>
            <a:ext cx="11354284" cy="970717"/>
          </a:xfrm>
        </p:spPr>
        <p:txBody>
          <a:bodyPr/>
          <a:lstStyle/>
          <a:p>
            <a:fld id="{B5662D53-E624-473E-A300-722F9D1D713E}" type="slidenum">
              <a:rPr lang="en-ZA" smtClean="0"/>
              <a:t>34</a:t>
            </a:fld>
            <a:endParaRPr lang="en-Z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866BCE-4292-47C6-9F43-E8EAA60615CC}"/>
              </a:ext>
            </a:extLst>
          </p:cNvPr>
          <p:cNvSpPr/>
          <p:nvPr/>
        </p:nvSpPr>
        <p:spPr>
          <a:xfrm>
            <a:off x="6676571" y="1107242"/>
            <a:ext cx="5515429" cy="6821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>
              <a:spcBef>
                <a:spcPts val="1245"/>
              </a:spcBef>
              <a:spcAft>
                <a:spcPts val="0"/>
              </a:spcAft>
              <a:tabLst>
                <a:tab pos="1824990" algn="l"/>
                <a:tab pos="2803525" algn="l"/>
                <a:tab pos="4175125" algn="l"/>
              </a:tabLst>
            </a:pPr>
            <a:r>
              <a:rPr lang="en-US" sz="1800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chicken coop	cave	coral</a:t>
            </a:r>
            <a:r>
              <a:rPr lang="en-US" sz="1800" spc="5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800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reefs	spiderweb</a:t>
            </a: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58CAF-F29E-497E-9AB3-29B42CE6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87" y="1740192"/>
            <a:ext cx="1143494" cy="112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34B1D-185C-45C9-81FD-B28ED0318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798" y="1851624"/>
            <a:ext cx="2047619" cy="1457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0AA7F4-B580-42BC-9579-55F3B5F35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30" y="3308767"/>
            <a:ext cx="1743607" cy="871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BE1412-3F30-4FDE-8CE1-D19C0C4EE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03969"/>
            <a:ext cx="1713124" cy="9266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54429-A33E-4529-BCE9-EC4B1D80E8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798" y="3468423"/>
            <a:ext cx="2047619" cy="1361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56392D-2A26-41AC-AE8A-B043A5300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85" y="4879854"/>
            <a:ext cx="2047619" cy="1438095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95E84B89-205F-4EE9-A97D-359F560A3655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5828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46D7-7FC4-4C5F-9D8C-5E987970A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8  &amp;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90C43-74AF-4DDE-9D4D-0EE8A037B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FARM AND WILD ANIMALS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F0F38-EF2A-4602-A651-381365D9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829" y="5735637"/>
            <a:ext cx="10624457" cy="985839"/>
          </a:xfrm>
        </p:spPr>
        <p:txBody>
          <a:bodyPr/>
          <a:lstStyle/>
          <a:p>
            <a:fld id="{2EC8BFC2-0310-48C9-95D5-EC500B49BB8E}" type="slidenum">
              <a:rPr lang="en-ZA" smtClean="0"/>
              <a:t>35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2FAE03EC-AD81-4A6D-BCB9-D5C0FCC62D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2B308CAA-1E58-4895-AC06-632AB05920A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521" y="593943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0734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0A4C-42B7-47F6-8040-7ABF8369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EB33-2F98-4F87-BACD-7D75D718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52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Identify/name and compare different farm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uses of farm animals such as food and clothing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Identify/name and compare wild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meaning of camouflage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Compare camouflage of farm and wild animals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C4F42-138E-4080-B133-7B75D206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820229"/>
            <a:ext cx="10671629" cy="901247"/>
          </a:xfrm>
        </p:spPr>
        <p:txBody>
          <a:bodyPr/>
          <a:lstStyle/>
          <a:p>
            <a:fld id="{1D1B64B4-CB86-4895-B70A-B23A8179D4B3}" type="slidenum">
              <a:rPr lang="en-ZA" smtClean="0"/>
              <a:t>36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F978CE69-8E5A-40E0-A3C7-87C69A9A67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C5BA2450-4887-4B0F-991B-C0946ED2EA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1423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8FE1-8A84-4241-9C55-988BB9BE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E6C7-5AE2-46B5-B729-A91A89E8A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Identify/name and compare different farm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uses of farm animals for food and clothing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/name and compare wild animals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82B0C-F8D7-442D-937A-17C78DE6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7315"/>
            <a:ext cx="10515600" cy="828450"/>
          </a:xfrm>
        </p:spPr>
        <p:txBody>
          <a:bodyPr/>
          <a:lstStyle/>
          <a:p>
            <a:fld id="{31A079F3-E334-4A07-B83D-AF182C15F98D}" type="slidenum">
              <a:rPr lang="en-ZA" smtClean="0"/>
              <a:t>37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C9B9FD5-1BD0-4B79-9B80-B95609ED12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98AC1338-22F3-4792-B5D6-BE882AA27E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8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9656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F424-976C-4B7F-8CA9-026E40AD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b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FARM AND WILD ANIMALS</a:t>
            </a:r>
            <a:b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ZA" dirty="0"/>
          </a:p>
        </p:txBody>
      </p:sp>
      <p:pic>
        <p:nvPicPr>
          <p:cNvPr id="5" name="Online Media 4" title="Farm Animals, Wild Animals Names and Sounds for kids">
            <a:hlinkClick r:id="" action="ppaction://media"/>
            <a:extLst>
              <a:ext uri="{FF2B5EF4-FFF2-40B4-BE49-F238E27FC236}">
                <a16:creationId xmlns:a16="http://schemas.microsoft.com/office/drawing/2014/main" id="{F8C548C2-1F60-411A-910C-F7C6C75250B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93850" y="1089025"/>
            <a:ext cx="9005888" cy="445543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F9EEE-74B2-44AE-AAFB-326DF1D2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98030"/>
            <a:ext cx="10149114" cy="723446"/>
          </a:xfrm>
        </p:spPr>
        <p:txBody>
          <a:bodyPr/>
          <a:lstStyle/>
          <a:p>
            <a:fld id="{A0FE247F-5D69-4615-B4EF-6D884B8FD44B}" type="slidenum">
              <a:rPr lang="en-ZA" smtClean="0"/>
              <a:t>38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C74DDE25-84D2-4650-B1CF-281E3F1913D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80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CB3BD793-A8EF-48FB-AE92-1795A150F3D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59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D48C-6372-4EAE-AB09-377F7E24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8BBF7-EC46-490B-8E40-E6D0C1B30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630"/>
            <a:ext cx="10515600" cy="5073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US" sz="2400" dirty="0">
                <a:solidFill>
                  <a:srgbClr val="292526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Look at the picture and talk about the different farm animals you see.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F7EFD-AB5B-448C-A05A-3DCFA017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4057" y="5950858"/>
            <a:ext cx="10279743" cy="770618"/>
          </a:xfrm>
        </p:spPr>
        <p:txBody>
          <a:bodyPr/>
          <a:lstStyle/>
          <a:p>
            <a:fld id="{E5F8996A-06B5-44CA-96BC-4021C9BC5A2E}" type="slidenum">
              <a:rPr lang="en-ZA" smtClean="0"/>
              <a:t>39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DCE27-41F9-42CB-836F-641A4CC52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92"/>
          <a:stretch/>
        </p:blipFill>
        <p:spPr>
          <a:xfrm>
            <a:off x="1828801" y="1683656"/>
            <a:ext cx="8011886" cy="4140767"/>
          </a:xfrm>
          <a:prstGeom prst="rect">
            <a:avLst/>
          </a:prstGeom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34ECF07E-220E-4BA2-A7DB-FB003539AA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7C395D2-2E3C-49BC-8506-A739E42555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460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59AE-0D1A-4ACA-AB20-9B4578AB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5529-A83F-429F-8F31-ABA0387B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258"/>
            <a:ext cx="10515600" cy="4899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the wild animals below.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4B704-0958-41F9-BD1D-C95D8005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971" y="5580742"/>
            <a:ext cx="11117943" cy="1140733"/>
          </a:xfrm>
        </p:spPr>
        <p:txBody>
          <a:bodyPr/>
          <a:lstStyle/>
          <a:p>
            <a:fld id="{D7B2EBBD-30F4-4129-BE2D-2198B90D4807}" type="slidenum">
              <a:rPr lang="en-ZA" smtClean="0"/>
              <a:t>40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B8BDB07D-017E-4079-B2EC-8CE4F079C7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5890824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D76832BA-0DD5-45B9-BE1C-C9B534820D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4BE05-0F71-4DAE-8617-2CACB6C6B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41714"/>
            <a:ext cx="2487612" cy="2293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D752D-1227-4EC2-959A-CCBDCD977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669" y="1650544"/>
            <a:ext cx="2944360" cy="2500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D23156-5AEB-46D4-9AF9-A9F073969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886" y="1694088"/>
            <a:ext cx="2706461" cy="20465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4D08AA-D734-4C8B-9D8E-B45B8DE52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689" y="4034971"/>
            <a:ext cx="3203653" cy="250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0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00BA-3E2D-472E-B778-C840F8DA6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53AB-1CA6-45D7-AEA3-8450E0CA7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972"/>
            <a:ext cx="10515600" cy="5189991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Match the pictures to the word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486E0-AECF-4819-B9B9-91F7FC07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5871028"/>
            <a:ext cx="10381342" cy="850447"/>
          </a:xfrm>
        </p:spPr>
        <p:txBody>
          <a:bodyPr/>
          <a:lstStyle/>
          <a:p>
            <a:fld id="{7A7B4425-5D96-41CB-9C72-F7E233FA1D47}" type="slidenum">
              <a:rPr lang="en-ZA" smtClean="0"/>
              <a:t>41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3C0154-4F57-4582-B8FB-58CB4594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451429"/>
            <a:ext cx="7489371" cy="4513942"/>
          </a:xfrm>
          <a:prstGeom prst="rect">
            <a:avLst/>
          </a:prstGeom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30D08276-4446-4429-992D-E64F222A14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Nokuthula logo Freehand">
            <a:extLst>
              <a:ext uri="{FF2B5EF4-FFF2-40B4-BE49-F238E27FC236}">
                <a16:creationId xmlns:a16="http://schemas.microsoft.com/office/drawing/2014/main" id="{8113D4F9-57A1-4DB3-B33E-23938404E52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8133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4E09-4D87-466F-B8E1-D5E7DFD1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A6B8-B206-465B-B54E-73D2C30F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572"/>
            <a:ext cx="10515600" cy="5088392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2: Trace the words then write in the space next t it.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4A01B-459C-4D95-93B1-01289CA6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5815540"/>
            <a:ext cx="10515599" cy="905935"/>
          </a:xfrm>
        </p:spPr>
        <p:txBody>
          <a:bodyPr/>
          <a:lstStyle/>
          <a:p>
            <a:fld id="{5C0277E8-D76E-4509-B912-4F02D83B0AB7}" type="slidenum">
              <a:rPr lang="en-ZA" smtClean="0"/>
              <a:t>42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B5473E0-D513-4E9B-8FE6-489B35CF8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16543"/>
              </p:ext>
            </p:extLst>
          </p:nvPr>
        </p:nvGraphicFramePr>
        <p:xfrm>
          <a:off x="1661885" y="1669141"/>
          <a:ext cx="8026401" cy="487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467">
                  <a:extLst>
                    <a:ext uri="{9D8B030D-6E8A-4147-A177-3AD203B41FA5}">
                      <a16:colId xmlns:a16="http://schemas.microsoft.com/office/drawing/2014/main" val="2019121518"/>
                    </a:ext>
                  </a:extLst>
                </a:gridCol>
                <a:gridCol w="5350934">
                  <a:extLst>
                    <a:ext uri="{9D8B030D-6E8A-4147-A177-3AD203B41FA5}">
                      <a16:colId xmlns:a16="http://schemas.microsoft.com/office/drawing/2014/main" val="1287392621"/>
                    </a:ext>
                  </a:extLst>
                </a:gridCol>
              </a:tblGrid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tiger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5284"/>
                  </a:ext>
                </a:extLst>
              </a:tr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Fox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9622"/>
                  </a:ext>
                </a:extLst>
              </a:tr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elephant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292568"/>
                  </a:ext>
                </a:extLst>
              </a:tr>
              <a:tr h="910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lion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88833"/>
                  </a:ext>
                </a:extLst>
              </a:tr>
              <a:tr h="910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deer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102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967CD90-6603-44C6-A98E-FB11E7D6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13" y="1669142"/>
            <a:ext cx="1219202" cy="905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84FC11-C19C-4D8A-8B70-13A85344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5" y="3772807"/>
            <a:ext cx="1451430" cy="905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A6A696-AEE2-44C9-8137-B7ADF4125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885" y="2739267"/>
            <a:ext cx="1770744" cy="905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B0C9EB-8691-4231-B7CD-7BD5793AE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772" y="5574730"/>
            <a:ext cx="1828800" cy="6325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A75A19-293E-47E4-BC0C-2EBA8D7F0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4748660"/>
            <a:ext cx="1582057" cy="63250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2F91DC-EC92-4A0E-BF3A-F90D2F8201F6}"/>
              </a:ext>
            </a:extLst>
          </p:cNvPr>
          <p:cNvCxnSpPr/>
          <p:nvPr/>
        </p:nvCxnSpPr>
        <p:spPr>
          <a:xfrm>
            <a:off x="7075714" y="3429000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1C5876-9B1C-45B1-AA3E-3EC8FB74EED3}"/>
              </a:ext>
            </a:extLst>
          </p:cNvPr>
          <p:cNvCxnSpPr/>
          <p:nvPr/>
        </p:nvCxnSpPr>
        <p:spPr>
          <a:xfrm>
            <a:off x="7043057" y="2473477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BB962-1E09-43A2-A29D-C300C3AA8A49}"/>
              </a:ext>
            </a:extLst>
          </p:cNvPr>
          <p:cNvCxnSpPr>
            <a:cxnSpLocks/>
          </p:cNvCxnSpPr>
          <p:nvPr/>
        </p:nvCxnSpPr>
        <p:spPr>
          <a:xfrm>
            <a:off x="6879771" y="4383314"/>
            <a:ext cx="28665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519FD7-7B3B-4EDD-BC6A-C361603C5E93}"/>
              </a:ext>
            </a:extLst>
          </p:cNvPr>
          <p:cNvCxnSpPr/>
          <p:nvPr/>
        </p:nvCxnSpPr>
        <p:spPr>
          <a:xfrm>
            <a:off x="7075714" y="5381167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EC4403-6552-4E3F-88B2-88CDC7F2F688}"/>
              </a:ext>
            </a:extLst>
          </p:cNvPr>
          <p:cNvCxnSpPr/>
          <p:nvPr/>
        </p:nvCxnSpPr>
        <p:spPr>
          <a:xfrm>
            <a:off x="7075714" y="6356350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CE5D4F7A-8753-4CD7-AB64-808902CC1C0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25" name="Picture 24" descr="Nokuthula logo Freehand">
            <a:extLst>
              <a:ext uri="{FF2B5EF4-FFF2-40B4-BE49-F238E27FC236}">
                <a16:creationId xmlns:a16="http://schemas.microsoft.com/office/drawing/2014/main" id="{31827E7C-2374-476E-BAD4-1B93AF565A14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079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85A4-9E78-4992-9C66-7AE400BF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418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D0E71-6C4D-4F4F-8A77-222171A2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1"/>
            <a:ext cx="10515600" cy="5030335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Cut and paste the pictures below to match the animal names.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3C997-7664-4FAB-BCCA-833A526C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5907314"/>
            <a:ext cx="10671628" cy="814161"/>
          </a:xfrm>
        </p:spPr>
        <p:txBody>
          <a:bodyPr/>
          <a:lstStyle/>
          <a:p>
            <a:fld id="{8B2CF8F4-BEFA-470B-9566-EF5F52CBEF56}" type="slidenum">
              <a:rPr lang="en-ZA" smtClean="0"/>
              <a:t>43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1D298-295C-4085-9ED0-F04F22FA2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1" t="7089" r="4431" b="4664"/>
          <a:stretch/>
        </p:blipFill>
        <p:spPr>
          <a:xfrm>
            <a:off x="1233714" y="1538514"/>
            <a:ext cx="8723086" cy="4368800"/>
          </a:xfrm>
          <a:prstGeom prst="rect">
            <a:avLst/>
          </a:prstGeom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C3C7C44C-4D57-4977-A76B-14B276B72EE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Nokuthula logo Freehand">
            <a:extLst>
              <a:ext uri="{FF2B5EF4-FFF2-40B4-BE49-F238E27FC236}">
                <a16:creationId xmlns:a16="http://schemas.microsoft.com/office/drawing/2014/main" id="{E63E8737-23CD-4941-BF63-98538438E6B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7893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4270-9523-4201-AC32-E7EB3612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CAE7-C027-426B-837A-B728E350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914"/>
            <a:ext cx="10515600" cy="5291593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2: </a:t>
            </a:r>
            <a:r>
              <a:rPr lang="en-GB" dirty="0"/>
              <a:t>Identify and label the pictures of the farm animals below.</a:t>
            </a:r>
            <a:br>
              <a:rPr lang="en-ZA" dirty="0"/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3FC10-37EB-4A00-84CF-AC9E5A61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571" y="5929086"/>
            <a:ext cx="10515600" cy="792389"/>
          </a:xfrm>
        </p:spPr>
        <p:txBody>
          <a:bodyPr/>
          <a:lstStyle/>
          <a:p>
            <a:fld id="{08400674-13B3-4221-B9B7-660A4F33D9D3}" type="slidenum">
              <a:rPr lang="en-ZA" smtClean="0"/>
              <a:t>44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47804-3D34-43AB-9A7D-076C489856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45"/>
          <a:stretch/>
        </p:blipFill>
        <p:spPr>
          <a:xfrm>
            <a:off x="1857830" y="1349829"/>
            <a:ext cx="8665028" cy="4900158"/>
          </a:xfrm>
          <a:prstGeom prst="rect">
            <a:avLst/>
          </a:prstGeom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6C3D39FA-4F0B-4CDC-88A7-B18588C9DF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1" y="5899217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F3241FD-101F-473D-83CB-53C6E887EA7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49" y="5958566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2119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64EC-B358-464B-A14C-056F6EBA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/>
          </a:bodyPr>
          <a:lstStyle/>
          <a:p>
            <a:r>
              <a:rPr lang="en-ZA" sz="4000" b="1" dirty="0"/>
              <a:t>Task 1: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DFBB-A434-4EFD-8757-5216B436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DE772-4D53-4D86-B0B8-2A35A8B9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613480"/>
            <a:ext cx="10515600" cy="1107995"/>
          </a:xfrm>
        </p:spPr>
        <p:txBody>
          <a:bodyPr/>
          <a:lstStyle/>
          <a:p>
            <a:fld id="{5C952B2F-A23C-4FE7-BAAB-14CAB7A80C35}" type="slidenum">
              <a:rPr lang="en-ZA" smtClean="0"/>
              <a:t>45</a:t>
            </a:fld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BEBC9-CC19-4B34-9452-C01CC0C5D1F5}"/>
              </a:ext>
            </a:extLst>
          </p:cNvPr>
          <p:cNvSpPr txBox="1"/>
          <p:nvPr/>
        </p:nvSpPr>
        <p:spPr>
          <a:xfrm>
            <a:off x="1204685" y="2347096"/>
            <a:ext cx="8868229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dog 		horse		pig	chicken	duck		cow		donkey	sheep		goat</a:t>
            </a:r>
          </a:p>
          <a:p>
            <a:endParaRPr lang="en-ZA" dirty="0"/>
          </a:p>
        </p:txBody>
      </p:sp>
      <p:pic>
        <p:nvPicPr>
          <p:cNvPr id="8" name="Picture 7" descr="New GDE logo">
            <a:extLst>
              <a:ext uri="{FF2B5EF4-FFF2-40B4-BE49-F238E27FC236}">
                <a16:creationId xmlns:a16="http://schemas.microsoft.com/office/drawing/2014/main" id="{BFDD6E71-5B9E-4908-B53B-B49AFE21118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752151"/>
            <a:ext cx="1152525" cy="830651"/>
          </a:xfrm>
          <a:prstGeom prst="rect">
            <a:avLst/>
          </a:prstGeom>
          <a:noFill/>
        </p:spPr>
      </p:pic>
      <p:pic>
        <p:nvPicPr>
          <p:cNvPr id="9" name="Picture 8" descr="Nokuthula logo Freehand">
            <a:extLst>
              <a:ext uri="{FF2B5EF4-FFF2-40B4-BE49-F238E27FC236}">
                <a16:creationId xmlns:a16="http://schemas.microsoft.com/office/drawing/2014/main" id="{2D998813-03A2-418D-881A-20ACBC2CE1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49" y="5958566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3548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4BA-3624-408F-B4EA-B632281A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EB0-B097-4F1D-8B09-F0BA9CF6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hlinkClick r:id="rId2"/>
              </a:rPr>
              <a:t>www.k5learning.com</a:t>
            </a:r>
            <a:r>
              <a:rPr lang="en-ZA" dirty="0"/>
              <a:t> </a:t>
            </a:r>
          </a:p>
          <a:p>
            <a:pPr marL="0" indent="0">
              <a:buNone/>
            </a:pPr>
            <a:r>
              <a:rPr lang="en-ZA" dirty="0"/>
              <a:t>www. sparklebox.co.uk </a:t>
            </a:r>
          </a:p>
          <a:p>
            <a:pPr marL="0" indent="0">
              <a:buNone/>
            </a:pPr>
            <a:r>
              <a:rPr lang="en-ZA" dirty="0">
                <a:hlinkClick r:id="rId3"/>
              </a:rPr>
              <a:t>www.twinkl.co.za</a:t>
            </a:r>
            <a:endParaRPr lang="en-ZA" dirty="0"/>
          </a:p>
          <a:p>
            <a:pPr marL="0" indent="0">
              <a:buNone/>
            </a:pPr>
            <a:r>
              <a:rPr lang="en-ZA" dirty="0">
                <a:hlinkClick r:id="rId4"/>
              </a:rPr>
              <a:t>www.Pinterest.com</a:t>
            </a:r>
            <a:r>
              <a:rPr lang="en-ZA" dirty="0"/>
              <a:t> 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2B40-83C5-49DC-A039-EE0A965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78286"/>
            <a:ext cx="10515600" cy="843189"/>
          </a:xfrm>
        </p:spPr>
        <p:txBody>
          <a:bodyPr/>
          <a:lstStyle/>
          <a:p>
            <a:fld id="{96012891-1781-4E36-B81C-40A0E53B2317}" type="slidenum">
              <a:rPr lang="en-ZA" smtClean="0"/>
              <a:t>46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BE48170E-9268-49CC-B408-6BD4A193CB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964AD4E-A185-4CF9-ABEC-06ADAA94EAD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6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1068</Words>
  <Application>Microsoft Office PowerPoint</Application>
  <PresentationFormat>Widescreen</PresentationFormat>
  <Paragraphs>243</Paragraphs>
  <Slides>46</Slides>
  <Notes>0</Notes>
  <HiddenSlides>0</HiddenSlides>
  <MMClips>4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Arial MT</vt:lpstr>
      <vt:lpstr>Calibri</vt:lpstr>
      <vt:lpstr>Calibri Light</vt:lpstr>
      <vt:lpstr>Junior Typing</vt:lpstr>
      <vt:lpstr>KG Primary Dots</vt:lpstr>
      <vt:lpstr>Symbol</vt:lpstr>
      <vt:lpstr>Wingdings</vt:lpstr>
      <vt:lpstr>Office Theme</vt:lpstr>
      <vt:lpstr>Document</vt:lpstr>
      <vt:lpstr>LIFE SKILLS GRADE 2 YEAR 1</vt:lpstr>
      <vt:lpstr>OUTLINE</vt:lpstr>
      <vt:lpstr>LESSON OBJECTIVES</vt:lpstr>
      <vt:lpstr>WEEK 1 &amp; 2 </vt:lpstr>
      <vt:lpstr>ASSEESSMENT GOALS</vt:lpstr>
      <vt:lpstr>SEASONS</vt:lpstr>
      <vt:lpstr>GROUP 1        </vt:lpstr>
      <vt:lpstr>Task 1 cont… </vt:lpstr>
      <vt:lpstr>GROUP 1      </vt:lpstr>
      <vt:lpstr>Task 2 cont…</vt:lpstr>
      <vt:lpstr>Group 2     </vt:lpstr>
      <vt:lpstr>GROUP 2     </vt:lpstr>
      <vt:lpstr>GROUP 3      </vt:lpstr>
      <vt:lpstr>Group 3</vt:lpstr>
      <vt:lpstr>WEEK 3 &amp; 4</vt:lpstr>
      <vt:lpstr>LESSONS OBJECTIVES</vt:lpstr>
      <vt:lpstr>ASSESSMENT GAOLS</vt:lpstr>
      <vt:lpstr>   CREATURES LIVING IN WATER, OCEAN, RIVER AND POND  </vt:lpstr>
      <vt:lpstr>GROUP 1</vt:lpstr>
      <vt:lpstr>GROUP 1</vt:lpstr>
      <vt:lpstr>GROUP 2</vt:lpstr>
      <vt:lpstr>GROUP 3</vt:lpstr>
      <vt:lpstr>Task 1 cont…</vt:lpstr>
      <vt:lpstr>GROUP 3</vt:lpstr>
      <vt:lpstr>WEEK 5, 6 &amp; 7</vt:lpstr>
      <vt:lpstr>LESSON OBJECTIVES</vt:lpstr>
      <vt:lpstr>ASSESSMENT GOALS</vt:lpstr>
      <vt:lpstr>ANIMALS AND THEIR SHELTERS</vt:lpstr>
      <vt:lpstr>Group 1</vt:lpstr>
      <vt:lpstr>GROUP 1</vt:lpstr>
      <vt:lpstr>GROUP 2</vt:lpstr>
      <vt:lpstr>GROUP 2</vt:lpstr>
      <vt:lpstr>Group 3</vt:lpstr>
      <vt:lpstr>GROUP 3</vt:lpstr>
      <vt:lpstr>WEEK 8  &amp; 9</vt:lpstr>
      <vt:lpstr>LESSON OBJECTIVES</vt:lpstr>
      <vt:lpstr>ASSESSMENT GOALS</vt:lpstr>
      <vt:lpstr> FARM AND WILD ANIMALS </vt:lpstr>
      <vt:lpstr>GROUP 1</vt:lpstr>
      <vt:lpstr>GROUP 1</vt:lpstr>
      <vt:lpstr>GROUP 2</vt:lpstr>
      <vt:lpstr>Group 2</vt:lpstr>
      <vt:lpstr>GROUP 3</vt:lpstr>
      <vt:lpstr>GROUP 3</vt:lpstr>
      <vt:lpstr>Task 1: cont.…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Grade 2 Year 2</dc:title>
  <dc:creator>Khumbudzo Zelda Sigidi</dc:creator>
  <cp:lastModifiedBy>Khumbudzo Zelda Sigidi</cp:lastModifiedBy>
  <cp:revision>89</cp:revision>
  <dcterms:created xsi:type="dcterms:W3CDTF">2024-06-12T11:42:00Z</dcterms:created>
  <dcterms:modified xsi:type="dcterms:W3CDTF">2024-07-09T10:54:45Z</dcterms:modified>
</cp:coreProperties>
</file>