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80" r:id="rId15"/>
    <p:sldId id="274" r:id="rId16"/>
    <p:sldId id="272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15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52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608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504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196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404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197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152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4680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1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395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149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4994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2998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148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639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6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6969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CACF1D1-CD20-42D5-B267-A8D5494C5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111941"/>
              </p:ext>
            </p:extLst>
          </p:nvPr>
        </p:nvGraphicFramePr>
        <p:xfrm>
          <a:off x="1272209" y="719665"/>
          <a:ext cx="8887791" cy="531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970">
                  <a:extLst>
                    <a:ext uri="{9D8B030D-6E8A-4147-A177-3AD203B41FA5}">
                      <a16:colId xmlns:a16="http://schemas.microsoft.com/office/drawing/2014/main" val="3650113161"/>
                    </a:ext>
                  </a:extLst>
                </a:gridCol>
                <a:gridCol w="5161821">
                  <a:extLst>
                    <a:ext uri="{9D8B030D-6E8A-4147-A177-3AD203B41FA5}">
                      <a16:colId xmlns:a16="http://schemas.microsoft.com/office/drawing/2014/main" val="2195754969"/>
                    </a:ext>
                  </a:extLst>
                </a:gridCol>
              </a:tblGrid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Life skills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44233"/>
                  </a:ext>
                </a:extLst>
              </a:tr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Grade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2 year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851948"/>
                  </a:ext>
                </a:extLst>
              </a:tr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Term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62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97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17A4-2DA0-4508-AB92-00378BA2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sz="6000" b="1" dirty="0"/>
              <a:t>       LESSON PLAN 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141332-7440-49C9-8C2B-839EF51D5A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176313"/>
              </p:ext>
            </p:extLst>
          </p:nvPr>
        </p:nvGraphicFramePr>
        <p:xfrm>
          <a:off x="503583" y="1825625"/>
          <a:ext cx="10850217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76">
                  <a:extLst>
                    <a:ext uri="{9D8B030D-6E8A-4147-A177-3AD203B41FA5}">
                      <a16:colId xmlns:a16="http://schemas.microsoft.com/office/drawing/2014/main" val="2207677980"/>
                    </a:ext>
                  </a:extLst>
                </a:gridCol>
                <a:gridCol w="5430241">
                  <a:extLst>
                    <a:ext uri="{9D8B030D-6E8A-4147-A177-3AD203B41FA5}">
                      <a16:colId xmlns:a16="http://schemas.microsoft.com/office/drawing/2014/main" val="4232579930"/>
                    </a:ext>
                  </a:extLst>
                </a:gridCol>
              </a:tblGrid>
              <a:tr h="615566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1 -3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533483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ROAD/TRAFFIC SAFETY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379601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PEOPLE WHO HELP US IN OUR 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7798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FRUITS AND VEGETABLES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4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26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080E-39AF-42ED-A45B-561542F1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6000" b="1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C941-F883-4022-BE28-7614D1287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000" dirty="0"/>
              <a:t>Guide and support learners to achieve their full physical, intellectual, personal, emotional and social potential.</a:t>
            </a:r>
          </a:p>
          <a:p>
            <a:r>
              <a:rPr lang="en-GB" sz="2000" dirty="0"/>
              <a:t>Teach learners to exercise their constitutional rights and responsibilities and to respect the rights of others.</a:t>
            </a:r>
          </a:p>
          <a:p>
            <a:r>
              <a:rPr lang="en-GB" sz="2000" dirty="0"/>
              <a:t> Guide learners to make informed and responsible decisions (with support) about their health and environment.</a:t>
            </a:r>
          </a:p>
          <a:p>
            <a:r>
              <a:rPr lang="en-GB" sz="2000" dirty="0"/>
              <a:t>Develop skills such as self-awareness, problem-solving, interpersonal relations, leadership, decision-making, and communication to the individual potential of the learner.</a:t>
            </a:r>
          </a:p>
          <a:p>
            <a:r>
              <a:rPr lang="en-GB" sz="2000" dirty="0"/>
              <a:t> Develop learners’ skills to respond to real-life situations and play an active and functional role </a:t>
            </a:r>
          </a:p>
          <a:p>
            <a:pPr marL="0" indent="0">
              <a:buNone/>
            </a:pPr>
            <a:r>
              <a:rPr lang="en-GB" sz="2000" dirty="0"/>
              <a:t>    in the economy and society.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84386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45EB-98A7-4673-95D0-7917EA74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3095"/>
          </a:xfrm>
        </p:spPr>
        <p:txBody>
          <a:bodyPr>
            <a:normAutofit fontScale="90000"/>
          </a:bodyPr>
          <a:lstStyle/>
          <a:p>
            <a:r>
              <a:rPr lang="en-ZA" sz="4800" b="1" dirty="0"/>
              <a:t>ASSESSMENT GOALS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4D25978-DD8B-41DF-8416-9FA5F243F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632507"/>
              </p:ext>
            </p:extLst>
          </p:nvPr>
        </p:nvGraphicFramePr>
        <p:xfrm>
          <a:off x="198783" y="583096"/>
          <a:ext cx="11794434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2354">
                  <a:extLst>
                    <a:ext uri="{9D8B030D-6E8A-4147-A177-3AD203B41FA5}">
                      <a16:colId xmlns:a16="http://schemas.microsoft.com/office/drawing/2014/main" val="3692379895"/>
                    </a:ext>
                  </a:extLst>
                </a:gridCol>
                <a:gridCol w="5912080">
                  <a:extLst>
                    <a:ext uri="{9D8B030D-6E8A-4147-A177-3AD203B41FA5}">
                      <a16:colId xmlns:a16="http://schemas.microsoft.com/office/drawing/2014/main" val="3412528075"/>
                    </a:ext>
                  </a:extLst>
                </a:gridCol>
              </a:tblGrid>
              <a:tr h="1141959">
                <a:tc>
                  <a:txBody>
                    <a:bodyPr/>
                    <a:lstStyle/>
                    <a:p>
                      <a:r>
                        <a:rPr lang="en-ZA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Understand what transport 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animal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road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Compare the different types of 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2053"/>
                  </a:ext>
                </a:extLst>
              </a:tr>
              <a:tr h="878430">
                <a:tc>
                  <a:txBody>
                    <a:bodyPr/>
                    <a:lstStyle/>
                    <a:p>
                      <a:r>
                        <a:rPr lang="en-ZA" dirty="0"/>
                        <a:t>ROAD TRAFFIC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pedestrians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cyclists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passengers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639857"/>
                  </a:ext>
                </a:extLst>
              </a:tr>
              <a:tr h="2196074">
                <a:tc>
                  <a:txBody>
                    <a:bodyPr/>
                    <a:lstStyle/>
                    <a:p>
                      <a:r>
                        <a:rPr lang="en-ZA" dirty="0"/>
                        <a:t>PEOPLE WHO HELP US IN OUR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Select people who help us in our community - such as clinic nurse, teacher and after-care teacher, traffic cop, police officer etc.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Explain and give examples how different people help one another.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Ask for assistance.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Know who to contact when help is needed.</a:t>
                      </a:r>
                      <a:endParaRPr lang="en-ZA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14818"/>
                  </a:ext>
                </a:extLst>
              </a:tr>
              <a:tr h="1932545">
                <a:tc>
                  <a:txBody>
                    <a:bodyPr/>
                    <a:lstStyle/>
                    <a:p>
                      <a:r>
                        <a:rPr lang="en-ZA" dirty="0"/>
                        <a:t>FRUIT AND VEGETABLES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 Identify Apple/banana/grapes/pear/peach/pineapple/orange/lemon/apricot/ plum/melon/ watermelon/guava/granadilla/mango.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Carrot/cabbage/bean/potato/pumpkin/onion/ beetroot/peas/sweet potato/butternut/ cauliflower/broccoli.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287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201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D3DA-4626-439A-BC69-7922EF2B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TRANSPORT</a:t>
            </a:r>
          </a:p>
        </p:txBody>
      </p:sp>
      <p:pic>
        <p:nvPicPr>
          <p:cNvPr id="1026" name="Picture 2" descr="Transport cartoons Royalty Free Vector Image - VectorStock">
            <a:extLst>
              <a:ext uri="{FF2B5EF4-FFF2-40B4-BE49-F238E27FC236}">
                <a16:creationId xmlns:a16="http://schemas.microsoft.com/office/drawing/2014/main" id="{11FDA2BB-E530-4C57-981C-C32F0C6B42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70" y="1404730"/>
            <a:ext cx="8666921" cy="5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6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B332-ADD8-41C4-B7C6-B9D03217B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067352"/>
          </a:xfrm>
        </p:spPr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GROUP 1</a:t>
            </a:r>
          </a:p>
        </p:txBody>
      </p:sp>
    </p:spTree>
    <p:extLst>
      <p:ext uri="{BB962C8B-B14F-4D97-AF65-F5344CB8AC3E}">
        <p14:creationId xmlns:p14="http://schemas.microsoft.com/office/powerpoint/2010/main" val="316351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and transport - match the parts - TurtleDiary.com">
            <a:extLst>
              <a:ext uri="{FF2B5EF4-FFF2-40B4-BE49-F238E27FC236}">
                <a16:creationId xmlns:a16="http://schemas.microsoft.com/office/drawing/2014/main" id="{6CCAE9AA-1EBB-4E37-8708-490861D1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183" y="0"/>
            <a:ext cx="68116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119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C75E9-91C9-4930-B194-2D0A620B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391491"/>
          </a:xfrm>
        </p:spPr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397046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 worksheet with pictures of different vehicles">
            <a:extLst>
              <a:ext uri="{FF2B5EF4-FFF2-40B4-BE49-F238E27FC236}">
                <a16:creationId xmlns:a16="http://schemas.microsoft.com/office/drawing/2014/main" id="{3C812CD3-137A-44A5-A94D-30F08632A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87" y="509588"/>
            <a:ext cx="9422296" cy="616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674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F2AC-6FA8-41D2-8994-DF37B37C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GROUP 3</a:t>
            </a:r>
          </a:p>
        </p:txBody>
      </p:sp>
    </p:spTree>
    <p:extLst>
      <p:ext uri="{BB962C8B-B14F-4D97-AF65-F5344CB8AC3E}">
        <p14:creationId xmlns:p14="http://schemas.microsoft.com/office/powerpoint/2010/main" val="90110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ransportation Fill In worksheet">
            <a:extLst>
              <a:ext uri="{FF2B5EF4-FFF2-40B4-BE49-F238E27FC236}">
                <a16:creationId xmlns:a16="http://schemas.microsoft.com/office/drawing/2014/main" id="{AF938E5C-E600-48F4-80B3-E144B63C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30" y="333375"/>
            <a:ext cx="8083827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9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F863-7957-421A-B6E6-138773F2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86969"/>
          </a:xfrm>
        </p:spPr>
        <p:txBody>
          <a:bodyPr/>
          <a:lstStyle/>
          <a:p>
            <a:r>
              <a:rPr lang="en-ZA" dirty="0"/>
              <a:t>ROAD/ TRAFFIC SAFETY</a:t>
            </a:r>
          </a:p>
        </p:txBody>
      </p:sp>
      <p:pic>
        <p:nvPicPr>
          <p:cNvPr id="6146" name="Picture 2" descr="Image result for ROAD AD TRAFIC SAFETY CARTOON PICTURES">
            <a:extLst>
              <a:ext uri="{FF2B5EF4-FFF2-40B4-BE49-F238E27FC236}">
                <a16:creationId xmlns:a16="http://schemas.microsoft.com/office/drawing/2014/main" id="{455D0FB9-D048-47C9-A8EE-566E64682B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39687"/>
            <a:ext cx="1004839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10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ROAD AD TRAFIC SAFETY CARTOON PICTURES">
            <a:extLst>
              <a:ext uri="{FF2B5EF4-FFF2-40B4-BE49-F238E27FC236}">
                <a16:creationId xmlns:a16="http://schemas.microsoft.com/office/drawing/2014/main" id="{9FAF4D19-1B47-455B-B96C-CC6B9BF90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65" y="294861"/>
            <a:ext cx="9316279" cy="626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13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Image result for ROAD AND TRAFIC SAFETY GRADE 1 ACTIVITIES">
            <a:extLst>
              <a:ext uri="{FF2B5EF4-FFF2-40B4-BE49-F238E27FC236}">
                <a16:creationId xmlns:a16="http://schemas.microsoft.com/office/drawing/2014/main" id="{895C4A96-9434-4CE7-850C-1F1E008A3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60" y="0"/>
            <a:ext cx="9263269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119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3AA1-6987-4CB0-8541-DBB20F3F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ZA" sz="9600" dirty="0"/>
            </a:br>
            <a:r>
              <a:rPr lang="en-ZA" sz="9600" dirty="0"/>
              <a:t>      GROUP 1</a:t>
            </a:r>
          </a:p>
        </p:txBody>
      </p:sp>
    </p:spTree>
    <p:extLst>
      <p:ext uri="{BB962C8B-B14F-4D97-AF65-F5344CB8AC3E}">
        <p14:creationId xmlns:p14="http://schemas.microsoft.com/office/powerpoint/2010/main" val="1215425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oad Safety Week Activity Ideas - Twinkl">
            <a:extLst>
              <a:ext uri="{FF2B5EF4-FFF2-40B4-BE49-F238E27FC236}">
                <a16:creationId xmlns:a16="http://schemas.microsoft.com/office/drawing/2014/main" id="{E7A8E39E-BEDD-4F4A-B722-3ED7D4F66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475" y="0"/>
            <a:ext cx="4845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558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1CDE-55BD-4C11-B068-7699817E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123720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oad Safety Worksheet Road Safety Signs, Road Traffic Safety, Road ...">
            <a:extLst>
              <a:ext uri="{FF2B5EF4-FFF2-40B4-BE49-F238E27FC236}">
                <a16:creationId xmlns:a16="http://schemas.microsoft.com/office/drawing/2014/main" id="{A6B3EBA8-B96F-4ACF-80F9-3B0B3F9CB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365" y="238124"/>
            <a:ext cx="6983896" cy="661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890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BEEA-84BC-4AE8-9374-0AF561D6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3</a:t>
            </a:r>
          </a:p>
        </p:txBody>
      </p:sp>
    </p:spTree>
    <p:extLst>
      <p:ext uri="{BB962C8B-B14F-4D97-AF65-F5344CB8AC3E}">
        <p14:creationId xmlns:p14="http://schemas.microsoft.com/office/powerpoint/2010/main" val="1222818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result for ROAD AND TRAFIC SAFETY GRADE 1 ACTIVITIES">
            <a:extLst>
              <a:ext uri="{FF2B5EF4-FFF2-40B4-BE49-F238E27FC236}">
                <a16:creationId xmlns:a16="http://schemas.microsoft.com/office/drawing/2014/main" id="{652A6F91-C955-492C-9D4A-E4AC1DC0E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112" y="132522"/>
            <a:ext cx="7116417" cy="652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873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Kindergarten Science Traffic Light in 2024 | English lessons for kids ...">
            <a:extLst>
              <a:ext uri="{FF2B5EF4-FFF2-40B4-BE49-F238E27FC236}">
                <a16:creationId xmlns:a16="http://schemas.microsoft.com/office/drawing/2014/main" id="{9FF2815C-DB29-40F5-8D06-BAD91DCB9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096" y="198783"/>
            <a:ext cx="7792278" cy="654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43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4C54-CCC8-4C64-982A-BA661AB5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2256"/>
          </a:xfrm>
        </p:spPr>
        <p:txBody>
          <a:bodyPr/>
          <a:lstStyle/>
          <a:p>
            <a:r>
              <a:rPr lang="en-ZA" dirty="0"/>
              <a:t>PEOPLE WHO HELP US</a:t>
            </a:r>
          </a:p>
        </p:txBody>
      </p:sp>
      <p:pic>
        <p:nvPicPr>
          <p:cNvPr id="14338" name="Picture 2" descr="People who help us collection | Tes">
            <a:extLst>
              <a:ext uri="{FF2B5EF4-FFF2-40B4-BE49-F238E27FC236}">
                <a16:creationId xmlns:a16="http://schemas.microsoft.com/office/drawing/2014/main" id="{468AB8B4-F935-4556-9588-377B0AEA0E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232452"/>
            <a:ext cx="10525472" cy="532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928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5D43-8C18-4AEF-8B05-066A9DB3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1</a:t>
            </a:r>
          </a:p>
        </p:txBody>
      </p:sp>
    </p:spTree>
    <p:extLst>
      <p:ext uri="{BB962C8B-B14F-4D97-AF65-F5344CB8AC3E}">
        <p14:creationId xmlns:p14="http://schemas.microsoft.com/office/powerpoint/2010/main" val="374024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eople Who Help Us Word Mat">
            <a:extLst>
              <a:ext uri="{FF2B5EF4-FFF2-40B4-BE49-F238E27FC236}">
                <a16:creationId xmlns:a16="http://schemas.microsoft.com/office/drawing/2014/main" id="{98162170-DAB1-4FFC-9943-3D491DC41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896" y="228600"/>
            <a:ext cx="6983895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773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55FF-B0E3-4A5B-A325-05C4B67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340577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088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128</TotalTime>
  <Words>338</Words>
  <Application>Microsoft Office PowerPoint</Application>
  <PresentationFormat>Widescreen</PresentationFormat>
  <Paragraphs>51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Century Gothic</vt:lpstr>
      <vt:lpstr>Wingdings 3</vt:lpstr>
      <vt:lpstr>Ion</vt:lpstr>
      <vt:lpstr>PowerPoint Presentation</vt:lpstr>
      <vt:lpstr>       LESSON PLAN CONTENT</vt:lpstr>
      <vt:lpstr>LESSON OBJECTIVES</vt:lpstr>
      <vt:lpstr>ASSESSMENT GOALS</vt:lpstr>
      <vt:lpstr>TRANSPORT</vt:lpstr>
      <vt:lpstr>            GROUP 1</vt:lpstr>
      <vt:lpstr>PowerPoint Presentation</vt:lpstr>
      <vt:lpstr>             GROUP 2</vt:lpstr>
      <vt:lpstr>PowerPoint Presentation</vt:lpstr>
      <vt:lpstr>            GROUP 3</vt:lpstr>
      <vt:lpstr>PowerPoint Presentation</vt:lpstr>
      <vt:lpstr>ROAD/ TRAFFIC SAFETY</vt:lpstr>
      <vt:lpstr>PowerPoint Presentation</vt:lpstr>
      <vt:lpstr>PowerPoint Presentation</vt:lpstr>
      <vt:lpstr>       GROUP 1</vt:lpstr>
      <vt:lpstr>PowerPoint Presentation</vt:lpstr>
      <vt:lpstr>          GROUP 2</vt:lpstr>
      <vt:lpstr>PowerPoint Presentation</vt:lpstr>
      <vt:lpstr>             GROUP 3</vt:lpstr>
      <vt:lpstr>PowerPoint Presentation</vt:lpstr>
      <vt:lpstr>PowerPoint Presentation</vt:lpstr>
      <vt:lpstr>PEOPLE WHO HELP US</vt:lpstr>
      <vt:lpstr>             GROUP 1</vt:lpstr>
      <vt:lpstr>PowerPoint Presentation</vt:lpstr>
      <vt:lpstr>           Group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Student_PC</dc:creator>
  <cp:lastModifiedBy>Student_PC</cp:lastModifiedBy>
  <cp:revision>14</cp:revision>
  <dcterms:created xsi:type="dcterms:W3CDTF">2024-06-13T05:54:20Z</dcterms:created>
  <dcterms:modified xsi:type="dcterms:W3CDTF">2024-06-13T10:55:20Z</dcterms:modified>
</cp:coreProperties>
</file>