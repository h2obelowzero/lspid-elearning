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1" r:id="rId2"/>
    <p:sldMasterId id="2147483713" r:id="rId3"/>
    <p:sldMasterId id="2147483725" r:id="rId4"/>
    <p:sldMasterId id="2147483761" r:id="rId5"/>
  </p:sldMasterIdLst>
  <p:sldIdLst>
    <p:sldId id="256" r:id="rId6"/>
    <p:sldId id="296" r:id="rId7"/>
    <p:sldId id="257" r:id="rId8"/>
    <p:sldId id="293" r:id="rId9"/>
    <p:sldId id="294" r:id="rId10"/>
    <p:sldId id="298" r:id="rId11"/>
    <p:sldId id="258" r:id="rId12"/>
    <p:sldId id="300" r:id="rId13"/>
    <p:sldId id="260" r:id="rId14"/>
    <p:sldId id="297" r:id="rId15"/>
    <p:sldId id="299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310" r:id="rId25"/>
    <p:sldId id="311" r:id="rId26"/>
    <p:sldId id="312" r:id="rId27"/>
    <p:sldId id="313" r:id="rId28"/>
    <p:sldId id="314" r:id="rId29"/>
    <p:sldId id="315" r:id="rId30"/>
    <p:sldId id="269" r:id="rId31"/>
    <p:sldId id="270" r:id="rId32"/>
    <p:sldId id="309" r:id="rId33"/>
    <p:sldId id="274" r:id="rId34"/>
    <p:sldId id="301" r:id="rId35"/>
    <p:sldId id="272" r:id="rId36"/>
    <p:sldId id="271" r:id="rId37"/>
    <p:sldId id="273" r:id="rId38"/>
    <p:sldId id="302" r:id="rId39"/>
    <p:sldId id="277" r:id="rId40"/>
    <p:sldId id="281" r:id="rId41"/>
    <p:sldId id="279" r:id="rId42"/>
    <p:sldId id="303" r:id="rId43"/>
    <p:sldId id="304" r:id="rId44"/>
    <p:sldId id="307" r:id="rId45"/>
    <p:sldId id="308" r:id="rId46"/>
    <p:sldId id="280" r:id="rId47"/>
    <p:sldId id="282" r:id="rId48"/>
    <p:sldId id="316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vor Mkhonta" initials="TM" lastIdx="1" clrIdx="0">
    <p:extLst>
      <p:ext uri="{19B8F6BF-5375-455C-9EA6-DF929625EA0E}">
        <p15:presenceInfo xmlns:p15="http://schemas.microsoft.com/office/powerpoint/2012/main" userId="5e7cbe428c5f0f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6488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7825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531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4012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7279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2140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6085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6184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8604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3717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82872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00707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0933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4903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983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540622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8594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68864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46144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951045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32609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749058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6582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44778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69474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52893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1910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6616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53878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947151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289731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36814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02593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463571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681427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205425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737247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657188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85367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400190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463599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465753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95775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22945"/>
      </p:ext>
    </p:extLst>
  </p:cSld>
  <p:clrMapOvr>
    <a:masterClrMapping/>
  </p:clrMapOvr>
  <p:transition spd="slow">
    <p:wip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417B-632B-B00F-E117-A0548147B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67429-AE11-0E8E-432D-0196DDEF3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1C02-6F83-F5B5-CFBA-9E9206A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57D3-6328-8475-80A7-128124E9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0AC39-30B0-DEE4-788B-6675277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506996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2B67-CA9D-06DD-AE53-08627925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14A8-3449-D5DD-A293-B9A79D01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205A-8746-508C-9B13-539CD843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8B0-2228-5737-EFF2-9125E4C3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5F9A-B4F4-B3EE-BFEF-EFBFB8A0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05279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84A1-E5F2-55BA-243C-6C4B38D5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0BD-51CF-D164-2917-A5D3CE18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7600-3EF1-ED65-BC3C-A6E4014C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A3200-D704-F77B-0F43-940E973F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BC1E-5068-0378-4CF5-E58287B0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74242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A371-CA3C-526C-1DE2-F7A4F8BA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DC74-FB49-0772-5435-353B45E9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043EC-CB0E-1AE8-AE1B-ACF5986FF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630DA-336E-A323-EAE9-7CACA591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7C82-FBEC-5354-35F6-09D0CDEC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6893-3820-E10B-7656-14012411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6964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2F35-A673-F8DA-566B-D9116ED0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24637-F606-6B74-5ADE-660691AF4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ADB4-5CE7-FB50-2023-A273BB26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1003D-1056-FAFE-67CB-C0DC385D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4F48F-C4F9-C12C-A3C9-51B22383F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25EF3-CAED-2464-2278-3F82B583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B8F22-3D7D-C760-9C89-5E9C0393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2B800-5399-225B-3164-F6E4255B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953990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CEC-2148-D59E-43FE-07C7875E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76202-09CD-C2D3-F4AB-E06EB0C5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AA44-4004-925E-3781-6DF73731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085FE-E57E-118C-BDDE-E1A0DF8B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098697"/>
      </p:ext>
    </p:extLst>
  </p:cSld>
  <p:clrMapOvr>
    <a:masterClrMapping/>
  </p:clrMapOvr>
  <p:transition spd="slow"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49BCC-ED6E-5E56-E5CC-3C346A0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9632D-AFB3-5889-A6B7-2FFD1077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71AE-5564-EF69-43C1-1C716269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4651"/>
      </p:ext>
    </p:extLst>
  </p:cSld>
  <p:clrMapOvr>
    <a:masterClrMapping/>
  </p:clrMapOvr>
  <p:transition spd="slow"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610-5E16-8E13-1518-35122794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D491-CBA7-7646-D118-74F44C7B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78377-236D-5EEA-249B-CA6C8316E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651A-8BD5-9103-6C1D-DB8E3039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89D0E-BC14-DE83-DE24-AC4DF8FB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1F77B-2E99-66D3-F352-4ACD1EB3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56017"/>
      </p:ext>
    </p:extLst>
  </p:cSld>
  <p:clrMapOvr>
    <a:masterClrMapping/>
  </p:clrMapOvr>
  <p:transition spd="slow"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843C-6731-CC21-6182-CD89BA23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438DE-8362-A189-4729-6E0F95E20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FEB7-88B8-E88B-798D-73E5D903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4459D-7722-1A26-AD74-7AE13A05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8D35-A73F-D071-ECB1-6449292F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6F797-EFFD-9006-CD79-BA09E53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672826"/>
      </p:ext>
    </p:extLst>
  </p:cSld>
  <p:clrMapOvr>
    <a:masterClrMapping/>
  </p:clrMapOvr>
  <p:transition spd="slow"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E182-8200-F41C-F5F0-15081BF3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3D68F-5F00-0AAE-7074-21D77F42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C025-2585-A06B-6C3A-51D583EA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7B89-46CE-D688-2B2B-EB650661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A91A-BDBD-B818-64CC-E7B7DE36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828109"/>
      </p:ext>
    </p:extLst>
  </p:cSld>
  <p:clrMapOvr>
    <a:masterClrMapping/>
  </p:clrMapOvr>
  <p:transition spd="slow"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EF5CE-08ED-F462-199F-BBA0B511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433D2-6C22-EEB0-17E8-BEFF8160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942B9-3BCA-AA3A-D347-BC5E75D9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8FCF-EC8F-A0EE-73F3-3EED85D8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885F-D326-4018-8C93-239236B2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0326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4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8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8AAAB-6640-DDC2-7047-096F38BC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8BCE-FCD7-C73B-4471-0BC31178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E363F-BFF6-AF37-61A9-34D21D5E5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14/06/2024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4C75-1B7B-4082-31D9-633A465EE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5FC3-0152-59FB-B401-93663DAB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6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a3NZztV9xg?feature=oembed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46.xml"/><Relationship Id="rId1" Type="http://schemas.openxmlformats.org/officeDocument/2006/relationships/video" Target="https://www.youtube.com/embed/oqc-pQrCwWI?feature=oembed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zqx39K2omc?feature=oembed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4FA04E-4A04-1446-C48F-ED0A03FA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447880"/>
              </p:ext>
            </p:extLst>
          </p:nvPr>
        </p:nvGraphicFramePr>
        <p:xfrm>
          <a:off x="434340" y="1005840"/>
          <a:ext cx="11269980" cy="468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4990">
                  <a:extLst>
                    <a:ext uri="{9D8B030D-6E8A-4147-A177-3AD203B41FA5}">
                      <a16:colId xmlns:a16="http://schemas.microsoft.com/office/drawing/2014/main" val="894803012"/>
                    </a:ext>
                  </a:extLst>
                </a:gridCol>
                <a:gridCol w="5634990">
                  <a:extLst>
                    <a:ext uri="{9D8B030D-6E8A-4147-A177-3AD203B41FA5}">
                      <a16:colId xmlns:a16="http://schemas.microsoft.com/office/drawing/2014/main" val="427969949"/>
                    </a:ext>
                  </a:extLst>
                </a:gridCol>
              </a:tblGrid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SUBJECT 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LIFE SKILLS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4013954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GRADE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2 YEAR 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796625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TERM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1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61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381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A8FD-E6B5-BFA9-22DF-63A57B9D2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TABLE OF CONTENT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27AAD2-1B54-49F6-BFA2-7FADDC8EFA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794811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3A03BF-EA6B-45AD-8CE2-585CD05A3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7996"/>
              </p:ext>
            </p:extLst>
          </p:nvPr>
        </p:nvGraphicFramePr>
        <p:xfrm>
          <a:off x="960120" y="1583401"/>
          <a:ext cx="10721340" cy="4741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9518">
                  <a:extLst>
                    <a:ext uri="{9D8B030D-6E8A-4147-A177-3AD203B41FA5}">
                      <a16:colId xmlns:a16="http://schemas.microsoft.com/office/drawing/2014/main" val="3929995469"/>
                    </a:ext>
                  </a:extLst>
                </a:gridCol>
                <a:gridCol w="4871822">
                  <a:extLst>
                    <a:ext uri="{9D8B030D-6E8A-4147-A177-3AD203B41FA5}">
                      <a16:colId xmlns:a16="http://schemas.microsoft.com/office/drawing/2014/main" val="3632659282"/>
                    </a:ext>
                  </a:extLst>
                </a:gridCol>
              </a:tblGrid>
              <a:tr h="20601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1-2</a:t>
                      </a: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0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 and my community (places and people)</a:t>
                      </a:r>
                      <a:endParaRPr lang="en-GB" sz="4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34498"/>
                  </a:ext>
                </a:extLst>
              </a:tr>
              <a:tr h="9741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3-4&amp;5</a:t>
                      </a: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3600" b="1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What do I need to live</a:t>
                      </a:r>
                      <a:endParaRPr lang="en-GB" sz="3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663776"/>
                  </a:ext>
                </a:extLst>
              </a:tr>
              <a:tr h="9741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5-7&amp;8</a:t>
                      </a: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4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Senses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862217"/>
                  </a:ext>
                </a:extLst>
              </a:tr>
              <a:tr h="732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5767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EFCB91-6FC2-AD9D-4047-53F1C3B2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383071"/>
            <a:ext cx="970121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altLang="en-US" sz="4800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LESSON PLAN CONTENT</a:t>
            </a:r>
            <a:endParaRPr kumimoji="0" lang="en-GB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5853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DA8D-17B2-D1DE-4C15-4DD658A8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010C8-5CB7-4100-9D5F-1817BD585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452588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99B2-A315-A072-49A6-3D66AE41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9AFCA-FCC6-4429-8175-64330CDA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1078"/>
            <a:ext cx="9603275" cy="405240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 AND MY COMMUNITY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Discuss and explain how communities can work together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I NEED TO LIVE 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 why we have needs to live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 AND OTHER PEOPLE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 and list own role and roles of others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 how to deal with conflict in a positive way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SENSES  </a:t>
            </a: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Z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Explain and discuss how to care for eyes/ears/nose/mouth/skin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ZA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5024851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12255C9-CA8A-4188-989D-3B7E572B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Theme: </a:t>
            </a:r>
            <a:br>
              <a:rPr lang="en-ZA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 and my</a:t>
            </a:r>
            <a:r>
              <a:rPr lang="en-ZA" sz="4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community</a:t>
            </a:r>
            <a:br>
              <a:rPr lang="en-ZA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11" name="Content Placeholder 10" descr="me and my community 2.pdf | Kindergarten social studies, Social studies  communities, Primary social studies">
            <a:extLst>
              <a:ext uri="{FF2B5EF4-FFF2-40B4-BE49-F238E27FC236}">
                <a16:creationId xmlns:a16="http://schemas.microsoft.com/office/drawing/2014/main" id="{DD68D08E-0522-4E88-836E-06275EC2EA0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4" t="793" r="16609" b="-793"/>
          <a:stretch/>
        </p:blipFill>
        <p:spPr bwMode="auto">
          <a:xfrm>
            <a:off x="3312926" y="1825625"/>
            <a:ext cx="5566148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298945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2BA29-6C42-E78F-B22D-895707F4578D}"/>
              </a:ext>
            </a:extLst>
          </p:cNvPr>
          <p:cNvSpPr txBox="1"/>
          <p:nvPr/>
        </p:nvSpPr>
        <p:spPr>
          <a:xfrm>
            <a:off x="2259806" y="1086312"/>
            <a:ext cx="7672388" cy="342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6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F9C488C-281F-4F34-8A44-E93B5C7E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 and my community places and people</a:t>
            </a:r>
            <a:endParaRPr lang="en-ZA" dirty="0"/>
          </a:p>
        </p:txBody>
      </p:sp>
      <p:pic>
        <p:nvPicPr>
          <p:cNvPr id="16" name="Online Media 15" title="What is a Community? - Community for Kindergarten | Social Studies for Kindergarten | Virtual Lesson">
            <a:hlinkClick r:id="" action="ppaction://media"/>
            <a:extLst>
              <a:ext uri="{FF2B5EF4-FFF2-40B4-BE49-F238E27FC236}">
                <a16:creationId xmlns:a16="http://schemas.microsoft.com/office/drawing/2014/main" id="{7053D00C-3FDF-44E3-AD8C-909DABF98BF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00400" y="2016125"/>
            <a:ext cx="610552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806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BA0E6-977E-4A9E-89E8-07E5B352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1</a:t>
            </a:r>
          </a:p>
        </p:txBody>
      </p:sp>
      <p:pic>
        <p:nvPicPr>
          <p:cNvPr id="4" name="Content Placeholder 3" descr="English teacher clipart free images - Clipartix">
            <a:extLst>
              <a:ext uri="{FF2B5EF4-FFF2-40B4-BE49-F238E27FC236}">
                <a16:creationId xmlns:a16="http://schemas.microsoft.com/office/drawing/2014/main" id="{C10204C2-2C58-4000-8342-B21D56BC87B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63652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FEBE50-58C0-4D46-A51B-1212B495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31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My community</a:t>
            </a:r>
            <a:br>
              <a:rPr lang="en-ZA" sz="3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31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Look and match, where should they go?</a:t>
            </a:r>
            <a:br>
              <a:rPr lang="en-ZA" sz="3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8" name="Content Placeholder 7" descr="My community online worksheet">
            <a:extLst>
              <a:ext uri="{FF2B5EF4-FFF2-40B4-BE49-F238E27FC236}">
                <a16:creationId xmlns:a16="http://schemas.microsoft.com/office/drawing/2014/main" id="{E18E90DD-82D0-48EC-AAED-6608669941C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410741" y="1825625"/>
            <a:ext cx="3370517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564476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3EE1-5D1F-4DB3-ACC1-C8D837A7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40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Where do they work?</a:t>
            </a:r>
            <a:br>
              <a:rPr lang="en-ZA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40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community and match</a:t>
            </a:r>
            <a:b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4" name="Content Placeholder 3" descr="Community helpers exercise for K">
            <a:extLst>
              <a:ext uri="{FF2B5EF4-FFF2-40B4-BE49-F238E27FC236}">
                <a16:creationId xmlns:a16="http://schemas.microsoft.com/office/drawing/2014/main" id="{9876345E-6619-4FE9-A43E-5AB697027CD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734505" y="1825625"/>
            <a:ext cx="2722989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079376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39C4-BED1-4677-88A8-F231C0F6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ZA" sz="32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Draw a line matching the community helper with the building were he or she works.</a:t>
            </a:r>
            <a:br>
              <a:rPr lang="en-ZA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200" dirty="0"/>
          </a:p>
        </p:txBody>
      </p:sp>
      <p:pic>
        <p:nvPicPr>
          <p:cNvPr id="4" name="Content Placeholder 3" descr="Community Helpers interactive worksheet for Kindergarten">
            <a:extLst>
              <a:ext uri="{FF2B5EF4-FFF2-40B4-BE49-F238E27FC236}">
                <a16:creationId xmlns:a16="http://schemas.microsoft.com/office/drawing/2014/main" id="{4B0EA358-CA0F-418F-834E-A4661BCDCFC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1" b="3292"/>
          <a:stretch/>
        </p:blipFill>
        <p:spPr bwMode="auto">
          <a:xfrm>
            <a:off x="4450080" y="1787525"/>
            <a:ext cx="3291840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199099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9282-E658-4A9C-B2F5-C1D4BE34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2</a:t>
            </a:r>
            <a:endParaRPr lang="en-ZA" sz="5400" dirty="0"/>
          </a:p>
        </p:txBody>
      </p:sp>
      <p:pic>
        <p:nvPicPr>
          <p:cNvPr id="5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4FF88022-143D-4955-B989-C57346C73EA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498999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7A9AF3-FC5F-4851-8CCE-E31C9B8D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My community</a:t>
            </a:r>
            <a:b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Where do they work?</a:t>
            </a:r>
            <a:b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2800" dirty="0"/>
          </a:p>
        </p:txBody>
      </p:sp>
      <p:pic>
        <p:nvPicPr>
          <p:cNvPr id="7" name="Content Placeholder 6" descr="Community Helpers online activity for kindergarten">
            <a:extLst>
              <a:ext uri="{FF2B5EF4-FFF2-40B4-BE49-F238E27FC236}">
                <a16:creationId xmlns:a16="http://schemas.microsoft.com/office/drawing/2014/main" id="{FF3CA4D0-CD9F-4663-92F9-A16ACDC0491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4" b="4986"/>
          <a:stretch/>
        </p:blipFill>
        <p:spPr bwMode="auto">
          <a:xfrm>
            <a:off x="4115673" y="1825625"/>
            <a:ext cx="3960654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756330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E475F6-302D-4DFF-9F1F-12D43AB6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 each row, circle the thing that goes with the first picture.</a:t>
            </a:r>
            <a: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ZA" sz="2800" dirty="0"/>
          </a:p>
        </p:txBody>
      </p:sp>
      <p:pic>
        <p:nvPicPr>
          <p:cNvPr id="7" name="Content Placeholder 6" descr="Learn about Community Helpers Printable, Downloadable PDF for Kids">
            <a:extLst>
              <a:ext uri="{FF2B5EF4-FFF2-40B4-BE49-F238E27FC236}">
                <a16:creationId xmlns:a16="http://schemas.microsoft.com/office/drawing/2014/main" id="{AEFB9B63-3162-44D2-A5B6-6F759086ED8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6" b="9902"/>
          <a:stretch/>
        </p:blipFill>
        <p:spPr bwMode="auto">
          <a:xfrm>
            <a:off x="4005737" y="1825625"/>
            <a:ext cx="4180525" cy="46672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6767536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3103-9A4E-4ED5-A0E5-9188A05C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sz="3200" b="1" dirty="0"/>
              <a:t> </a:t>
            </a:r>
            <a:r>
              <a:rPr lang="en-ZA" sz="5400" b="1" dirty="0"/>
              <a:t>GROUP 3</a:t>
            </a:r>
            <a:endParaRPr lang="en-ZA" sz="5400" dirty="0"/>
          </a:p>
        </p:txBody>
      </p:sp>
      <p:pic>
        <p:nvPicPr>
          <p:cNvPr id="5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4E283465-9133-4A50-BF7D-BC866D51C37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679868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CC5F94-07C8-4C27-B191-1064ACEA5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36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Draw your favourite place in your community and state why it is your favourite</a:t>
            </a:r>
            <a:endParaRPr lang="en-ZA" sz="3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DA3A650-9A3F-4A0E-A08C-A5DC9A6DD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077869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E3530B-8DC2-4899-B9F6-F531B4C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4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Draw your favourite place that is around your community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7" name="Content Placeholder 6" descr="My Favourite Place - Top Teacher">
            <a:extLst>
              <a:ext uri="{FF2B5EF4-FFF2-40B4-BE49-F238E27FC236}">
                <a16:creationId xmlns:a16="http://schemas.microsoft.com/office/drawing/2014/main" id="{C2C4C321-4566-470A-A706-5F88813CD6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164052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3786B-952B-4EF6-AB42-BD49D65E6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28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pictures. Draw a line to match the community helper with their tools.</a:t>
            </a:r>
            <a:br>
              <a:rPr lang="en-ZA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2800" dirty="0"/>
          </a:p>
        </p:txBody>
      </p:sp>
      <p:pic>
        <p:nvPicPr>
          <p:cNvPr id="5" name="Content Placeholder 4" descr="Community Helpers interactive activity">
            <a:extLst>
              <a:ext uri="{FF2B5EF4-FFF2-40B4-BE49-F238E27FC236}">
                <a16:creationId xmlns:a16="http://schemas.microsoft.com/office/drawing/2014/main" id="{D3E07DDE-129F-4319-B2E4-7F219CEE1D7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8" t="13370" r="9803" b="7467"/>
          <a:stretch/>
        </p:blipFill>
        <p:spPr bwMode="auto">
          <a:xfrm>
            <a:off x="4302894" y="1825625"/>
            <a:ext cx="3586212" cy="43513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0434301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06A3-442A-4012-BBC8-2C26D192D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76251"/>
            <a:ext cx="9603275" cy="1238250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Theme</a:t>
            </a:r>
            <a:br>
              <a:rPr lang="en-Z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What do I need to live?</a:t>
            </a:r>
            <a:br>
              <a:rPr lang="en-Z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400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lang="en-ZA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2400" dirty="0"/>
          </a:p>
        </p:txBody>
      </p:sp>
      <p:pic>
        <p:nvPicPr>
          <p:cNvPr id="5" name="Content Placeholder 4" descr="Needs and Wants Posters: Social Studies (Kindergarten &amp; First Grade) |  Kindergarten social studies, Social studies elementary, Social studies  lesson">
            <a:extLst>
              <a:ext uri="{FF2B5EF4-FFF2-40B4-BE49-F238E27FC236}">
                <a16:creationId xmlns:a16="http://schemas.microsoft.com/office/drawing/2014/main" id="{E95EB528-FBE2-4BA7-AE89-558623A8003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1" t="4483" r="5612" b="4933"/>
          <a:stretch/>
        </p:blipFill>
        <p:spPr bwMode="auto">
          <a:xfrm>
            <a:off x="4955006" y="2016125"/>
            <a:ext cx="2596312" cy="34496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62294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175C-C682-4C09-B7B3-FDEF99FB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Group 1</a:t>
            </a:r>
          </a:p>
        </p:txBody>
      </p:sp>
      <p:pic>
        <p:nvPicPr>
          <p:cNvPr id="4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C042F784-7B4C-4EB2-ADD7-D71CB9B6A2B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243" y="2016125"/>
            <a:ext cx="2816231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87388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7CD2-F127-47C5-9D95-AC4F58E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Colour in the picture below</a:t>
            </a:r>
          </a:p>
        </p:txBody>
      </p:sp>
      <p:pic>
        <p:nvPicPr>
          <p:cNvPr id="4" name="Content Placeholder 3" descr="1,212 Basic Needs Illustrations &amp; Clip Art - iStock">
            <a:extLst>
              <a:ext uri="{FF2B5EF4-FFF2-40B4-BE49-F238E27FC236}">
                <a16:creationId xmlns:a16="http://schemas.microsoft.com/office/drawing/2014/main" id="{54BDE352-BFB4-4F0B-948B-7507CEA042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644" y="2001078"/>
            <a:ext cx="5049077" cy="3843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053628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9726-35E3-4643-A5E1-54BF0970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Group 2</a:t>
            </a:r>
          </a:p>
        </p:txBody>
      </p:sp>
      <p:pic>
        <p:nvPicPr>
          <p:cNvPr id="4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ADA90657-1EF4-480F-87B3-878A4F49164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3045246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254166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E669-9C13-4776-8271-4F039091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Discuss the picture below</a:t>
            </a:r>
          </a:p>
        </p:txBody>
      </p:sp>
      <p:pic>
        <p:nvPicPr>
          <p:cNvPr id="4" name="Content Placeholder 3" descr="Social studies Cards: needs and wants - The Mailbox | Needs vs wants, Study  cards, Kindergarten worksheets">
            <a:extLst>
              <a:ext uri="{FF2B5EF4-FFF2-40B4-BE49-F238E27FC236}">
                <a16:creationId xmlns:a16="http://schemas.microsoft.com/office/drawing/2014/main" id="{CE1A2A3C-E3B8-4F66-B1B1-56319819AFA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1" t="3016" r="6376" b="4690"/>
          <a:stretch/>
        </p:blipFill>
        <p:spPr bwMode="auto">
          <a:xfrm>
            <a:off x="3432314" y="2029376"/>
            <a:ext cx="5963478" cy="3907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2746326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0B14-0416-404F-B99B-310FB07F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Group 3</a:t>
            </a:r>
          </a:p>
        </p:txBody>
      </p:sp>
      <p:pic>
        <p:nvPicPr>
          <p:cNvPr id="4" name="Content Placeholder 4" descr="English teacher clipart free images - Clipartix">
            <a:extLst>
              <a:ext uri="{FF2B5EF4-FFF2-40B4-BE49-F238E27FC236}">
                <a16:creationId xmlns:a16="http://schemas.microsoft.com/office/drawing/2014/main" id="{7606274A-B552-476C-877A-F0F81B59701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269" y="2042629"/>
            <a:ext cx="3432313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610594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BCC6-B3FA-48BF-B5CA-BD1784DC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Circle the items that we need to survive</a:t>
            </a:r>
          </a:p>
        </p:txBody>
      </p:sp>
      <p:pic>
        <p:nvPicPr>
          <p:cNvPr id="4" name="Content Placeholder 3" descr="Pin on Social Studies Worksheets and Activities">
            <a:extLst>
              <a:ext uri="{FF2B5EF4-FFF2-40B4-BE49-F238E27FC236}">
                <a16:creationId xmlns:a16="http://schemas.microsoft.com/office/drawing/2014/main" id="{2714C8CE-560D-41D1-A4DA-AAD30B95D95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5" b="11359"/>
          <a:stretch/>
        </p:blipFill>
        <p:spPr bwMode="auto">
          <a:xfrm>
            <a:off x="4173492" y="2016125"/>
            <a:ext cx="4159340" cy="38545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7200966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833DA-7751-4DDC-B55E-D584CC16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3600" b="1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What do I need to live?</a:t>
            </a:r>
            <a:br>
              <a:rPr lang="en-ZA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sz="3600" dirty="0"/>
          </a:p>
        </p:txBody>
      </p:sp>
      <p:pic>
        <p:nvPicPr>
          <p:cNvPr id="5" name="Online Media 4" title="WANTS &amp; NEEDS SONG By JULES! Songs that Teach Life Skills - Financial Literacy For Kids">
            <a:hlinkClick r:id="" action="ppaction://media"/>
            <a:extLst>
              <a:ext uri="{FF2B5EF4-FFF2-40B4-BE49-F238E27FC236}">
                <a16:creationId xmlns:a16="http://schemas.microsoft.com/office/drawing/2014/main" id="{7133DB08-A783-4885-85A7-1F26CBF2D50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569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0002BD-0A77-44CA-9830-C5A9236F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1</a:t>
            </a:r>
            <a:endParaRPr lang="en-ZA" sz="5400" dirty="0"/>
          </a:p>
        </p:txBody>
      </p:sp>
      <p:pic>
        <p:nvPicPr>
          <p:cNvPr id="7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F2F7CCBD-EE32-4DDE-BAA9-BBB19CBF8BF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174" y="2016125"/>
            <a:ext cx="3511826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721629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EE15-EFAA-4E61-B0E5-08BB6D15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Colour in the picture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746F03-C04A-4DFA-AB7E-7E51C5B8F3A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4"/>
          <a:stretch/>
        </p:blipFill>
        <p:spPr bwMode="auto">
          <a:xfrm>
            <a:off x="3458817" y="2067438"/>
            <a:ext cx="4704522" cy="37767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89042660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15DC-1CA5-48DA-9474-997725B2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ZA" dirty="0">
                <a:effectLst/>
                <a:latin typeface="ABC Junior Plain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Colour in the picture that people need to live</a:t>
            </a:r>
            <a:br>
              <a:rPr lang="en-Z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5" name="Content Placeholder 4" descr="1,212 Basic Needs Illustrations &amp; Clip Art - iStock">
            <a:extLst>
              <a:ext uri="{FF2B5EF4-FFF2-40B4-BE49-F238E27FC236}">
                <a16:creationId xmlns:a16="http://schemas.microsoft.com/office/drawing/2014/main" id="{90F054D1-3B4D-4D97-B195-4BBAA3494BB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9600" y="2209800"/>
            <a:ext cx="4305300" cy="365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316007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1AC4-C231-4717-BA66-1817DCD2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>
                <a:latin typeface="ABC Junior Plain" panose="00000600000000000000" pitchFamily="2" charset="0"/>
              </a:rPr>
              <a:t>Discuss the picture below</a:t>
            </a:r>
          </a:p>
        </p:txBody>
      </p:sp>
      <p:pic>
        <p:nvPicPr>
          <p:cNvPr id="4" name="Content Placeholder 3" descr="Social studies Cards: needs and wants - The Mailbox | Needs vs wants, Study  cards, Kindergarten worksheets">
            <a:extLst>
              <a:ext uri="{FF2B5EF4-FFF2-40B4-BE49-F238E27FC236}">
                <a16:creationId xmlns:a16="http://schemas.microsoft.com/office/drawing/2014/main" id="{A67DCCA9-F77B-4A8D-BAF0-4CA7E0723A5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1" t="3016" r="6376" b="4690"/>
          <a:stretch/>
        </p:blipFill>
        <p:spPr bwMode="auto">
          <a:xfrm>
            <a:off x="3886200" y="2016125"/>
            <a:ext cx="4991100" cy="40373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24259191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1BDA70-07E9-4D75-B196-420EDB73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2</a:t>
            </a:r>
            <a:endParaRPr lang="en-ZA" sz="5400" dirty="0"/>
          </a:p>
        </p:txBody>
      </p:sp>
      <p:pic>
        <p:nvPicPr>
          <p:cNvPr id="7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529ADE9B-3D62-4CB7-BB2C-A283C16CB12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459862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AE30-EB30-4FDD-8FF8-26FA3F15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66" y="804519"/>
            <a:ext cx="9603275" cy="1049235"/>
          </a:xfrm>
        </p:spPr>
        <p:txBody>
          <a:bodyPr/>
          <a:lstStyle/>
          <a:p>
            <a:pPr algn="ctr"/>
            <a:r>
              <a:rPr lang="en-ZA" dirty="0">
                <a:latin typeface="ABC Junior Plain" panose="00000600000000000000" pitchFamily="2" charset="0"/>
              </a:rPr>
              <a:t>DISCUSS THE PICTURE BELOW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57D975-8927-4ED3-90B6-D2ABA59A188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81" b="6744"/>
          <a:stretch/>
        </p:blipFill>
        <p:spPr bwMode="auto">
          <a:xfrm>
            <a:off x="4000500" y="2000250"/>
            <a:ext cx="4705350" cy="3867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9494814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F26F-E075-44C6-BDF0-9B1CDE9E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5400" b="1" dirty="0"/>
              <a:t>GROUP 3</a:t>
            </a:r>
            <a:endParaRPr lang="en-ZA" sz="5400" dirty="0"/>
          </a:p>
        </p:txBody>
      </p:sp>
      <p:pic>
        <p:nvPicPr>
          <p:cNvPr id="5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31CA6DB0-AE84-483D-BB42-A6BC78B659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0" y="2016125"/>
            <a:ext cx="2190624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0000690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E09C67-0EC4-4CE8-86EB-39382022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Circle the items that we need to survive</a:t>
            </a:r>
          </a:p>
        </p:txBody>
      </p:sp>
      <p:pic>
        <p:nvPicPr>
          <p:cNvPr id="7" name="Content Placeholder 6" descr="See related image detail. Needs of Living Things Science Worksheet | worksheets | Momsheets.net">
            <a:extLst>
              <a:ext uri="{FF2B5EF4-FFF2-40B4-BE49-F238E27FC236}">
                <a16:creationId xmlns:a16="http://schemas.microsoft.com/office/drawing/2014/main" id="{6FD34A38-9127-4C6A-98E6-7FEA97C63C1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" t="26879" r="4967" b="4783"/>
          <a:stretch/>
        </p:blipFill>
        <p:spPr bwMode="auto">
          <a:xfrm>
            <a:off x="3788311" y="2040835"/>
            <a:ext cx="4929809" cy="38033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6337134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2D4922-26F8-4B49-8C77-C12DA10A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800" dirty="0">
                <a:latin typeface="ABC Junior Plain" panose="00000600000000000000" pitchFamily="2" charset="0"/>
              </a:rPr>
              <a:t>senses</a:t>
            </a:r>
          </a:p>
        </p:txBody>
      </p:sp>
      <p:pic>
        <p:nvPicPr>
          <p:cNvPr id="7" name="Online Media 6" title="I Have Five Senses  Jack Hartmann Senses Song">
            <a:hlinkClick r:id="" action="ppaction://media"/>
            <a:extLst>
              <a:ext uri="{FF2B5EF4-FFF2-40B4-BE49-F238E27FC236}">
                <a16:creationId xmlns:a16="http://schemas.microsoft.com/office/drawing/2014/main" id="{EE1048E2-342A-4C4A-9F48-76500325D65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00400" y="2016125"/>
            <a:ext cx="610552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18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ED26-6B70-4506-A361-7F1B604E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800" dirty="0"/>
              <a:t>Group 1</a:t>
            </a:r>
          </a:p>
        </p:txBody>
      </p:sp>
      <p:pic>
        <p:nvPicPr>
          <p:cNvPr id="5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13265714-F77F-41E8-BB26-22B47546779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016124"/>
            <a:ext cx="3943350" cy="387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667610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6B66B1-4AD2-4FEC-AE61-B4BF2E74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Match the pictures correctly</a:t>
            </a:r>
          </a:p>
        </p:txBody>
      </p:sp>
      <p:pic>
        <p:nvPicPr>
          <p:cNvPr id="5" name="Content Placeholder 4" descr="Image result for senses lifeskills worksheets kindergarten">
            <a:extLst>
              <a:ext uri="{FF2B5EF4-FFF2-40B4-BE49-F238E27FC236}">
                <a16:creationId xmlns:a16="http://schemas.microsoft.com/office/drawing/2014/main" id="{D409071F-66CF-468D-8EE7-A3A32FC8AFDC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8" t="13924" r="10112" b="12658"/>
          <a:stretch/>
        </p:blipFill>
        <p:spPr bwMode="auto">
          <a:xfrm>
            <a:off x="4867274" y="2286000"/>
            <a:ext cx="3629026" cy="35242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5585284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1EF4-EA16-41BF-AEBB-9F8FF22D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Match the picture to the correct senses</a:t>
            </a:r>
          </a:p>
        </p:txBody>
      </p:sp>
      <p:pic>
        <p:nvPicPr>
          <p:cNvPr id="4" name="Content Placeholder 3" descr="See related image detail. 5 Senses Clipart Preschool and other clipart images on Cliparts pub™">
            <a:extLst>
              <a:ext uri="{FF2B5EF4-FFF2-40B4-BE49-F238E27FC236}">
                <a16:creationId xmlns:a16="http://schemas.microsoft.com/office/drawing/2014/main" id="{251D859D-EAC0-47D8-BFA2-F77FF3E54BF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9" b="7025"/>
          <a:stretch/>
        </p:blipFill>
        <p:spPr bwMode="auto">
          <a:xfrm>
            <a:off x="2769704" y="1948070"/>
            <a:ext cx="5898046" cy="39889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11344276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E37D-AF87-4AB3-91F4-599D52C1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400" dirty="0"/>
              <a:t>Group 2</a:t>
            </a:r>
          </a:p>
        </p:txBody>
      </p:sp>
      <p:pic>
        <p:nvPicPr>
          <p:cNvPr id="4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0771A077-CDE0-4672-8175-9561E671AD5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545" y="2065788"/>
            <a:ext cx="3471800" cy="360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0362778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7418-D781-4B0C-A9A9-D0441B9A7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209811"/>
          </a:xfrm>
        </p:spPr>
        <p:txBody>
          <a:bodyPr/>
          <a:lstStyle/>
          <a:p>
            <a:endParaRPr lang="en-ZA" dirty="0"/>
          </a:p>
        </p:txBody>
      </p:sp>
      <p:pic>
        <p:nvPicPr>
          <p:cNvPr id="4" name="Content Placeholder 3" descr="5 Senses Worksheets Preschool - Printable Worksheet Template">
            <a:extLst>
              <a:ext uri="{FF2B5EF4-FFF2-40B4-BE49-F238E27FC236}">
                <a16:creationId xmlns:a16="http://schemas.microsoft.com/office/drawing/2014/main" id="{F279F0BD-DD20-4377-8351-7F0F73A52A40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1" b="3600"/>
          <a:stretch/>
        </p:blipFill>
        <p:spPr bwMode="auto">
          <a:xfrm>
            <a:off x="3326295" y="1996765"/>
            <a:ext cx="6109252" cy="40567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05422892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ED9A-E802-4201-9BD5-6859EE2B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Match the following</a:t>
            </a:r>
          </a:p>
        </p:txBody>
      </p:sp>
      <p:pic>
        <p:nvPicPr>
          <p:cNvPr id="7" name="Content Placeholder 6" descr="Five senses for kids | Activities &amp; Worksheet | Preschool | Kindergarten">
            <a:extLst>
              <a:ext uri="{FF2B5EF4-FFF2-40B4-BE49-F238E27FC236}">
                <a16:creationId xmlns:a16="http://schemas.microsoft.com/office/drawing/2014/main" id="{57EE3E76-0C5E-4D4F-AC9E-BBDC7D1CBD05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0" t="14852" r="1200" b="6506"/>
          <a:stretch/>
        </p:blipFill>
        <p:spPr bwMode="auto">
          <a:xfrm>
            <a:off x="2902226" y="2001078"/>
            <a:ext cx="5936974" cy="38166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53185414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1054-ECA7-45EF-AACE-82BC87A0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600" dirty="0"/>
              <a:t>                         Group 3</a:t>
            </a:r>
          </a:p>
        </p:txBody>
      </p:sp>
      <p:pic>
        <p:nvPicPr>
          <p:cNvPr id="5" name="Content Placeholder 6" descr="English teacher clipart free images - Clipartix">
            <a:extLst>
              <a:ext uri="{FF2B5EF4-FFF2-40B4-BE49-F238E27FC236}">
                <a16:creationId xmlns:a16="http://schemas.microsoft.com/office/drawing/2014/main" id="{A03D8D1D-880E-4D56-B587-39F5C08BBBA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443" y="2016125"/>
            <a:ext cx="3121031" cy="34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631703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690B06-1086-4FB0-BF98-D49416BD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229" y="595974"/>
            <a:ext cx="9603275" cy="795681"/>
          </a:xfrm>
        </p:spPr>
        <p:txBody>
          <a:bodyPr>
            <a:normAutofit fontScale="90000"/>
          </a:bodyPr>
          <a:lstStyle/>
          <a:p>
            <a:r>
              <a:rPr lang="en-ZA" dirty="0"/>
              <a:t>Look at the picture on the left then draw a circle around the sense that best matches the picture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AE9C3-5911-457D-AA83-FA37F7D74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3275" y="2016125"/>
            <a:ext cx="323977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36523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23CF-7508-4336-97AC-A6849375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Colour the pictures you can touch</a:t>
            </a:r>
          </a:p>
        </p:txBody>
      </p:sp>
      <p:pic>
        <p:nvPicPr>
          <p:cNvPr id="4" name="Content Placeholder 3" descr="5 Senses - Planning Playtime">
            <a:extLst>
              <a:ext uri="{FF2B5EF4-FFF2-40B4-BE49-F238E27FC236}">
                <a16:creationId xmlns:a16="http://schemas.microsoft.com/office/drawing/2014/main" id="{2CC75635-B5FC-4D90-92D5-28ECCCC9584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" t="4667" r="4310" b="3333"/>
          <a:stretch/>
        </p:blipFill>
        <p:spPr bwMode="auto">
          <a:xfrm>
            <a:off x="3631095" y="2027583"/>
            <a:ext cx="4664765" cy="39226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79832362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A405-F030-4CED-B38A-CB5A211F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439" y="194919"/>
            <a:ext cx="9483121" cy="1049235"/>
          </a:xfrm>
        </p:spPr>
        <p:txBody>
          <a:bodyPr/>
          <a:lstStyle/>
          <a:p>
            <a:pPr algn="ctr"/>
            <a:r>
              <a:rPr lang="en-ZA" dirty="0"/>
              <a:t>Reference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5A4E29-A80C-429C-B344-248E71C97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Chaote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J.S. &amp; Rakes, T.A. 2004.Recognizing Words as Tools for Reading </a:t>
            </a: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Comprehension.In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J.S.Chaote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(Ed.).Successful Inclusive Teaching: Proven Ways to Detect and Correct Special Needs. Boston: Pearson.</a:t>
            </a:r>
          </a:p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Cohen, V.L. &amp; Cohen, J.L. 2008. Literacy for Children in an Information Age: Teaching Reading, Writing and Thinking. Canada: Thomson Wadsworth.</a:t>
            </a:r>
          </a:p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Education (DoE). 1997. Curriculum 2005 (C2005). Lifelong Learning for the 21stCentury.Pretoria: Department of Education.</a:t>
            </a:r>
          </a:p>
          <a:p>
            <a:pPr marL="457200">
              <a:lnSpc>
                <a:spcPct val="115000"/>
              </a:lnSpc>
              <a:tabLst>
                <a:tab pos="1024255" algn="l"/>
              </a:tabLst>
            </a:pP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Dole, J.A., Duffy, G.G., </a:t>
            </a:r>
            <a:r>
              <a:rPr lang="en-Z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Roehler</a:t>
            </a:r>
            <a: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L. &amp; Pearson, P.D. 1999.Moving from the Old to the New: Research on Reading Comprehension Instruction, Review of Educational Research, 61:239-264.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None/>
              <a:tabLst>
                <a:tab pos="1024255" algn="l"/>
              </a:tabLst>
            </a:pP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9374673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2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4.xml><?xml version="1.0" encoding="utf-8"?>
<a:theme xmlns:a="http://schemas.openxmlformats.org/drawingml/2006/main" name="3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1439</TotalTime>
  <Words>528</Words>
  <Application>Microsoft Office PowerPoint</Application>
  <PresentationFormat>Widescreen</PresentationFormat>
  <Paragraphs>74</Paragraphs>
  <Slides>45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ABC Junior Plain</vt:lpstr>
      <vt:lpstr>Amiri</vt:lpstr>
      <vt:lpstr>Arial</vt:lpstr>
      <vt:lpstr>Calibri</vt:lpstr>
      <vt:lpstr>Calibri Light</vt:lpstr>
      <vt:lpstr>Gill Sans MT</vt:lpstr>
      <vt:lpstr>Gallery</vt:lpstr>
      <vt:lpstr>1_Gallery</vt:lpstr>
      <vt:lpstr>2_Gallery</vt:lpstr>
      <vt:lpstr>3_Gallery</vt:lpstr>
      <vt:lpstr>Office Theme</vt:lpstr>
      <vt:lpstr>PowerPoint Presentation</vt:lpstr>
      <vt:lpstr>TABLE OF CONTENT</vt:lpstr>
      <vt:lpstr>PowerPoint Presentation</vt:lpstr>
      <vt:lpstr>LESSON OBJECTIVES</vt:lpstr>
      <vt:lpstr>ASSESSMENT GOALS</vt:lpstr>
      <vt:lpstr>Theme:  Me and my community </vt:lpstr>
      <vt:lpstr>Me and my community places and people</vt:lpstr>
      <vt:lpstr>GROUP 1</vt:lpstr>
      <vt:lpstr>My community Look and match, where should they go?   </vt:lpstr>
      <vt:lpstr>Where do they work? Look at the community and match </vt:lpstr>
      <vt:lpstr>Draw a line matching the community helper with the building were he or she works. </vt:lpstr>
      <vt:lpstr>GROUP 2</vt:lpstr>
      <vt:lpstr>My community Where do they work? </vt:lpstr>
      <vt:lpstr>In each row, circle the thing that goes with the first picture. </vt:lpstr>
      <vt:lpstr> GROUP 3</vt:lpstr>
      <vt:lpstr>Draw your favourite place in your community and state why it is your favourite</vt:lpstr>
      <vt:lpstr>Draw your favourite place that is around your community </vt:lpstr>
      <vt:lpstr>Look at the pictures. Draw a line to match the community helper with their tools. </vt:lpstr>
      <vt:lpstr>Theme What do I need to live?     </vt:lpstr>
      <vt:lpstr>Group 1</vt:lpstr>
      <vt:lpstr>Colour in the picture below</vt:lpstr>
      <vt:lpstr>Group 2</vt:lpstr>
      <vt:lpstr>Discuss the picture below</vt:lpstr>
      <vt:lpstr>Group 3</vt:lpstr>
      <vt:lpstr>Circle the items that we need to survive</vt:lpstr>
      <vt:lpstr>What do I need to live? </vt:lpstr>
      <vt:lpstr>GROUP 1</vt:lpstr>
      <vt:lpstr>Colour in the picture</vt:lpstr>
      <vt:lpstr>Colour in the picture that people need to live </vt:lpstr>
      <vt:lpstr>Discuss the picture below</vt:lpstr>
      <vt:lpstr>GROUP 2</vt:lpstr>
      <vt:lpstr>DISCUSS THE PICTURE BELOW</vt:lpstr>
      <vt:lpstr>GROUP 3</vt:lpstr>
      <vt:lpstr>Circle the items that we need to survive</vt:lpstr>
      <vt:lpstr>senses</vt:lpstr>
      <vt:lpstr>Group 1</vt:lpstr>
      <vt:lpstr>Match the pictures correctly</vt:lpstr>
      <vt:lpstr>Match the picture to the correct senses</vt:lpstr>
      <vt:lpstr>Group 2</vt:lpstr>
      <vt:lpstr>PowerPoint Presentation</vt:lpstr>
      <vt:lpstr>Match the following</vt:lpstr>
      <vt:lpstr>                         Group 3</vt:lpstr>
      <vt:lpstr>Look at the picture on the left then draw a circle around the sense that best matches the picture</vt:lpstr>
      <vt:lpstr>Colour the pictures you can touch</vt:lpstr>
      <vt:lpstr>Reference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Mkhonta</dc:creator>
  <cp:lastModifiedBy>nokuthula</cp:lastModifiedBy>
  <cp:revision>48</cp:revision>
  <dcterms:created xsi:type="dcterms:W3CDTF">2024-06-04T14:41:11Z</dcterms:created>
  <dcterms:modified xsi:type="dcterms:W3CDTF">2024-06-14T09:06:51Z</dcterms:modified>
</cp:coreProperties>
</file>