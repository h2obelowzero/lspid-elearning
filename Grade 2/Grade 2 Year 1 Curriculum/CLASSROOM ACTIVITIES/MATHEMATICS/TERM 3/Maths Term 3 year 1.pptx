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303" r:id="rId6"/>
    <p:sldId id="262" r:id="rId7"/>
    <p:sldId id="263" r:id="rId8"/>
    <p:sldId id="264" r:id="rId9"/>
    <p:sldId id="265" r:id="rId10"/>
    <p:sldId id="266" r:id="rId11"/>
    <p:sldId id="268" r:id="rId12"/>
    <p:sldId id="304" r:id="rId13"/>
    <p:sldId id="302" r:id="rId14"/>
    <p:sldId id="267" r:id="rId15"/>
    <p:sldId id="269" r:id="rId16"/>
    <p:sldId id="270" r:id="rId17"/>
    <p:sldId id="271" r:id="rId18"/>
    <p:sldId id="272" r:id="rId19"/>
    <p:sldId id="305" r:id="rId20"/>
    <p:sldId id="301" r:id="rId21"/>
    <p:sldId id="273" r:id="rId22"/>
    <p:sldId id="274" r:id="rId23"/>
    <p:sldId id="275" r:id="rId24"/>
    <p:sldId id="276" r:id="rId25"/>
    <p:sldId id="300" r:id="rId26"/>
    <p:sldId id="277" r:id="rId27"/>
    <p:sldId id="278" r:id="rId28"/>
    <p:sldId id="279" r:id="rId29"/>
    <p:sldId id="281" r:id="rId30"/>
    <p:sldId id="306" r:id="rId31"/>
    <p:sldId id="299" r:id="rId32"/>
    <p:sldId id="280" r:id="rId33"/>
    <p:sldId id="282" r:id="rId34"/>
    <p:sldId id="283" r:id="rId35"/>
    <p:sldId id="285" r:id="rId36"/>
    <p:sldId id="298" r:id="rId37"/>
    <p:sldId id="284" r:id="rId38"/>
    <p:sldId id="286" r:id="rId39"/>
    <p:sldId id="287" r:id="rId40"/>
    <p:sldId id="288" r:id="rId41"/>
    <p:sldId id="307" r:id="rId42"/>
    <p:sldId id="297" r:id="rId43"/>
    <p:sldId id="289" r:id="rId44"/>
    <p:sldId id="290" r:id="rId45"/>
    <p:sldId id="291" r:id="rId46"/>
    <p:sldId id="292" r:id="rId47"/>
    <p:sldId id="308" r:id="rId48"/>
    <p:sldId id="296" r:id="rId49"/>
    <p:sldId id="293" r:id="rId50"/>
    <p:sldId id="294" r:id="rId51"/>
    <p:sldId id="295" r:id="rId52"/>
    <p:sldId id="309" r:id="rId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61BF-1CA4-4358-8B89-A4A6796F4CFC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ECDF-C86A-4BE4-AE0C-3574EB82D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088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61BF-1CA4-4358-8B89-A4A6796F4CFC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ECDF-C86A-4BE4-AE0C-3574EB82D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769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61BF-1CA4-4358-8B89-A4A6796F4CFC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ECDF-C86A-4BE4-AE0C-3574EB82D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600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61BF-1CA4-4358-8B89-A4A6796F4CFC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ECDF-C86A-4BE4-AE0C-3574EB82D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932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61BF-1CA4-4358-8B89-A4A6796F4CFC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ECDF-C86A-4BE4-AE0C-3574EB82D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149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61BF-1CA4-4358-8B89-A4A6796F4CFC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ECDF-C86A-4BE4-AE0C-3574EB82D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294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61BF-1CA4-4358-8B89-A4A6796F4CFC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ECDF-C86A-4BE4-AE0C-3574EB82D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412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61BF-1CA4-4358-8B89-A4A6796F4CFC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ECDF-C86A-4BE4-AE0C-3574EB82D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25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61BF-1CA4-4358-8B89-A4A6796F4CFC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ECDF-C86A-4BE4-AE0C-3574EB82D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316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61BF-1CA4-4358-8B89-A4A6796F4CFC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ECDF-C86A-4BE4-AE0C-3574EB82D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669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61BF-1CA4-4358-8B89-A4A6796F4CFC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ECDF-C86A-4BE4-AE0C-3574EB82D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281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E61BF-1CA4-4358-8B89-A4A6796F4CFC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AECDF-C86A-4BE4-AE0C-3574EB82D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460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8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TERM 3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MATHEMATICS </a:t>
            </a:r>
          </a:p>
          <a:p>
            <a:r>
              <a:rPr lang="en-US" dirty="0" smtClean="0"/>
              <a:t>GRADE 2 YEAR </a:t>
            </a:r>
            <a:r>
              <a:rPr lang="en-US" dirty="0" smtClean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028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LESSON PLAN CONTENT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6615111"/>
              </p:ext>
            </p:extLst>
          </p:nvPr>
        </p:nvGraphicFramePr>
        <p:xfrm>
          <a:off x="457200" y="1600200"/>
          <a:ext cx="8229600" cy="438912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 smtClean="0"/>
                        <a:t>WEEK 1-2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Numbers, Operations and relationships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b="0" dirty="0" smtClean="0"/>
                        <a:t>Identify</a:t>
                      </a:r>
                      <a:r>
                        <a:rPr lang="en-US" b="0" baseline="0" dirty="0" smtClean="0"/>
                        <a:t> and read numbers 1-40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ZA" sz="1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Counting with whole numbers</a:t>
                      </a:r>
                      <a:endParaRPr lang="en-US" b="0" baseline="0" dirty="0" smtClean="0"/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b="0" baseline="0" dirty="0" smtClean="0"/>
                        <a:t>Identify, recognize and read numbers 0-18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b="0" baseline="0" dirty="0" smtClean="0"/>
                        <a:t>Count backwards and forward </a:t>
                      </a:r>
                      <a:endParaRPr lang="en-US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WEEK</a:t>
                      </a:r>
                      <a:r>
                        <a:rPr lang="en-US" baseline="0" dirty="0" smtClean="0"/>
                        <a:t> 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Numbers,</a:t>
                      </a:r>
                      <a:r>
                        <a:rPr lang="en-US" baseline="0" dirty="0" smtClean="0"/>
                        <a:t> Operations and relationships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baseline="0" dirty="0" smtClean="0"/>
                        <a:t>Order numbers from biggest to smallest, and from smallest to biggest. Smaller than, greater than, more than, less than, and equal to.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baseline="0" dirty="0" smtClean="0"/>
                        <a:t>Position objects in line from first to tenth.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WEEK</a:t>
                      </a:r>
                      <a:r>
                        <a:rPr lang="en-US" baseline="0" dirty="0" smtClean="0"/>
                        <a:t> 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Patterns,</a:t>
                      </a:r>
                      <a:r>
                        <a:rPr lang="en-US" baseline="0" dirty="0" smtClean="0"/>
                        <a:t> functions, and algebra</a:t>
                      </a:r>
                      <a:endParaRPr lang="en-US" dirty="0" smtClean="0"/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dirty="0" smtClean="0"/>
                        <a:t>Sequences 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1533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LESSON PLAN CONTENT CONT…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2839175"/>
              </p:ext>
            </p:extLst>
          </p:nvPr>
        </p:nvGraphicFramePr>
        <p:xfrm>
          <a:off x="457200" y="1600200"/>
          <a:ext cx="8229600" cy="347472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 smtClean="0"/>
                        <a:t>WEEK 5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Measurement</a:t>
                      </a:r>
                      <a:r>
                        <a:rPr lang="en-US" b="0" baseline="0" dirty="0" smtClean="0"/>
                        <a:t> 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ZA" sz="1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Days of the week, concept of today and tomorrow and birthday charts.</a:t>
                      </a:r>
                      <a:endParaRPr lang="en-US" b="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WEEK</a:t>
                      </a:r>
                      <a:r>
                        <a:rPr lang="en-US" baseline="0" dirty="0" smtClean="0"/>
                        <a:t> 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Space and shape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3D shapes</a:t>
                      </a:r>
                      <a:endParaRPr lang="en-US" baseline="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WEEK</a:t>
                      </a:r>
                      <a:r>
                        <a:rPr lang="en-US" baseline="0" dirty="0" smtClean="0"/>
                        <a:t> 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Space and Shape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ZA" sz="1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Features of shapes</a:t>
                      </a:r>
                      <a:endParaRPr lang="en-US" b="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WEEK</a:t>
                      </a:r>
                      <a:r>
                        <a:rPr lang="en-US" baseline="0" dirty="0" smtClean="0"/>
                        <a:t> 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Numbers, Operations and Relationships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Addition and Subtraction</a:t>
                      </a:r>
                      <a:endParaRPr lang="en-US" b="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WEEK 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Numbers, Operations and Relationships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South African coins and bank notes</a:t>
                      </a:r>
                      <a:endParaRPr lang="en-US" b="0" dirty="0" smtClean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7613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Week 1-2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524000"/>
            <a:ext cx="44958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60883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Lesson objectives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Identify and recognize numbers from 1-40. </a:t>
            </a:r>
          </a:p>
          <a:p>
            <a:pPr lvl="0"/>
            <a:r>
              <a:rPr lang="en-US" dirty="0"/>
              <a:t>Count everyday objects reliable.</a:t>
            </a:r>
          </a:p>
          <a:p>
            <a:pPr lvl="0"/>
            <a:r>
              <a:rPr lang="en-US" dirty="0"/>
              <a:t>Identify numbers on the number chart or on the chalkboard.</a:t>
            </a:r>
          </a:p>
          <a:p>
            <a:pPr lvl="0"/>
            <a:r>
              <a:rPr lang="en-US" dirty="0"/>
              <a:t>Read number symbols from 0-18.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069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 1-40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362200"/>
            <a:ext cx="4969625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1695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Counting backwards and forward</a:t>
            </a:r>
            <a:endParaRPr lang="en-US" dirty="0"/>
          </a:p>
        </p:txBody>
      </p:sp>
      <p:pic>
        <p:nvPicPr>
          <p:cNvPr id="307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7543" y="1600200"/>
            <a:ext cx="3028913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5384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Group 1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6026" y="1600200"/>
            <a:ext cx="3091947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8674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2</a:t>
            </a:r>
            <a:endParaRPr lang="en-US" dirty="0"/>
          </a:p>
        </p:txBody>
      </p:sp>
      <p:pic>
        <p:nvPicPr>
          <p:cNvPr id="2052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3199" y="1600200"/>
            <a:ext cx="3497602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6666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3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346" y="1600200"/>
            <a:ext cx="3017308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72736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33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Week 3</a:t>
            </a:r>
            <a:br>
              <a:rPr lang="en-US" dirty="0" smtClean="0"/>
            </a:br>
            <a:r>
              <a:rPr lang="en-ZA" sz="3600" dirty="0"/>
              <a:t>Describe, compare and order numbers.</a:t>
            </a:r>
            <a:r>
              <a:rPr lang="en-US" sz="3600" dirty="0" smtClean="0"/>
              <a:t/>
            </a:r>
            <a:br>
              <a:rPr lang="en-US" sz="3600" dirty="0" smtClean="0"/>
            </a:br>
            <a:endParaRPr lang="en-US" sz="36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981200"/>
            <a:ext cx="44958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6154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4764" y="1600200"/>
            <a:ext cx="3394472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9490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Lesson objectives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Order numbers from the smallest to the biggest and also from the smallest to the biggest.</a:t>
            </a:r>
          </a:p>
          <a:p>
            <a:pPr lvl="0"/>
            <a:r>
              <a:rPr lang="en-US" dirty="0"/>
              <a:t>Write numbers from 1 up to 40. </a:t>
            </a:r>
          </a:p>
          <a:p>
            <a:pPr lvl="0"/>
            <a:r>
              <a:rPr lang="en-US" dirty="0"/>
              <a:t>Compare numbers from 1 up to 40 using big, small, more, less and equal to.</a:t>
            </a:r>
          </a:p>
          <a:p>
            <a:pPr lvl="0"/>
            <a:r>
              <a:rPr lang="en-US" dirty="0"/>
              <a:t>Position different objects in a line from first to tenth.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901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Ordering numbers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7826255"/>
              </p:ext>
            </p:extLst>
          </p:nvPr>
        </p:nvGraphicFramePr>
        <p:xfrm>
          <a:off x="3124200" y="3429000"/>
          <a:ext cx="2715144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6" name="Packager Shell Object" showAsIcon="1" r:id="rId3" imgW="1045080" imgH="439560" progId="Package">
                  <p:embed/>
                </p:oleObj>
              </mc:Choice>
              <mc:Fallback>
                <p:oleObj name="Packager Shell Object" showAsIcon="1" r:id="rId3" imgW="1045080" imgH="43956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24200" y="3429000"/>
                        <a:ext cx="2715144" cy="1143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6564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1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752600"/>
            <a:ext cx="2895600" cy="374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477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2</a:t>
            </a:r>
            <a:endParaRPr lang="en-US" dirty="0"/>
          </a:p>
        </p:txBody>
      </p:sp>
      <p:pic>
        <p:nvPicPr>
          <p:cNvPr id="512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793589"/>
            <a:ext cx="2743200" cy="3547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98515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3</a:t>
            </a:r>
            <a:endParaRPr lang="en-US" dirty="0"/>
          </a:p>
        </p:txBody>
      </p:sp>
      <p:pic>
        <p:nvPicPr>
          <p:cNvPr id="409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4681" y="1600200"/>
            <a:ext cx="3334637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1368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Week 4</a:t>
            </a:r>
            <a:br>
              <a:rPr lang="en-US" dirty="0" smtClean="0"/>
            </a:br>
            <a:r>
              <a:rPr lang="en-ZA" sz="3600" dirty="0"/>
              <a:t>Sequences</a:t>
            </a:r>
            <a:endParaRPr lang="en-US" sz="3600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381" y="1613562"/>
            <a:ext cx="4499238" cy="449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83063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Lets complete the sequence!</a:t>
            </a:r>
            <a:endParaRPr lang="en-US" dirty="0"/>
          </a:p>
        </p:txBody>
      </p:sp>
      <p:pic>
        <p:nvPicPr>
          <p:cNvPr id="307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8635" y="1600200"/>
            <a:ext cx="332673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74282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Lesson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Count forward in 1’s.</a:t>
            </a:r>
          </a:p>
          <a:p>
            <a:pPr lvl="0"/>
            <a:r>
              <a:rPr lang="en-US" dirty="0"/>
              <a:t>Count forward in 5’s.</a:t>
            </a:r>
          </a:p>
          <a:p>
            <a:pPr lvl="0"/>
            <a:r>
              <a:rPr lang="en-US" dirty="0"/>
              <a:t>Count forward in 10’s.</a:t>
            </a:r>
          </a:p>
          <a:p>
            <a:pPr lvl="0"/>
            <a:r>
              <a:rPr lang="en-US" dirty="0"/>
              <a:t>Arrange the sequence.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9912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1</a:t>
            </a:r>
            <a:endParaRPr lang="en-US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160" y="1718151"/>
            <a:ext cx="4297680" cy="4290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54426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2</a:t>
            </a:r>
            <a:endParaRPr lang="en-US" dirty="0"/>
          </a:p>
        </p:txBody>
      </p:sp>
      <p:pic>
        <p:nvPicPr>
          <p:cNvPr id="717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6146" y="1600200"/>
            <a:ext cx="3131708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81404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3</a:t>
            </a:r>
            <a:endParaRPr lang="en-US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6146" y="1600200"/>
            <a:ext cx="3131708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46922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Week 5</a:t>
            </a:r>
            <a:br>
              <a:rPr lang="en-US" dirty="0" smtClean="0"/>
            </a:br>
            <a:r>
              <a:rPr lang="en-ZA" sz="3600" dirty="0"/>
              <a:t>Days of the week, concept of today and tomorrow and birthday charts.</a:t>
            </a:r>
            <a:r>
              <a:rPr lang="en-US" sz="3600" dirty="0" smtClean="0"/>
              <a:t/>
            </a:r>
            <a:br>
              <a:rPr lang="en-US" sz="3600" dirty="0" smtClean="0"/>
            </a:br>
            <a:endParaRPr lang="en-US" sz="3600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381" y="1613562"/>
            <a:ext cx="4499238" cy="449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64237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Lesson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Identify the days of the week in order.</a:t>
            </a:r>
          </a:p>
          <a:p>
            <a:pPr lvl="0"/>
            <a:r>
              <a:rPr lang="en-US" dirty="0"/>
              <a:t>Understand the concept of today and tomorrow.</a:t>
            </a:r>
          </a:p>
          <a:p>
            <a:pPr lvl="0"/>
            <a:r>
              <a:rPr lang="en-US" dirty="0"/>
              <a:t>State their birthdays.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0007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Group 1</a:t>
            </a:r>
            <a:br>
              <a:rPr lang="en-US" dirty="0" smtClean="0"/>
            </a:br>
            <a:r>
              <a:rPr lang="en-US" dirty="0" smtClean="0"/>
              <a:t>Sing along</a:t>
            </a:r>
            <a:endParaRPr lang="en-US" dirty="0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528" y="1600200"/>
            <a:ext cx="6788944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01558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Group 2</a:t>
            </a:r>
            <a:br>
              <a:rPr lang="en-US" dirty="0" smtClean="0"/>
            </a:br>
            <a:r>
              <a:rPr lang="en-US" dirty="0" smtClean="0"/>
              <a:t>Trace the days of the week</a:t>
            </a:r>
            <a:endParaRPr lang="en-US" dirty="0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3432" y="1600200"/>
            <a:ext cx="319713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20259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Group 3</a:t>
            </a:r>
            <a:br>
              <a:rPr lang="en-US" dirty="0" smtClean="0"/>
            </a:br>
            <a:r>
              <a:rPr lang="en-US" dirty="0" smtClean="0"/>
              <a:t>Arrange the days of the week in order</a:t>
            </a:r>
            <a:endParaRPr lang="en-US" dirty="0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659" y="1600200"/>
            <a:ext cx="3200681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00118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Week 6</a:t>
            </a:r>
            <a:br>
              <a:rPr lang="en-US" dirty="0" smtClean="0"/>
            </a:br>
            <a:r>
              <a:rPr lang="en-ZA" sz="3200" b="1" dirty="0" smtClean="0"/>
              <a:t>3D </a:t>
            </a:r>
            <a:r>
              <a:rPr lang="en-ZA" sz="3200" b="1" dirty="0"/>
              <a:t>Shapes</a:t>
            </a:r>
            <a:r>
              <a:rPr lang="en-US" sz="3600" dirty="0" smtClean="0"/>
              <a:t/>
            </a:r>
            <a:br>
              <a:rPr lang="en-US" sz="3600" dirty="0" smtClean="0"/>
            </a:br>
            <a:endParaRPr lang="en-US" sz="3600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381" y="1613562"/>
            <a:ext cx="4499238" cy="449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29788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Every day 3D objects</a:t>
            </a:r>
            <a:endParaRPr lang="en-US" dirty="0"/>
          </a:p>
        </p:txBody>
      </p:sp>
      <p:pic>
        <p:nvPicPr>
          <p:cNvPr id="317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4028" y="1600200"/>
            <a:ext cx="6435944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790789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Lesson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Recognize </a:t>
            </a:r>
            <a:r>
              <a:rPr lang="en-US" dirty="0" smtClean="0"/>
              <a:t>3D </a:t>
            </a:r>
            <a:r>
              <a:rPr lang="en-US" dirty="0"/>
              <a:t>shapes.</a:t>
            </a:r>
          </a:p>
          <a:p>
            <a:pPr lvl="0"/>
            <a:r>
              <a:rPr lang="en-US" dirty="0"/>
              <a:t>Identify the </a:t>
            </a:r>
            <a:r>
              <a:rPr lang="en-US" dirty="0" smtClean="0"/>
              <a:t>3D </a:t>
            </a:r>
            <a:r>
              <a:rPr lang="en-US" dirty="0"/>
              <a:t>shapes.</a:t>
            </a:r>
          </a:p>
          <a:p>
            <a:r>
              <a:rPr lang="en-ZA" dirty="0"/>
              <a:t>Name the </a:t>
            </a:r>
            <a:r>
              <a:rPr lang="en-ZA" dirty="0" smtClean="0"/>
              <a:t>3D </a:t>
            </a:r>
            <a:r>
              <a:rPr lang="en-ZA" dirty="0"/>
              <a:t>shapes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9701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Group 1</a:t>
            </a:r>
            <a:br>
              <a:rPr lang="en-US" dirty="0" smtClean="0"/>
            </a:br>
            <a:r>
              <a:rPr lang="en-US" dirty="0" smtClean="0"/>
              <a:t>Color the following 3D shapes</a:t>
            </a:r>
            <a:endParaRPr lang="en-US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2468" y="1600200"/>
            <a:ext cx="3499063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13583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2</a:t>
            </a:r>
            <a:endParaRPr lang="en-US" dirty="0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6060" y="1600200"/>
            <a:ext cx="3411879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661887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3</a:t>
            </a:r>
            <a:endParaRPr lang="en-US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2836" y="1600200"/>
            <a:ext cx="3498328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08523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Week 7</a:t>
            </a:r>
            <a:br>
              <a:rPr lang="en-US" dirty="0" smtClean="0"/>
            </a:br>
            <a:r>
              <a:rPr lang="en-ZA" sz="3200" b="1" dirty="0"/>
              <a:t>Features of shapes</a:t>
            </a:r>
            <a:r>
              <a:rPr lang="en-US" sz="3600" dirty="0" smtClean="0"/>
              <a:t/>
            </a:r>
            <a:br>
              <a:rPr lang="en-US" sz="3600" dirty="0" smtClean="0"/>
            </a:br>
            <a:endParaRPr lang="en-US" sz="3600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381" y="1613562"/>
            <a:ext cx="4499238" cy="449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23129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Lesson objectives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Compare the different </a:t>
            </a:r>
            <a:r>
              <a:rPr lang="en-US" dirty="0" smtClean="0"/>
              <a:t>3D </a:t>
            </a:r>
            <a:r>
              <a:rPr lang="en-US" dirty="0"/>
              <a:t>shapes in terms of </a:t>
            </a:r>
            <a:r>
              <a:rPr lang="en-US" dirty="0" err="1"/>
              <a:t>colour</a:t>
            </a:r>
            <a:r>
              <a:rPr lang="en-US" dirty="0"/>
              <a:t> and size.</a:t>
            </a:r>
          </a:p>
          <a:p>
            <a:pPr lvl="0"/>
            <a:r>
              <a:rPr lang="en-US" dirty="0"/>
              <a:t>Draw </a:t>
            </a:r>
            <a:r>
              <a:rPr lang="en-US" dirty="0" smtClean="0"/>
              <a:t>3D </a:t>
            </a:r>
            <a:r>
              <a:rPr lang="en-US" dirty="0"/>
              <a:t>shapes like the square, triangle, rectangle, and circle.</a:t>
            </a:r>
          </a:p>
          <a:p>
            <a:r>
              <a:rPr lang="en-ZA" dirty="0"/>
              <a:t>Sort the shapes in terms of colour and size.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020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Group 1</a:t>
            </a:r>
            <a:br>
              <a:rPr lang="en-US" dirty="0" smtClean="0"/>
            </a:br>
            <a:r>
              <a:rPr lang="en-US" sz="3600" dirty="0" smtClean="0"/>
              <a:t>Color the faces of the following 3D shapes Blue</a:t>
            </a:r>
            <a:endParaRPr lang="en-US" sz="3600" dirty="0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018" y="1600200"/>
            <a:ext cx="4525963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958928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2</a:t>
            </a:r>
            <a:endParaRPr lang="en-US" dirty="0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3332" y="1600200"/>
            <a:ext cx="349733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55959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3</a:t>
            </a:r>
            <a:endParaRPr lang="en-US" dirty="0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690070"/>
            <a:ext cx="2705100" cy="3506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4267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Week 8</a:t>
            </a:r>
            <a:br>
              <a:rPr lang="en-US" dirty="0" smtClean="0"/>
            </a:br>
            <a:r>
              <a:rPr lang="en-ZA" sz="3200" dirty="0"/>
              <a:t>Addition and subtraction</a:t>
            </a:r>
            <a:r>
              <a:rPr lang="en-US" sz="3600" dirty="0" smtClean="0"/>
              <a:t/>
            </a:r>
            <a:br>
              <a:rPr lang="en-US" sz="3600" dirty="0" smtClean="0"/>
            </a:br>
            <a:endParaRPr lang="en-US" sz="3600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381" y="1613562"/>
            <a:ext cx="4499238" cy="449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96089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27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815181"/>
            <a:ext cx="291465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07256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Lesson objectives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Identify the four operation symbols.</a:t>
            </a:r>
          </a:p>
          <a:p>
            <a:pPr lvl="0"/>
            <a:r>
              <a:rPr lang="en-US" dirty="0"/>
              <a:t>Add and subtract using concrete objects.</a:t>
            </a:r>
          </a:p>
          <a:p>
            <a:pPr lvl="0"/>
            <a:r>
              <a:rPr lang="en-US" dirty="0"/>
              <a:t>Add numbers up to 18.</a:t>
            </a:r>
          </a:p>
          <a:p>
            <a:r>
              <a:rPr lang="en-ZA" dirty="0"/>
              <a:t>Subtract numbers from 18.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5036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Group </a:t>
            </a:r>
            <a:r>
              <a:rPr lang="en-US" dirty="0" smtClean="0"/>
              <a:t>1</a:t>
            </a:r>
            <a:br>
              <a:rPr lang="en-US" dirty="0" smtClean="0"/>
            </a:br>
            <a:r>
              <a:rPr lang="en-US" dirty="0" smtClean="0"/>
              <a:t>How many stickers will he have?</a:t>
            </a:r>
            <a:endParaRPr lang="en-US" dirty="0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23"/>
          <a:stretch/>
        </p:blipFill>
        <p:spPr bwMode="auto">
          <a:xfrm>
            <a:off x="2871206" y="2090057"/>
            <a:ext cx="3401588" cy="4036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27529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2</a:t>
            </a:r>
            <a:endParaRPr lang="en-US" dirty="0"/>
          </a:p>
        </p:txBody>
      </p:sp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276044"/>
            <a:ext cx="3390900" cy="2615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244551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3</a:t>
            </a:r>
            <a:endParaRPr lang="en-US" dirty="0"/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3493" y="1600200"/>
            <a:ext cx="3497013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01872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Week 9</a:t>
            </a:r>
            <a:br>
              <a:rPr lang="en-US" dirty="0" smtClean="0"/>
            </a:br>
            <a:r>
              <a:rPr lang="en-ZA" sz="3200" dirty="0"/>
              <a:t>South African coins and bank notes</a:t>
            </a:r>
            <a:r>
              <a:rPr lang="en-US" sz="3600" dirty="0" smtClean="0"/>
              <a:t/>
            </a:r>
            <a:br>
              <a:rPr lang="en-US" sz="3600" dirty="0" smtClean="0"/>
            </a:br>
            <a:endParaRPr lang="en-US" sz="3600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381" y="1613562"/>
            <a:ext cx="4499238" cy="449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87153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is the picture showing? Do you recognize it?</a:t>
            </a:r>
            <a:endParaRPr lang="en-US" dirty="0"/>
          </a:p>
        </p:txBody>
      </p:sp>
      <p:pic>
        <p:nvPicPr>
          <p:cNvPr id="337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160" y="2430621"/>
            <a:ext cx="4297680" cy="2865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67936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Lesson objectives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Identify the South African coins and bank notes.</a:t>
            </a:r>
          </a:p>
          <a:p>
            <a:pPr lvl="0"/>
            <a:r>
              <a:rPr lang="en-US" dirty="0"/>
              <a:t>Recognize the South African coins and bank notes.</a:t>
            </a:r>
          </a:p>
          <a:p>
            <a:pPr lvl="0"/>
            <a:r>
              <a:rPr lang="en-US" dirty="0"/>
              <a:t>Add coins and bank notes.</a:t>
            </a:r>
          </a:p>
          <a:p>
            <a:r>
              <a:rPr lang="en-ZA" dirty="0"/>
              <a:t>Subtract coins and bank notes.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8223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Group 1</a:t>
            </a:r>
            <a:br>
              <a:rPr lang="en-US" dirty="0" smtClean="0"/>
            </a:br>
            <a:r>
              <a:rPr lang="en-US" dirty="0" smtClean="0"/>
              <a:t>Color the following coins</a:t>
            </a:r>
            <a:endParaRPr lang="en-US" dirty="0"/>
          </a:p>
        </p:txBody>
      </p:sp>
      <p:pic>
        <p:nvPicPr>
          <p:cNvPr id="276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018" y="1600200"/>
            <a:ext cx="4525963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476566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2</a:t>
            </a:r>
            <a:endParaRPr lang="en-US" dirty="0"/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268061"/>
            <a:ext cx="5600700" cy="2791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17003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3</a:t>
            </a:r>
            <a:endParaRPr lang="en-US" dirty="0"/>
          </a:p>
        </p:txBody>
      </p:sp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29" t="18967" r="27902" b="11764"/>
          <a:stretch/>
        </p:blipFill>
        <p:spPr bwMode="auto">
          <a:xfrm>
            <a:off x="5638800" y="2590800"/>
            <a:ext cx="709126" cy="3135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04438"/>
            <a:ext cx="3505200" cy="4959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417706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678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488</Words>
  <Application>Microsoft Office PowerPoint</Application>
  <PresentationFormat>On-screen Show (4:3)</PresentationFormat>
  <Paragraphs>109</Paragraphs>
  <Slides>52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4" baseType="lpstr">
      <vt:lpstr>Office Theme</vt:lpstr>
      <vt:lpstr>Package</vt:lpstr>
      <vt:lpstr>TERM 3</vt:lpstr>
      <vt:lpstr>LESSON PLAN CONTENT</vt:lpstr>
      <vt:lpstr>LESSON PLAN CONTENT CONT…</vt:lpstr>
      <vt:lpstr>Week 1-2</vt:lpstr>
      <vt:lpstr>Lesson objectives </vt:lpstr>
      <vt:lpstr>Count 1-40</vt:lpstr>
      <vt:lpstr>Counting backwards and forward</vt:lpstr>
      <vt:lpstr>Group 1 </vt:lpstr>
      <vt:lpstr>Group 2</vt:lpstr>
      <vt:lpstr>Group 3</vt:lpstr>
      <vt:lpstr>Week 3 Describe, compare and order numbers. </vt:lpstr>
      <vt:lpstr>PowerPoint Presentation</vt:lpstr>
      <vt:lpstr>Lesson objectives </vt:lpstr>
      <vt:lpstr>Ordering numbers</vt:lpstr>
      <vt:lpstr>Group 1</vt:lpstr>
      <vt:lpstr>Group 2</vt:lpstr>
      <vt:lpstr>Group 3</vt:lpstr>
      <vt:lpstr>Week 4 Sequences</vt:lpstr>
      <vt:lpstr>Lets complete the sequence!</vt:lpstr>
      <vt:lpstr>Lesson objectives</vt:lpstr>
      <vt:lpstr>Group 1</vt:lpstr>
      <vt:lpstr>Group 2</vt:lpstr>
      <vt:lpstr>Group 3</vt:lpstr>
      <vt:lpstr>Week 5 Days of the week, concept of today and tomorrow and birthday charts. </vt:lpstr>
      <vt:lpstr>Lesson objectives</vt:lpstr>
      <vt:lpstr>Group 1 Sing along</vt:lpstr>
      <vt:lpstr>Group 2 Trace the days of the week</vt:lpstr>
      <vt:lpstr>Group 3 Arrange the days of the week in order</vt:lpstr>
      <vt:lpstr>Week 6 3D Shapes </vt:lpstr>
      <vt:lpstr>Every day 3D objects</vt:lpstr>
      <vt:lpstr>Lesson objectives</vt:lpstr>
      <vt:lpstr>Group 1 Color the following 3D shapes</vt:lpstr>
      <vt:lpstr>Group 2</vt:lpstr>
      <vt:lpstr>Group 3</vt:lpstr>
      <vt:lpstr>Week 7 Features of shapes </vt:lpstr>
      <vt:lpstr>Lesson objectives </vt:lpstr>
      <vt:lpstr>Group 1 Color the faces of the following 3D shapes Blue</vt:lpstr>
      <vt:lpstr>Group 2</vt:lpstr>
      <vt:lpstr>Group 3</vt:lpstr>
      <vt:lpstr>Week 8 Addition and subtraction </vt:lpstr>
      <vt:lpstr>PowerPoint Presentation</vt:lpstr>
      <vt:lpstr>Lesson objectives </vt:lpstr>
      <vt:lpstr>Group 1 How many stickers will he have?</vt:lpstr>
      <vt:lpstr>Group 2</vt:lpstr>
      <vt:lpstr>Group 3</vt:lpstr>
      <vt:lpstr>Week 9 South African coins and bank notes </vt:lpstr>
      <vt:lpstr>What is the picture showing? Do you recognize it?</vt:lpstr>
      <vt:lpstr>Lesson objectives </vt:lpstr>
      <vt:lpstr>Group 1 Color the following coins</vt:lpstr>
      <vt:lpstr>Group 2</vt:lpstr>
      <vt:lpstr>Group 3</vt:lpstr>
      <vt:lpstr>Reference List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TERM 3</dc:title>
  <dc:creator>Jeanette Zimba</dc:creator>
  <cp:lastModifiedBy>Jeanette Zimba</cp:lastModifiedBy>
  <cp:revision>20</cp:revision>
  <dcterms:created xsi:type="dcterms:W3CDTF">2024-07-11T15:58:58Z</dcterms:created>
  <dcterms:modified xsi:type="dcterms:W3CDTF">2024-07-12T06:04:37Z</dcterms:modified>
</cp:coreProperties>
</file>