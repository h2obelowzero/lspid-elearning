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E1318D-0DD5-40E1-844A-C806088C3866}">
  <a:tblStyle styleId="{5FE1318D-0DD5-40E1-844A-C806088C38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C909CF7-1D45-4A91-B778-5BAF300D9DF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39B9FD2-81FC-49F7-9FF6-14617C9480DB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5059562-A989-44EF-AECD-7F455F15715E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Z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ec01b055d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g2ec01b055d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ec054e503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2ec054e503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ec0a2b27e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g2ec0a2b27e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ec01b055d0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g2ec01b055d0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ec01b055d0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g2ec01b055d0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ec01b055d0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g2ec01b055d0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ec01b055d0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2ec01b055d0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ec01b055d0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g2ec01b055d0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c01b055d0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g2ec01b055d0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ec01b055d0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g2ec01b055d0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ec01b055d0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g2ec01b055d0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4" name="Google Shape;61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ec01b055d0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g2ec01b055d0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ec01b055d0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g2ec01b055d0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8" name="Google Shape;65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7" name="Google Shape;66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2" name="Google Shape;69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2" name="Google Shape;70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1.png"/><Relationship Id="rId6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27.png"/><Relationship Id="rId6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5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4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5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4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4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10" Type="http://schemas.openxmlformats.org/officeDocument/2006/relationships/image" Target="../media/image54.png"/><Relationship Id="rId9" Type="http://schemas.openxmlformats.org/officeDocument/2006/relationships/image" Target="../media/image39.png"/><Relationship Id="rId5" Type="http://schemas.openxmlformats.org/officeDocument/2006/relationships/image" Target="../media/image37.png"/><Relationship Id="rId6" Type="http://schemas.openxmlformats.org/officeDocument/2006/relationships/image" Target="../media/image52.png"/><Relationship Id="rId7" Type="http://schemas.openxmlformats.org/officeDocument/2006/relationships/image" Target="../media/image46.png"/><Relationship Id="rId8" Type="http://schemas.openxmlformats.org/officeDocument/2006/relationships/image" Target="../media/image5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5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10" Type="http://schemas.openxmlformats.org/officeDocument/2006/relationships/image" Target="../media/image49.jpg"/><Relationship Id="rId9" Type="http://schemas.openxmlformats.org/officeDocument/2006/relationships/image" Target="../media/image48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43.jpg"/><Relationship Id="rId8" Type="http://schemas.openxmlformats.org/officeDocument/2006/relationships/image" Target="../media/image59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5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6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://www.k5learning.com/" TargetMode="External"/><Relationship Id="rId4" Type="http://schemas.openxmlformats.org/officeDocument/2006/relationships/hyperlink" Target="http://www.twinkl.co.za/" TargetMode="External"/><Relationship Id="rId5" Type="http://schemas.openxmlformats.org/officeDocument/2006/relationships/hyperlink" Target="http://www.pinterest.com/" TargetMode="External"/><Relationship Id="rId6" Type="http://schemas.openxmlformats.org/officeDocument/2006/relationships/image" Target="../media/image2.jpg"/><Relationship Id="rId7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311548"/>
            <a:ext cx="9144000" cy="40329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ZA">
                <a:latin typeface="Arial"/>
                <a:ea typeface="Arial"/>
                <a:cs typeface="Arial"/>
                <a:sym typeface="Arial"/>
              </a:rPr>
              <a:t>MATHEMATICS</a:t>
            </a:r>
            <a:br>
              <a:rPr b="1" lang="en-ZA">
                <a:latin typeface="Arial"/>
                <a:ea typeface="Arial"/>
                <a:cs typeface="Arial"/>
                <a:sym typeface="Arial"/>
              </a:rPr>
            </a:br>
            <a:r>
              <a:rPr b="1" lang="en-ZA">
                <a:latin typeface="Arial"/>
                <a:ea typeface="Arial"/>
                <a:cs typeface="Arial"/>
                <a:sym typeface="Arial"/>
              </a:rPr>
              <a:t>GRADE 2</a:t>
            </a:r>
            <a:br>
              <a:rPr b="1" lang="en-ZA">
                <a:latin typeface="Arial"/>
                <a:ea typeface="Arial"/>
                <a:cs typeface="Arial"/>
                <a:sym typeface="Arial"/>
              </a:rPr>
            </a:br>
            <a:r>
              <a:rPr b="1" lang="en-ZA">
                <a:latin typeface="Arial"/>
                <a:ea typeface="Arial"/>
                <a:cs typeface="Arial"/>
                <a:sym typeface="Arial"/>
              </a:rPr>
              <a:t>YEAR 2</a:t>
            </a:r>
            <a:br>
              <a:rPr b="1" lang="en-ZA">
                <a:latin typeface="Arial"/>
                <a:ea typeface="Arial"/>
                <a:cs typeface="Arial"/>
                <a:sym typeface="Arial"/>
              </a:rPr>
            </a:br>
            <a:r>
              <a:rPr b="1" lang="en-ZA">
                <a:latin typeface="Arial"/>
                <a:ea typeface="Arial"/>
                <a:cs typeface="Arial"/>
                <a:sym typeface="Arial"/>
              </a:rPr>
              <a:t> TERM 1</a:t>
            </a:r>
            <a:endParaRPr/>
          </a:p>
        </p:txBody>
      </p:sp>
      <p:sp>
        <p:nvSpPr>
          <p:cNvPr id="89" name="Google Shape;89;p13"/>
          <p:cNvSpPr txBox="1"/>
          <p:nvPr>
            <p:ph idx="11" type="ftr"/>
          </p:nvPr>
        </p:nvSpPr>
        <p:spPr>
          <a:xfrm>
            <a:off x="584201" y="5807076"/>
            <a:ext cx="11056256" cy="914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0807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906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838200" y="41932"/>
            <a:ext cx="10515600" cy="93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682171" y="5791200"/>
            <a:ext cx="10943771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292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4"/>
          <p:cNvGraphicFramePr/>
          <p:nvPr/>
        </p:nvGraphicFramePr>
        <p:xfrm>
          <a:off x="838199" y="9774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{5FE1318D-0DD5-40E1-844A-C806088C3866}</a:tableStyleId>
              </a:tblPr>
              <a:tblGrid>
                <a:gridCol w="1815825"/>
                <a:gridCol w="2776275"/>
                <a:gridCol w="5923500"/>
              </a:tblGrid>
              <a:tr h="270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Content Area  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7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Week 1 &amp; 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Data handling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Count forwards in 1s from any number up to 20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Sort concrete objects according different attributes e.g. colour, shape, size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7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Week 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Measurement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Recognise, identify and read number symbols up to 1-20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Place birthdays on a chart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8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Week 4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Space and shape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Solve simple word problems in context involving, equal sharing and grouping up to 10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Describe, sort and compare 3D objects in terms of: size, colour and shape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7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Week 5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Measurement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Solve simple word problems in context involving addition and subtraction with answers up to 10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Compare and order the mass of two or more objects using a balancing scale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7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Week 6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Numbers, Operations and Relationships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Data handling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Addition and subtraction up to 10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 pictures to represent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data in pictograph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839800" y="113475"/>
            <a:ext cx="105141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Outline cont…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>
            <p:ph idx="2" type="body"/>
          </p:nvPr>
        </p:nvSpPr>
        <p:spPr>
          <a:xfrm>
            <a:off x="839800" y="1024875"/>
            <a:ext cx="10718400" cy="47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5" y="5735637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780767"/>
            <a:ext cx="1009650" cy="733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15"/>
          <p:cNvGraphicFramePr/>
          <p:nvPr/>
        </p:nvGraphicFramePr>
        <p:xfrm>
          <a:off x="953350" y="114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{3C909CF7-1D45-4A91-B778-5BAF300D9DFA}</a:tableStyleId>
              </a:tblPr>
              <a:tblGrid>
                <a:gridCol w="2172700"/>
                <a:gridCol w="3383700"/>
                <a:gridCol w="5396150"/>
              </a:tblGrid>
              <a:tr h="39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ZA" sz="1400" u="none" cap="none" strike="noStrike"/>
                        <a:t>Duration 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ZA" sz="1400" u="none" cap="none" strike="noStrike"/>
                        <a:t>Content Area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ZA" sz="1400" u="none" cap="none" strike="noStrike"/>
                        <a:t>Topic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133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/>
                        <a:t>Week 7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>
                          <a:solidFill>
                            <a:schemeClr val="dk1"/>
                          </a:solidFill>
                        </a:rPr>
                        <a:t>Numbers, Operations and Relationships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/>
                        <a:t>Recognise, identify and read number names 1-20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/>
                        <a:t>Write number symbols 1-10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ZA" sz="1400" u="none" cap="none" strike="noStrike"/>
                        <a:t>Copy and extend simple number sequence to at least 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2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/>
                        <a:t>Week 8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u="none" cap="none" strike="noStrike">
                          <a:solidFill>
                            <a:schemeClr val="dk1"/>
                          </a:solidFill>
                        </a:rPr>
                        <a:t>Numbers, Operations and Relationships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u="none" cap="none" strike="noStrike"/>
                        <a:t>Describe, compare and order numbers 1-15 and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/>
                        <a:t>recognise: more, less and equal 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28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/>
                        <a:t>Week 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u="none" cap="none" strike="noStrike">
                          <a:solidFill>
                            <a:schemeClr val="dk1"/>
                          </a:solidFill>
                        </a:rPr>
                        <a:t>Numbers, Operations and Relationships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/>
                        <a:t>Add the same number repeatedly up to 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109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ZA" sz="1400" u="none" cap="none" strike="noStrike"/>
                        <a:t>Week 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u="none" cap="none" strike="noStrike">
                          <a:solidFill>
                            <a:schemeClr val="dk1"/>
                          </a:solidFill>
                        </a:rPr>
                        <a:t>Numbers, Operations and Relationships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u="none" cap="none" strike="noStrike"/>
                        <a:t>Recognise and identify the South African coins, R1,R2, R5 and the bank notes R10,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400" u="none" cap="none" strike="noStrike"/>
                        <a:t>R20, R50 and R100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Week 1 &amp; 2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/>
          <p:nvPr>
            <p:ph idx="4294967295" type="body"/>
          </p:nvPr>
        </p:nvSpPr>
        <p:spPr>
          <a:xfrm>
            <a:off x="839800" y="1024875"/>
            <a:ext cx="10718400" cy="47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5" y="5735637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780767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 forwards in 1s from any number up to 20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concrete objects according different attributes e.g. colour, shape, size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838200" y="321583"/>
            <a:ext cx="10515600" cy="1013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Group 1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838200" y="1204325"/>
            <a:ext cx="10787700" cy="4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Colour as you count from 1 all the way to 20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 txBox="1"/>
          <p:nvPr>
            <p:ph idx="11" type="ftr"/>
          </p:nvPr>
        </p:nvSpPr>
        <p:spPr>
          <a:xfrm>
            <a:off x="838200" y="5892800"/>
            <a:ext cx="10947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292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7"/>
          <p:cNvGraphicFramePr/>
          <p:nvPr/>
        </p:nvGraphicFramePr>
        <p:xfrm>
          <a:off x="1144563" y="211568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{439B9FD2-81FC-49F7-9FF6-14617C9480DB}</a:tableStyleId>
              </a:tblPr>
              <a:tblGrid>
                <a:gridCol w="841475"/>
                <a:gridCol w="1030975"/>
                <a:gridCol w="1049175"/>
                <a:gridCol w="1030975"/>
                <a:gridCol w="1040575"/>
                <a:gridCol w="1073050"/>
                <a:gridCol w="1064475"/>
                <a:gridCol w="1034825"/>
                <a:gridCol w="1032900"/>
                <a:gridCol w="1136250"/>
              </a:tblGrid>
              <a:tr h="103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158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838200" y="321583"/>
            <a:ext cx="105156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Group 1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838200" y="1204325"/>
            <a:ext cx="10787700" cy="4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Match the sorted objects with the picture.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 txBox="1"/>
          <p:nvPr>
            <p:ph idx="11" type="ftr"/>
          </p:nvPr>
        </p:nvSpPr>
        <p:spPr>
          <a:xfrm>
            <a:off x="838200" y="5892800"/>
            <a:ext cx="109473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6292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5225" y="1706125"/>
            <a:ext cx="8380150" cy="40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838200" y="365125"/>
            <a:ext cx="10515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838200" y="1188927"/>
            <a:ext cx="10515600" cy="4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</a:t>
            </a:r>
            <a:r>
              <a:rPr lang="en-Z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Trace as you count the numbers from 1 all the way to 20.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 txBox="1"/>
          <p:nvPr>
            <p:ph idx="11" type="ftr"/>
          </p:nvPr>
        </p:nvSpPr>
        <p:spPr>
          <a:xfrm>
            <a:off x="838200" y="5718630"/>
            <a:ext cx="10515600" cy="1002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149" name="Google Shape;1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45187"/>
            <a:ext cx="1009650" cy="733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" name="Google Shape;150;p19"/>
          <p:cNvGraphicFramePr/>
          <p:nvPr/>
        </p:nvGraphicFramePr>
        <p:xfrm>
          <a:off x="388450" y="20540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{439B9FD2-81FC-49F7-9FF6-14617C9480DB}</a:tableStyleId>
              </a:tblPr>
              <a:tblGrid>
                <a:gridCol w="835675"/>
                <a:gridCol w="1088200"/>
                <a:gridCol w="1108000"/>
                <a:gridCol w="1088200"/>
                <a:gridCol w="1097575"/>
                <a:gridCol w="1133000"/>
                <a:gridCol w="1123675"/>
                <a:gridCol w="1092375"/>
                <a:gridCol w="1090275"/>
                <a:gridCol w="1198825"/>
              </a:tblGrid>
              <a:tr h="91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91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ZA" sz="4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4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838200" y="365125"/>
            <a:ext cx="10515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156" name="Google Shape;156;p20"/>
          <p:cNvSpPr txBox="1"/>
          <p:nvPr>
            <p:ph idx="1" type="body"/>
          </p:nvPr>
        </p:nvSpPr>
        <p:spPr>
          <a:xfrm>
            <a:off x="838200" y="1188927"/>
            <a:ext cx="10515600" cy="4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Sort objects by making a drawing of each.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 txBox="1"/>
          <p:nvPr>
            <p:ph idx="11" type="ftr"/>
          </p:nvPr>
        </p:nvSpPr>
        <p:spPr>
          <a:xfrm>
            <a:off x="838200" y="5718630"/>
            <a:ext cx="105156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159" name="Google Shape;1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45187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1950" y="1655950"/>
            <a:ext cx="9132851" cy="40626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838200" y="401450"/>
            <a:ext cx="105156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/>
          </a:p>
        </p:txBody>
      </p:sp>
      <p:sp>
        <p:nvSpPr>
          <p:cNvPr id="166" name="Google Shape;166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167" name="Google Shape;1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168" name="Google Shape;1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838200" y="1227163"/>
            <a:ext cx="10515600" cy="49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ZA"/>
              <a:t>Task 1: Write the numbers from 1  all the way to 20 below.</a:t>
            </a:r>
            <a:endParaRPr/>
          </a:p>
        </p:txBody>
      </p:sp>
      <p:graphicFrame>
        <p:nvGraphicFramePr>
          <p:cNvPr id="170" name="Google Shape;170;p21"/>
          <p:cNvGraphicFramePr/>
          <p:nvPr/>
        </p:nvGraphicFramePr>
        <p:xfrm>
          <a:off x="952500" y="189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{3C909CF7-1D45-4A91-B778-5BAF300D9DFA}</a:tableStyleId>
              </a:tblPr>
              <a:tblGrid>
                <a:gridCol w="2057400"/>
                <a:gridCol w="2057400"/>
                <a:gridCol w="2057400"/>
                <a:gridCol w="2057400"/>
                <a:gridCol w="2057400"/>
              </a:tblGrid>
              <a:tr h="93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93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973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93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838200" y="401450"/>
            <a:ext cx="105156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/>
          </a:p>
        </p:txBody>
      </p:sp>
      <p:sp>
        <p:nvSpPr>
          <p:cNvPr id="176" name="Google Shape;176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178" name="Google Shape;1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838200" y="1227163"/>
            <a:ext cx="10515600" cy="49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ZA" sz="2600">
                <a:latin typeface="Arial"/>
                <a:ea typeface="Arial"/>
                <a:cs typeface="Arial"/>
                <a:sym typeface="Arial"/>
              </a:rPr>
              <a:t>Task 1: Sort the shapes and make a drawing of your sorting. 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0125" y="1722875"/>
            <a:ext cx="8454025" cy="463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ZA">
                <a:latin typeface="Arial"/>
                <a:ea typeface="Arial"/>
                <a:cs typeface="Arial"/>
                <a:sym typeface="Arial"/>
              </a:rPr>
              <a:t>Week 3   					</a:t>
            </a:r>
            <a:endParaRPr/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Recognise, identify and read number symbols up to 1-20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birthdays on a chart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562" y="5941991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189" name="Google Shape;1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4349" y="5986418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type="title"/>
          </p:nvPr>
        </p:nvSpPr>
        <p:spPr>
          <a:xfrm>
            <a:off x="838200" y="365125"/>
            <a:ext cx="10515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197" name="Google Shape;1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 rotWithShape="1">
          <a:blip r:embed="rId5">
            <a:alphaModFix/>
          </a:blip>
          <a:srcRect b="3698" l="0" r="0" t="0"/>
          <a:stretch/>
        </p:blipFill>
        <p:spPr>
          <a:xfrm>
            <a:off x="2525750" y="1522125"/>
            <a:ext cx="6623825" cy="4800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838200" y="1098625"/>
            <a:ext cx="10515600" cy="50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</a:t>
            </a:r>
            <a:r>
              <a:rPr lang="en-ZA" sz="2400">
                <a:latin typeface="Arial"/>
                <a:ea typeface="Arial"/>
                <a:cs typeface="Arial"/>
                <a:sym typeface="Arial"/>
              </a:rPr>
              <a:t>Connect the dot to complete the animal picture.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838200" y="365125"/>
            <a:ext cx="10515600" cy="73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25"/>
          <p:cNvGraphicFramePr/>
          <p:nvPr/>
        </p:nvGraphicFramePr>
        <p:xfrm>
          <a:off x="838200" y="11830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{5FE1318D-0DD5-40E1-844A-C806088C3866}</a:tableStyleId>
              </a:tblPr>
              <a:tblGrid>
                <a:gridCol w="10687450"/>
              </a:tblGrid>
              <a:tr h="4543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en-ZA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 </a:t>
                      </a:r>
                      <a:r>
                        <a:rPr b="0" lang="en-ZA" sz="24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b="0" lang="en-ZA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Look at the picture and talk about how old you are.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25"/>
          <p:cNvSpPr txBox="1"/>
          <p:nvPr>
            <p:ph idx="11" type="ftr"/>
          </p:nvPr>
        </p:nvSpPr>
        <p:spPr>
          <a:xfrm>
            <a:off x="838200" y="5727064"/>
            <a:ext cx="10686144" cy="994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208" name="Google Shape;20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5686" y="2944914"/>
            <a:ext cx="3595607" cy="245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9837" y="1846913"/>
            <a:ext cx="346163" cy="14103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11" name="Google Shape;21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5362" y="2159493"/>
            <a:ext cx="346163" cy="14103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4471" y="2018654"/>
            <a:ext cx="325465" cy="14103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13" name="Google Shape;21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4922" y="2159493"/>
            <a:ext cx="346163" cy="14103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14" name="Google Shape;21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8511" y="1784921"/>
            <a:ext cx="346163" cy="14103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1502" y="2360884"/>
            <a:ext cx="346163" cy="14103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838200" y="365126"/>
            <a:ext cx="10515600" cy="704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ZA" sz="320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	</a:t>
            </a:r>
            <a:r>
              <a:rPr b="1" lang="en-ZA" sz="3200">
                <a:latin typeface="Arial"/>
                <a:ea typeface="Arial"/>
                <a:cs typeface="Arial"/>
                <a:sym typeface="Arial"/>
              </a:rPr>
              <a:t>			</a:t>
            </a:r>
            <a:endParaRPr/>
          </a:p>
        </p:txBody>
      </p:sp>
      <p:sp>
        <p:nvSpPr>
          <p:cNvPr id="221" name="Google Shape;221;p26"/>
          <p:cNvSpPr txBox="1"/>
          <p:nvPr>
            <p:ph idx="11" type="ftr"/>
          </p:nvPr>
        </p:nvSpPr>
        <p:spPr>
          <a:xfrm>
            <a:off x="838200" y="5747658"/>
            <a:ext cx="10515600" cy="973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sp>
        <p:nvSpPr>
          <p:cNvPr id="222" name="Google Shape;222;p26"/>
          <p:cNvSpPr txBox="1"/>
          <p:nvPr>
            <p:ph idx="1" type="body"/>
          </p:nvPr>
        </p:nvSpPr>
        <p:spPr>
          <a:xfrm>
            <a:off x="838200" y="1219288"/>
            <a:ext cx="10515600" cy="49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Z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1: Trace the numbers from 1 to 20.</a:t>
            </a:r>
            <a:endParaRPr sz="2400"/>
          </a:p>
        </p:txBody>
      </p:sp>
      <p:pic>
        <p:nvPicPr>
          <p:cNvPr descr="New GDE logo" id="223" name="Google Shape;2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224" name="Google Shape;22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0700" y="1672675"/>
            <a:ext cx="9467375" cy="4287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838200" y="365126"/>
            <a:ext cx="10515600" cy="704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ZA" sz="320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	</a:t>
            </a:r>
            <a:r>
              <a:rPr b="1" lang="en-ZA" sz="3200">
                <a:latin typeface="Arial"/>
                <a:ea typeface="Arial"/>
                <a:cs typeface="Arial"/>
                <a:sym typeface="Arial"/>
              </a:rPr>
              <a:t>			</a:t>
            </a:r>
            <a:endParaRPr/>
          </a:p>
        </p:txBody>
      </p:sp>
      <p:sp>
        <p:nvSpPr>
          <p:cNvPr id="231" name="Google Shape;231;p27"/>
          <p:cNvSpPr txBox="1"/>
          <p:nvPr>
            <p:ph idx="11" type="ftr"/>
          </p:nvPr>
        </p:nvSpPr>
        <p:spPr>
          <a:xfrm>
            <a:off x="838200" y="5747658"/>
            <a:ext cx="10515600" cy="973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sp>
        <p:nvSpPr>
          <p:cNvPr id="232" name="Google Shape;232;p27"/>
          <p:cNvSpPr txBox="1"/>
          <p:nvPr>
            <p:ph idx="1" type="body"/>
          </p:nvPr>
        </p:nvSpPr>
        <p:spPr>
          <a:xfrm>
            <a:off x="838200" y="1219288"/>
            <a:ext cx="10515600" cy="495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Z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2: Draw candles on this cake to show how old you are.</a:t>
            </a:r>
            <a:endParaRPr sz="2400"/>
          </a:p>
        </p:txBody>
      </p:sp>
      <p:pic>
        <p:nvPicPr>
          <p:cNvPr descr="New GDE logo"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234" name="Google Shape;2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1586" y="3022169"/>
            <a:ext cx="4370522" cy="2575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>
            <p:ph type="title"/>
          </p:nvPr>
        </p:nvSpPr>
        <p:spPr>
          <a:xfrm>
            <a:off x="838200" y="365126"/>
            <a:ext cx="10515600" cy="810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 b="1"/>
          </a:p>
        </p:txBody>
      </p:sp>
      <p:sp>
        <p:nvSpPr>
          <p:cNvPr id="241" name="Google Shape;241;p28"/>
          <p:cNvSpPr txBox="1"/>
          <p:nvPr>
            <p:ph idx="1" type="body"/>
          </p:nvPr>
        </p:nvSpPr>
        <p:spPr>
          <a:xfrm>
            <a:off x="420914" y="1175658"/>
            <a:ext cx="11364686" cy="5001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Z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1: Fill in the missing number on the caterpillars by counting 1 to 20 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42" name="Google Shape;242;p28"/>
          <p:cNvSpPr txBox="1"/>
          <p:nvPr>
            <p:ph idx="11" type="ftr"/>
          </p:nvPr>
        </p:nvSpPr>
        <p:spPr>
          <a:xfrm>
            <a:off x="595086" y="5682342"/>
            <a:ext cx="11190514" cy="103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243" name="Google Shape;2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244" name="Google Shape;2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9925" y="1689400"/>
            <a:ext cx="6523475" cy="44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838200" y="365126"/>
            <a:ext cx="10515600" cy="810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 b="1"/>
          </a:p>
        </p:txBody>
      </p:sp>
      <p:sp>
        <p:nvSpPr>
          <p:cNvPr id="251" name="Google Shape;251;p29"/>
          <p:cNvSpPr txBox="1"/>
          <p:nvPr>
            <p:ph idx="1" type="body"/>
          </p:nvPr>
        </p:nvSpPr>
        <p:spPr>
          <a:xfrm>
            <a:off x="420914" y="1175658"/>
            <a:ext cx="11364686" cy="5001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Z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2: Draw a cake with candles to show how old you are.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2" name="Google Shape;252;p29"/>
          <p:cNvSpPr txBox="1"/>
          <p:nvPr>
            <p:ph idx="11" type="ftr"/>
          </p:nvPr>
        </p:nvSpPr>
        <p:spPr>
          <a:xfrm>
            <a:off x="595086" y="5682342"/>
            <a:ext cx="11190514" cy="10391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253" name="Google Shape;2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07076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254" name="Google Shape;2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7562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831850" y="1709738"/>
            <a:ext cx="10515600" cy="1916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b="1" lang="en-ZA" sz="4000">
                <a:latin typeface="Arial"/>
                <a:ea typeface="Arial"/>
                <a:cs typeface="Arial"/>
                <a:sym typeface="Arial"/>
              </a:rPr>
            </a:b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Week 4				</a:t>
            </a:r>
            <a:endParaRPr/>
          </a:p>
        </p:txBody>
      </p:sp>
      <p:sp>
        <p:nvSpPr>
          <p:cNvPr id="260" name="Google Shape;260;p30"/>
          <p:cNvSpPr txBox="1"/>
          <p:nvPr>
            <p:ph idx="1" type="body"/>
          </p:nvPr>
        </p:nvSpPr>
        <p:spPr>
          <a:xfrm>
            <a:off x="831850" y="3921071"/>
            <a:ext cx="10515600" cy="2168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Solve simple word problems in context involving, equal sharing and grouping up to 10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Describe, sort and compare 3D objects in terms of: size, colour and shape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1" name="Google Shape;26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262" name="Google Shape;2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15078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263" name="Google Shape;26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13067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838200" y="365127"/>
            <a:ext cx="10515600" cy="515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 				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838200" y="880157"/>
            <a:ext cx="10515600" cy="5296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: Share the sweets between five friends. Say many sweets will each get?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0" name="Google Shape;270;p31"/>
          <p:cNvSpPr txBox="1"/>
          <p:nvPr>
            <p:ph idx="11" type="ftr"/>
          </p:nvPr>
        </p:nvSpPr>
        <p:spPr>
          <a:xfrm>
            <a:off x="711200" y="5977843"/>
            <a:ext cx="10642600" cy="743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271" name="Google Shape;2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15078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272" name="Google Shape;27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7160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9050" y="1371600"/>
            <a:ext cx="8045599" cy="45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2"/>
          <p:cNvSpPr txBox="1"/>
          <p:nvPr>
            <p:ph type="title"/>
          </p:nvPr>
        </p:nvSpPr>
        <p:spPr>
          <a:xfrm>
            <a:off x="838200" y="365125"/>
            <a:ext cx="10515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 				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280" name="Google Shape;2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15078"/>
            <a:ext cx="1152525" cy="8239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281" name="Google Shape;28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71609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2"/>
          <p:cNvSpPr txBox="1"/>
          <p:nvPr>
            <p:ph idx="1" type="body"/>
          </p:nvPr>
        </p:nvSpPr>
        <p:spPr>
          <a:xfrm>
            <a:off x="838200" y="1210375"/>
            <a:ext cx="10515600" cy="496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0" y="1321425"/>
            <a:ext cx="10268424" cy="45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3"/>
          <p:cNvSpPr txBox="1"/>
          <p:nvPr>
            <p:ph type="title"/>
          </p:nvPr>
        </p:nvSpPr>
        <p:spPr>
          <a:xfrm>
            <a:off x="838200" y="365126"/>
            <a:ext cx="10515600" cy="679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ZA">
                <a:latin typeface="Arial"/>
                <a:ea typeface="Arial"/>
                <a:cs typeface="Arial"/>
                <a:sym typeface="Arial"/>
              </a:rPr>
              <a:t>Group 2	</a:t>
            </a:r>
            <a:r>
              <a:rPr lang="en-ZA">
                <a:latin typeface="Arial"/>
                <a:ea typeface="Arial"/>
                <a:cs typeface="Arial"/>
                <a:sym typeface="Arial"/>
              </a:rPr>
              <a:t>					</a:t>
            </a:r>
            <a:endParaRPr/>
          </a:p>
        </p:txBody>
      </p:sp>
      <p:sp>
        <p:nvSpPr>
          <p:cNvPr id="289" name="Google Shape;289;p33"/>
          <p:cNvSpPr txBox="1"/>
          <p:nvPr>
            <p:ph idx="1" type="body"/>
          </p:nvPr>
        </p:nvSpPr>
        <p:spPr>
          <a:xfrm>
            <a:off x="838200" y="1045031"/>
            <a:ext cx="10515600" cy="5012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</a:t>
            </a:r>
            <a:r>
              <a:rPr lang="en-ZA" sz="2400">
                <a:latin typeface="Arial"/>
                <a:ea typeface="Arial"/>
                <a:cs typeface="Arial"/>
                <a:sym typeface="Arial"/>
              </a:rPr>
              <a:t>Share the sweets between five friends. How many sweets will each get?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3"/>
          <p:cNvSpPr txBox="1"/>
          <p:nvPr>
            <p:ph idx="11" type="ftr"/>
          </p:nvPr>
        </p:nvSpPr>
        <p:spPr>
          <a:xfrm>
            <a:off x="838200" y="5937367"/>
            <a:ext cx="10642600" cy="91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291" name="Google Shape;2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37367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292" name="Google Shape;29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9050" y="1371600"/>
            <a:ext cx="8045599" cy="45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 txBox="1"/>
          <p:nvPr>
            <p:ph type="title"/>
          </p:nvPr>
        </p:nvSpPr>
        <p:spPr>
          <a:xfrm>
            <a:off x="838200" y="365126"/>
            <a:ext cx="10515600" cy="679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ZA">
                <a:latin typeface="Arial"/>
                <a:ea typeface="Arial"/>
                <a:cs typeface="Arial"/>
                <a:sym typeface="Arial"/>
              </a:rPr>
              <a:t>Group 2	</a:t>
            </a:r>
            <a:r>
              <a:rPr lang="en-ZA">
                <a:latin typeface="Arial"/>
                <a:ea typeface="Arial"/>
                <a:cs typeface="Arial"/>
                <a:sym typeface="Arial"/>
              </a:rPr>
              <a:t>					</a:t>
            </a:r>
            <a:endParaRPr/>
          </a:p>
        </p:txBody>
      </p:sp>
      <p:sp>
        <p:nvSpPr>
          <p:cNvPr id="299" name="Google Shape;299;p34"/>
          <p:cNvSpPr txBox="1"/>
          <p:nvPr>
            <p:ph idx="1" type="body"/>
          </p:nvPr>
        </p:nvSpPr>
        <p:spPr>
          <a:xfrm>
            <a:off x="838200" y="1045031"/>
            <a:ext cx="10515600" cy="5012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Sort the following objects by drawing them in the correct block.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4"/>
          <p:cNvSpPr txBox="1"/>
          <p:nvPr>
            <p:ph idx="11" type="ftr"/>
          </p:nvPr>
        </p:nvSpPr>
        <p:spPr>
          <a:xfrm>
            <a:off x="838200" y="5937367"/>
            <a:ext cx="10642600" cy="919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01" name="Google Shape;30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37367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02" name="Google Shape;30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1050" y="1839950"/>
            <a:ext cx="9123101" cy="388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/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/>
          </a:p>
        </p:txBody>
      </p:sp>
      <p:sp>
        <p:nvSpPr>
          <p:cNvPr id="309" name="Google Shape;309;p35"/>
          <p:cNvSpPr txBox="1"/>
          <p:nvPr>
            <p:ph idx="1" type="body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Circle the fruit and animals to share them equally.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5"/>
          <p:cNvSpPr txBox="1"/>
          <p:nvPr>
            <p:ph idx="11" type="ftr"/>
          </p:nvPr>
        </p:nvSpPr>
        <p:spPr>
          <a:xfrm>
            <a:off x="738188" y="6036008"/>
            <a:ext cx="10615612" cy="747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11" name="Google Shape;31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12" name="Google Shape;31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5425" y="1672675"/>
            <a:ext cx="8838724" cy="45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6"/>
          <p:cNvSpPr txBox="1"/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/>
          </a:p>
        </p:txBody>
      </p:sp>
      <p:sp>
        <p:nvSpPr>
          <p:cNvPr id="319" name="Google Shape;319;p36"/>
          <p:cNvSpPr txBox="1"/>
          <p:nvPr>
            <p:ph idx="1" type="body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/>
              <a:t>Task 2: Sort the objects according to size by drawing them.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6"/>
          <p:cNvSpPr txBox="1"/>
          <p:nvPr>
            <p:ph idx="11" type="ftr"/>
          </p:nvPr>
        </p:nvSpPr>
        <p:spPr>
          <a:xfrm>
            <a:off x="738188" y="6036008"/>
            <a:ext cx="10615612" cy="747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21" name="Google Shape;3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22" name="Google Shape;32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8500" y="1706125"/>
            <a:ext cx="9450675" cy="46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ZA"/>
              <a:t>Week 5</a:t>
            </a:r>
            <a:endParaRPr/>
          </a:p>
        </p:txBody>
      </p:sp>
      <p:sp>
        <p:nvSpPr>
          <p:cNvPr id="329" name="Google Shape;329;p37"/>
          <p:cNvSpPr txBox="1"/>
          <p:nvPr>
            <p:ph idx="1" type="subTitle"/>
          </p:nvPr>
        </p:nvSpPr>
        <p:spPr>
          <a:xfrm>
            <a:off x="1115878" y="3602038"/>
            <a:ext cx="9949912" cy="195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58333"/>
              <a:buChar char="●"/>
            </a:pPr>
            <a:r>
              <a:rPr lang="en-ZA" sz="9600">
                <a:latin typeface="Arial"/>
                <a:ea typeface="Arial"/>
                <a:cs typeface="Arial"/>
                <a:sym typeface="Arial"/>
              </a:rPr>
              <a:t>Solve simple word problems in context involving addition and subtraction with answers up to 10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58333"/>
              <a:buFont typeface="Arial"/>
              <a:buChar char="●"/>
            </a:pPr>
            <a:r>
              <a:rPr lang="en-ZA" sz="9600">
                <a:latin typeface="Arial"/>
                <a:ea typeface="Arial"/>
                <a:cs typeface="Arial"/>
                <a:sym typeface="Arial"/>
              </a:rPr>
              <a:t>Compare and order the mass of two or more objects using a balancing scale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7"/>
          <p:cNvSpPr txBox="1"/>
          <p:nvPr>
            <p:ph idx="11" type="ftr"/>
          </p:nvPr>
        </p:nvSpPr>
        <p:spPr>
          <a:xfrm>
            <a:off x="783771" y="5735638"/>
            <a:ext cx="10537371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31" name="Google Shape;33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771" y="581323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32" name="Google Shape;33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11492" y="5813231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"/>
          <p:cNvSpPr txBox="1"/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Group 1</a:t>
            </a:r>
            <a:endParaRPr/>
          </a:p>
        </p:txBody>
      </p:sp>
      <p:sp>
        <p:nvSpPr>
          <p:cNvPr id="338" name="Google Shape;338;p38"/>
          <p:cNvSpPr txBox="1"/>
          <p:nvPr>
            <p:ph idx="1" type="body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/>
              <a:t>Task 1: Add these sweets an d then fill in the answers</a:t>
            </a:r>
            <a:endParaRPr/>
          </a:p>
        </p:txBody>
      </p:sp>
      <p:sp>
        <p:nvSpPr>
          <p:cNvPr id="339" name="Google Shape;339;p38"/>
          <p:cNvSpPr txBox="1"/>
          <p:nvPr>
            <p:ph idx="11" type="ftr"/>
          </p:nvPr>
        </p:nvSpPr>
        <p:spPr>
          <a:xfrm>
            <a:off x="838199" y="5863772"/>
            <a:ext cx="10515599" cy="857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40" name="Google Shape;34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41" name="Google Shape;34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49" y="5925911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0713" y="1828799"/>
            <a:ext cx="7408270" cy="4034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 txBox="1"/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Group 1</a:t>
            </a:r>
            <a:endParaRPr/>
          </a:p>
        </p:txBody>
      </p:sp>
      <p:sp>
        <p:nvSpPr>
          <p:cNvPr id="348" name="Google Shape;348;p39"/>
          <p:cNvSpPr txBox="1"/>
          <p:nvPr>
            <p:ph idx="1" type="body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49" name="Google Shape;349;p39"/>
          <p:cNvSpPr txBox="1"/>
          <p:nvPr>
            <p:ph idx="11" type="ftr"/>
          </p:nvPr>
        </p:nvSpPr>
        <p:spPr>
          <a:xfrm>
            <a:off x="838199" y="5863772"/>
            <a:ext cx="10515599" cy="857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50" name="Google Shape;35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51" name="Google Shape;35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49" y="5925911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0" y="1271250"/>
            <a:ext cx="10184775" cy="47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0"/>
          <p:cNvSpPr txBox="1"/>
          <p:nvPr>
            <p:ph type="title"/>
          </p:nvPr>
        </p:nvSpPr>
        <p:spPr>
          <a:xfrm>
            <a:off x="838200" y="365126"/>
            <a:ext cx="10515600" cy="810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Group 2</a:t>
            </a:r>
            <a:endParaRPr/>
          </a:p>
        </p:txBody>
      </p:sp>
      <p:sp>
        <p:nvSpPr>
          <p:cNvPr id="358" name="Google Shape;358;p40"/>
          <p:cNvSpPr txBox="1"/>
          <p:nvPr>
            <p:ph idx="1" type="body"/>
          </p:nvPr>
        </p:nvSpPr>
        <p:spPr>
          <a:xfrm>
            <a:off x="838200" y="1335314"/>
            <a:ext cx="10515600" cy="4484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Add the numbers.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0"/>
          <p:cNvSpPr txBox="1"/>
          <p:nvPr>
            <p:ph idx="11" type="ftr"/>
          </p:nvPr>
        </p:nvSpPr>
        <p:spPr>
          <a:xfrm>
            <a:off x="464457" y="5820230"/>
            <a:ext cx="11248571" cy="901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60" name="Google Shape;36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972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61" name="Google Shape;36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8322" y="5890825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1952786"/>
            <a:ext cx="10227590" cy="371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"/>
          <p:cNvSpPr txBox="1"/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Group 1</a:t>
            </a:r>
            <a:endParaRPr/>
          </a:p>
        </p:txBody>
      </p:sp>
      <p:sp>
        <p:nvSpPr>
          <p:cNvPr id="368" name="Google Shape;368;p41"/>
          <p:cNvSpPr txBox="1"/>
          <p:nvPr>
            <p:ph idx="1" type="body"/>
          </p:nvPr>
        </p:nvSpPr>
        <p:spPr>
          <a:xfrm>
            <a:off x="838200" y="1190172"/>
            <a:ext cx="10515600" cy="4986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Is the object heavier or lighter than one kilogram?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1"/>
          <p:cNvSpPr txBox="1"/>
          <p:nvPr>
            <p:ph idx="11" type="ftr"/>
          </p:nvPr>
        </p:nvSpPr>
        <p:spPr>
          <a:xfrm>
            <a:off x="838199" y="5863772"/>
            <a:ext cx="10515599" cy="857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70" name="Google Shape;37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188" y="5960461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71" name="Google Shape;3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49" y="5925911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1575" y="1655950"/>
            <a:ext cx="7510350" cy="452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2"/>
          <p:cNvSpPr txBox="1"/>
          <p:nvPr>
            <p:ph type="title"/>
          </p:nvPr>
        </p:nvSpPr>
        <p:spPr>
          <a:xfrm>
            <a:off x="838200" y="136525"/>
            <a:ext cx="10515600" cy="1004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-ZA" sz="3600">
                <a:latin typeface="Arial"/>
                <a:ea typeface="Arial"/>
                <a:cs typeface="Arial"/>
                <a:sym typeface="Arial"/>
              </a:rPr>
            </a:br>
            <a:br>
              <a:rPr lang="en-ZA" sz="3600">
                <a:latin typeface="Arial"/>
                <a:ea typeface="Arial"/>
                <a:cs typeface="Arial"/>
                <a:sym typeface="Arial"/>
              </a:rPr>
            </a:br>
            <a:br>
              <a:rPr b="1" lang="en-ZA" sz="3600">
                <a:latin typeface="Arial"/>
                <a:ea typeface="Arial"/>
                <a:cs typeface="Arial"/>
                <a:sym typeface="Arial"/>
              </a:rPr>
            </a:br>
            <a:r>
              <a:rPr b="1" lang="en-ZA" sz="3600">
                <a:latin typeface="Arial"/>
                <a:ea typeface="Arial"/>
                <a:cs typeface="Arial"/>
                <a:sym typeface="Arial"/>
              </a:rPr>
              <a:t>Group 3</a:t>
            </a:r>
            <a:br>
              <a:rPr lang="en-ZA" sz="3600">
                <a:latin typeface="Arial"/>
                <a:ea typeface="Arial"/>
                <a:cs typeface="Arial"/>
                <a:sym typeface="Arial"/>
              </a:rPr>
            </a:br>
            <a:br>
              <a:rPr lang="en-ZA" sz="4400"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378" name="Google Shape;378;p42"/>
          <p:cNvSpPr txBox="1"/>
          <p:nvPr>
            <p:ph idx="11" type="ftr"/>
          </p:nvPr>
        </p:nvSpPr>
        <p:spPr>
          <a:xfrm>
            <a:off x="838201" y="6072642"/>
            <a:ext cx="10395856" cy="648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79" name="Google Shape;37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80" name="Google Shape;38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2"/>
          <p:cNvSpPr txBox="1"/>
          <p:nvPr>
            <p:ph idx="1" type="body"/>
          </p:nvPr>
        </p:nvSpPr>
        <p:spPr>
          <a:xfrm>
            <a:off x="838200" y="1253782"/>
            <a:ext cx="10515600" cy="4923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ZA"/>
              <a:t>Task 1: Add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82" name="Google Shape;382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6125" y="1141425"/>
            <a:ext cx="7158025" cy="526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type="title"/>
          </p:nvPr>
        </p:nvSpPr>
        <p:spPr>
          <a:xfrm>
            <a:off x="838200" y="136525"/>
            <a:ext cx="10515600" cy="1004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-ZA" sz="3600">
                <a:latin typeface="Arial"/>
                <a:ea typeface="Arial"/>
                <a:cs typeface="Arial"/>
                <a:sym typeface="Arial"/>
              </a:rPr>
            </a:br>
            <a:br>
              <a:rPr lang="en-ZA" sz="3600">
                <a:latin typeface="Arial"/>
                <a:ea typeface="Arial"/>
                <a:cs typeface="Arial"/>
                <a:sym typeface="Arial"/>
              </a:rPr>
            </a:br>
            <a:br>
              <a:rPr b="1" lang="en-ZA" sz="3600">
                <a:latin typeface="Arial"/>
                <a:ea typeface="Arial"/>
                <a:cs typeface="Arial"/>
                <a:sym typeface="Arial"/>
              </a:rPr>
            </a:br>
            <a:r>
              <a:rPr b="1" lang="en-ZA" sz="3600">
                <a:latin typeface="Arial"/>
                <a:ea typeface="Arial"/>
                <a:cs typeface="Arial"/>
                <a:sym typeface="Arial"/>
              </a:rPr>
              <a:t>Group 3</a:t>
            </a:r>
            <a:br>
              <a:rPr lang="en-ZA" sz="3600">
                <a:latin typeface="Arial"/>
                <a:ea typeface="Arial"/>
                <a:cs typeface="Arial"/>
                <a:sym typeface="Arial"/>
              </a:rPr>
            </a:br>
            <a:br>
              <a:rPr lang="en-ZA" sz="4400"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388" name="Google Shape;388;p43"/>
          <p:cNvSpPr txBox="1"/>
          <p:nvPr>
            <p:ph idx="11" type="ftr"/>
          </p:nvPr>
        </p:nvSpPr>
        <p:spPr>
          <a:xfrm>
            <a:off x="838201" y="6072642"/>
            <a:ext cx="10395856" cy="648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389" name="Google Shape;38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390" name="Google Shape;39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57499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838200" y="1253782"/>
            <a:ext cx="10515600" cy="4923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ZA"/>
              <a:t>Task 1: Tick the heavy one and cross out the light one.</a:t>
            </a:r>
            <a:endParaRPr/>
          </a:p>
        </p:txBody>
      </p:sp>
      <p:pic>
        <p:nvPicPr>
          <p:cNvPr id="392" name="Google Shape;39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8850" y="1839950"/>
            <a:ext cx="7460150" cy="453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Week 6</a:t>
            </a:r>
            <a:endParaRPr/>
          </a:p>
        </p:txBody>
      </p:sp>
      <p:sp>
        <p:nvSpPr>
          <p:cNvPr id="398" name="Google Shape;398;p44"/>
          <p:cNvSpPr txBox="1"/>
          <p:nvPr>
            <p:ph idx="1" type="body"/>
          </p:nvPr>
        </p:nvSpPr>
        <p:spPr>
          <a:xfrm>
            <a:off x="831850" y="4215539"/>
            <a:ext cx="10515600" cy="18741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 and subtraction up to 10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pictures to represent data in pictograph</a:t>
            </a:r>
            <a:endParaRPr/>
          </a:p>
        </p:txBody>
      </p:sp>
      <p:sp>
        <p:nvSpPr>
          <p:cNvPr id="399" name="Google Shape;39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400" name="Google Shape;40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01" name="Google Shape;40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/>
          <p:nvPr>
            <p:ph type="title"/>
          </p:nvPr>
        </p:nvSpPr>
        <p:spPr>
          <a:xfrm>
            <a:off x="838200" y="365126"/>
            <a:ext cx="10515600" cy="621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407" name="Google Shape;407;p45"/>
          <p:cNvSpPr txBox="1"/>
          <p:nvPr>
            <p:ph idx="1" type="body"/>
          </p:nvPr>
        </p:nvSpPr>
        <p:spPr>
          <a:xfrm>
            <a:off x="838200" y="1190171"/>
            <a:ext cx="10515600" cy="4986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Count the number of object and write the answers in the</a:t>
            </a:r>
            <a:r>
              <a:rPr lang="en-ZA" sz="2400">
                <a:latin typeface="Arial"/>
                <a:ea typeface="Arial"/>
                <a:cs typeface="Arial"/>
                <a:sym typeface="Arial"/>
              </a:rPr>
              <a:t> boxes.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5"/>
          <p:cNvSpPr txBox="1"/>
          <p:nvPr>
            <p:ph idx="11" type="ftr"/>
          </p:nvPr>
        </p:nvSpPr>
        <p:spPr>
          <a:xfrm>
            <a:off x="957943" y="5959085"/>
            <a:ext cx="10395857" cy="762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409" name="Google Shape;4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5908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10" name="Google Shape;41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6575" y="1873400"/>
            <a:ext cx="6953250" cy="453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6"/>
          <p:cNvSpPr txBox="1"/>
          <p:nvPr>
            <p:ph type="title"/>
          </p:nvPr>
        </p:nvSpPr>
        <p:spPr>
          <a:xfrm>
            <a:off x="838200" y="365126"/>
            <a:ext cx="10515600" cy="621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417" name="Google Shape;417;p46"/>
          <p:cNvSpPr txBox="1"/>
          <p:nvPr>
            <p:ph idx="1" type="body"/>
          </p:nvPr>
        </p:nvSpPr>
        <p:spPr>
          <a:xfrm>
            <a:off x="838200" y="1190171"/>
            <a:ext cx="10515600" cy="4986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Count how many counters are left.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6"/>
          <p:cNvSpPr txBox="1"/>
          <p:nvPr>
            <p:ph idx="11" type="ftr"/>
          </p:nvPr>
        </p:nvSpPr>
        <p:spPr>
          <a:xfrm>
            <a:off x="957943" y="5959085"/>
            <a:ext cx="10395857" cy="762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419" name="Google Shape;41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5908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20" name="Google Shape;42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1650" y="1761525"/>
            <a:ext cx="4361075" cy="42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7375" y="1761525"/>
            <a:ext cx="4112500" cy="427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7"/>
          <p:cNvSpPr txBox="1"/>
          <p:nvPr>
            <p:ph type="title"/>
          </p:nvPr>
        </p:nvSpPr>
        <p:spPr>
          <a:xfrm>
            <a:off x="838200" y="365126"/>
            <a:ext cx="10515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428" name="Google Shape;428;p47"/>
          <p:cNvSpPr txBox="1"/>
          <p:nvPr>
            <p:ph idx="1" type="body"/>
          </p:nvPr>
        </p:nvSpPr>
        <p:spPr>
          <a:xfrm>
            <a:off x="838200" y="987025"/>
            <a:ext cx="10515600" cy="5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3: Cut out the shapes on the left and paste them on the graph on the right.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7"/>
          <p:cNvSpPr txBox="1"/>
          <p:nvPr>
            <p:ph idx="11" type="ftr"/>
          </p:nvPr>
        </p:nvSpPr>
        <p:spPr>
          <a:xfrm>
            <a:off x="957943" y="5959085"/>
            <a:ext cx="103959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430" name="Google Shape;43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5908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31" name="Google Shape;43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0713" y="1429375"/>
            <a:ext cx="1743075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350" y="1429375"/>
            <a:ext cx="6167100" cy="496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8"/>
          <p:cNvSpPr txBox="1"/>
          <p:nvPr>
            <p:ph type="title"/>
          </p:nvPr>
        </p:nvSpPr>
        <p:spPr>
          <a:xfrm>
            <a:off x="838200" y="365126"/>
            <a:ext cx="10515600" cy="781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439" name="Google Shape;439;p48"/>
          <p:cNvSpPr txBox="1"/>
          <p:nvPr>
            <p:ph idx="11" type="ftr"/>
          </p:nvPr>
        </p:nvSpPr>
        <p:spPr>
          <a:xfrm>
            <a:off x="838201" y="5824538"/>
            <a:ext cx="10196592" cy="89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sp>
        <p:nvSpPr>
          <p:cNvPr id="440" name="Google Shape;440;p48"/>
          <p:cNvSpPr txBox="1"/>
          <p:nvPr>
            <p:ph idx="1" type="body"/>
          </p:nvPr>
        </p:nvSpPr>
        <p:spPr>
          <a:xfrm>
            <a:off x="838200" y="1146630"/>
            <a:ext cx="10515600" cy="5073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Task 1: </a:t>
            </a:r>
            <a:r>
              <a:rPr lang="en-ZA">
                <a:latin typeface="Arial"/>
                <a:ea typeface="Arial"/>
                <a:cs typeface="Arial"/>
                <a:sym typeface="Arial"/>
              </a:rPr>
              <a:t>Count each group and solve the addition problem.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pic>
        <p:nvPicPr>
          <p:cNvPr descr="New GDE logo" id="441" name="Google Shape;4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5851952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42" name="Google Shape;44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4647" y="5884790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0725" y="1572325"/>
            <a:ext cx="6874500" cy="471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9"/>
          <p:cNvSpPr txBox="1"/>
          <p:nvPr>
            <p:ph type="title"/>
          </p:nvPr>
        </p:nvSpPr>
        <p:spPr>
          <a:xfrm>
            <a:off x="838200" y="365126"/>
            <a:ext cx="105156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449" name="Google Shape;449;p49"/>
          <p:cNvSpPr txBox="1"/>
          <p:nvPr>
            <p:ph idx="11" type="ftr"/>
          </p:nvPr>
        </p:nvSpPr>
        <p:spPr>
          <a:xfrm>
            <a:off x="838201" y="5824538"/>
            <a:ext cx="101967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sp>
        <p:nvSpPr>
          <p:cNvPr id="450" name="Google Shape;450;p49"/>
          <p:cNvSpPr txBox="1"/>
          <p:nvPr>
            <p:ph idx="1" type="body"/>
          </p:nvPr>
        </p:nvSpPr>
        <p:spPr>
          <a:xfrm>
            <a:off x="838200" y="1146630"/>
            <a:ext cx="10515600" cy="5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Task 2: </a:t>
            </a:r>
            <a:r>
              <a:rPr lang="en-ZA">
                <a:latin typeface="Arial"/>
                <a:ea typeface="Arial"/>
                <a:cs typeface="Arial"/>
                <a:sym typeface="Arial"/>
              </a:rPr>
              <a:t>Cross out the beads to show: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New GDE logo" id="451" name="Google Shape;45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5851952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52" name="Google Shape;45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4647" y="5884790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4875" y="1856675"/>
            <a:ext cx="7895050" cy="396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0"/>
          <p:cNvSpPr txBox="1"/>
          <p:nvPr>
            <p:ph type="title"/>
          </p:nvPr>
        </p:nvSpPr>
        <p:spPr>
          <a:xfrm>
            <a:off x="838200" y="365126"/>
            <a:ext cx="10515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/>
          </a:p>
        </p:txBody>
      </p:sp>
      <p:sp>
        <p:nvSpPr>
          <p:cNvPr id="459" name="Google Shape;459;p50"/>
          <p:cNvSpPr txBox="1"/>
          <p:nvPr>
            <p:ph idx="1" type="body"/>
          </p:nvPr>
        </p:nvSpPr>
        <p:spPr>
          <a:xfrm>
            <a:off x="838200" y="1136163"/>
            <a:ext cx="10318500" cy="4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3: Count the number of different shapes. Then draw and colour the same number of shape in the pictograph.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60" name="Google Shape;460;p50"/>
          <p:cNvSpPr txBox="1"/>
          <p:nvPr>
            <p:ph idx="11" type="ftr"/>
          </p:nvPr>
        </p:nvSpPr>
        <p:spPr>
          <a:xfrm>
            <a:off x="838200" y="5937350"/>
            <a:ext cx="104964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461" name="Google Shape;46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62" name="Google Shape;462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0"/>
          <p:cNvPicPr preferRelativeResize="0"/>
          <p:nvPr/>
        </p:nvPicPr>
        <p:blipFill rotWithShape="1">
          <a:blip r:embed="rId5">
            <a:alphaModFix/>
          </a:blip>
          <a:srcRect b="12403" l="0" r="0" t="0"/>
          <a:stretch/>
        </p:blipFill>
        <p:spPr>
          <a:xfrm>
            <a:off x="2291575" y="1957050"/>
            <a:ext cx="7359800" cy="39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>
            <p:ph type="title"/>
          </p:nvPr>
        </p:nvSpPr>
        <p:spPr>
          <a:xfrm>
            <a:off x="838200" y="365126"/>
            <a:ext cx="10515600" cy="66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/>
          </a:p>
        </p:txBody>
      </p:sp>
      <p:sp>
        <p:nvSpPr>
          <p:cNvPr id="469" name="Google Shape;469;p51"/>
          <p:cNvSpPr txBox="1"/>
          <p:nvPr>
            <p:ph idx="1" type="body"/>
          </p:nvPr>
        </p:nvSpPr>
        <p:spPr>
          <a:xfrm>
            <a:off x="838200" y="1392614"/>
            <a:ext cx="10318500" cy="4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</a:t>
            </a:r>
            <a:r>
              <a:rPr lang="en-ZA" sz="2400">
                <a:latin typeface="Arial"/>
                <a:ea typeface="Arial"/>
                <a:cs typeface="Arial"/>
                <a:sym typeface="Arial"/>
              </a:rPr>
              <a:t>Complete the following number sentence.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70" name="Google Shape;470;p51"/>
          <p:cNvSpPr txBox="1"/>
          <p:nvPr>
            <p:ph idx="11" type="ftr"/>
          </p:nvPr>
        </p:nvSpPr>
        <p:spPr>
          <a:xfrm>
            <a:off x="838200" y="5937350"/>
            <a:ext cx="10496298" cy="784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471" name="Google Shape;47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72" name="Google Shape;47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1"/>
          <p:cNvPicPr preferRelativeResize="0"/>
          <p:nvPr/>
        </p:nvPicPr>
        <p:blipFill rotWithShape="1">
          <a:blip r:embed="rId5">
            <a:alphaModFix/>
          </a:blip>
          <a:srcRect b="17211" l="0" r="0" t="0"/>
          <a:stretch/>
        </p:blipFill>
        <p:spPr>
          <a:xfrm>
            <a:off x="2090850" y="1973775"/>
            <a:ext cx="8346700" cy="39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"/>
          <p:cNvSpPr txBox="1"/>
          <p:nvPr>
            <p:ph type="title"/>
          </p:nvPr>
        </p:nvSpPr>
        <p:spPr>
          <a:xfrm>
            <a:off x="838200" y="365126"/>
            <a:ext cx="10515600" cy="665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/>
          </a:p>
        </p:txBody>
      </p:sp>
      <p:sp>
        <p:nvSpPr>
          <p:cNvPr id="479" name="Google Shape;479;p52"/>
          <p:cNvSpPr txBox="1"/>
          <p:nvPr>
            <p:ph idx="1" type="body"/>
          </p:nvPr>
        </p:nvSpPr>
        <p:spPr>
          <a:xfrm>
            <a:off x="838200" y="1136163"/>
            <a:ext cx="10318499" cy="4801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Complete the following number sentence.  </a:t>
            </a:r>
            <a:endParaRPr/>
          </a:p>
        </p:txBody>
      </p:sp>
      <p:sp>
        <p:nvSpPr>
          <p:cNvPr id="480" name="Google Shape;480;p52"/>
          <p:cNvSpPr txBox="1"/>
          <p:nvPr>
            <p:ph idx="11" type="ftr"/>
          </p:nvPr>
        </p:nvSpPr>
        <p:spPr>
          <a:xfrm>
            <a:off x="838200" y="5937350"/>
            <a:ext cx="10496298" cy="784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481" name="Google Shape;48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82" name="Google Shape;48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2"/>
          <p:cNvPicPr preferRelativeResize="0"/>
          <p:nvPr/>
        </p:nvPicPr>
        <p:blipFill rotWithShape="1">
          <a:blip r:embed="rId5">
            <a:alphaModFix/>
          </a:blip>
          <a:srcRect b="8248" l="0" r="0" t="0"/>
          <a:stretch/>
        </p:blipFill>
        <p:spPr>
          <a:xfrm>
            <a:off x="2107575" y="1555025"/>
            <a:ext cx="7911800" cy="50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3"/>
          <p:cNvSpPr txBox="1"/>
          <p:nvPr>
            <p:ph type="title"/>
          </p:nvPr>
        </p:nvSpPr>
        <p:spPr>
          <a:xfrm>
            <a:off x="838200" y="365126"/>
            <a:ext cx="105156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 sz="4000"/>
          </a:p>
        </p:txBody>
      </p:sp>
      <p:sp>
        <p:nvSpPr>
          <p:cNvPr id="489" name="Google Shape;489;p53"/>
          <p:cNvSpPr txBox="1"/>
          <p:nvPr>
            <p:ph idx="1" type="body"/>
          </p:nvPr>
        </p:nvSpPr>
        <p:spPr>
          <a:xfrm>
            <a:off x="838200" y="1136163"/>
            <a:ext cx="10318500" cy="4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3: </a:t>
            </a:r>
            <a:r>
              <a:rPr lang="en-ZA" sz="2400">
                <a:latin typeface="Arial"/>
                <a:ea typeface="Arial"/>
                <a:cs typeface="Arial"/>
                <a:sym typeface="Arial"/>
              </a:rPr>
              <a:t>Count the number of different shapes. Then draw and colour the same number of shape in the pictograph.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90" name="Google Shape;490;p53"/>
          <p:cNvSpPr txBox="1"/>
          <p:nvPr>
            <p:ph idx="11" type="ftr"/>
          </p:nvPr>
        </p:nvSpPr>
        <p:spPr>
          <a:xfrm>
            <a:off x="838200" y="5937350"/>
            <a:ext cx="104964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491" name="Google Shape;49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492" name="Google Shape;492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1575" y="1923575"/>
            <a:ext cx="7359800" cy="457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>
                <a:latin typeface="Arial"/>
                <a:ea typeface="Arial"/>
                <a:cs typeface="Arial"/>
                <a:sym typeface="Arial"/>
              </a:rPr>
              <a:t>Week 7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00" name="Google Shape;50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501" name="Google Shape;50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Recognise, identify and read number names 1-20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number symbols 1-10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and extend simple number sequence to at least 10</a:t>
            </a:r>
            <a:endParaRPr sz="3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>
            <p:ph type="title"/>
          </p:nvPr>
        </p:nvSpPr>
        <p:spPr>
          <a:xfrm>
            <a:off x="838200" y="365125"/>
            <a:ext cx="105156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508" name="Google Shape;508;p55"/>
          <p:cNvSpPr txBox="1"/>
          <p:nvPr>
            <p:ph idx="1" type="body"/>
          </p:nvPr>
        </p:nvSpPr>
        <p:spPr>
          <a:xfrm>
            <a:off x="838200" y="1003525"/>
            <a:ext cx="10515600" cy="5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Connect the dot to complete the animal picture.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509" name="Google Shape;509;p55"/>
          <p:cNvSpPr txBox="1"/>
          <p:nvPr>
            <p:ph idx="11" type="ftr"/>
          </p:nvPr>
        </p:nvSpPr>
        <p:spPr>
          <a:xfrm>
            <a:off x="711200" y="5834744"/>
            <a:ext cx="10160000" cy="886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10" name="Google Shape;5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511" name="Google Shape;511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4500" y="1417175"/>
            <a:ext cx="6623800" cy="51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6"/>
          <p:cNvSpPr txBox="1"/>
          <p:nvPr>
            <p:ph type="title"/>
          </p:nvPr>
        </p:nvSpPr>
        <p:spPr>
          <a:xfrm>
            <a:off x="838200" y="365125"/>
            <a:ext cx="10515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518" name="Google Shape;518;p56"/>
          <p:cNvSpPr txBox="1"/>
          <p:nvPr>
            <p:ph idx="1" type="body"/>
          </p:nvPr>
        </p:nvSpPr>
        <p:spPr>
          <a:xfrm>
            <a:off x="838200" y="1098625"/>
            <a:ext cx="105156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Drag and drop numbers 1 - 10 on the train in a correct order.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519" name="Google Shape;519;p56"/>
          <p:cNvSpPr txBox="1"/>
          <p:nvPr>
            <p:ph idx="11" type="ftr"/>
          </p:nvPr>
        </p:nvSpPr>
        <p:spPr>
          <a:xfrm>
            <a:off x="711200" y="5834744"/>
            <a:ext cx="101601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20" name="Google Shape;5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521" name="Google Shape;52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4500" y="1688000"/>
            <a:ext cx="4934425" cy="3965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3" name="Google Shape;523;p56"/>
          <p:cNvGraphicFramePr/>
          <p:nvPr/>
        </p:nvGraphicFramePr>
        <p:xfrm>
          <a:off x="8027950" y="197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{65059562-A989-44EF-AECD-7F455F15715E}</a:tableStyleId>
              </a:tblPr>
              <a:tblGrid>
                <a:gridCol w="1221075"/>
                <a:gridCol w="1221075"/>
              </a:tblGrid>
              <a:tr h="69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2</a:t>
                      </a:r>
                      <a:endParaRPr b="1" sz="4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4</a:t>
                      </a:r>
                      <a:endParaRPr b="1" sz="4000"/>
                    </a:p>
                  </a:txBody>
                  <a:tcPr marT="91425" marB="91425" marR="91425" marL="91425"/>
                </a:tc>
              </a:tr>
              <a:tr h="69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3</a:t>
                      </a:r>
                      <a:endParaRPr b="1" sz="4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8</a:t>
                      </a:r>
                      <a:endParaRPr b="1" sz="4000"/>
                    </a:p>
                  </a:txBody>
                  <a:tcPr marT="91425" marB="91425" marR="91425" marL="91425"/>
                </a:tc>
              </a:tr>
              <a:tr h="69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7</a:t>
                      </a:r>
                      <a:endParaRPr b="1" sz="4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5</a:t>
                      </a:r>
                      <a:endParaRPr b="1" sz="4000"/>
                    </a:p>
                  </a:txBody>
                  <a:tcPr marT="91425" marB="91425" marR="91425" marL="91425"/>
                </a:tc>
              </a:tr>
              <a:tr h="69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10</a:t>
                      </a:r>
                      <a:endParaRPr b="1" sz="4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1</a:t>
                      </a:r>
                      <a:endParaRPr b="1" sz="4000"/>
                    </a:p>
                  </a:txBody>
                  <a:tcPr marT="91425" marB="91425" marR="91425" marL="91425"/>
                </a:tc>
              </a:tr>
              <a:tr h="69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6</a:t>
                      </a:r>
                      <a:endParaRPr b="1" sz="4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4000"/>
                        <a:t>9</a:t>
                      </a:r>
                      <a:endParaRPr b="1" sz="4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7"/>
          <p:cNvSpPr txBox="1"/>
          <p:nvPr>
            <p:ph type="title"/>
          </p:nvPr>
        </p:nvSpPr>
        <p:spPr>
          <a:xfrm>
            <a:off x="838200" y="365125"/>
            <a:ext cx="105156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529" name="Google Shape;529;p57"/>
          <p:cNvSpPr txBox="1"/>
          <p:nvPr>
            <p:ph idx="1" type="body"/>
          </p:nvPr>
        </p:nvSpPr>
        <p:spPr>
          <a:xfrm>
            <a:off x="838200" y="1393371"/>
            <a:ext cx="10515600" cy="47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Count as you trace the numbers below.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530" name="Google Shape;530;p57"/>
          <p:cNvSpPr txBox="1"/>
          <p:nvPr>
            <p:ph idx="11" type="ftr"/>
          </p:nvPr>
        </p:nvSpPr>
        <p:spPr>
          <a:xfrm>
            <a:off x="711200" y="5834744"/>
            <a:ext cx="101601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31" name="Google Shape;531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532" name="Google Shape;53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0700" y="1973775"/>
            <a:ext cx="9149575" cy="39865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8"/>
          <p:cNvSpPr txBox="1"/>
          <p:nvPr>
            <p:ph type="title"/>
          </p:nvPr>
        </p:nvSpPr>
        <p:spPr>
          <a:xfrm>
            <a:off x="838200" y="365125"/>
            <a:ext cx="105156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539" name="Google Shape;539;p58"/>
          <p:cNvSpPr txBox="1"/>
          <p:nvPr>
            <p:ph idx="1" type="body"/>
          </p:nvPr>
        </p:nvSpPr>
        <p:spPr>
          <a:xfrm>
            <a:off x="838200" y="1003525"/>
            <a:ext cx="10515600" cy="51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Complete the following number pattern.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540" name="Google Shape;540;p58"/>
          <p:cNvSpPr txBox="1"/>
          <p:nvPr>
            <p:ph idx="11" type="ftr"/>
          </p:nvPr>
        </p:nvSpPr>
        <p:spPr>
          <a:xfrm>
            <a:off x="711200" y="5834744"/>
            <a:ext cx="101601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41" name="Google Shape;54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542" name="Google Shape;54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4675" y="1538875"/>
            <a:ext cx="6724175" cy="48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9"/>
          <p:cNvSpPr txBox="1"/>
          <p:nvPr>
            <p:ph type="title"/>
          </p:nvPr>
        </p:nvSpPr>
        <p:spPr>
          <a:xfrm>
            <a:off x="838200" y="365126"/>
            <a:ext cx="10515600" cy="9266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/>
              <a:t>Group 3</a:t>
            </a:r>
            <a:endParaRPr/>
          </a:p>
        </p:txBody>
      </p:sp>
      <p:sp>
        <p:nvSpPr>
          <p:cNvPr id="549" name="Google Shape;549;p59"/>
          <p:cNvSpPr txBox="1"/>
          <p:nvPr>
            <p:ph idx="1" type="body"/>
          </p:nvPr>
        </p:nvSpPr>
        <p:spPr>
          <a:xfrm>
            <a:off x="838200" y="1291772"/>
            <a:ext cx="10515600" cy="4885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1: Count the objects and write the total.</a:t>
            </a:r>
            <a:r>
              <a:rPr b="0" i="0" lang="en-ZA" sz="2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9"/>
          <p:cNvSpPr txBox="1"/>
          <p:nvPr>
            <p:ph idx="11" type="ftr"/>
          </p:nvPr>
        </p:nvSpPr>
        <p:spPr>
          <a:xfrm>
            <a:off x="653143" y="5718628"/>
            <a:ext cx="10700657" cy="928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51" name="Google Shape;55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873187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552" name="Google Shape;552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02341"/>
            <a:ext cx="1009650" cy="68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0"/>
          <p:cNvSpPr txBox="1"/>
          <p:nvPr>
            <p:ph type="title"/>
          </p:nvPr>
        </p:nvSpPr>
        <p:spPr>
          <a:xfrm>
            <a:off x="838200" y="365125"/>
            <a:ext cx="10515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/>
          </a:p>
        </p:txBody>
      </p:sp>
      <p:sp>
        <p:nvSpPr>
          <p:cNvPr id="558" name="Google Shape;558;p60"/>
          <p:cNvSpPr txBox="1"/>
          <p:nvPr>
            <p:ph idx="1" type="body"/>
          </p:nvPr>
        </p:nvSpPr>
        <p:spPr>
          <a:xfrm>
            <a:off x="838200" y="1098625"/>
            <a:ext cx="105156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Complete the number pattern below.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559" name="Google Shape;559;p60"/>
          <p:cNvSpPr txBox="1"/>
          <p:nvPr>
            <p:ph idx="11" type="ftr"/>
          </p:nvPr>
        </p:nvSpPr>
        <p:spPr>
          <a:xfrm>
            <a:off x="711200" y="5834744"/>
            <a:ext cx="101601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60" name="Google Shape;56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60273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561" name="Google Shape;56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7875" y="1555600"/>
            <a:ext cx="7180600" cy="44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ZA"/>
              <a:t>Week 8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6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ZA">
                <a:latin typeface="Arial"/>
                <a:ea typeface="Arial"/>
                <a:cs typeface="Arial"/>
                <a:sym typeface="Arial"/>
              </a:rPr>
              <a:t>Describe, compare and order numbers 1-15 and recognise: more, less and equal to</a:t>
            </a:r>
            <a:endParaRPr sz="3400"/>
          </a:p>
        </p:txBody>
      </p:sp>
      <p:sp>
        <p:nvSpPr>
          <p:cNvPr id="569" name="Google Shape;569;p61"/>
          <p:cNvSpPr txBox="1"/>
          <p:nvPr>
            <p:ph idx="11" type="ftr"/>
          </p:nvPr>
        </p:nvSpPr>
        <p:spPr>
          <a:xfrm>
            <a:off x="232229" y="5892800"/>
            <a:ext cx="11524341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570" name="Google Shape;57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571" name="Google Shape;571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5863047"/>
            <a:ext cx="1152525" cy="83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2"/>
          <p:cNvSpPr txBox="1"/>
          <p:nvPr>
            <p:ph type="title"/>
          </p:nvPr>
        </p:nvSpPr>
        <p:spPr>
          <a:xfrm>
            <a:off x="838200" y="365126"/>
            <a:ext cx="10515600" cy="825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577" name="Google Shape;577;p62"/>
          <p:cNvSpPr txBox="1"/>
          <p:nvPr>
            <p:ph idx="1" type="body"/>
          </p:nvPr>
        </p:nvSpPr>
        <p:spPr>
          <a:xfrm>
            <a:off x="838200" y="1349829"/>
            <a:ext cx="10515600" cy="4827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Say which set has more, less or equal objects.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2"/>
          <p:cNvSpPr txBox="1"/>
          <p:nvPr>
            <p:ph idx="11" type="ftr"/>
          </p:nvPr>
        </p:nvSpPr>
        <p:spPr>
          <a:xfrm>
            <a:off x="464457" y="5752221"/>
            <a:ext cx="10889343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79" name="Google Shape;57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485" y="5802032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580" name="Google Shape;580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9258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2150" y="1839350"/>
            <a:ext cx="8346676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3"/>
          <p:cNvSpPr txBox="1"/>
          <p:nvPr>
            <p:ph type="title"/>
          </p:nvPr>
        </p:nvSpPr>
        <p:spPr>
          <a:xfrm>
            <a:off x="838200" y="365126"/>
            <a:ext cx="105156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Task 1 cont… </a:t>
            </a:r>
            <a:endParaRPr/>
          </a:p>
        </p:txBody>
      </p:sp>
      <p:sp>
        <p:nvSpPr>
          <p:cNvPr id="587" name="Google Shape;587;p63"/>
          <p:cNvSpPr txBox="1"/>
          <p:nvPr>
            <p:ph idx="1" type="body"/>
          </p:nvPr>
        </p:nvSpPr>
        <p:spPr>
          <a:xfrm>
            <a:off x="838200" y="1349829"/>
            <a:ext cx="10515600" cy="48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63"/>
          <p:cNvSpPr txBox="1"/>
          <p:nvPr>
            <p:ph idx="11" type="ftr"/>
          </p:nvPr>
        </p:nvSpPr>
        <p:spPr>
          <a:xfrm>
            <a:off x="464457" y="5752221"/>
            <a:ext cx="10889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89" name="Google Shape;58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485" y="5802032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590" name="Google Shape;590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9258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638" y="1436850"/>
            <a:ext cx="9367024" cy="43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4"/>
          <p:cNvSpPr txBox="1"/>
          <p:nvPr>
            <p:ph type="title"/>
          </p:nvPr>
        </p:nvSpPr>
        <p:spPr>
          <a:xfrm>
            <a:off x="838200" y="365125"/>
            <a:ext cx="10515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597" name="Google Shape;597;p64"/>
          <p:cNvSpPr txBox="1"/>
          <p:nvPr>
            <p:ph idx="1" type="body"/>
          </p:nvPr>
        </p:nvSpPr>
        <p:spPr>
          <a:xfrm>
            <a:off x="838200" y="1098625"/>
            <a:ext cx="10515600" cy="5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2: Say if second block is more, less than, or equal to the first block. Colour the </a:t>
            </a:r>
            <a:r>
              <a:rPr lang="en-ZA" sz="2400">
                <a:latin typeface="Arial"/>
                <a:ea typeface="Arial"/>
                <a:cs typeface="Arial"/>
                <a:sym typeface="Arial"/>
              </a:rPr>
              <a:t>correct</a:t>
            </a:r>
            <a:r>
              <a:rPr lang="en-ZA" sz="2400">
                <a:latin typeface="Arial"/>
                <a:ea typeface="Arial"/>
                <a:cs typeface="Arial"/>
                <a:sym typeface="Arial"/>
              </a:rPr>
              <a:t> answer.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64"/>
          <p:cNvSpPr txBox="1"/>
          <p:nvPr>
            <p:ph idx="11" type="ftr"/>
          </p:nvPr>
        </p:nvSpPr>
        <p:spPr>
          <a:xfrm>
            <a:off x="464457" y="5752221"/>
            <a:ext cx="10889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599" name="Google Shape;59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485" y="5802032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600" name="Google Shape;60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9258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5925" y="1823225"/>
            <a:ext cx="8380149" cy="41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5"/>
          <p:cNvSpPr txBox="1"/>
          <p:nvPr>
            <p:ph type="title"/>
          </p:nvPr>
        </p:nvSpPr>
        <p:spPr>
          <a:xfrm>
            <a:off x="838200" y="365125"/>
            <a:ext cx="10515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/>
          </a:p>
        </p:txBody>
      </p:sp>
      <p:sp>
        <p:nvSpPr>
          <p:cNvPr id="607" name="Google Shape;607;p65"/>
          <p:cNvSpPr txBox="1"/>
          <p:nvPr>
            <p:ph idx="1" type="body"/>
          </p:nvPr>
        </p:nvSpPr>
        <p:spPr>
          <a:xfrm>
            <a:off x="620475" y="1098625"/>
            <a:ext cx="10733400" cy="5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Match the objects on the left with objects on the right, colour the correct answer.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65"/>
          <p:cNvSpPr txBox="1"/>
          <p:nvPr>
            <p:ph idx="11" type="ftr"/>
          </p:nvPr>
        </p:nvSpPr>
        <p:spPr>
          <a:xfrm>
            <a:off x="464457" y="5752221"/>
            <a:ext cx="10889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609" name="Google Shape;60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485" y="5802032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610" name="Google Shape;610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5899258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9775" y="1856675"/>
            <a:ext cx="7665774" cy="46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Week 9</a:t>
            </a:r>
            <a:endParaRPr/>
          </a:p>
        </p:txBody>
      </p:sp>
      <p:sp>
        <p:nvSpPr>
          <p:cNvPr id="617" name="Google Shape;617;p6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618" name="Google Shape;61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05114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619" name="Google Shape;619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0864" y="5939437"/>
            <a:ext cx="1009650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6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ZA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the same number repeatedly up to 10</a:t>
            </a:r>
            <a:endParaRPr sz="3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7"/>
          <p:cNvSpPr txBox="1"/>
          <p:nvPr>
            <p:ph type="title"/>
          </p:nvPr>
        </p:nvSpPr>
        <p:spPr>
          <a:xfrm>
            <a:off x="838200" y="365126"/>
            <a:ext cx="10515600" cy="1028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626" name="Google Shape;626;p67"/>
          <p:cNvSpPr txBox="1"/>
          <p:nvPr>
            <p:ph idx="1" type="body"/>
          </p:nvPr>
        </p:nvSpPr>
        <p:spPr>
          <a:xfrm>
            <a:off x="838200" y="1277257"/>
            <a:ext cx="10515600" cy="4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Task 1: Answer the questions below.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27" name="Google Shape;627;p67"/>
          <p:cNvSpPr txBox="1"/>
          <p:nvPr>
            <p:ph idx="11" type="ftr"/>
          </p:nvPr>
        </p:nvSpPr>
        <p:spPr>
          <a:xfrm>
            <a:off x="943203" y="6220505"/>
            <a:ext cx="10518444" cy="593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628" name="Google Shape;62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162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629" name="Google Shape;629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1487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4300" y="1739600"/>
            <a:ext cx="7644175" cy="494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8"/>
          <p:cNvSpPr txBox="1"/>
          <p:nvPr>
            <p:ph type="title"/>
          </p:nvPr>
        </p:nvSpPr>
        <p:spPr>
          <a:xfrm>
            <a:off x="838200" y="365126"/>
            <a:ext cx="105156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636" name="Google Shape;636;p68"/>
          <p:cNvSpPr txBox="1"/>
          <p:nvPr>
            <p:ph idx="1" type="body"/>
          </p:nvPr>
        </p:nvSpPr>
        <p:spPr>
          <a:xfrm>
            <a:off x="838200" y="1277257"/>
            <a:ext cx="10515600" cy="4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Task 1: Write a sum of the following.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37" name="Google Shape;637;p68"/>
          <p:cNvSpPr txBox="1"/>
          <p:nvPr>
            <p:ph idx="11" type="ftr"/>
          </p:nvPr>
        </p:nvSpPr>
        <p:spPr>
          <a:xfrm>
            <a:off x="943203" y="6220505"/>
            <a:ext cx="10518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638" name="Google Shape;63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162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639" name="Google Shape;639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1487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8325" y="2190050"/>
            <a:ext cx="438242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72200" y="3048000"/>
            <a:ext cx="438242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8325" y="4069025"/>
            <a:ext cx="4282075" cy="83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6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21400" y="2185275"/>
            <a:ext cx="4167400" cy="95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6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21400" y="3334450"/>
            <a:ext cx="40336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6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52450" y="4070163"/>
            <a:ext cx="4105275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9"/>
          <p:cNvSpPr txBox="1"/>
          <p:nvPr>
            <p:ph type="title"/>
          </p:nvPr>
        </p:nvSpPr>
        <p:spPr>
          <a:xfrm>
            <a:off x="838200" y="365125"/>
            <a:ext cx="105156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3</a:t>
            </a:r>
            <a:endParaRPr/>
          </a:p>
        </p:txBody>
      </p:sp>
      <p:sp>
        <p:nvSpPr>
          <p:cNvPr id="651" name="Google Shape;651;p69"/>
          <p:cNvSpPr txBox="1"/>
          <p:nvPr>
            <p:ph idx="1" type="body"/>
          </p:nvPr>
        </p:nvSpPr>
        <p:spPr>
          <a:xfrm>
            <a:off x="838200" y="1195825"/>
            <a:ext cx="10515600" cy="4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Write a sum of the following.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653" name="Google Shape;65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162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654" name="Google Shape;654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14879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2675" y="1672675"/>
            <a:ext cx="8457225" cy="498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ZA">
                <a:latin typeface="Arial"/>
                <a:ea typeface="Arial"/>
                <a:cs typeface="Arial"/>
                <a:sym typeface="Arial"/>
              </a:rPr>
              <a:t>Week 10</a:t>
            </a:r>
            <a:endParaRPr/>
          </a:p>
        </p:txBody>
      </p:sp>
      <p:sp>
        <p:nvSpPr>
          <p:cNvPr id="661" name="Google Shape;661;p7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ZA" sz="2200">
                <a:latin typeface="Arial"/>
                <a:ea typeface="Arial"/>
                <a:cs typeface="Arial"/>
                <a:sym typeface="Arial"/>
              </a:rPr>
              <a:t>Recognise and identify the South African coins, R1,R2, R5 and the bank notes R10, R20, R50, R100 and R200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62" name="Google Shape;662;p70"/>
          <p:cNvSpPr txBox="1"/>
          <p:nvPr>
            <p:ph idx="11" type="ftr"/>
          </p:nvPr>
        </p:nvSpPr>
        <p:spPr>
          <a:xfrm>
            <a:off x="841829" y="5735637"/>
            <a:ext cx="10624457" cy="985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663" name="Google Shape;66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829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664" name="Google Shape;66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0521" y="5939437"/>
            <a:ext cx="10096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1"/>
          <p:cNvSpPr txBox="1"/>
          <p:nvPr>
            <p:ph type="title"/>
          </p:nvPr>
        </p:nvSpPr>
        <p:spPr>
          <a:xfrm>
            <a:off x="838200" y="365125"/>
            <a:ext cx="105156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1</a:t>
            </a:r>
            <a:endParaRPr/>
          </a:p>
        </p:txBody>
      </p:sp>
      <p:sp>
        <p:nvSpPr>
          <p:cNvPr id="670" name="Google Shape;670;p71"/>
          <p:cNvSpPr txBox="1"/>
          <p:nvPr>
            <p:ph idx="1" type="body"/>
          </p:nvPr>
        </p:nvSpPr>
        <p:spPr>
          <a:xfrm>
            <a:off x="838200" y="1567543"/>
            <a:ext cx="10515600" cy="46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Say the correct value of each South African note.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71"/>
          <p:cNvSpPr txBox="1"/>
          <p:nvPr>
            <p:ph idx="11" type="ftr"/>
          </p:nvPr>
        </p:nvSpPr>
        <p:spPr>
          <a:xfrm>
            <a:off x="682171" y="5820229"/>
            <a:ext cx="106716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672" name="Google Shape;67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673" name="Google Shape;673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9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4838" y="4319825"/>
            <a:ext cx="2446650" cy="9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7725" y="4319825"/>
            <a:ext cx="2274500" cy="9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2450" y="5440950"/>
            <a:ext cx="2274500" cy="10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44100" y="4281900"/>
            <a:ext cx="2145775" cy="10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5950" y="4086100"/>
            <a:ext cx="2274500" cy="10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71"/>
          <p:cNvPicPr preferRelativeResize="0"/>
          <p:nvPr/>
        </p:nvPicPr>
        <p:blipFill rotWithShape="1">
          <a:blip r:embed="rId10">
            <a:alphaModFix/>
          </a:blip>
          <a:srcRect b="31449" l="0" r="0" t="4171"/>
          <a:stretch/>
        </p:blipFill>
        <p:spPr>
          <a:xfrm>
            <a:off x="529750" y="2141025"/>
            <a:ext cx="10976476" cy="194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2"/>
          <p:cNvSpPr txBox="1"/>
          <p:nvPr>
            <p:ph type="title"/>
          </p:nvPr>
        </p:nvSpPr>
        <p:spPr>
          <a:xfrm>
            <a:off x="838200" y="365125"/>
            <a:ext cx="105156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ZA" sz="4000">
                <a:latin typeface="Arial"/>
                <a:ea typeface="Arial"/>
                <a:cs typeface="Arial"/>
                <a:sym typeface="Arial"/>
              </a:rPr>
              <a:t>Group 2</a:t>
            </a:r>
            <a:endParaRPr/>
          </a:p>
        </p:txBody>
      </p:sp>
      <p:sp>
        <p:nvSpPr>
          <p:cNvPr id="685" name="Google Shape;685;p72"/>
          <p:cNvSpPr txBox="1"/>
          <p:nvPr>
            <p:ph idx="1" type="body"/>
          </p:nvPr>
        </p:nvSpPr>
        <p:spPr>
          <a:xfrm>
            <a:off x="838200" y="1304701"/>
            <a:ext cx="10515600" cy="48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ZA" sz="2400">
                <a:latin typeface="Arial"/>
                <a:ea typeface="Arial"/>
                <a:cs typeface="Arial"/>
                <a:sym typeface="Arial"/>
              </a:rPr>
              <a:t>Task 1: Match the amount with the money.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72"/>
          <p:cNvSpPr txBox="1"/>
          <p:nvPr>
            <p:ph idx="11" type="ftr"/>
          </p:nvPr>
        </p:nvSpPr>
        <p:spPr>
          <a:xfrm>
            <a:off x="838200" y="5907315"/>
            <a:ext cx="10515600" cy="828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ew GDE logo" id="687" name="Google Shape;68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905114"/>
            <a:ext cx="1152525" cy="830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kuthula logo Freehand" id="688" name="Google Shape;688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44150" y="6014880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2850" y="1718075"/>
            <a:ext cx="6757626" cy="4872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3"/>
          <p:cNvSpPr txBox="1"/>
          <p:nvPr>
            <p:ph type="title"/>
          </p:nvPr>
        </p:nvSpPr>
        <p:spPr>
          <a:xfrm>
            <a:off x="838200" y="365125"/>
            <a:ext cx="105156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br>
              <a:rPr b="1" i="0" lang="en-ZA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ZA" sz="4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3</a:t>
            </a:r>
            <a:br>
              <a:rPr b="1" i="0" lang="en-ZA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695" name="Google Shape;695;p7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696" name="Google Shape;69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4150" y="6014880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697" name="Google Shape;697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5905114"/>
            <a:ext cx="1152525" cy="830651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73"/>
          <p:cNvSpPr txBox="1"/>
          <p:nvPr>
            <p:ph idx="1" type="body"/>
          </p:nvPr>
        </p:nvSpPr>
        <p:spPr>
          <a:xfrm>
            <a:off x="838200" y="1195825"/>
            <a:ext cx="10515600" cy="49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ZA"/>
              <a:t>Task 1:Circle the notes/coins that has a highest value.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99" name="Google Shape;699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750" y="1629450"/>
            <a:ext cx="7209275" cy="511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74"/>
          <p:cNvSpPr txBox="1"/>
          <p:nvPr>
            <p:ph type="title"/>
          </p:nvPr>
        </p:nvSpPr>
        <p:spPr>
          <a:xfrm>
            <a:off x="838200" y="365126"/>
            <a:ext cx="10515600" cy="723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ZA" sz="4000">
                <a:latin typeface="Arial"/>
                <a:ea typeface="Arial"/>
                <a:cs typeface="Arial"/>
                <a:sym typeface="Arial"/>
              </a:rPr>
              <a:t>Resources</a:t>
            </a:r>
            <a:endParaRPr/>
          </a:p>
        </p:txBody>
      </p:sp>
      <p:sp>
        <p:nvSpPr>
          <p:cNvPr id="705" name="Google Shape;705;p74"/>
          <p:cNvSpPr txBox="1"/>
          <p:nvPr>
            <p:ph idx="1" type="body"/>
          </p:nvPr>
        </p:nvSpPr>
        <p:spPr>
          <a:xfrm>
            <a:off x="838200" y="1233714"/>
            <a:ext cx="10515600" cy="4943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u="sng">
                <a:solidFill>
                  <a:schemeClr val="hlink"/>
                </a:solidFill>
                <a:hlinkClick r:id="rId3"/>
              </a:rPr>
              <a:t>www.k5learning.com</a:t>
            </a:r>
            <a:r>
              <a:rPr lang="en-ZA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www. sparklebox.co.uk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u="sng">
                <a:solidFill>
                  <a:schemeClr val="hlink"/>
                </a:solidFill>
                <a:hlinkClick r:id="rId4"/>
              </a:rPr>
              <a:t>www.twinkl.co.za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 u="sng">
                <a:solidFill>
                  <a:schemeClr val="hlink"/>
                </a:solidFill>
                <a:hlinkClick r:id="rId5"/>
              </a:rPr>
              <a:t>www.Pinterest.com</a:t>
            </a:r>
            <a:r>
              <a:rPr lang="en-ZA"/>
              <a:t>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ZA"/>
              <a:t>DBE Mathematics grade 1 book 1 and 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DBE Mathematics grade 1 book 3 and 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ZA"/>
              <a:t> </a:t>
            </a:r>
            <a:endParaRPr/>
          </a:p>
        </p:txBody>
      </p:sp>
      <p:sp>
        <p:nvSpPr>
          <p:cNvPr id="706" name="Google Shape;706;p74"/>
          <p:cNvSpPr txBox="1"/>
          <p:nvPr>
            <p:ph idx="11" type="ftr"/>
          </p:nvPr>
        </p:nvSpPr>
        <p:spPr>
          <a:xfrm>
            <a:off x="838200" y="5878286"/>
            <a:ext cx="10515600" cy="843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  <p:pic>
        <p:nvPicPr>
          <p:cNvPr descr="Nokuthula logo Freehand" id="707" name="Google Shape;707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44150" y="5960273"/>
            <a:ext cx="10096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GDE logo" id="708" name="Google Shape;708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829" y="5890825"/>
            <a:ext cx="1152525" cy="83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