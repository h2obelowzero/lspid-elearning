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57" r:id="rId2"/>
    <p:sldId id="260" r:id="rId3"/>
    <p:sldId id="298" r:id="rId4"/>
    <p:sldId id="299" r:id="rId5"/>
    <p:sldId id="261" r:id="rId6"/>
    <p:sldId id="301" r:id="rId7"/>
    <p:sldId id="303" r:id="rId8"/>
    <p:sldId id="304" r:id="rId9"/>
    <p:sldId id="305" r:id="rId10"/>
    <p:sldId id="306" r:id="rId11"/>
    <p:sldId id="307" r:id="rId12"/>
    <p:sldId id="308" r:id="rId13"/>
    <p:sldId id="309" r:id="rId14"/>
    <p:sldId id="310" r:id="rId15"/>
    <p:sldId id="311" r:id="rId16"/>
    <p:sldId id="312" r:id="rId17"/>
    <p:sldId id="320" r:id="rId18"/>
    <p:sldId id="314" r:id="rId19"/>
    <p:sldId id="315" r:id="rId20"/>
    <p:sldId id="316" r:id="rId21"/>
    <p:sldId id="317" r:id="rId22"/>
    <p:sldId id="318" r:id="rId23"/>
    <p:sldId id="327" r:id="rId24"/>
    <p:sldId id="319" r:id="rId25"/>
    <p:sldId id="321" r:id="rId26"/>
    <p:sldId id="322" r:id="rId27"/>
    <p:sldId id="325" r:id="rId28"/>
    <p:sldId id="326" r:id="rId29"/>
    <p:sldId id="323" r:id="rId30"/>
    <p:sldId id="328" r:id="rId31"/>
    <p:sldId id="264"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 id="342" r:id="rId46"/>
    <p:sldId id="343" r:id="rId47"/>
    <p:sldId id="344" r:id="rId48"/>
    <p:sldId id="345" r:id="rId49"/>
    <p:sldId id="346" r:id="rId50"/>
    <p:sldId id="347" r:id="rId51"/>
    <p:sldId id="348" r:id="rId52"/>
    <p:sldId id="349" r:id="rId53"/>
    <p:sldId id="350" r:id="rId54"/>
    <p:sldId id="351" r:id="rId55"/>
    <p:sldId id="353" r:id="rId56"/>
    <p:sldId id="354" r:id="rId57"/>
    <p:sldId id="355" r:id="rId58"/>
    <p:sldId id="356" r:id="rId59"/>
    <p:sldId id="357" r:id="rId60"/>
    <p:sldId id="358" r:id="rId6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34" autoAdjust="0"/>
  </p:normalViewPr>
  <p:slideViewPr>
    <p:cSldViewPr snapToGrid="0">
      <p:cViewPr varScale="1">
        <p:scale>
          <a:sx n="82" d="100"/>
          <a:sy n="82" d="100"/>
        </p:scale>
        <p:origin x="13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D77643-8529-46C2-9DE4-751577CF64CA}" type="datetimeFigureOut">
              <a:rPr lang="en-US" smtClean="0"/>
              <a:t>7/12/2024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86E0A-FC77-4FAB-BF1F-C5E3EB0071F6}" type="slidenum">
              <a:rPr lang="en-US" smtClean="0"/>
              <a:t>‹#›</a:t>
            </a:fld>
            <a:endParaRPr lang="en-US"/>
          </a:p>
        </p:txBody>
      </p:sp>
    </p:spTree>
    <p:extLst>
      <p:ext uri="{BB962C8B-B14F-4D97-AF65-F5344CB8AC3E}">
        <p14:creationId xmlns:p14="http://schemas.microsoft.com/office/powerpoint/2010/main" val="48686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D86E0A-FC77-4FAB-BF1F-C5E3EB0071F6}" type="slidenum">
              <a:rPr lang="en-US" smtClean="0"/>
              <a:t>32</a:t>
            </a:fld>
            <a:endParaRPr lang="en-US"/>
          </a:p>
        </p:txBody>
      </p:sp>
    </p:spTree>
    <p:extLst>
      <p:ext uri="{BB962C8B-B14F-4D97-AF65-F5344CB8AC3E}">
        <p14:creationId xmlns:p14="http://schemas.microsoft.com/office/powerpoint/2010/main" val="2858591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990155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371526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14608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205040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AA7088-B216-45CE-9144-B068066D4925}" type="datetimeFigureOut">
              <a:rPr lang="en-ZA" smtClean="0"/>
              <a:t>2024/07/11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231963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3"/>
          <p:cNvSpPr>
            <a:spLocks noGrp="1"/>
          </p:cNvSpPr>
          <p:nvPr>
            <p:ph type="ftr" sz="quarter" idx="11"/>
          </p:nvPr>
        </p:nvSpPr>
        <p:spPr/>
        <p:txBody>
          <a:bodyPr/>
          <a:lstStyle/>
          <a:p>
            <a:endParaRPr lang="en-ZA"/>
          </a:p>
        </p:txBody>
      </p:sp>
      <p:sp>
        <p:nvSpPr>
          <p:cNvPr id="6" name="Slide Number Placeholder 4"/>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03404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2"/>
          <p:cNvSpPr>
            <a:spLocks noGrp="1"/>
          </p:cNvSpPr>
          <p:nvPr>
            <p:ph type="ftr" sz="quarter" idx="11"/>
          </p:nvPr>
        </p:nvSpPr>
        <p:spPr/>
        <p:txBody>
          <a:bodyPr/>
          <a:lstStyle/>
          <a:p>
            <a:endParaRPr lang="en-ZA"/>
          </a:p>
        </p:txBody>
      </p:sp>
      <p:sp>
        <p:nvSpPr>
          <p:cNvPr id="6" name="Slide Number Placeholder 3"/>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641973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5"/>
          <p:cNvSpPr>
            <a:spLocks noGrp="1"/>
          </p:cNvSpPr>
          <p:nvPr>
            <p:ph type="ftr" sz="quarter" idx="11"/>
          </p:nvPr>
        </p:nvSpPr>
        <p:spPr/>
        <p:txBody>
          <a:bodyPr/>
          <a:lstStyle/>
          <a:p>
            <a:endParaRPr lang="en-ZA"/>
          </a:p>
        </p:txBody>
      </p:sp>
      <p:sp>
        <p:nvSpPr>
          <p:cNvPr id="6"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151528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524680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661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371395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81498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704994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822998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87148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0863965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7760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6AA7088-B216-45CE-9144-B068066D4925}" type="datetimeFigureOut">
              <a:rPr lang="en-ZA" smtClean="0"/>
              <a:t>2024/07/11</a:t>
            </a:fld>
            <a:endParaRPr lang="en-Z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Z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A825E92-66FC-4255-8C2B-6877120039F9}" type="slidenum">
              <a:rPr lang="en-ZA" smtClean="0"/>
              <a:t>‹#›</a:t>
            </a:fld>
            <a:endParaRPr lang="en-ZA"/>
          </a:p>
        </p:txBody>
      </p:sp>
    </p:spTree>
    <p:extLst>
      <p:ext uri="{BB962C8B-B14F-4D97-AF65-F5344CB8AC3E}">
        <p14:creationId xmlns:p14="http://schemas.microsoft.com/office/powerpoint/2010/main" val="55696978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hyperlink" Target="https://images.search.yahoo.com/images/view;_ylt=AwrhS1Yp.o9mOzo9HlqJzbkF;_ylu=c2VjA3NyBHNsawNpbWcEb2lkAzU3M2RiZmRiYTc4MTE0MzJhZGNjZDI2NDI3ZTliMDI5BGdwb3MDMQRpdANiaW5n?back=https%3A%2F%2Fimages.search.yahoo.com%2Fsearch%2Fimages%3Fp%3Dcolor%2Bnumbers%2Bfrom%2B1%2Bto%2B10%26ei%3DUTF-8%26type%3DE211US885G0%26fr%3Dmcafee%26fr2%3Dp%253As%252Cv%253Ai%252Cm%253Asb-top%26tab%3Dorganic%26ri%3D1&amp;w=474&amp;h=658&amp;imgurl=1.bp.blogspot.com%2F-pinFeyLDeME%2FXYW9-voLSEI%2FAAAAAAAASjo%2F2z0hUEG2VpoxVd873qIC1g3tqkrBQJ4JgCLcBGAsYHQ%2Fs1600%2FLearn%2Band%2BColor%2BNumbers%2Bfrom%2B1%2B-%2B10%2BColoring%2BBook.jpg-3.jpg&amp;rurl=https%3A%2F%2Fwww.sketchite.com%2Fnumber-coloring-sheets-1-10-sketch-templates%2F&amp;size=133.3KB&amp;p=color+numbers+from+1+to+10&amp;oid=573dbfdba7811432adccd26427e9b029&amp;fr2=p%3As%2Cv%3Ai%2Cm%3Asb-top&amp;fr=mcafee&amp;tt=Number+Coloring+Sheets+1+10+Coloring+Pages&amp;b=0&amp;ni=90&amp;no=1&amp;ts=&amp;tab=organic&amp;sigr=gYvkdT3Ok51q&amp;sigb=BOzcz.qvlg11&amp;sigi=wpYY80l14ePQ&amp;sigt=OZLXtUutgPmC&amp;.crumb=xWeISs3fozD&amp;fr=mcafee&amp;fr2=p%3As%2Cv%3Ai%2Cm%3Asb-top&amp;type=E211US885G0"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images.search.yahoo.com/images/view;_ylt=AwrijC44lJBmWTUDF9eJzbkF;_ylu=c2VjA3NyBHNsawNpbWcEb2lkAzVlOTY1OTY2Y2JlNzQ3YjA5NDkxMDgwNDFjZjBhNDkzBGdwb3MDMwRpdANiaW5n?back=https%3A%2F%2Fimages.search.yahoo.com%2Fsearch%2Fimages%3Fp%3Daddition%2Band%2Bsubtraction%2Bof%2Bsouth%2Bafrican%2Bcoins%2Bgrade%2B1%2Bworksheets%26ei%3DUTF-8%26type%3DE211US885G0%26fr%3Dmcafee%26fr2%3Dp%253As%252Cv%253Ai%252Cm%253Asb-top%26tab%3Dorganic%26ri%3D3&amp;w=247&amp;h=350&amp;imgurl=ecdn.teacherspayteachers.com%2Fthumbitem%2FSouth-African-Money-Coins-worksheet-9280268-1678900465%2Foriginal-9280268-1.jpg&amp;rurl=https%3A%2F%2Fwww.teacherspayteachers.com%2FProduct%2FSouth-African-Money-Coins-worksheet-9280268&amp;size=23.8KB&amp;p=addition+and+subtraction+of+south+african+coins+grade+1+worksheets&amp;oid=5e965966cbe747b0949108041cf0a493&amp;fr2=p%3As%2Cv%3Ai%2Cm%3Asb-top&amp;fr=mcafee&amp;tt=South+African+Money+%28Coins%29+worksheet+by+Rawrsome+Resources+%7C+TPT&amp;b=0&amp;ni=90&amp;no=3&amp;ts=&amp;tab=organic&amp;sigr=Jo045aCrhsGi&amp;sigb=h8un7TODp1jw&amp;sigi=hRu5lffcjgYX&amp;sigt=SX5HMjdel3Zt&amp;.crumb=xWeISs3fozD&amp;fr=mcafee&amp;fr2=p%3As%2Cv%3Ai%2Cm%3Asb-top&amp;type=E211US885G0" TargetMode="External"/><Relationship Id="rId2" Type="http://schemas.openxmlformats.org/officeDocument/2006/relationships/hyperlink" Target="https://i.pinimg.com/originals/18/1e/80/181e80ade659574ef92cad26f66e7ca3.jpg"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8" Type="http://schemas.openxmlformats.org/officeDocument/2006/relationships/hyperlink" Target="https://tse1.explicit.bing.net/th?id=OIP.Pf5PLcFzOieaytBwQP1icwHaFj&amp;pid=Api&amp;P=0&amp;h=220" TargetMode="External"/><Relationship Id="rId13" Type="http://schemas.openxmlformats.org/officeDocument/2006/relationships/hyperlink" Target="https://tse3.mm.bing.net/th?id=OIP.QGToBxXfm7Nvxy6ig3og5QHaE7&amp;pid=Api&amp;P=0&amp;h=220" TargetMode="External"/><Relationship Id="rId3" Type="http://schemas.openxmlformats.org/officeDocument/2006/relationships/hyperlink" Target="https://tse1.mm.bing.net/th?id=OIP.jY4jw__-72aXqyIZ1T5aZgAAAA&amp;pid=Api&amp;P=0&amp;h=220" TargetMode="External"/><Relationship Id="rId7" Type="http://schemas.openxmlformats.org/officeDocument/2006/relationships/hyperlink" Target="https://tse1.mm.bing.net/th?id=OIP.Bz1N8jRxld9iO_txZrG1DwHaI4&amp;pid=Api&amp;P=0&amp;h=220" TargetMode="External"/><Relationship Id="rId12" Type="http://schemas.openxmlformats.org/officeDocument/2006/relationships/hyperlink" Target="https://i.pinimg.com/originals/a7/cf/cb/a7cfcb74044a615f35d91493d6377ce5.png" TargetMode="External"/><Relationship Id="rId2" Type="http://schemas.openxmlformats.org/officeDocument/2006/relationships/hyperlink" Target="https://tse1.mm.bing.net/th?id=OIP.pHWfiljXKxQd34KL7GMauwHaHa&amp;pid=Api&amp;P=0&amp;h=220" TargetMode="External"/><Relationship Id="rId16" Type="http://schemas.openxmlformats.org/officeDocument/2006/relationships/hyperlink" Target="https://images.twinkl.co.uk/tw1n/image/private/t_630/image_repo/a7/c3/t-m-33022-circles-and-triangles-2d-shape-repeating-patterns-activity_ver_7.jpg" TargetMode="External"/><Relationship Id="rId1" Type="http://schemas.openxmlformats.org/officeDocument/2006/relationships/slideLayout" Target="../slideLayouts/slideLayout2.xml"/><Relationship Id="rId6" Type="http://schemas.openxmlformats.org/officeDocument/2006/relationships/hyperlink" Target="https://www.math-salamanders.com/image-files/3d-shapes-worksheets-match-2d-3d-shapes-1.gif" TargetMode="External"/><Relationship Id="rId11" Type="http://schemas.openxmlformats.org/officeDocument/2006/relationships/hyperlink" Target="https://tse3.mm.bing.net/th?id=OIP.w8PNkGCAWxN9egOjNh83uwHaDF&amp;pid=Api&amp;P=0&amp;h=220" TargetMode="External"/><Relationship Id="rId5" Type="http://schemas.openxmlformats.org/officeDocument/2006/relationships/hyperlink" Target="https://tse1.mm.bing.net/th?id=OIP.vffXLOKw06v7kUEHxXuTpwHaFP&amp;pid=Api&amp;P=0&amp;h=220" TargetMode="External"/><Relationship Id="rId15" Type="http://schemas.openxmlformats.org/officeDocument/2006/relationships/hyperlink" Target="https://tse3.mm.bing.net/th?id=OIP.9hv5qGcJ0tH6JeNqZIEVLQAAAA&amp;pid=Api&amp;P=0&amp;h=220" TargetMode="External"/><Relationship Id="rId10" Type="http://schemas.openxmlformats.org/officeDocument/2006/relationships/hyperlink" Target="https://www.key2practice.com/wp-content/uploads/2019/09/Class-1-Data-handling-g.jpg?c2ae0e&amp;c2ae0e" TargetMode="External"/><Relationship Id="rId4" Type="http://schemas.openxmlformats.org/officeDocument/2006/relationships/hyperlink" Target="https://i.pinimg.com/originals/46/0a/df/460adf6eeb4384be52faa59cc5c00e43.jpg" TargetMode="External"/><Relationship Id="rId9" Type="http://schemas.openxmlformats.org/officeDocument/2006/relationships/hyperlink" Target="https://content.urbrainy.com/751/671112074/thumbnail_large/813_1.png" TargetMode="External"/><Relationship Id="rId14" Type="http://schemas.openxmlformats.org/officeDocument/2006/relationships/hyperlink" Target="https://tse3.mm.bing.net/th?id=OIP.SSvNe-8g3nen8hF7Y_5mjwHaFj&amp;pid=Api&amp;P=0&amp;h=22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CACF1D1-CD20-42D5-B267-A8D5494C5013}"/>
              </a:ext>
            </a:extLst>
          </p:cNvPr>
          <p:cNvGraphicFramePr>
            <a:graphicFrameLocks noGrp="1"/>
          </p:cNvGraphicFramePr>
          <p:nvPr>
            <p:extLst>
              <p:ext uri="{D42A27DB-BD31-4B8C-83A1-F6EECF244321}">
                <p14:modId xmlns:p14="http://schemas.microsoft.com/office/powerpoint/2010/main" val="1994806541"/>
              </p:ext>
            </p:extLst>
          </p:nvPr>
        </p:nvGraphicFramePr>
        <p:xfrm>
          <a:off x="1272209" y="719665"/>
          <a:ext cx="8887791" cy="5310072"/>
        </p:xfrm>
        <a:graphic>
          <a:graphicData uri="http://schemas.openxmlformats.org/drawingml/2006/table">
            <a:tbl>
              <a:tblPr firstRow="1" bandRow="1">
                <a:tableStyleId>{5C22544A-7EE6-4342-B048-85BDC9FD1C3A}</a:tableStyleId>
              </a:tblPr>
              <a:tblGrid>
                <a:gridCol w="3725970">
                  <a:extLst>
                    <a:ext uri="{9D8B030D-6E8A-4147-A177-3AD203B41FA5}">
                      <a16:colId xmlns:a16="http://schemas.microsoft.com/office/drawing/2014/main" val="3650113161"/>
                    </a:ext>
                  </a:extLst>
                </a:gridCol>
                <a:gridCol w="5161821">
                  <a:extLst>
                    <a:ext uri="{9D8B030D-6E8A-4147-A177-3AD203B41FA5}">
                      <a16:colId xmlns:a16="http://schemas.microsoft.com/office/drawing/2014/main" val="2195754969"/>
                    </a:ext>
                  </a:extLst>
                </a:gridCol>
              </a:tblGrid>
              <a:tr h="1770024">
                <a:tc>
                  <a:txBody>
                    <a:bodyPr/>
                    <a:lstStyle/>
                    <a:p>
                      <a:r>
                        <a:rPr lang="en-ZA" sz="4800" dirty="0"/>
                        <a:t>Subject</a:t>
                      </a:r>
                    </a:p>
                  </a:txBody>
                  <a:tcPr/>
                </a:tc>
                <a:tc>
                  <a:txBody>
                    <a:bodyPr/>
                    <a:lstStyle/>
                    <a:p>
                      <a:r>
                        <a:rPr lang="en-ZA" sz="4800" dirty="0" smtClean="0"/>
                        <a:t>Mathematics</a:t>
                      </a:r>
                      <a:endParaRPr lang="en-ZA" sz="4800" dirty="0"/>
                    </a:p>
                  </a:txBody>
                  <a:tcPr/>
                </a:tc>
                <a:extLst>
                  <a:ext uri="{0D108BD9-81ED-4DB2-BD59-A6C34878D82A}">
                    <a16:rowId xmlns:a16="http://schemas.microsoft.com/office/drawing/2014/main" val="2538444233"/>
                  </a:ext>
                </a:extLst>
              </a:tr>
              <a:tr h="1770024">
                <a:tc>
                  <a:txBody>
                    <a:bodyPr/>
                    <a:lstStyle/>
                    <a:p>
                      <a:r>
                        <a:rPr lang="en-ZA" sz="4800" dirty="0"/>
                        <a:t>Grade </a:t>
                      </a:r>
                    </a:p>
                  </a:txBody>
                  <a:tcPr/>
                </a:tc>
                <a:tc>
                  <a:txBody>
                    <a:bodyPr/>
                    <a:lstStyle/>
                    <a:p>
                      <a:r>
                        <a:rPr lang="en-ZA" sz="4800" dirty="0"/>
                        <a:t>2 year 1</a:t>
                      </a:r>
                    </a:p>
                  </a:txBody>
                  <a:tcPr/>
                </a:tc>
                <a:extLst>
                  <a:ext uri="{0D108BD9-81ED-4DB2-BD59-A6C34878D82A}">
                    <a16:rowId xmlns:a16="http://schemas.microsoft.com/office/drawing/2014/main" val="1930851948"/>
                  </a:ext>
                </a:extLst>
              </a:tr>
              <a:tr h="1770024">
                <a:tc>
                  <a:txBody>
                    <a:bodyPr/>
                    <a:lstStyle/>
                    <a:p>
                      <a:r>
                        <a:rPr lang="en-ZA" sz="4800" dirty="0"/>
                        <a:t>Term </a:t>
                      </a:r>
                    </a:p>
                  </a:txBody>
                  <a:tcPr/>
                </a:tc>
                <a:tc>
                  <a:txBody>
                    <a:bodyPr/>
                    <a:lstStyle/>
                    <a:p>
                      <a:r>
                        <a:rPr lang="en-ZA" sz="4800" dirty="0" smtClean="0"/>
                        <a:t>2</a:t>
                      </a:r>
                      <a:endParaRPr lang="en-ZA" sz="4800" dirty="0"/>
                    </a:p>
                  </a:txBody>
                  <a:tcPr/>
                </a:tc>
                <a:extLst>
                  <a:ext uri="{0D108BD9-81ED-4DB2-BD59-A6C34878D82A}">
                    <a16:rowId xmlns:a16="http://schemas.microsoft.com/office/drawing/2014/main" val="1332622935"/>
                  </a:ext>
                </a:extLst>
              </a:tr>
            </a:tbl>
          </a:graphicData>
        </a:graphic>
      </p:graphicFrame>
    </p:spTree>
    <p:extLst>
      <p:ext uri="{BB962C8B-B14F-4D97-AF65-F5344CB8AC3E}">
        <p14:creationId xmlns:p14="http://schemas.microsoft.com/office/powerpoint/2010/main" val="233297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324766738"/>
              </p:ext>
            </p:extLst>
          </p:nvPr>
        </p:nvGraphicFramePr>
        <p:xfrm>
          <a:off x="503583" y="509289"/>
          <a:ext cx="10955354" cy="5752616"/>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740484">
                <a:tc>
                  <a:txBody>
                    <a:bodyPr/>
                    <a:lstStyle/>
                    <a:p>
                      <a:r>
                        <a:rPr lang="en-ZA" sz="1800" b="1" dirty="0"/>
                        <a:t>Week </a:t>
                      </a:r>
                      <a:r>
                        <a:rPr lang="en-ZA" sz="1800" b="1" dirty="0" smtClean="0"/>
                        <a:t>2</a:t>
                      </a:r>
                      <a:endParaRPr lang="en-ZA" sz="1800" b="1" dirty="0"/>
                    </a:p>
                  </a:txBody>
                  <a:tcPr/>
                </a:tc>
                <a:tc>
                  <a:txBody>
                    <a:bodyPr/>
                    <a:lstStyle/>
                    <a:p>
                      <a:r>
                        <a:rPr lang="en-ZA" sz="1800" b="1" dirty="0" smtClean="0"/>
                        <a:t>Numbers,</a:t>
                      </a:r>
                      <a:r>
                        <a:rPr lang="en-ZA" sz="1800" b="1" baseline="0" dirty="0" smtClean="0"/>
                        <a:t> operations and relationships.</a:t>
                      </a:r>
                    </a:p>
                    <a:p>
                      <a:pPr marL="0" indent="0">
                        <a:buFontTx/>
                        <a:buNone/>
                      </a:pPr>
                      <a:endParaRPr lang="en-ZA" sz="1600" b="1" baseline="0" dirty="0" smtClean="0"/>
                    </a:p>
                  </a:txBody>
                  <a:tcPr/>
                </a:tc>
                <a:extLst>
                  <a:ext uri="{0D108BD9-81ED-4DB2-BD59-A6C34878D82A}">
                    <a16:rowId xmlns:a16="http://schemas.microsoft.com/office/drawing/2014/main" val="1043533483"/>
                  </a:ext>
                </a:extLst>
              </a:tr>
              <a:tr h="1885524">
                <a:tc>
                  <a:txBody>
                    <a:bodyPr/>
                    <a:lstStyle/>
                    <a:p>
                      <a:r>
                        <a:rPr lang="en-ZA" sz="1800" b="1" dirty="0"/>
                        <a:t>Week </a:t>
                      </a:r>
                      <a:r>
                        <a:rPr lang="en-ZA" sz="1800" b="1" dirty="0" smtClean="0"/>
                        <a:t>3</a:t>
                      </a:r>
                      <a:endParaRPr lang="en-ZA" sz="1800" b="1" dirty="0"/>
                    </a:p>
                  </a:txBody>
                  <a:tcPr/>
                </a:tc>
                <a:tc>
                  <a:txBody>
                    <a:bodyPr/>
                    <a:lstStyle/>
                    <a:p>
                      <a:r>
                        <a:rPr lang="en-ZA" sz="1800" b="1" dirty="0" smtClean="0"/>
                        <a:t>Numbers,</a:t>
                      </a:r>
                      <a:r>
                        <a:rPr lang="en-ZA" sz="1800" b="1" baseline="0" dirty="0" smtClean="0"/>
                        <a:t> operations and relationships.</a:t>
                      </a:r>
                    </a:p>
                    <a:p>
                      <a:pPr marL="0" indent="0">
                        <a:buFontTx/>
                        <a:buNone/>
                      </a:pPr>
                      <a:endParaRPr lang="en-ZA" sz="1800" b="1" baseline="0" dirty="0" smtClean="0"/>
                    </a:p>
                  </a:txBody>
                  <a:tcPr/>
                </a:tc>
                <a:extLst>
                  <a:ext uri="{0D108BD9-81ED-4DB2-BD59-A6C34878D82A}">
                    <a16:rowId xmlns:a16="http://schemas.microsoft.com/office/drawing/2014/main" val="456379601"/>
                  </a:ext>
                </a:extLst>
              </a:tr>
              <a:tr h="676206">
                <a:tc>
                  <a:txBody>
                    <a:bodyPr/>
                    <a:lstStyle/>
                    <a:p>
                      <a:r>
                        <a:rPr lang="en-ZA" sz="1800" b="1" dirty="0"/>
                        <a:t>Week </a:t>
                      </a:r>
                      <a:r>
                        <a:rPr lang="en-ZA" sz="1800" b="1" dirty="0" smtClean="0"/>
                        <a:t>4</a:t>
                      </a:r>
                      <a:endParaRPr lang="en-ZA" sz="1800" b="1" dirty="0"/>
                    </a:p>
                  </a:txBody>
                  <a:tcPr/>
                </a:tc>
                <a:tc>
                  <a:txBody>
                    <a:bodyPr/>
                    <a:lstStyle/>
                    <a:p>
                      <a:r>
                        <a:rPr lang="en-ZA" sz="1800" b="1" dirty="0" smtClean="0"/>
                        <a:t>Assessment</a:t>
                      </a:r>
                      <a:r>
                        <a:rPr lang="en-ZA" sz="1800" b="1" baseline="0" dirty="0" smtClean="0"/>
                        <a:t> week</a:t>
                      </a:r>
                      <a:endParaRPr lang="en-ZA" sz="1800" b="1" dirty="0"/>
                    </a:p>
                  </a:txBody>
                  <a:tcPr/>
                </a:tc>
                <a:extLst>
                  <a:ext uri="{0D108BD9-81ED-4DB2-BD59-A6C34878D82A}">
                    <a16:rowId xmlns:a16="http://schemas.microsoft.com/office/drawing/2014/main" val="13967798"/>
                  </a:ext>
                </a:extLst>
              </a:tr>
              <a:tr h="1450402">
                <a:tc>
                  <a:txBody>
                    <a:bodyPr/>
                    <a:lstStyle/>
                    <a:p>
                      <a:r>
                        <a:rPr lang="en-ZA" sz="1800" b="1" dirty="0"/>
                        <a:t>Week </a:t>
                      </a:r>
                      <a:r>
                        <a:rPr lang="en-ZA" sz="1800" b="1" dirty="0" smtClean="0"/>
                        <a:t>5</a:t>
                      </a:r>
                      <a:endParaRPr lang="en-ZA" sz="1800" b="1" dirty="0"/>
                    </a:p>
                  </a:txBody>
                  <a:tcPr/>
                </a:tc>
                <a:tc>
                  <a:txBody>
                    <a:bodyPr/>
                    <a:lstStyle/>
                    <a:p>
                      <a:r>
                        <a:rPr lang="en-ZA" sz="1800" b="1" dirty="0" smtClean="0"/>
                        <a:t>Space</a:t>
                      </a:r>
                      <a:r>
                        <a:rPr lang="en-ZA" sz="1800" b="1" baseline="0" dirty="0" smtClean="0"/>
                        <a:t> and shape</a:t>
                      </a:r>
                    </a:p>
                    <a:p>
                      <a:endParaRPr lang="en-ZA" sz="1800" b="1" dirty="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54726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504694085"/>
              </p:ext>
            </p:extLst>
          </p:nvPr>
        </p:nvGraphicFramePr>
        <p:xfrm>
          <a:off x="503583" y="509290"/>
          <a:ext cx="10955354" cy="5997018"/>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511117">
                <a:tc>
                  <a:txBody>
                    <a:bodyPr/>
                    <a:lstStyle/>
                    <a:p>
                      <a:r>
                        <a:rPr lang="en-ZA" sz="1800" b="1" dirty="0"/>
                        <a:t>Week </a:t>
                      </a:r>
                      <a:r>
                        <a:rPr lang="en-ZA" sz="1800" b="1" dirty="0" smtClean="0"/>
                        <a:t>6</a:t>
                      </a:r>
                      <a:endParaRPr lang="en-ZA" sz="1800" b="1" dirty="0"/>
                    </a:p>
                  </a:txBody>
                  <a:tcPr/>
                </a:tc>
                <a:tc>
                  <a:txBody>
                    <a:bodyPr/>
                    <a:lstStyle/>
                    <a:p>
                      <a:r>
                        <a:rPr lang="en-ZA" sz="1800" b="1" baseline="0" dirty="0" smtClean="0"/>
                        <a:t>Space and shape</a:t>
                      </a:r>
                    </a:p>
                    <a:p>
                      <a:endParaRPr lang="en-ZA" sz="1800" b="1" baseline="0" dirty="0" smtClean="0"/>
                    </a:p>
                  </a:txBody>
                  <a:tcPr/>
                </a:tc>
                <a:extLst>
                  <a:ext uri="{0D108BD9-81ED-4DB2-BD59-A6C34878D82A}">
                    <a16:rowId xmlns:a16="http://schemas.microsoft.com/office/drawing/2014/main" val="1043533483"/>
                  </a:ext>
                </a:extLst>
              </a:tr>
              <a:tr h="1637042">
                <a:tc>
                  <a:txBody>
                    <a:bodyPr/>
                    <a:lstStyle/>
                    <a:p>
                      <a:r>
                        <a:rPr lang="en-ZA" sz="1800" b="1" dirty="0" smtClean="0"/>
                        <a:t>Week</a:t>
                      </a:r>
                      <a:r>
                        <a:rPr lang="en-ZA" sz="1800" b="1" baseline="0" dirty="0" smtClean="0"/>
                        <a:t> 7</a:t>
                      </a:r>
                      <a:endParaRPr lang="en-ZA" sz="1800" b="1" dirty="0"/>
                    </a:p>
                  </a:txBody>
                  <a:tcPr/>
                </a:tc>
                <a:tc>
                  <a:txBody>
                    <a:bodyPr/>
                    <a:lstStyle/>
                    <a:p>
                      <a:r>
                        <a:rPr lang="en-ZA" sz="1800" b="1" baseline="0" dirty="0" smtClean="0"/>
                        <a:t>Assessment week</a:t>
                      </a:r>
                    </a:p>
                  </a:txBody>
                  <a:tcPr/>
                </a:tc>
                <a:extLst>
                  <a:ext uri="{0D108BD9-81ED-4DB2-BD59-A6C34878D82A}">
                    <a16:rowId xmlns:a16="http://schemas.microsoft.com/office/drawing/2014/main" val="456379601"/>
                  </a:ext>
                </a:extLst>
              </a:tr>
              <a:tr h="997101">
                <a:tc>
                  <a:txBody>
                    <a:bodyPr/>
                    <a:lstStyle/>
                    <a:p>
                      <a:r>
                        <a:rPr lang="en-ZA" sz="1800" b="1" dirty="0" smtClean="0"/>
                        <a:t>Week</a:t>
                      </a:r>
                      <a:r>
                        <a:rPr lang="en-ZA" sz="1800" b="1" baseline="0" dirty="0" smtClean="0"/>
                        <a:t> 8</a:t>
                      </a:r>
                      <a:endParaRPr lang="en-ZA" sz="1800" b="1" dirty="0"/>
                    </a:p>
                  </a:txBody>
                  <a:tcPr/>
                </a:tc>
                <a:tc>
                  <a:txBody>
                    <a:bodyPr/>
                    <a:lstStyle/>
                    <a:p>
                      <a:r>
                        <a:rPr lang="en-ZA" sz="1800" b="1" dirty="0" smtClean="0"/>
                        <a:t>Data</a:t>
                      </a:r>
                      <a:r>
                        <a:rPr lang="en-ZA" sz="1800" b="1" baseline="0" dirty="0" smtClean="0"/>
                        <a:t> handling</a:t>
                      </a:r>
                    </a:p>
                    <a:p>
                      <a:endParaRPr lang="en-ZA" sz="1800" b="1" dirty="0"/>
                    </a:p>
                  </a:txBody>
                  <a:tcPr/>
                </a:tc>
                <a:extLst>
                  <a:ext uri="{0D108BD9-81ED-4DB2-BD59-A6C34878D82A}">
                    <a16:rowId xmlns:a16="http://schemas.microsoft.com/office/drawing/2014/main" val="13967798"/>
                  </a:ext>
                </a:extLst>
              </a:tr>
              <a:tr h="1851758">
                <a:tc>
                  <a:txBody>
                    <a:bodyPr/>
                    <a:lstStyle/>
                    <a:p>
                      <a:r>
                        <a:rPr lang="en-ZA" sz="1800" b="1" dirty="0"/>
                        <a:t>Week </a:t>
                      </a:r>
                      <a:r>
                        <a:rPr lang="en-ZA" sz="1800" b="1" dirty="0" smtClean="0"/>
                        <a:t>9</a:t>
                      </a:r>
                      <a:endParaRPr lang="en-ZA" sz="1800" b="1" dirty="0"/>
                    </a:p>
                  </a:txBody>
                  <a:tcPr/>
                </a:tc>
                <a:tc>
                  <a:txBody>
                    <a:bodyPr/>
                    <a:lstStyle/>
                    <a:p>
                      <a:r>
                        <a:rPr lang="en-ZA" sz="1800" b="1" baseline="0" dirty="0" smtClean="0"/>
                        <a:t>- Measurement </a:t>
                      </a:r>
                    </a:p>
                    <a:p>
                      <a:pPr marL="0" indent="0">
                        <a:buFontTx/>
                        <a:buNone/>
                      </a:pPr>
                      <a:endParaRPr lang="en-ZA" sz="1800" b="1" baseline="0" dirty="0" smtClean="0"/>
                    </a:p>
                    <a:p>
                      <a:pPr marL="0" indent="0">
                        <a:buFontTx/>
                        <a:buNone/>
                      </a:pPr>
                      <a:r>
                        <a:rPr lang="en-ZA" sz="1800" b="1" baseline="0" dirty="0" smtClean="0"/>
                        <a:t>- Patterns </a:t>
                      </a:r>
                    </a:p>
                    <a:p>
                      <a:pPr marL="0" indent="0">
                        <a:buFontTx/>
                        <a:buNone/>
                      </a:pPr>
                      <a:endParaRPr lang="en-ZA" sz="1800" b="1" baseline="0" dirty="0" smtClean="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87911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1267224013"/>
              </p:ext>
            </p:extLst>
          </p:nvPr>
        </p:nvGraphicFramePr>
        <p:xfrm>
          <a:off x="503583" y="509288"/>
          <a:ext cx="10955354" cy="5985296"/>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810883">
                <a:tc>
                  <a:txBody>
                    <a:bodyPr/>
                    <a:lstStyle/>
                    <a:p>
                      <a:r>
                        <a:rPr lang="en-ZA" sz="1800" b="1" dirty="0"/>
                        <a:t>Week </a:t>
                      </a:r>
                      <a:r>
                        <a:rPr lang="en-ZA" sz="1800" b="1" dirty="0" smtClean="0"/>
                        <a:t>10</a:t>
                      </a:r>
                      <a:endParaRPr lang="en-ZA" sz="1800" b="1" dirty="0"/>
                    </a:p>
                  </a:txBody>
                  <a:tcPr/>
                </a:tc>
                <a:tc>
                  <a:txBody>
                    <a:bodyPr/>
                    <a:lstStyle/>
                    <a:p>
                      <a:r>
                        <a:rPr lang="en-ZA" sz="1800" b="1" baseline="0" dirty="0" smtClean="0"/>
                        <a:t>Assessment week</a:t>
                      </a:r>
                    </a:p>
                  </a:txBody>
                  <a:tcPr/>
                </a:tc>
                <a:extLst>
                  <a:ext uri="{0D108BD9-81ED-4DB2-BD59-A6C34878D82A}">
                    <a16:rowId xmlns:a16="http://schemas.microsoft.com/office/drawing/2014/main" val="1043533483"/>
                  </a:ext>
                </a:extLst>
              </a:tr>
              <a:tr h="1961789">
                <a:tc>
                  <a:txBody>
                    <a:bodyPr/>
                    <a:lstStyle/>
                    <a:p>
                      <a:endParaRPr lang="en-ZA" sz="1800" b="1" dirty="0"/>
                    </a:p>
                  </a:txBody>
                  <a:tcPr/>
                </a:tc>
                <a:tc>
                  <a:txBody>
                    <a:bodyPr/>
                    <a:lstStyle/>
                    <a:p>
                      <a:endParaRPr lang="en-ZA" sz="1800" b="1" baseline="0" dirty="0" smtClean="0"/>
                    </a:p>
                  </a:txBody>
                  <a:tcPr/>
                </a:tc>
                <a:extLst>
                  <a:ext uri="{0D108BD9-81ED-4DB2-BD59-A6C34878D82A}">
                    <a16:rowId xmlns:a16="http://schemas.microsoft.com/office/drawing/2014/main" val="456379601"/>
                  </a:ext>
                </a:extLst>
              </a:tr>
              <a:tr h="703557">
                <a:tc>
                  <a:txBody>
                    <a:bodyPr/>
                    <a:lstStyle/>
                    <a:p>
                      <a:endParaRPr lang="en-ZA" sz="1800" b="1" dirty="0"/>
                    </a:p>
                  </a:txBody>
                  <a:tcPr/>
                </a:tc>
                <a:tc>
                  <a:txBody>
                    <a:bodyPr/>
                    <a:lstStyle/>
                    <a:p>
                      <a:endParaRPr lang="en-ZA" sz="1800" b="1" baseline="0" dirty="0" smtClean="0"/>
                    </a:p>
                  </a:txBody>
                  <a:tcPr/>
                </a:tc>
                <a:extLst>
                  <a:ext uri="{0D108BD9-81ED-4DB2-BD59-A6C34878D82A}">
                    <a16:rowId xmlns:a16="http://schemas.microsoft.com/office/drawing/2014/main" val="13967798"/>
                  </a:ext>
                </a:extLst>
              </a:tr>
              <a:tr h="1509067">
                <a:tc>
                  <a:txBody>
                    <a:bodyPr/>
                    <a:lstStyle/>
                    <a:p>
                      <a:endParaRPr lang="en-ZA" sz="1800" b="1" dirty="0"/>
                    </a:p>
                  </a:txBody>
                  <a:tcPr/>
                </a:tc>
                <a:tc>
                  <a:txBody>
                    <a:bodyPr/>
                    <a:lstStyle/>
                    <a:p>
                      <a:endParaRPr lang="en-ZA" sz="1800" b="1" baseline="0" dirty="0" smtClean="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419498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D080E-39AF-42ED-A45B-561542F1FAA4}"/>
              </a:ext>
            </a:extLst>
          </p:cNvPr>
          <p:cNvSpPr>
            <a:spLocks noGrp="1"/>
          </p:cNvSpPr>
          <p:nvPr>
            <p:ph type="title"/>
          </p:nvPr>
        </p:nvSpPr>
        <p:spPr>
          <a:xfrm>
            <a:off x="646111" y="-92596"/>
            <a:ext cx="9404723" cy="891250"/>
          </a:xfrm>
        </p:spPr>
        <p:txBody>
          <a:bodyPr>
            <a:normAutofit fontScale="90000"/>
          </a:bodyPr>
          <a:lstStyle/>
          <a:p>
            <a:r>
              <a:rPr lang="en-ZA" sz="6000" b="1" dirty="0" smtClean="0"/>
              <a:t>             </a:t>
            </a:r>
            <a:r>
              <a:rPr lang="en-ZA" sz="3600" b="1" dirty="0" smtClean="0"/>
              <a:t>LESSON </a:t>
            </a:r>
            <a:r>
              <a:rPr lang="en-ZA" sz="3600" b="1" dirty="0"/>
              <a:t>OBJECTIVES</a:t>
            </a:r>
          </a:p>
        </p:txBody>
      </p:sp>
      <p:sp>
        <p:nvSpPr>
          <p:cNvPr id="3" name="Content Placeholder 2">
            <a:extLst>
              <a:ext uri="{FF2B5EF4-FFF2-40B4-BE49-F238E27FC236}">
                <a16:creationId xmlns:a16="http://schemas.microsoft.com/office/drawing/2014/main" id="{9607C941-F883-4022-BE28-7614D1287B70}"/>
              </a:ext>
            </a:extLst>
          </p:cNvPr>
          <p:cNvSpPr>
            <a:spLocks noGrp="1"/>
          </p:cNvSpPr>
          <p:nvPr>
            <p:ph idx="1"/>
          </p:nvPr>
        </p:nvSpPr>
        <p:spPr>
          <a:xfrm>
            <a:off x="1103312" y="891252"/>
            <a:ext cx="8946541" cy="5357148"/>
          </a:xfrm>
        </p:spPr>
        <p:txBody>
          <a:bodyPr>
            <a:normAutofit fontScale="92500" lnSpcReduction="10000"/>
          </a:bodyPr>
          <a:lstStyle/>
          <a:p>
            <a:r>
              <a:rPr lang="en-US" dirty="0"/>
              <a:t>To use mathematical knowledge and skills learnt in the classroom and to apply them in the real </a:t>
            </a:r>
            <a:r>
              <a:rPr lang="en-US" dirty="0" smtClean="0"/>
              <a:t>world.</a:t>
            </a:r>
          </a:p>
          <a:p>
            <a:r>
              <a:rPr lang="en-US" dirty="0" smtClean="0"/>
              <a:t> To </a:t>
            </a:r>
            <a:r>
              <a:rPr lang="en-US" dirty="0"/>
              <a:t>equip the learners, irrespective of their socio background, race, gender, physical ability or intellectual ability, with the knowledge, skills and values necessary for </a:t>
            </a:r>
            <a:r>
              <a:rPr lang="en-US" dirty="0" err="1" smtClean="0"/>
              <a:t>self-fulfilment</a:t>
            </a:r>
            <a:r>
              <a:rPr lang="en-US" dirty="0" smtClean="0"/>
              <a:t> </a:t>
            </a:r>
            <a:r>
              <a:rPr lang="en-US" dirty="0"/>
              <a:t>and meaningful participation in the society as a citizen of the free country. </a:t>
            </a:r>
            <a:endParaRPr lang="en-US" dirty="0" smtClean="0"/>
          </a:p>
          <a:p>
            <a:r>
              <a:rPr lang="en-US" dirty="0" smtClean="0"/>
              <a:t>Facilitating </a:t>
            </a:r>
            <a:r>
              <a:rPr lang="en-US" dirty="0"/>
              <a:t>the transition of learners from educational institution to work in the community e.g. Community Development Worker (CDW) or a sheltered workplace</a:t>
            </a:r>
            <a:r>
              <a:rPr lang="en-US" dirty="0" smtClean="0"/>
              <a:t>.</a:t>
            </a:r>
          </a:p>
          <a:p>
            <a:r>
              <a:rPr lang="en-US" dirty="0" smtClean="0"/>
              <a:t> </a:t>
            </a:r>
            <a:r>
              <a:rPr lang="en-US" dirty="0"/>
              <a:t>It helps the teacher to be able to:  create a leaner’s profile of competences - the profile will bridge the gap between the home and the school;  identify what the learner knows, can do and demonstrate in the teaching and learning </a:t>
            </a:r>
            <a:r>
              <a:rPr lang="en-US" dirty="0" smtClean="0"/>
              <a:t>situation.</a:t>
            </a:r>
          </a:p>
          <a:p>
            <a:r>
              <a:rPr lang="en-US" dirty="0"/>
              <a:t>work effectively as individuals in/or a member of a </a:t>
            </a:r>
            <a:r>
              <a:rPr lang="en-US" dirty="0" smtClean="0"/>
              <a:t>team.</a:t>
            </a:r>
          </a:p>
          <a:p>
            <a:r>
              <a:rPr lang="en-US" dirty="0"/>
              <a:t>Communicate effectively or by using Augmentative Alternative Communication (AAC) and other communicative devices (Sign language, Braille, etc.</a:t>
            </a:r>
            <a:endParaRPr lang="en-GB" sz="2000" dirty="0"/>
          </a:p>
        </p:txBody>
      </p:sp>
    </p:spTree>
    <p:extLst>
      <p:ext uri="{BB962C8B-B14F-4D97-AF65-F5344CB8AC3E}">
        <p14:creationId xmlns:p14="http://schemas.microsoft.com/office/powerpoint/2010/main" val="2843865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smtClean="0"/>
              <a:t>Assessment Goals</a:t>
            </a:r>
            <a:endParaRPr lang="en-ZA" sz="3200" b="1" dirty="0"/>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1336828802"/>
              </p:ext>
            </p:extLst>
          </p:nvPr>
        </p:nvGraphicFramePr>
        <p:xfrm>
          <a:off x="503583" y="706055"/>
          <a:ext cx="10955354" cy="5555849"/>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543717">
                <a:tc>
                  <a:txBody>
                    <a:bodyPr/>
                    <a:lstStyle/>
                    <a:p>
                      <a:r>
                        <a:rPr lang="en-ZA" sz="1800" b="1" dirty="0" smtClean="0"/>
                        <a:t>Numbers</a:t>
                      </a:r>
                      <a:r>
                        <a:rPr lang="en-ZA" sz="1800" b="1" baseline="0" dirty="0" smtClean="0"/>
                        <a:t>, operations and relationships.</a:t>
                      </a:r>
                      <a:endParaRPr lang="en-ZA" sz="1800" b="1" dirty="0"/>
                    </a:p>
                  </a:txBody>
                  <a:tcPr/>
                </a:tc>
                <a:tc>
                  <a:txBody>
                    <a:bodyPr/>
                    <a:lstStyle/>
                    <a:p>
                      <a:pPr marL="0" indent="0">
                        <a:buFontTx/>
                        <a:buNone/>
                      </a:pPr>
                      <a:r>
                        <a:rPr lang="en-ZA" sz="1800" b="1" baseline="0" dirty="0" smtClean="0"/>
                        <a:t>- </a:t>
                      </a:r>
                      <a:r>
                        <a:rPr lang="en-ZA" sz="1600" b="1" baseline="0" dirty="0" smtClean="0"/>
                        <a:t>Count forward and backwards up to 30 from a given number.</a:t>
                      </a:r>
                    </a:p>
                    <a:p>
                      <a:pPr marL="285750" indent="-285750">
                        <a:buFontTx/>
                        <a:buChar char="-"/>
                      </a:pPr>
                      <a:r>
                        <a:rPr lang="en-ZA" sz="1600" b="1" baseline="0" dirty="0" smtClean="0"/>
                        <a:t>Identify number symbols and number names.</a:t>
                      </a:r>
                      <a:endParaRPr lang="en-ZA" sz="1800" b="1" dirty="0"/>
                    </a:p>
                  </a:txBody>
                  <a:tcPr/>
                </a:tc>
                <a:extLst>
                  <a:ext uri="{0D108BD9-81ED-4DB2-BD59-A6C34878D82A}">
                    <a16:rowId xmlns:a16="http://schemas.microsoft.com/office/drawing/2014/main" val="1043533483"/>
                  </a:ext>
                </a:extLst>
              </a:tr>
              <a:tr h="1885524">
                <a:tc>
                  <a:txBody>
                    <a:bodyPr/>
                    <a:lstStyle/>
                    <a:p>
                      <a:r>
                        <a:rPr lang="en-ZA" sz="1800" b="1" dirty="0" smtClean="0"/>
                        <a:t>Numbers</a:t>
                      </a:r>
                      <a:r>
                        <a:rPr lang="en-ZA" sz="1800" b="1" baseline="0" dirty="0" smtClean="0"/>
                        <a:t> operations and relation ships</a:t>
                      </a:r>
                      <a:endParaRPr lang="en-ZA" sz="1800" b="1" dirty="0"/>
                    </a:p>
                  </a:txBody>
                  <a:tcPr/>
                </a:tc>
                <a:tc>
                  <a:txBody>
                    <a:bodyPr/>
                    <a:lstStyle/>
                    <a:p>
                      <a:pPr marL="0" indent="0">
                        <a:buFontTx/>
                        <a:buNone/>
                      </a:pPr>
                      <a:r>
                        <a:rPr lang="en-ZA" sz="1800" b="1" baseline="0" dirty="0" smtClean="0"/>
                        <a:t>- Recognize and identify the South African coins.</a:t>
                      </a:r>
                    </a:p>
                    <a:p>
                      <a:pPr marL="285750" indent="-285750">
                        <a:buFontTx/>
                        <a:buChar char="-"/>
                      </a:pPr>
                      <a:r>
                        <a:rPr lang="en-ZA" sz="1800" b="1" baseline="0" dirty="0" smtClean="0"/>
                        <a:t>Addition and subtraction of money.</a:t>
                      </a:r>
                      <a:endParaRPr lang="en-ZA" sz="1800" b="1" dirty="0"/>
                    </a:p>
                  </a:txBody>
                  <a:tcPr/>
                </a:tc>
                <a:extLst>
                  <a:ext uri="{0D108BD9-81ED-4DB2-BD59-A6C34878D82A}">
                    <a16:rowId xmlns:a16="http://schemas.microsoft.com/office/drawing/2014/main" val="456379601"/>
                  </a:ext>
                </a:extLst>
              </a:tr>
              <a:tr h="676206">
                <a:tc>
                  <a:txBody>
                    <a:bodyPr/>
                    <a:lstStyle/>
                    <a:p>
                      <a:r>
                        <a:rPr lang="en-ZA" sz="1800" b="1" dirty="0" smtClean="0"/>
                        <a:t>Space</a:t>
                      </a:r>
                      <a:r>
                        <a:rPr lang="en-ZA" sz="1800" b="1" baseline="0" dirty="0" smtClean="0"/>
                        <a:t> and shape</a:t>
                      </a:r>
                      <a:endParaRPr lang="en-ZA" sz="1800" b="1" dirty="0"/>
                    </a:p>
                  </a:txBody>
                  <a:tcPr/>
                </a:tc>
                <a:tc>
                  <a:txBody>
                    <a:bodyPr/>
                    <a:lstStyle/>
                    <a:p>
                      <a:r>
                        <a:rPr lang="en-ZA" sz="1800" b="1" dirty="0" smtClean="0"/>
                        <a:t>-</a:t>
                      </a:r>
                      <a:r>
                        <a:rPr lang="en-ZA" sz="1800" b="1" baseline="0" dirty="0" smtClean="0"/>
                        <a:t> Understand the position of one object in relation to another.</a:t>
                      </a:r>
                      <a:endParaRPr lang="en-ZA" sz="1800" b="1" dirty="0"/>
                    </a:p>
                  </a:txBody>
                  <a:tcPr/>
                </a:tc>
                <a:extLst>
                  <a:ext uri="{0D108BD9-81ED-4DB2-BD59-A6C34878D82A}">
                    <a16:rowId xmlns:a16="http://schemas.microsoft.com/office/drawing/2014/main" val="13967798"/>
                  </a:ext>
                </a:extLst>
              </a:tr>
              <a:tr h="1450402">
                <a:tc>
                  <a:txBody>
                    <a:bodyPr/>
                    <a:lstStyle/>
                    <a:p>
                      <a:r>
                        <a:rPr lang="en-ZA" sz="1800" b="1" dirty="0" smtClean="0"/>
                        <a:t>Space</a:t>
                      </a:r>
                      <a:r>
                        <a:rPr lang="en-ZA" sz="1800" b="1" baseline="0" dirty="0" smtClean="0"/>
                        <a:t> and shape</a:t>
                      </a:r>
                      <a:endParaRPr lang="en-ZA" sz="1800" b="1" dirty="0"/>
                    </a:p>
                  </a:txBody>
                  <a:tcPr/>
                </a:tc>
                <a:tc>
                  <a:txBody>
                    <a:bodyPr/>
                    <a:lstStyle/>
                    <a:p>
                      <a:r>
                        <a:rPr lang="en-ZA" sz="1800" b="1" baseline="0" dirty="0" smtClean="0"/>
                        <a:t>- Recognize and name 3D objects in the classroom and in pictures.</a:t>
                      </a:r>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576198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smtClean="0"/>
              <a:t>Assessment Goals</a:t>
            </a:r>
            <a:endParaRPr lang="en-ZA" sz="3200" b="1" dirty="0"/>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903361875"/>
              </p:ext>
            </p:extLst>
          </p:nvPr>
        </p:nvGraphicFramePr>
        <p:xfrm>
          <a:off x="503583" y="509290"/>
          <a:ext cx="10955354" cy="4704500"/>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970048">
                <a:tc>
                  <a:txBody>
                    <a:bodyPr/>
                    <a:lstStyle/>
                    <a:p>
                      <a:r>
                        <a:rPr lang="en-ZA" sz="1800" b="1" dirty="0" smtClean="0"/>
                        <a:t>Data</a:t>
                      </a:r>
                      <a:r>
                        <a:rPr lang="en-ZA" sz="1800" b="1" baseline="0" dirty="0" smtClean="0"/>
                        <a:t> handling</a:t>
                      </a:r>
                      <a:endParaRPr lang="en-ZA" sz="1800" b="1" dirty="0"/>
                    </a:p>
                  </a:txBody>
                  <a:tcPr/>
                </a:tc>
                <a:tc>
                  <a:txBody>
                    <a:bodyPr/>
                    <a:lstStyle/>
                    <a:p>
                      <a:r>
                        <a:rPr lang="en-ZA" sz="1800" b="1" baseline="0" dirty="0" smtClean="0"/>
                        <a:t>- Sort out everyday concrete objects.</a:t>
                      </a:r>
                    </a:p>
                  </a:txBody>
                  <a:tcPr/>
                </a:tc>
                <a:extLst>
                  <a:ext uri="{0D108BD9-81ED-4DB2-BD59-A6C34878D82A}">
                    <a16:rowId xmlns:a16="http://schemas.microsoft.com/office/drawing/2014/main" val="1043533483"/>
                  </a:ext>
                </a:extLst>
              </a:tr>
              <a:tr h="1050885">
                <a:tc>
                  <a:txBody>
                    <a:bodyPr/>
                    <a:lstStyle/>
                    <a:p>
                      <a:r>
                        <a:rPr lang="en-ZA" sz="1800" b="1" dirty="0" smtClean="0"/>
                        <a:t>Measurement</a:t>
                      </a:r>
                      <a:endParaRPr lang="en-ZA" sz="1800" b="1"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ZA" sz="1800" b="1" baseline="0" dirty="0" smtClean="0"/>
                        <a:t>Time</a:t>
                      </a:r>
                    </a:p>
                    <a:p>
                      <a:pPr marL="0" marR="0" lvl="0" indent="0" algn="l" defTabSz="457200" rtl="0" eaLnBrk="1" fontAlgn="auto" latinLnBrk="0" hangingPunct="1">
                        <a:lnSpc>
                          <a:spcPct val="100000"/>
                        </a:lnSpc>
                        <a:spcBef>
                          <a:spcPts val="0"/>
                        </a:spcBef>
                        <a:spcAft>
                          <a:spcPts val="0"/>
                        </a:spcAft>
                        <a:buClrTx/>
                        <a:buSzTx/>
                        <a:buFontTx/>
                        <a:buNone/>
                        <a:tabLst/>
                        <a:defRPr/>
                      </a:pPr>
                      <a:r>
                        <a:rPr lang="en-ZA" sz="1800" b="1" baseline="0" dirty="0" smtClean="0"/>
                        <a:t>-  Talk about passing of time, sequence of events [start to use concepts like today and tomorrow].</a:t>
                      </a:r>
                    </a:p>
                    <a:p>
                      <a:endParaRPr lang="en-ZA" sz="1800" b="1" baseline="0" dirty="0" smtClean="0"/>
                    </a:p>
                  </a:txBody>
                  <a:tcPr/>
                </a:tc>
                <a:extLst>
                  <a:ext uri="{0D108BD9-81ED-4DB2-BD59-A6C34878D82A}">
                    <a16:rowId xmlns:a16="http://schemas.microsoft.com/office/drawing/2014/main" val="456379601"/>
                  </a:ext>
                </a:extLst>
              </a:tr>
              <a:tr h="376879">
                <a:tc>
                  <a:txBody>
                    <a:bodyPr/>
                    <a:lstStyle/>
                    <a:p>
                      <a:r>
                        <a:rPr lang="en-ZA" sz="1800" b="1" dirty="0" smtClean="0"/>
                        <a:t>Patterns</a:t>
                      </a:r>
                      <a:endParaRPr lang="en-ZA" sz="1800" b="1" dirty="0"/>
                    </a:p>
                  </a:txBody>
                  <a:tcPr/>
                </a:tc>
                <a:tc>
                  <a:txBody>
                    <a:bodyPr/>
                    <a:lstStyle/>
                    <a:p>
                      <a:pPr marL="285750" indent="-285750">
                        <a:buFontTx/>
                        <a:buChar char="-"/>
                      </a:pPr>
                      <a:r>
                        <a:rPr lang="en-ZA" sz="1800" b="1" baseline="0" dirty="0" smtClean="0"/>
                        <a:t>Copy and extend simple patterns using body percussions [ clapping, stamping].</a:t>
                      </a:r>
                    </a:p>
                    <a:p>
                      <a:pPr marL="285750" indent="-285750">
                        <a:buFontTx/>
                        <a:buChar char="-"/>
                      </a:pPr>
                      <a:r>
                        <a:rPr lang="en-ZA" sz="1800" b="1" baseline="0" dirty="0" smtClean="0"/>
                        <a:t>Make simple patterns using 2D geometric shapes.</a:t>
                      </a:r>
                    </a:p>
                    <a:p>
                      <a:endParaRPr lang="en-ZA" sz="1800" b="1" dirty="0"/>
                    </a:p>
                  </a:txBody>
                  <a:tcPr/>
                </a:tc>
                <a:extLst>
                  <a:ext uri="{0D108BD9-81ED-4DB2-BD59-A6C34878D82A}">
                    <a16:rowId xmlns:a16="http://schemas.microsoft.com/office/drawing/2014/main" val="13967798"/>
                  </a:ext>
                </a:extLst>
              </a:tr>
              <a:tr h="808372">
                <a:tc>
                  <a:txBody>
                    <a:bodyPr/>
                    <a:lstStyle/>
                    <a:p>
                      <a:endParaRPr lang="en-ZA" sz="1800" b="1" dirty="0"/>
                    </a:p>
                  </a:txBody>
                  <a:tcPr/>
                </a:tc>
                <a:tc>
                  <a:txBody>
                    <a:bodyPr/>
                    <a:lstStyle/>
                    <a:p>
                      <a:endParaRPr lang="en-ZA" sz="1800" b="1" baseline="0" dirty="0" smtClean="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150393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Numbers, operations and relationships.</a:t>
            </a:r>
            <a:endParaRPr lang="en-US" b="1" dirty="0"/>
          </a:p>
        </p:txBody>
      </p:sp>
      <p:pic>
        <p:nvPicPr>
          <p:cNvPr id="1026" name="Picture 2" descr="https://tse2.mm.bing.net/th?id=OIP.NseU2lSfe6iAr2aqs1l67gHaHa&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7144" y="1853248"/>
            <a:ext cx="7882360" cy="4779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673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536" y="279097"/>
            <a:ext cx="9404723" cy="5948082"/>
          </a:xfrm>
        </p:spPr>
        <p:txBody>
          <a:bodyPr/>
          <a:lstStyle/>
          <a:p>
            <a:r>
              <a:rPr lang="en-US" b="1" dirty="0" smtClean="0"/>
              <a:t>Group 1</a:t>
            </a:r>
            <a:br>
              <a:rPr lang="en-US" b="1" dirty="0" smtClean="0"/>
            </a:br>
            <a:r>
              <a:rPr lang="en-US" b="1" dirty="0" smtClean="0"/>
              <a:t>  </a:t>
            </a:r>
            <a:br>
              <a:rPr lang="en-US" b="1" dirty="0" smtClean="0"/>
            </a:br>
            <a:r>
              <a:rPr lang="en-US" b="1" dirty="0"/>
              <a:t/>
            </a:r>
            <a:br>
              <a:rPr lang="en-US" b="1" dirty="0"/>
            </a:br>
            <a:r>
              <a:rPr lang="en-US" b="1" dirty="0" smtClean="0"/>
              <a:t/>
            </a:r>
            <a:br>
              <a:rPr lang="en-US" b="1" dirty="0" smtClean="0"/>
            </a:br>
            <a:r>
              <a:rPr lang="en-US" b="1" dirty="0"/>
              <a:t> </a:t>
            </a:r>
            <a:r>
              <a:rPr lang="en-US" b="1" dirty="0" smtClean="0"/>
              <a:t>   </a:t>
            </a:r>
            <a:r>
              <a:rPr lang="en-US" sz="3200" b="1" dirty="0" smtClean="0"/>
              <a:t>Color the following numbers from 1-10.</a:t>
            </a:r>
            <a:br>
              <a:rPr lang="en-US" sz="3200" b="1" dirty="0" smtClean="0"/>
            </a:br>
            <a:r>
              <a:rPr lang="en-US" sz="3200" b="1" dirty="0"/>
              <a:t/>
            </a:r>
            <a:br>
              <a:rPr lang="en-US" sz="3200" b="1" dirty="0"/>
            </a:br>
            <a:endParaRPr lang="en-US" b="1" dirty="0"/>
          </a:p>
        </p:txBody>
      </p:sp>
    </p:spTree>
    <p:extLst>
      <p:ext uri="{BB962C8B-B14F-4D97-AF65-F5344CB8AC3E}">
        <p14:creationId xmlns:p14="http://schemas.microsoft.com/office/powerpoint/2010/main" val="1691848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https://tse4.mm.bing.net/th?id=OIP.3gajbElXkP0-6Qqyr0OBjwAAAA&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2340" y="277793"/>
            <a:ext cx="6991108" cy="6377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6347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2244183"/>
          </a:xfrm>
        </p:spPr>
        <p:txBody>
          <a:bodyPr/>
          <a:lstStyle/>
          <a:p>
            <a:r>
              <a:rPr lang="en-US" b="1" dirty="0" smtClean="0"/>
              <a:t>Group 2</a:t>
            </a:r>
            <a:br>
              <a:rPr lang="en-US" b="1" dirty="0" smtClean="0"/>
            </a:br>
            <a:r>
              <a:rPr lang="en-US" b="1" dirty="0" smtClean="0"/>
              <a:t>   </a:t>
            </a:r>
            <a:br>
              <a:rPr lang="en-US" b="1" dirty="0" smtClean="0"/>
            </a:br>
            <a:r>
              <a:rPr lang="en-US" b="1" dirty="0"/>
              <a:t> </a:t>
            </a:r>
            <a:r>
              <a:rPr lang="en-US" b="1" dirty="0" smtClean="0"/>
              <a:t>   </a:t>
            </a:r>
            <a:r>
              <a:rPr lang="en-US" sz="3200" b="1" dirty="0" smtClean="0"/>
              <a:t>Count from 1-30 using the following chart.</a:t>
            </a:r>
            <a:endParaRPr lang="en-US" b="1" dirty="0"/>
          </a:p>
        </p:txBody>
      </p:sp>
    </p:spTree>
    <p:extLst>
      <p:ext uri="{BB962C8B-B14F-4D97-AF65-F5344CB8AC3E}">
        <p14:creationId xmlns:p14="http://schemas.microsoft.com/office/powerpoint/2010/main" val="1321139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https://tse1.mm.bing.net/th?id=OIP.dVT0PKwazc7iMVeSO3KZMgAAAA&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1949" y="370390"/>
            <a:ext cx="6585995" cy="629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4332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sz="7200" b="1" dirty="0"/>
              <a:t> </a:t>
            </a:r>
            <a:r>
              <a:rPr lang="en-US" sz="7200" b="1" dirty="0" smtClean="0"/>
              <a:t>            Group 3</a:t>
            </a:r>
            <a:r>
              <a:rPr lang="en-US" sz="7200" b="1" dirty="0"/>
              <a:t/>
            </a:r>
            <a:br>
              <a:rPr lang="en-US" sz="7200" b="1" dirty="0"/>
            </a:br>
            <a:endParaRPr lang="en-US" sz="7200" b="1" dirty="0"/>
          </a:p>
        </p:txBody>
      </p:sp>
    </p:spTree>
    <p:extLst>
      <p:ext uri="{BB962C8B-B14F-4D97-AF65-F5344CB8AC3E}">
        <p14:creationId xmlns:p14="http://schemas.microsoft.com/office/powerpoint/2010/main" val="3405216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https://i.pinimg.com/originals/18/1e/80/181e80ade659574ef92cad26f66e7ca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286" y="0"/>
            <a:ext cx="9281786" cy="6688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3506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7359"/>
          </a:xfrm>
        </p:spPr>
        <p:txBody>
          <a:bodyPr/>
          <a:lstStyle/>
          <a:p>
            <a:r>
              <a:rPr lang="en-US" b="1" dirty="0" smtClean="0"/>
              <a:t>South African coins</a:t>
            </a:r>
            <a:endParaRPr lang="en-US" b="1" dirty="0"/>
          </a:p>
        </p:txBody>
      </p:sp>
      <p:pic>
        <p:nvPicPr>
          <p:cNvPr id="6146" name="Picture 2" descr="https://tse3.mm.bing.net/th?id=OIP.O3RojEXa0lKMlrzGaxUQngHaHa&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5025" y="1114816"/>
            <a:ext cx="9457150" cy="5461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280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148498"/>
          </a:xfrm>
        </p:spPr>
        <p:txBody>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a:t> </a:t>
            </a:r>
            <a:r>
              <a:rPr lang="en-US" b="1" dirty="0" smtClean="0"/>
              <a:t>                   </a:t>
            </a:r>
            <a:r>
              <a:rPr lang="en-US" sz="7200" b="1" dirty="0" smtClean="0"/>
              <a:t>Group 1</a:t>
            </a:r>
            <a:r>
              <a:rPr lang="en-US" b="1" dirty="0"/>
              <a:t/>
            </a:r>
            <a:br>
              <a:rPr lang="en-US" b="1" dirty="0"/>
            </a:br>
            <a:endParaRPr lang="en-US" b="1" dirty="0"/>
          </a:p>
        </p:txBody>
      </p:sp>
    </p:spTree>
    <p:extLst>
      <p:ext uri="{BB962C8B-B14F-4D97-AF65-F5344CB8AC3E}">
        <p14:creationId xmlns:p14="http://schemas.microsoft.com/office/powerpoint/2010/main" val="2804298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2643179"/>
          </a:xfrm>
        </p:spPr>
        <p:txBody>
          <a:bodyPr/>
          <a:lstStyle/>
          <a:p>
            <a:r>
              <a:rPr lang="en-US" dirty="0" smtClean="0"/>
              <a:t>Activity:</a:t>
            </a:r>
            <a:br>
              <a:rPr lang="en-US" dirty="0" smtClean="0"/>
            </a:br>
            <a:r>
              <a:rPr lang="en-US" dirty="0" smtClean="0"/>
              <a:t>The teacher will come with coins in the classroom and ask learners what coins do they see.</a:t>
            </a:r>
            <a:endParaRPr lang="en-US" dirty="0"/>
          </a:p>
        </p:txBody>
      </p:sp>
    </p:spTree>
    <p:extLst>
      <p:ext uri="{BB962C8B-B14F-4D97-AF65-F5344CB8AC3E}">
        <p14:creationId xmlns:p14="http://schemas.microsoft.com/office/powerpoint/2010/main" val="694420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br>
              <a:rPr lang="en-US" b="1" dirty="0" smtClean="0"/>
            </a:br>
            <a:r>
              <a:rPr lang="en-US" b="1" dirty="0"/>
              <a:t/>
            </a:r>
            <a:br>
              <a:rPr lang="en-US" b="1" dirty="0"/>
            </a:br>
            <a:r>
              <a:rPr lang="en-US" b="1" dirty="0" smtClean="0"/>
              <a:t/>
            </a:r>
            <a:br>
              <a:rPr lang="en-US" b="1" dirty="0" smtClean="0"/>
            </a:br>
            <a:r>
              <a:rPr lang="en-US" b="1" dirty="0" smtClean="0"/>
              <a:t>                        </a:t>
            </a:r>
            <a:r>
              <a:rPr lang="en-US" sz="7200" b="1" dirty="0" smtClean="0"/>
              <a:t>Group 2</a:t>
            </a:r>
            <a:endParaRPr lang="en-US" sz="7200" b="1" dirty="0"/>
          </a:p>
        </p:txBody>
      </p:sp>
    </p:spTree>
    <p:extLst>
      <p:ext uri="{BB962C8B-B14F-4D97-AF65-F5344CB8AC3E}">
        <p14:creationId xmlns:p14="http://schemas.microsoft.com/office/powerpoint/2010/main" val="3737679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www.teacharesources.com/wp-content/uploads/2023/02/south-african-coin-matching-pd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457" y="87682"/>
            <a:ext cx="10077450" cy="6551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809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smtClean="0"/>
              <a:t>                        </a:t>
            </a:r>
            <a:r>
              <a:rPr lang="en-US" sz="7200" b="1" dirty="0" smtClean="0"/>
              <a:t>Group 3</a:t>
            </a:r>
            <a:endParaRPr lang="en-US" sz="7200" b="1" dirty="0"/>
          </a:p>
        </p:txBody>
      </p:sp>
    </p:spTree>
    <p:extLst>
      <p:ext uri="{BB962C8B-B14F-4D97-AF65-F5344CB8AC3E}">
        <p14:creationId xmlns:p14="http://schemas.microsoft.com/office/powerpoint/2010/main" val="3290141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tse1.mm.bing.net/th?id=OIP.ig5GivxfxANnUbMDUJZ22wAAAA&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4663" y="0"/>
            <a:ext cx="8203474" cy="6688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74615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130630"/>
            <a:ext cx="9404723" cy="927462"/>
          </a:xfrm>
        </p:spPr>
        <p:txBody>
          <a:bodyPr/>
          <a:lstStyle/>
          <a:p>
            <a:r>
              <a:rPr lang="en-US" b="1" dirty="0" smtClean="0"/>
              <a:t>SPACE AND SHAPE</a:t>
            </a:r>
            <a:endParaRPr lang="en-US" b="1" dirty="0"/>
          </a:p>
        </p:txBody>
      </p:sp>
      <p:pic>
        <p:nvPicPr>
          <p:cNvPr id="9218" name="Picture 2" descr="https://tse1.mm.bing.net/th?id=OIP.pHWfiljXKxQd34KL7GMauwHaHa&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1966" y="849085"/>
            <a:ext cx="9366068" cy="5904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200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a:t/>
            </a:r>
            <a:br>
              <a:rPr lang="en-US" dirty="0"/>
            </a:br>
            <a:r>
              <a:rPr lang="en-US" dirty="0" smtClean="0"/>
              <a:t/>
            </a:r>
            <a:br>
              <a:rPr lang="en-US" dirty="0" smtClean="0"/>
            </a:br>
            <a:r>
              <a:rPr lang="en-US" dirty="0"/>
              <a:t> </a:t>
            </a:r>
            <a:r>
              <a:rPr lang="en-US" dirty="0" smtClean="0"/>
              <a:t>                    </a:t>
            </a:r>
            <a:r>
              <a:rPr lang="en-US" sz="7200" b="1" dirty="0" smtClean="0"/>
              <a:t>POSITIONS</a:t>
            </a:r>
            <a:endParaRPr lang="en-US" sz="7200" b="1" dirty="0"/>
          </a:p>
        </p:txBody>
      </p:sp>
    </p:spTree>
    <p:extLst>
      <p:ext uri="{BB962C8B-B14F-4D97-AF65-F5344CB8AC3E}">
        <p14:creationId xmlns:p14="http://schemas.microsoft.com/office/powerpoint/2010/main" val="3254919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br>
              <a:rPr lang="en-US" b="1" dirty="0" smtClean="0"/>
            </a:br>
            <a:r>
              <a:rPr lang="en-US" b="1" dirty="0"/>
              <a:t/>
            </a:r>
            <a:br>
              <a:rPr lang="en-US" b="1" dirty="0"/>
            </a:br>
            <a:r>
              <a:rPr lang="en-US" b="1" dirty="0" smtClean="0"/>
              <a:t/>
            </a:r>
            <a:br>
              <a:rPr lang="en-US" b="1" dirty="0" smtClean="0"/>
            </a:br>
            <a:r>
              <a:rPr lang="en-US" b="1" dirty="0"/>
              <a:t> </a:t>
            </a:r>
            <a:r>
              <a:rPr lang="en-US" b="1" dirty="0" smtClean="0"/>
              <a:t>                        </a:t>
            </a:r>
            <a:r>
              <a:rPr lang="en-US" sz="7200" b="1" dirty="0" smtClean="0"/>
              <a:t>Group 1</a:t>
            </a:r>
            <a:endParaRPr lang="en-US" sz="7200" b="1" dirty="0"/>
          </a:p>
        </p:txBody>
      </p:sp>
    </p:spTree>
    <p:extLst>
      <p:ext uri="{BB962C8B-B14F-4D97-AF65-F5344CB8AC3E}">
        <p14:creationId xmlns:p14="http://schemas.microsoft.com/office/powerpoint/2010/main" val="3427544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5908893"/>
          </a:xfrm>
        </p:spPr>
        <p:txBody>
          <a:bodyPr/>
          <a:lstStyle/>
          <a:p>
            <a:r>
              <a:rPr lang="en-US" dirty="0" smtClean="0"/>
              <a:t>Activity:</a:t>
            </a:r>
            <a:br>
              <a:rPr lang="en-US" dirty="0" smtClean="0"/>
            </a:br>
            <a:r>
              <a:rPr lang="en-US" dirty="0" smtClean="0"/>
              <a:t>The teacher will use objects in the classroom like chairs, desks, chalkboard, door etc. and demonstrate to learners about different positions that one object can display amongst other objects then ask learners to also demonstrate those positions.</a:t>
            </a:r>
            <a:endParaRPr lang="en-US" dirty="0"/>
          </a:p>
        </p:txBody>
      </p:sp>
    </p:spTree>
    <p:extLst>
      <p:ext uri="{BB962C8B-B14F-4D97-AF65-F5344CB8AC3E}">
        <p14:creationId xmlns:p14="http://schemas.microsoft.com/office/powerpoint/2010/main" val="3112621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Group 2</a:t>
            </a:r>
            <a:r>
              <a:rPr lang="en-US" sz="7200" b="1" dirty="0"/>
              <a:t/>
            </a:r>
            <a:br>
              <a:rPr lang="en-US" sz="7200" b="1" dirty="0"/>
            </a:br>
            <a:endParaRPr lang="en-US" sz="7200" b="1" dirty="0"/>
          </a:p>
        </p:txBody>
      </p:sp>
    </p:spTree>
    <p:extLst>
      <p:ext uri="{BB962C8B-B14F-4D97-AF65-F5344CB8AC3E}">
        <p14:creationId xmlns:p14="http://schemas.microsoft.com/office/powerpoint/2010/main" val="887425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https://i.pinimg.com/originals/46/0a/df/460adf6eeb4384be52faa59cc5c00e4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91440"/>
            <a:ext cx="8309156" cy="6766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731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Group 3</a:t>
            </a:r>
            <a:r>
              <a:rPr lang="en-US" b="1" dirty="0"/>
              <a:t/>
            </a:r>
            <a:br>
              <a:rPr lang="en-US" b="1" dirty="0"/>
            </a:br>
            <a:r>
              <a:rPr lang="en-US" b="1" dirty="0" smtClean="0"/>
              <a:t>Match the word[s] to its picture then fill in the missing words.</a:t>
            </a:r>
            <a:endParaRPr lang="en-US" b="1" dirty="0"/>
          </a:p>
        </p:txBody>
      </p:sp>
    </p:spTree>
    <p:extLst>
      <p:ext uri="{BB962C8B-B14F-4D97-AF65-F5344CB8AC3E}">
        <p14:creationId xmlns:p14="http://schemas.microsoft.com/office/powerpoint/2010/main" val="2785909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https://tse1.mm.bing.net/th?id=OIP.jY4jw__-72aXqyIZ1T5aZgAAAA&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097" y="0"/>
            <a:ext cx="68449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6793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40505"/>
          </a:xfrm>
        </p:spPr>
        <p:txBody>
          <a:bodyPr/>
          <a:lstStyle/>
          <a:p>
            <a:r>
              <a:rPr lang="en-US" b="1" dirty="0" smtClean="0"/>
              <a:t>3D OBJECTS</a:t>
            </a:r>
            <a:endParaRPr lang="en-US" b="1" dirty="0"/>
          </a:p>
        </p:txBody>
      </p:sp>
      <p:pic>
        <p:nvPicPr>
          <p:cNvPr id="12290" name="Picture 2" descr="https://tse1.mm.bing.net/th?id=OIP.vffXLOKw06v7kUEHxXuTpwHaFP&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1" y="1175657"/>
            <a:ext cx="9608231" cy="55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733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FB332-ADD8-41C4-B7C6-B9D03217BDC3}"/>
              </a:ext>
            </a:extLst>
          </p:cNvPr>
          <p:cNvSpPr>
            <a:spLocks noGrp="1"/>
          </p:cNvSpPr>
          <p:nvPr>
            <p:ph type="title"/>
          </p:nvPr>
        </p:nvSpPr>
        <p:spPr>
          <a:xfrm>
            <a:off x="646111" y="452718"/>
            <a:ext cx="9404723" cy="6067352"/>
          </a:xfrm>
        </p:spPr>
        <p:txBody>
          <a:bodyPr/>
          <a:lstStyle/>
          <a:p>
            <a:r>
              <a:rPr lang="en-ZA" sz="7200" b="1" dirty="0" smtClean="0"/>
              <a:t>GROUP 1</a:t>
            </a:r>
            <a:r>
              <a:rPr lang="en-ZA" sz="9600" b="1" dirty="0" smtClean="0"/>
              <a:t/>
            </a:r>
            <a:br>
              <a:rPr lang="en-ZA" sz="9600" b="1" dirty="0" smtClean="0"/>
            </a:br>
            <a:r>
              <a:rPr lang="en-ZA" sz="4400" b="1" dirty="0" err="1" smtClean="0"/>
              <a:t>Color</a:t>
            </a:r>
            <a:r>
              <a:rPr lang="en-ZA" sz="4400" b="1" dirty="0" smtClean="0"/>
              <a:t> the 3D shapes.</a:t>
            </a:r>
            <a:endParaRPr lang="en-ZA" sz="9600" b="1" dirty="0"/>
          </a:p>
        </p:txBody>
      </p:sp>
    </p:spTree>
    <p:extLst>
      <p:ext uri="{BB962C8B-B14F-4D97-AF65-F5344CB8AC3E}">
        <p14:creationId xmlns:p14="http://schemas.microsoft.com/office/powerpoint/2010/main" val="3163512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s://tse1.mm.bing.net/th?id=OIP.Bz1N8jRxld9iO_txZrG1DwHaI4&amp;pid=Api&amp;P=0&amp;h=2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248" y="182880"/>
            <a:ext cx="9217151" cy="6528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77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2</a:t>
            </a:r>
            <a:endParaRPr lang="en-US" sz="7200" b="1" dirty="0"/>
          </a:p>
        </p:txBody>
      </p:sp>
    </p:spTree>
    <p:extLst>
      <p:ext uri="{BB962C8B-B14F-4D97-AF65-F5344CB8AC3E}">
        <p14:creationId xmlns:p14="http://schemas.microsoft.com/office/powerpoint/2010/main" val="2212660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a:t>
            </a:r>
            <a:br>
              <a:rPr lang="en-US" dirty="0" smtClean="0"/>
            </a:br>
            <a:r>
              <a:rPr lang="en-US" dirty="0" smtClean="0"/>
              <a:t>Name the 3D objects that you can see around the classroom.</a:t>
            </a:r>
            <a:endParaRPr lang="en-US" dirty="0"/>
          </a:p>
        </p:txBody>
      </p:sp>
    </p:spTree>
    <p:extLst>
      <p:ext uri="{BB962C8B-B14F-4D97-AF65-F5344CB8AC3E}">
        <p14:creationId xmlns:p14="http://schemas.microsoft.com/office/powerpoint/2010/main" val="1972004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3</a:t>
            </a:r>
            <a:r>
              <a:rPr lang="en-US" sz="7200" b="1" dirty="0"/>
              <a:t/>
            </a:r>
            <a:br>
              <a:rPr lang="en-US" sz="7200" b="1" dirty="0"/>
            </a:br>
            <a:endParaRPr lang="en-US" sz="7200" b="1" dirty="0"/>
          </a:p>
        </p:txBody>
      </p:sp>
    </p:spTree>
    <p:extLst>
      <p:ext uri="{BB962C8B-B14F-4D97-AF65-F5344CB8AC3E}">
        <p14:creationId xmlns:p14="http://schemas.microsoft.com/office/powerpoint/2010/main" val="693557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https://www.math-salamanders.com/image-files/3d-shapes-worksheets-match-2d-3d-shapes-1.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488" y="0"/>
            <a:ext cx="9838943" cy="66202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0522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dirty="0" smtClean="0"/>
              <a:t>DATA HANDLING</a:t>
            </a:r>
            <a:endParaRPr lang="en-US" sz="6600" b="1" dirty="0"/>
          </a:p>
        </p:txBody>
      </p:sp>
      <p:pic>
        <p:nvPicPr>
          <p:cNvPr id="19458" name="Picture 2" descr="https://image3.slideserve.com/7022864/data-handling-l.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4048" y="1481138"/>
            <a:ext cx="10204704" cy="5211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034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1</a:t>
            </a:r>
            <a:endParaRPr lang="en-US" sz="7200" b="1" dirty="0"/>
          </a:p>
        </p:txBody>
      </p:sp>
    </p:spTree>
    <p:extLst>
      <p:ext uri="{BB962C8B-B14F-4D97-AF65-F5344CB8AC3E}">
        <p14:creationId xmlns:p14="http://schemas.microsoft.com/office/powerpoint/2010/main" val="3765869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3918114"/>
          </a:xfrm>
        </p:spPr>
        <p:txBody>
          <a:bodyPr/>
          <a:lstStyle/>
          <a:p>
            <a:r>
              <a:rPr lang="en-US" dirty="0" smtClean="0"/>
              <a:t>Activity: </a:t>
            </a:r>
            <a:br>
              <a:rPr lang="en-US" dirty="0" smtClean="0"/>
            </a:br>
            <a:r>
              <a:rPr lang="en-US" dirty="0" smtClean="0"/>
              <a:t>Learners will be given counters with different color and they will have to sort and arrange those counters according to their colors.</a:t>
            </a:r>
            <a:endParaRPr lang="en-US" dirty="0"/>
          </a:p>
        </p:txBody>
      </p:sp>
    </p:spTree>
    <p:extLst>
      <p:ext uri="{BB962C8B-B14F-4D97-AF65-F5344CB8AC3E}">
        <p14:creationId xmlns:p14="http://schemas.microsoft.com/office/powerpoint/2010/main" val="154599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2</a:t>
            </a:r>
            <a:endParaRPr lang="en-US" sz="7200" b="1" dirty="0"/>
          </a:p>
        </p:txBody>
      </p:sp>
    </p:spTree>
    <p:extLst>
      <p:ext uri="{BB962C8B-B14F-4D97-AF65-F5344CB8AC3E}">
        <p14:creationId xmlns:p14="http://schemas.microsoft.com/office/powerpoint/2010/main" val="460912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https://content.urbrainy.com/751/671112074/thumbnail_large/813_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75" y="0"/>
            <a:ext cx="8714105" cy="6693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6491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3</a:t>
            </a:r>
            <a:endParaRPr lang="en-US" sz="7200" b="1" dirty="0"/>
          </a:p>
        </p:txBody>
      </p:sp>
    </p:spTree>
    <p:extLst>
      <p:ext uri="{BB962C8B-B14F-4D97-AF65-F5344CB8AC3E}">
        <p14:creationId xmlns:p14="http://schemas.microsoft.com/office/powerpoint/2010/main" val="3141047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descr="https://www.key2practice.com/wp-content/uploads/2019/09/Class-1-Data-handling-g.jpg?c2ae0e&amp;c2ae0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3784"/>
            <a:ext cx="11125200" cy="6670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0054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MEASUREMENTS</a:t>
            </a:r>
            <a:endParaRPr lang="en-US" b="1" dirty="0"/>
          </a:p>
        </p:txBody>
      </p:sp>
      <p:pic>
        <p:nvPicPr>
          <p:cNvPr id="22530" name="Picture 2" descr="https://tse3.mm.bing.net/th?id=OIP.w8PNkGCAWxN9egOjNh83uwHaDF&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0" y="1160585"/>
            <a:ext cx="9635027" cy="5521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0597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1</a:t>
            </a:r>
            <a:endParaRPr lang="en-US" sz="7200" b="1" dirty="0"/>
          </a:p>
        </p:txBody>
      </p:sp>
    </p:spTree>
    <p:extLst>
      <p:ext uri="{BB962C8B-B14F-4D97-AF65-F5344CB8AC3E}">
        <p14:creationId xmlns:p14="http://schemas.microsoft.com/office/powerpoint/2010/main" val="2914266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a:t>
            </a:r>
            <a:br>
              <a:rPr lang="en-US" dirty="0" smtClean="0"/>
            </a:br>
            <a:r>
              <a:rPr lang="en-US" dirty="0" smtClean="0"/>
              <a:t>1. Tell us about the things you did yesterday at home.</a:t>
            </a:r>
            <a:br>
              <a:rPr lang="en-US" dirty="0" smtClean="0"/>
            </a:br>
            <a:r>
              <a:rPr lang="en-US" dirty="0" smtClean="0"/>
              <a:t>2. What are you going to do today at school with your friends?</a:t>
            </a:r>
            <a:br>
              <a:rPr lang="en-US" dirty="0" smtClean="0"/>
            </a:br>
            <a:r>
              <a:rPr lang="en-US" dirty="0" smtClean="0"/>
              <a:t>3. What are you going to do tomorrow after school?</a:t>
            </a:r>
            <a:endParaRPr lang="en-US" dirty="0"/>
          </a:p>
        </p:txBody>
      </p:sp>
    </p:spTree>
    <p:extLst>
      <p:ext uri="{BB962C8B-B14F-4D97-AF65-F5344CB8AC3E}">
        <p14:creationId xmlns:p14="http://schemas.microsoft.com/office/powerpoint/2010/main" val="28303490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t>
            </a:r>
            <a:br>
              <a:rPr lang="en-US" sz="7200" b="1" dirty="0" smtClean="0"/>
            </a:br>
            <a:r>
              <a:rPr lang="en-US" sz="7200" b="1" dirty="0"/>
              <a:t/>
            </a:r>
            <a:br>
              <a:rPr lang="en-US" sz="7200" b="1" dirty="0"/>
            </a:br>
            <a:r>
              <a:rPr lang="en-US" sz="7200" b="1" dirty="0"/>
              <a:t> </a:t>
            </a:r>
            <a:r>
              <a:rPr lang="en-US" sz="7200" b="1" dirty="0" smtClean="0"/>
              <a:t>           Group 2</a:t>
            </a:r>
            <a:endParaRPr lang="en-US" sz="7200" b="1" dirty="0"/>
          </a:p>
        </p:txBody>
      </p:sp>
    </p:spTree>
    <p:extLst>
      <p:ext uri="{BB962C8B-B14F-4D97-AF65-F5344CB8AC3E}">
        <p14:creationId xmlns:p14="http://schemas.microsoft.com/office/powerpoint/2010/main" val="33827661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a:t>
            </a:r>
            <a:br>
              <a:rPr lang="en-US" dirty="0" smtClean="0"/>
            </a:br>
            <a:r>
              <a:rPr lang="en-US" dirty="0" smtClean="0"/>
              <a:t>1. Today is Friday, what day is tomorrow?</a:t>
            </a:r>
            <a:br>
              <a:rPr lang="en-US" dirty="0" smtClean="0"/>
            </a:br>
            <a:r>
              <a:rPr lang="en-US" dirty="0" smtClean="0"/>
              <a:t>2. Today is Monday, what day was yesterday?</a:t>
            </a:r>
            <a:br>
              <a:rPr lang="en-US" dirty="0" smtClean="0"/>
            </a:br>
            <a:r>
              <a:rPr lang="en-US" dirty="0" smtClean="0"/>
              <a:t>3. Yesterday was Wednesday, what day is today?</a:t>
            </a:r>
            <a:br>
              <a:rPr lang="en-US" dirty="0" smtClean="0"/>
            </a:br>
            <a:endParaRPr lang="en-US" dirty="0"/>
          </a:p>
        </p:txBody>
      </p:sp>
    </p:spTree>
    <p:extLst>
      <p:ext uri="{BB962C8B-B14F-4D97-AF65-F5344CB8AC3E}">
        <p14:creationId xmlns:p14="http://schemas.microsoft.com/office/powerpoint/2010/main" val="19917373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3</a:t>
            </a:r>
            <a:endParaRPr lang="en-US" sz="7200" b="1" dirty="0"/>
          </a:p>
        </p:txBody>
      </p:sp>
    </p:spTree>
    <p:extLst>
      <p:ext uri="{BB962C8B-B14F-4D97-AF65-F5344CB8AC3E}">
        <p14:creationId xmlns:p14="http://schemas.microsoft.com/office/powerpoint/2010/main" val="10456948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descr="https://i.pinimg.com/originals/a7/cf/cb/a7cfcb74044a615f35d91493d6377ce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497"/>
            <a:ext cx="10407314" cy="7048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078339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07867"/>
          </a:xfrm>
        </p:spPr>
        <p:txBody>
          <a:bodyPr/>
          <a:lstStyle/>
          <a:p>
            <a:r>
              <a:rPr lang="en-US" b="1" dirty="0" smtClean="0"/>
              <a:t>PATTERNS</a:t>
            </a:r>
            <a:endParaRPr lang="en-US" b="1" dirty="0"/>
          </a:p>
        </p:txBody>
      </p:sp>
      <p:pic>
        <p:nvPicPr>
          <p:cNvPr id="24578" name="Picture 2" descr="https://www.lifewire.com/thmb/Xn4Zitq3x8TEkJAI_0B95HOqK9k=/3865x2576/filters:fill(auto,1)/abstract-paper-flower-pattern-656688606-5a5ea0587d4be8003778c1e3.jpg"/>
          <p:cNvPicPr>
            <a:picLocks noGrp="1" noChangeAspect="1" noChangeArrowheads="1"/>
          </p:cNvPicPr>
          <p:nvPr>
            <p:ph idx="1"/>
          </p:nvPr>
        </p:nvPicPr>
        <p:blipFill>
          <a:blip r:embed="rId2" cstate="hqprint">
            <a:extLst>
              <a:ext uri="{28A0092B-C50C-407E-A947-70E740481C1C}">
                <a14:useLocalDpi xmlns:a14="http://schemas.microsoft.com/office/drawing/2010/main" val="0"/>
              </a:ext>
            </a:extLst>
          </a:blip>
          <a:srcRect/>
          <a:stretch>
            <a:fillRect/>
          </a:stretch>
        </p:blipFill>
        <p:spPr bwMode="auto">
          <a:xfrm>
            <a:off x="773723" y="1160463"/>
            <a:ext cx="9530861" cy="555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124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1</a:t>
            </a:r>
            <a:endParaRPr lang="en-US" sz="7200" b="1" dirty="0"/>
          </a:p>
        </p:txBody>
      </p:sp>
    </p:spTree>
    <p:extLst>
      <p:ext uri="{BB962C8B-B14F-4D97-AF65-F5344CB8AC3E}">
        <p14:creationId xmlns:p14="http://schemas.microsoft.com/office/powerpoint/2010/main" val="34381847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https://tse3.mm.bing.net/th?id=OIP.SSvNe-8g3nen8hF7Y_5mjwHaFj&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538" y="105509"/>
            <a:ext cx="9624647" cy="6564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90192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Group 2</a:t>
            </a:r>
            <a:br>
              <a:rPr lang="en-US" sz="7200" b="1" dirty="0" smtClean="0"/>
            </a:br>
            <a:r>
              <a:rPr lang="en-US" sz="4400" b="1" dirty="0" smtClean="0"/>
              <a:t>Complete the following pattern by drawing the picture in the box. </a:t>
            </a:r>
            <a:endParaRPr lang="en-US" sz="7200" b="1" dirty="0"/>
          </a:p>
        </p:txBody>
      </p:sp>
    </p:spTree>
    <p:extLst>
      <p:ext uri="{BB962C8B-B14F-4D97-AF65-F5344CB8AC3E}">
        <p14:creationId xmlns:p14="http://schemas.microsoft.com/office/powerpoint/2010/main" val="38031869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https://tse3.mm.bing.net/th?id=OIP.9hv5qGcJ0tH6JeNqZIEVLQAAAA&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77" y="117232"/>
            <a:ext cx="10128738" cy="6588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90816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3</a:t>
            </a:r>
            <a:endParaRPr lang="en-US" sz="7200" b="1" dirty="0"/>
          </a:p>
        </p:txBody>
      </p:sp>
    </p:spTree>
    <p:extLst>
      <p:ext uri="{BB962C8B-B14F-4D97-AF65-F5344CB8AC3E}">
        <p14:creationId xmlns:p14="http://schemas.microsoft.com/office/powerpoint/2010/main" val="27978546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descr="https://images.twinkl.co.uk/tw1n/image/private/t_630/image_repo/a7/c3/t-m-33022-circles-and-triangles-2d-shape-repeating-patterns-activity_ver_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969" y="187569"/>
            <a:ext cx="9929446" cy="6670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85376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0"/>
            <a:ext cx="9404723" cy="808892"/>
          </a:xfrm>
        </p:spPr>
        <p:txBody>
          <a:bodyPr/>
          <a:lstStyle/>
          <a:p>
            <a:r>
              <a:rPr lang="en-US" b="1" dirty="0" smtClean="0"/>
              <a:t>REFERENCES</a:t>
            </a:r>
            <a:endParaRPr lang="en-US" b="1" dirty="0"/>
          </a:p>
        </p:txBody>
      </p:sp>
      <p:sp>
        <p:nvSpPr>
          <p:cNvPr id="3" name="Content Placeholder 2"/>
          <p:cNvSpPr>
            <a:spLocks noGrp="1"/>
          </p:cNvSpPr>
          <p:nvPr>
            <p:ph idx="1"/>
          </p:nvPr>
        </p:nvSpPr>
        <p:spPr>
          <a:xfrm>
            <a:off x="1103312" y="808892"/>
            <a:ext cx="8946541" cy="5849816"/>
          </a:xfrm>
        </p:spPr>
        <p:txBody>
          <a:bodyPr>
            <a:normAutofit/>
          </a:bodyPr>
          <a:lstStyle/>
          <a:p>
            <a:r>
              <a:rPr lang="en-US" sz="1400" u="sng" dirty="0">
                <a:hlinkClick r:id="rId2"/>
              </a:rPr>
              <a:t>https://images.search.yahoo.com/images/view;_ylt=AwrhS1Yp.o9mOzo9HlqJzbkF;_ylu=c2VjA3NyBHNsawNpbWcEb2lkAzU3M2RiZmRiYTc4MTE0MzJhZGNjZDI2NDI3ZTliMDI5BGdwb3MDMQRpdANiaW5n?back=https%3A%2F%2Fimages.search.yahoo.com%2Fsearch%2Fimages%3Fp%3Dcolor%2Bnumbers%2Bfrom%2B1%2Bto%2B10%26ei%3DUTF-8%26type%3DE211US885G0%26fr%3Dmcafee%26fr2%3Dp%253As%252Cv%253Ai%252Cm%253Asb-top%26tab%3Dorganic%26ri%3D1&amp;w=474&amp;h=658&amp;imgurl=1.bp.blogspot.com%2F-pinFeyLDeME%2FXYW9-voLSEI%2FAAAAAAAASjo%2F2z0hUEG2VpoxVd873qIC1g3tqkrBQJ4JgCLcBGAsYHQ%2Fs1600%2FLearn%2Band%2BColor%2BNumbers%2Bfrom%2B1%2B-%2B10%2BColoring%2BBook.jpg-3.jpg&amp;rurl=https%3A%2F%2Fwww.sketchite.com%2Fnumber-coloring-sheets-1-10-sketch-templates%2F&amp;size=133.3KB&amp;p=color+numbers+from+1+to+10&amp;oid=573dbfdba7811432adccd26427e9b029&amp;fr2=p%3As%2Cv%3Ai%2Cm%3Asb-top&amp;fr=mcafee&amp;tt=Number+Coloring+Sheets+1+10+Coloring+Pages&amp;b=0&amp;ni=90&amp;no=1&amp;ts=&amp;tab=organic&amp;sigr=gYvkdT3Ok51q&amp;sigb=BOzcz.qvlg11&amp;sigi=wpYY80l14ePQ&amp;sigt=OZLXtUutgPmC&amp;.crumb=xWeISs3fozD&amp;fr=mcafee&amp;fr2=p%3As%2Cv%3Ai%2Cm%3Asb-top&amp;type=E211US885G0</a:t>
            </a:r>
            <a:endParaRPr lang="en-US" sz="1400" dirty="0"/>
          </a:p>
          <a:p>
            <a:endParaRPr lang="en-US" sz="1400" dirty="0"/>
          </a:p>
        </p:txBody>
      </p:sp>
    </p:spTree>
    <p:extLst>
      <p:ext uri="{BB962C8B-B14F-4D97-AF65-F5344CB8AC3E}">
        <p14:creationId xmlns:p14="http://schemas.microsoft.com/office/powerpoint/2010/main" val="31904079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0"/>
            <a:ext cx="9404723" cy="715108"/>
          </a:xfrm>
        </p:spPr>
        <p:txBody>
          <a:bodyPr/>
          <a:lstStyle/>
          <a:p>
            <a:r>
              <a:rPr lang="en-US" b="1" dirty="0" smtClean="0"/>
              <a:t>REFERENCES</a:t>
            </a:r>
            <a:endParaRPr lang="en-US" b="1" dirty="0"/>
          </a:p>
        </p:txBody>
      </p:sp>
      <p:sp>
        <p:nvSpPr>
          <p:cNvPr id="3" name="Content Placeholder 2"/>
          <p:cNvSpPr>
            <a:spLocks noGrp="1"/>
          </p:cNvSpPr>
          <p:nvPr>
            <p:ph idx="1"/>
          </p:nvPr>
        </p:nvSpPr>
        <p:spPr>
          <a:xfrm>
            <a:off x="1103312" y="715108"/>
            <a:ext cx="8946541" cy="5767754"/>
          </a:xfrm>
        </p:spPr>
        <p:txBody>
          <a:bodyPr>
            <a:normAutofit/>
          </a:bodyPr>
          <a:lstStyle/>
          <a:p>
            <a:r>
              <a:rPr lang="en-US" u="sng" dirty="0">
                <a:hlinkClick r:id="rId2"/>
              </a:rPr>
              <a:t>https://i.pinimg.com/originals/18/1e/80/181e80ade659574ef92cad26f66e7ca3.jpg</a:t>
            </a:r>
            <a:endParaRPr lang="en-US" dirty="0"/>
          </a:p>
          <a:p>
            <a:r>
              <a:rPr lang="en-US" u="sng" dirty="0">
                <a:hlinkClick r:id="rId3"/>
              </a:rPr>
              <a:t>https://images.search.yahoo.com/images/view;_ylt=AwrijC44lJBmWTUDF9eJzbkF;_</a:t>
            </a:r>
            <a:r>
              <a:rPr lang="en-US" sz="1500" u="sng" dirty="0">
                <a:hlinkClick r:id="rId3"/>
              </a:rPr>
              <a:t>ylu=c2VjA3NyBHNsawNpbWcEb2lkAzVlOTY1OTY2Y2JlNzQ3YjA5NDkxMDgwNDFjZjBhNDkzBGdwb3MDMwRpdANiaW5n?back=https%3A%2F%2Fimages.search.yahoo.com%2Fsearch%2Fimages%3Fp%3Daddition%2Band%2Bsubtraction%2Bof%2Bsouth%2Bafrican%2Bcoins%2Bgrade%2B1%2Bworksheets%26ei%3DUTF-8%26type%3DE211US885G0%26fr%3Dmcafee%26fr2%3Dp%253As%252Cv%253Ai%252Cm%253Asb-top%26tab%3Dorganic%26ri%3D3&amp;w=247&amp;h=350&amp;imgurl=ecdn.teacherspayteachers.com%2Fthumbitem%2FSouth-African-Money-Coins-worksheet-9280268-1678900465%2Foriginal-9280268-1.jpg&amp;rurl=https%3A%2F%2Fwww.teacherspayteachers.com%2FProduct%2FSouth-African-Money-Coins-worksheet-9280268&amp;size=23.8KB&amp;p=addition+and+subtraction+of+south+african+coins+grade+1+worksheets&amp;oid=5e965966cbe747b0949108041cf0a493&amp;fr2=p%3As%2Cv%3Ai%2Cm%3Asb-top&amp;fr=mcafee&amp;tt=South+African+Money+%28Coins%29+worksheet+by+Rawrsome+Resources+%7C+TPT&amp;b=0&amp;ni=90&amp;no=3&amp;ts=&amp;tab=organic&amp;sigr=Jo045aCrhsGi&amp;sigb=h8un7TODp1jw&amp;sigi=hRu5lffcjgYX&amp;sigt=SX5HMjdel3Zt&amp;.crumb=xWeISs3fozD&amp;fr=mcafee&amp;fr2=p%3As%2Cv%3Ai%2Cm%3Asb-top&amp;type=E211US885G0</a:t>
            </a:r>
            <a:endParaRPr lang="en-US" sz="1500" dirty="0"/>
          </a:p>
          <a:p>
            <a:endParaRPr lang="en-US" dirty="0"/>
          </a:p>
        </p:txBody>
      </p:sp>
    </p:spTree>
    <p:extLst>
      <p:ext uri="{BB962C8B-B14F-4D97-AF65-F5344CB8AC3E}">
        <p14:creationId xmlns:p14="http://schemas.microsoft.com/office/powerpoint/2010/main" val="21857537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105508"/>
            <a:ext cx="9404723" cy="785446"/>
          </a:xfrm>
        </p:spPr>
        <p:txBody>
          <a:bodyPr/>
          <a:lstStyle/>
          <a:p>
            <a:r>
              <a:rPr lang="en-US" b="1" dirty="0" smtClean="0"/>
              <a:t>REFERENCES</a:t>
            </a:r>
            <a:endParaRPr lang="en-US" b="1" dirty="0"/>
          </a:p>
        </p:txBody>
      </p:sp>
      <p:sp>
        <p:nvSpPr>
          <p:cNvPr id="3" name="Content Placeholder 2"/>
          <p:cNvSpPr>
            <a:spLocks noGrp="1"/>
          </p:cNvSpPr>
          <p:nvPr>
            <p:ph idx="1"/>
          </p:nvPr>
        </p:nvSpPr>
        <p:spPr>
          <a:xfrm>
            <a:off x="1103312" y="890954"/>
            <a:ext cx="8946541" cy="5357445"/>
          </a:xfrm>
        </p:spPr>
        <p:txBody>
          <a:bodyPr>
            <a:normAutofit fontScale="70000" lnSpcReduction="20000"/>
          </a:bodyPr>
          <a:lstStyle/>
          <a:p>
            <a:r>
              <a:rPr lang="en-US" u="sng" dirty="0">
                <a:hlinkClick r:id="rId2"/>
              </a:rPr>
              <a:t>https://tse1.mm.bing.net/th?id=OIP.pHWfiljXKxQd34KL7GMauwHaHa&amp;pid=Api&amp;P=0&amp;h=220</a:t>
            </a:r>
            <a:endParaRPr lang="en-US" dirty="0"/>
          </a:p>
          <a:p>
            <a:r>
              <a:rPr lang="en-US" u="sng" dirty="0">
                <a:hlinkClick r:id="rId3"/>
              </a:rPr>
              <a:t>https://tse1.mm.bing.net/th?id=OIP.jY4jw__-72aXqyIZ1T5aZgAAAA&amp;pid=Api&amp;P=0&amp;h=220</a:t>
            </a:r>
            <a:endParaRPr lang="en-US" dirty="0"/>
          </a:p>
          <a:p>
            <a:r>
              <a:rPr lang="en-US" u="sng" dirty="0">
                <a:hlinkClick r:id="rId4"/>
              </a:rPr>
              <a:t>https://i.pinimg.com/originals/46/0a/df/460adf6eeb4384be52faa59cc5c00e43.jpg</a:t>
            </a:r>
            <a:endParaRPr lang="en-US" dirty="0"/>
          </a:p>
          <a:p>
            <a:r>
              <a:rPr lang="en-US" u="sng" dirty="0">
                <a:hlinkClick r:id="rId5"/>
              </a:rPr>
              <a:t>https://tse1.mm.bing.net/th?id=OIP.vffXLOKw06v7kUEHxXuTpwHaFP&amp;pid=Api&amp;P=0&amp;h=220</a:t>
            </a:r>
            <a:endParaRPr lang="en-US" dirty="0"/>
          </a:p>
          <a:p>
            <a:r>
              <a:rPr lang="en-US" u="sng" dirty="0">
                <a:hlinkClick r:id="rId6"/>
              </a:rPr>
              <a:t>https://www.math-salamanders.com/image-files/3d-shapes-worksheets-match-2d-3d-shapes-1.gif</a:t>
            </a:r>
            <a:endParaRPr lang="en-US" dirty="0"/>
          </a:p>
          <a:p>
            <a:r>
              <a:rPr lang="en-US" u="sng" dirty="0">
                <a:hlinkClick r:id="rId7"/>
              </a:rPr>
              <a:t>https://tse1.mm.bing.net/th?id=OIP.Bz1N8jRxld9iO_txZrG1DwHaI4&amp;pid=Api&amp;P=0&amp;h=220</a:t>
            </a:r>
            <a:endParaRPr lang="en-US" dirty="0"/>
          </a:p>
          <a:p>
            <a:r>
              <a:rPr lang="en-US" u="sng" dirty="0">
                <a:hlinkClick r:id="rId8"/>
              </a:rPr>
              <a:t>https://tse1.explicit.bing.net/th?id=OIP.Pf5PLcFzOieaytBwQP1icwHaFj&amp;pid=Api&amp;P=0&amp;h=220</a:t>
            </a:r>
            <a:endParaRPr lang="en-US" dirty="0"/>
          </a:p>
          <a:p>
            <a:r>
              <a:rPr lang="en-US" u="sng" dirty="0">
                <a:hlinkClick r:id="rId9"/>
              </a:rPr>
              <a:t>https://content.urbrainy.com/751/671112074/thumbnail_large/813_1.png</a:t>
            </a:r>
            <a:endParaRPr lang="en-US" dirty="0"/>
          </a:p>
          <a:p>
            <a:r>
              <a:rPr lang="en-US" u="sng" dirty="0">
                <a:hlinkClick r:id="rId10"/>
              </a:rPr>
              <a:t>https://www.key2practice.com/wp-content/uploads/2019/09/Class-1-Data-handling-g.jpg?c2ae0e&amp;c2ae0e</a:t>
            </a:r>
            <a:endParaRPr lang="en-US" dirty="0"/>
          </a:p>
          <a:p>
            <a:r>
              <a:rPr lang="en-US" u="sng" dirty="0">
                <a:hlinkClick r:id="rId11"/>
              </a:rPr>
              <a:t>https://tse3.mm.bing.net/th?id=OIP.w8PNkGCAWxN9egOjNh83uwHaDF&amp;pid=Api&amp;P=0&amp;h=220</a:t>
            </a:r>
            <a:endParaRPr lang="en-US" dirty="0"/>
          </a:p>
          <a:p>
            <a:r>
              <a:rPr lang="en-US" u="sng" dirty="0">
                <a:hlinkClick r:id="rId12"/>
              </a:rPr>
              <a:t>https://i.pinimg.com/originals/a7/cf/cb/a7cfcb74044a615f35d91493d6377ce5.png</a:t>
            </a:r>
            <a:endParaRPr lang="en-US" dirty="0"/>
          </a:p>
          <a:p>
            <a:r>
              <a:rPr lang="en-US" u="sng" dirty="0">
                <a:hlinkClick r:id="rId13"/>
              </a:rPr>
              <a:t>https://tse3.mm.bing.net/th?id=OIP.QGToBxXfm7Nvxy6ig3og5QHaE7&amp;pid=Api&amp;P=0&amp;h=220</a:t>
            </a:r>
            <a:endParaRPr lang="en-US" dirty="0"/>
          </a:p>
          <a:p>
            <a:r>
              <a:rPr lang="en-US" u="sng" dirty="0">
                <a:hlinkClick r:id="rId14"/>
              </a:rPr>
              <a:t>https://tse3.mm.bing.net/th?id=OIP.SSvNe-8g3nen8hF7Y_5mjwHaFj&amp;pid=Api&amp;P=0&amp;h=220</a:t>
            </a:r>
            <a:endParaRPr lang="en-US" dirty="0"/>
          </a:p>
          <a:p>
            <a:r>
              <a:rPr lang="en-US" u="sng" dirty="0">
                <a:hlinkClick r:id="rId15"/>
              </a:rPr>
              <a:t>https://tse3.mm.bing.net/th?id=OIP.9hv5qGcJ0tH6JeNqZIEVLQAAAA&amp;pid=Api&amp;P=0&amp;h=220</a:t>
            </a:r>
            <a:endParaRPr lang="en-US" dirty="0"/>
          </a:p>
          <a:p>
            <a:r>
              <a:rPr lang="en-US" u="sng" dirty="0">
                <a:hlinkClick r:id="rId16"/>
              </a:rPr>
              <a:t>https://images.twinkl.co.uk/tw1n/image/private/t_630/image_repo/a7/c3/t-m-33022-circles-and-triangles-2d-shape-repeating-patterns-activity_ver_7.jpg</a:t>
            </a:r>
            <a:endParaRPr lang="en-US" dirty="0"/>
          </a:p>
          <a:p>
            <a:r>
              <a:rPr lang="en-US" dirty="0"/>
              <a:t> </a:t>
            </a:r>
          </a:p>
        </p:txBody>
      </p:sp>
    </p:spTree>
    <p:extLst>
      <p:ext uri="{BB962C8B-B14F-4D97-AF65-F5344CB8AC3E}">
        <p14:creationId xmlns:p14="http://schemas.microsoft.com/office/powerpoint/2010/main" val="35989949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1550</TotalTime>
  <Words>510</Words>
  <Application>Microsoft Office PowerPoint</Application>
  <PresentationFormat>Widescreen</PresentationFormat>
  <Paragraphs>114</Paragraphs>
  <Slides>60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Century Gothic</vt:lpstr>
      <vt:lpstr>Wingdings 3</vt:lpstr>
      <vt:lpstr>Ion</vt:lpstr>
      <vt:lpstr>PowerPoint Presentation</vt:lpstr>
      <vt:lpstr>             LESSON PLAN CONTENT</vt:lpstr>
      <vt:lpstr>             LESSON PLAN CONTENT</vt:lpstr>
      <vt:lpstr>             LESSON PLAN CONTENT</vt:lpstr>
      <vt:lpstr>             LESSON OBJECTIVES</vt:lpstr>
      <vt:lpstr>             Assessment Goals</vt:lpstr>
      <vt:lpstr>             Assessment Goals</vt:lpstr>
      <vt:lpstr>Numbers, operations and relationships.</vt:lpstr>
      <vt:lpstr>Group 1          Color the following numbers from 1-10.  </vt:lpstr>
      <vt:lpstr>PowerPoint Presentation</vt:lpstr>
      <vt:lpstr>Group 2         Count from 1-30 using the following chart.</vt:lpstr>
      <vt:lpstr>PowerPoint Presentation</vt:lpstr>
      <vt:lpstr>                               Group 3 </vt:lpstr>
      <vt:lpstr>PowerPoint Presentation</vt:lpstr>
      <vt:lpstr>South African coins</vt:lpstr>
      <vt:lpstr>                        Group 1 </vt:lpstr>
      <vt:lpstr>Activity: The teacher will come with coins in the classroom and ask learners what coins do they see.</vt:lpstr>
      <vt:lpstr>                               Group 2</vt:lpstr>
      <vt:lpstr>PowerPoint Presentation</vt:lpstr>
      <vt:lpstr>                           Group 3</vt:lpstr>
      <vt:lpstr>PowerPoint Presentation</vt:lpstr>
      <vt:lpstr>SPACE AND SHAPE</vt:lpstr>
      <vt:lpstr>                        POSITIONS</vt:lpstr>
      <vt:lpstr>                             Group 1</vt:lpstr>
      <vt:lpstr>Activity: The teacher will use objects in the classroom like chairs, desks, chalkboard, door etc. and demonstrate to learners about different positions that one object can display amongst other objects then ask learners to also demonstrate those positions.</vt:lpstr>
      <vt:lpstr>Group 2 </vt:lpstr>
      <vt:lpstr>PowerPoint Presentation</vt:lpstr>
      <vt:lpstr>Group 3 Match the word[s] to its picture then fill in the missing words.</vt:lpstr>
      <vt:lpstr>PowerPoint Presentation</vt:lpstr>
      <vt:lpstr>3D OBJECTS</vt:lpstr>
      <vt:lpstr>GROUP 1 Color the 3D shapes.</vt:lpstr>
      <vt:lpstr>PowerPoint Presentation</vt:lpstr>
      <vt:lpstr>              Group 2</vt:lpstr>
      <vt:lpstr>Activity: Name the 3D objects that you can see around the classroom.</vt:lpstr>
      <vt:lpstr>              Group 3 </vt:lpstr>
      <vt:lpstr>PowerPoint Presentation</vt:lpstr>
      <vt:lpstr>DATA HANDLING</vt:lpstr>
      <vt:lpstr>              Group 1</vt:lpstr>
      <vt:lpstr>Activity:  Learners will be given counters with different color and they will have to sort and arrange those counters according to their colors.</vt:lpstr>
      <vt:lpstr>              Group 2</vt:lpstr>
      <vt:lpstr>PowerPoint Presentation</vt:lpstr>
      <vt:lpstr>             Group 3</vt:lpstr>
      <vt:lpstr>PowerPoint Presentation</vt:lpstr>
      <vt:lpstr>MEASUREMENTS</vt:lpstr>
      <vt:lpstr>               Group 1</vt:lpstr>
      <vt:lpstr>Activity: 1. Tell us about the things you did yesterday at home. 2. What are you going to do today at school with your friends? 3. What are you going to do tomorrow after school?</vt:lpstr>
      <vt:lpstr>                       Group 2</vt:lpstr>
      <vt:lpstr>Activity: 1. Today is Friday, what day is tomorrow? 2. Today is Monday, what day was yesterday? 3. Yesterday was Wednesday, what day is today? </vt:lpstr>
      <vt:lpstr>              Group 3</vt:lpstr>
      <vt:lpstr>PowerPoint Presentation</vt:lpstr>
      <vt:lpstr>PATTERNS</vt:lpstr>
      <vt:lpstr>             Group 1</vt:lpstr>
      <vt:lpstr>PowerPoint Presentation</vt:lpstr>
      <vt:lpstr> Group 2 Complete the following pattern by drawing the picture in the box. </vt:lpstr>
      <vt:lpstr>PowerPoint Presentation</vt:lpstr>
      <vt:lpstr>              Group 3</vt:lpstr>
      <vt:lpstr>PowerPoint Presentation</vt:lpstr>
      <vt:lpstr>REFERENCES</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Student_PC</dc:creator>
  <cp:lastModifiedBy>Lerato Vinger</cp:lastModifiedBy>
  <cp:revision>50</cp:revision>
  <dcterms:created xsi:type="dcterms:W3CDTF">2024-06-13T05:54:20Z</dcterms:created>
  <dcterms:modified xsi:type="dcterms:W3CDTF">2024-07-12T06:35:20Z</dcterms:modified>
</cp:coreProperties>
</file>