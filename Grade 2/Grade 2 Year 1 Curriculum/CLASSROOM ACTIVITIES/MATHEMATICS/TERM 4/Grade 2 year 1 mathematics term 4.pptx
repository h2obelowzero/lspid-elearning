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257" r:id="rId2"/>
    <p:sldId id="260" r:id="rId3"/>
    <p:sldId id="298" r:id="rId4"/>
    <p:sldId id="299" r:id="rId5"/>
    <p:sldId id="261" r:id="rId6"/>
    <p:sldId id="301" r:id="rId7"/>
    <p:sldId id="303" r:id="rId8"/>
    <p:sldId id="304" r:id="rId9"/>
    <p:sldId id="305" r:id="rId10"/>
    <p:sldId id="359" r:id="rId11"/>
    <p:sldId id="307" r:id="rId12"/>
    <p:sldId id="360" r:id="rId13"/>
    <p:sldId id="309" r:id="rId14"/>
    <p:sldId id="362" r:id="rId15"/>
    <p:sldId id="363" r:id="rId16"/>
    <p:sldId id="312" r:id="rId17"/>
    <p:sldId id="364" r:id="rId18"/>
    <p:sldId id="314" r:id="rId19"/>
    <p:sldId id="365" r:id="rId20"/>
    <p:sldId id="316" r:id="rId21"/>
    <p:sldId id="366" r:id="rId22"/>
    <p:sldId id="327" r:id="rId23"/>
    <p:sldId id="319" r:id="rId24"/>
    <p:sldId id="370" r:id="rId25"/>
    <p:sldId id="322" r:id="rId26"/>
    <p:sldId id="371" r:id="rId27"/>
    <p:sldId id="332" r:id="rId28"/>
    <p:sldId id="372" r:id="rId29"/>
    <p:sldId id="373" r:id="rId30"/>
    <p:sldId id="335" r:id="rId31"/>
    <p:sldId id="374" r:id="rId32"/>
    <p:sldId id="330" r:id="rId33"/>
    <p:sldId id="375" r:id="rId34"/>
    <p:sldId id="339" r:id="rId35"/>
    <p:sldId id="376" r:id="rId36"/>
    <p:sldId id="377" r:id="rId37"/>
    <p:sldId id="378" r:id="rId38"/>
    <p:sldId id="379" r:id="rId39"/>
    <p:sldId id="321" r:id="rId40"/>
    <p:sldId id="337" r:id="rId41"/>
    <p:sldId id="325" r:id="rId42"/>
    <p:sldId id="346" r:id="rId43"/>
    <p:sldId id="323" r:id="rId44"/>
    <p:sldId id="357"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34" autoAdjust="0"/>
  </p:normalViewPr>
  <p:slideViewPr>
    <p:cSldViewPr snapToGrid="0">
      <p:cViewPr varScale="1">
        <p:scale>
          <a:sx n="85" d="100"/>
          <a:sy n="85" d="100"/>
        </p:scale>
        <p:origin x="18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D77643-8529-46C2-9DE4-751577CF64CA}" type="datetimeFigureOut">
              <a:rPr lang="en-US" smtClean="0"/>
              <a:t>7/16/2024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D86E0A-FC77-4FAB-BF1F-C5E3EB0071F6}" type="slidenum">
              <a:rPr lang="en-US" smtClean="0"/>
              <a:t>‹#›</a:t>
            </a:fld>
            <a:endParaRPr lang="en-US"/>
          </a:p>
        </p:txBody>
      </p:sp>
    </p:spTree>
    <p:extLst>
      <p:ext uri="{BB962C8B-B14F-4D97-AF65-F5344CB8AC3E}">
        <p14:creationId xmlns:p14="http://schemas.microsoft.com/office/powerpoint/2010/main" val="48686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6AA7088-B216-45CE-9144-B068066D4925}" type="datetimeFigureOut">
              <a:rPr lang="en-ZA" smtClean="0"/>
              <a:t>2024/07/16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990155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6AA7088-B216-45CE-9144-B068066D4925}" type="datetimeFigureOut">
              <a:rPr lang="en-ZA" smtClean="0"/>
              <a:t>2024/07/16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371526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146087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6AA7088-B216-45CE-9144-B068066D4925}" type="datetimeFigureOut">
              <a:rPr lang="en-ZA" smtClean="0"/>
              <a:t>2024/07/16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205040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AA7088-B216-45CE-9144-B068066D4925}" type="datetimeFigureOut">
              <a:rPr lang="en-ZA" smtClean="0"/>
              <a:t>2024/07/16</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231963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6AA7088-B216-45CE-9144-B068066D4925}" type="datetimeFigureOut">
              <a:rPr lang="en-ZA" smtClean="0"/>
              <a:t>2024/07/16</a:t>
            </a:fld>
            <a:endParaRPr lang="en-ZA"/>
          </a:p>
        </p:txBody>
      </p:sp>
      <p:sp>
        <p:nvSpPr>
          <p:cNvPr id="5" name="Footer Placeholder 3"/>
          <p:cNvSpPr>
            <a:spLocks noGrp="1"/>
          </p:cNvSpPr>
          <p:nvPr>
            <p:ph type="ftr" sz="quarter" idx="11"/>
          </p:nvPr>
        </p:nvSpPr>
        <p:spPr/>
        <p:txBody>
          <a:bodyPr/>
          <a:lstStyle/>
          <a:p>
            <a:endParaRPr lang="en-ZA"/>
          </a:p>
        </p:txBody>
      </p:sp>
      <p:sp>
        <p:nvSpPr>
          <p:cNvPr id="6" name="Slide Number Placeholder 4"/>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034046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6AA7088-B216-45CE-9144-B068066D4925}" type="datetimeFigureOut">
              <a:rPr lang="en-ZA" smtClean="0"/>
              <a:t>2024/07/16</a:t>
            </a:fld>
            <a:endParaRPr lang="en-ZA"/>
          </a:p>
        </p:txBody>
      </p:sp>
      <p:sp>
        <p:nvSpPr>
          <p:cNvPr id="5" name="Footer Placeholder 2"/>
          <p:cNvSpPr>
            <a:spLocks noGrp="1"/>
          </p:cNvSpPr>
          <p:nvPr>
            <p:ph type="ftr" sz="quarter" idx="11"/>
          </p:nvPr>
        </p:nvSpPr>
        <p:spPr/>
        <p:txBody>
          <a:bodyPr/>
          <a:lstStyle/>
          <a:p>
            <a:endParaRPr lang="en-ZA"/>
          </a:p>
        </p:txBody>
      </p:sp>
      <p:sp>
        <p:nvSpPr>
          <p:cNvPr id="6" name="Slide Number Placeholder 3"/>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641973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6AA7088-B216-45CE-9144-B068066D4925}" type="datetimeFigureOut">
              <a:rPr lang="en-ZA" smtClean="0"/>
              <a:t>2024/07/16</a:t>
            </a:fld>
            <a:endParaRPr lang="en-ZA"/>
          </a:p>
        </p:txBody>
      </p:sp>
      <p:sp>
        <p:nvSpPr>
          <p:cNvPr id="5" name="Footer Placeholder 5"/>
          <p:cNvSpPr>
            <a:spLocks noGrp="1"/>
          </p:cNvSpPr>
          <p:nvPr>
            <p:ph type="ftr" sz="quarter" idx="11"/>
          </p:nvPr>
        </p:nvSpPr>
        <p:spPr/>
        <p:txBody>
          <a:bodyPr/>
          <a:lstStyle/>
          <a:p>
            <a:endParaRPr lang="en-ZA"/>
          </a:p>
        </p:txBody>
      </p:sp>
      <p:sp>
        <p:nvSpPr>
          <p:cNvPr id="6"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151528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AA7088-B216-45CE-9144-B068066D4925}" type="datetimeFigureOut">
              <a:rPr lang="en-ZA" smtClean="0"/>
              <a:t>2024/07/16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524680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AA7088-B216-45CE-9144-B068066D4925}" type="datetimeFigureOut">
              <a:rPr lang="en-ZA" smtClean="0"/>
              <a:t>2024/07/16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6611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371395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081498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704994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6AA7088-B216-45CE-9144-B068066D4925}" type="datetimeFigureOut">
              <a:rPr lang="en-ZA" smtClean="0"/>
              <a:t>2024/07/16</a:t>
            </a:fld>
            <a:endParaRPr lang="en-ZA"/>
          </a:p>
        </p:txBody>
      </p:sp>
      <p:sp>
        <p:nvSpPr>
          <p:cNvPr id="4"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8229981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6AA7088-B216-45CE-9144-B068066D4925}" type="datetimeFigureOut">
              <a:rPr lang="en-ZA" smtClean="0"/>
              <a:t>2024/07/16</a:t>
            </a:fld>
            <a:endParaRPr lang="en-ZA"/>
          </a:p>
        </p:txBody>
      </p:sp>
      <p:sp>
        <p:nvSpPr>
          <p:cNvPr id="4"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871488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AA7088-B216-45CE-9144-B068066D4925}" type="datetimeFigureOut">
              <a:rPr lang="en-ZA" smtClean="0"/>
              <a:t>2024/07/16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0863965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AA7088-B216-45CE-9144-B068066D4925}" type="datetimeFigureOut">
              <a:rPr lang="en-ZA" smtClean="0"/>
              <a:t>2024/07/16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7760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6AA7088-B216-45CE-9144-B068066D4925}" type="datetimeFigureOut">
              <a:rPr lang="en-ZA" smtClean="0"/>
              <a:t>2024/07/16</a:t>
            </a:fld>
            <a:endParaRPr lang="en-ZA"/>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ZA"/>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A825E92-66FC-4255-8C2B-6877120039F9}" type="slidenum">
              <a:rPr lang="en-ZA" smtClean="0"/>
              <a:t>‹#›</a:t>
            </a:fld>
            <a:endParaRPr lang="en-ZA"/>
          </a:p>
        </p:txBody>
      </p:sp>
    </p:spTree>
    <p:extLst>
      <p:ext uri="{BB962C8B-B14F-4D97-AF65-F5344CB8AC3E}">
        <p14:creationId xmlns:p14="http://schemas.microsoft.com/office/powerpoint/2010/main" val="55696978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hyperlink" Target="https://th.bing.com/th/id/R.84f5822b8e3966bdf242f9bc90012f51?rik=izhv6cEw%2br3g0w&amp;riu=http%3a%2f%2fwww.clipartbest.com%2fcliparts%2fKij%2fL7g%2fKijL7gM5T.jpg&amp;ehk=vEIAE56wEVJGXKPU6ZpVMUjt4RgTS96PIGpPiDYJ%2bQ0%3d&amp;risl=&amp;pid=ImgRaw&amp;r=0" TargetMode="External"/><Relationship Id="rId3" Type="http://schemas.openxmlformats.org/officeDocument/2006/relationships/hyperlink" Target="https://th.bing.com/th/id/R.df29d3e121cd194ed2e635ef0c87815b?rik=hiYDwvc4JhW0yA&amp;pid=ImgRaw&amp;r=0" TargetMode="External"/><Relationship Id="rId7" Type="http://schemas.openxmlformats.org/officeDocument/2006/relationships/hyperlink" Target="https://th.bing.com/th/id/OIP.ig5GivxfxANnUbMDUJZ22wAAAA?rs=1&amp;pid=ImgDetMain" TargetMode="External"/><Relationship Id="rId2" Type="http://schemas.openxmlformats.org/officeDocument/2006/relationships/hyperlink" Target="https://themathsjourney.com/wp-content/uploads/2021/10/Comparing-and-Ordering-Whole-Numbers.jpg" TargetMode="External"/><Relationship Id="rId1" Type="http://schemas.openxmlformats.org/officeDocument/2006/relationships/slideLayout" Target="../slideLayouts/slideLayout2.xml"/><Relationship Id="rId6" Type="http://schemas.openxmlformats.org/officeDocument/2006/relationships/hyperlink" Target="https://th.bing.com/th/id/OIP.aOT1L9IAZ7spIipoaxaqfQHaDt?rs=1&amp;pid=ImgDetMain" TargetMode="External"/><Relationship Id="rId11" Type="http://schemas.openxmlformats.org/officeDocument/2006/relationships/hyperlink" Target="https://th.bing.com/th/id/OIP.j1fAi_jcuz_ZKQpa_extsAHaFj?w=222&amp;h=180&amp;c=7&amp;r=0&amp;o=5&amp;pid=1.7" TargetMode="External"/><Relationship Id="rId5" Type="http://schemas.openxmlformats.org/officeDocument/2006/relationships/hyperlink" Target="https://reviewonline.co.za/wp-content/uploads/sites/68/2023/05/new-money-2-e1683208962676-780x470.png" TargetMode="External"/><Relationship Id="rId10" Type="http://schemas.openxmlformats.org/officeDocument/2006/relationships/hyperlink" Target="https://th.bing.com/th/id/OIP.d8INcl5iAndVsiHk9uMF4wHaKe?rs=1&amp;pid=ImgDetMain" TargetMode="External"/><Relationship Id="rId4" Type="http://schemas.openxmlformats.org/officeDocument/2006/relationships/hyperlink" Target="https://thumbs.dreamstime.com/z/comparing-numbers-worksheet-education-compare-groups-each-row-write-correct-sign-middle-more-equal-146369017.jpg" TargetMode="External"/><Relationship Id="rId9" Type="http://schemas.openxmlformats.org/officeDocument/2006/relationships/hyperlink" Target="https://th.bing.com/th/id/OIP.dktaN15vvZxBMKkC1DpElwAAAA?rs=1&amp;pid=ImgDetMa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3CACF1D1-CD20-42D5-B267-A8D5494C5013}"/>
              </a:ext>
            </a:extLst>
          </p:cNvPr>
          <p:cNvGraphicFramePr>
            <a:graphicFrameLocks noGrp="1"/>
          </p:cNvGraphicFramePr>
          <p:nvPr>
            <p:extLst>
              <p:ext uri="{D42A27DB-BD31-4B8C-83A1-F6EECF244321}">
                <p14:modId xmlns:p14="http://schemas.microsoft.com/office/powerpoint/2010/main" val="4080314105"/>
              </p:ext>
            </p:extLst>
          </p:nvPr>
        </p:nvGraphicFramePr>
        <p:xfrm>
          <a:off x="1272209" y="719665"/>
          <a:ext cx="8887791" cy="5310072"/>
        </p:xfrm>
        <a:graphic>
          <a:graphicData uri="http://schemas.openxmlformats.org/drawingml/2006/table">
            <a:tbl>
              <a:tblPr firstRow="1" bandRow="1">
                <a:tableStyleId>{5C22544A-7EE6-4342-B048-85BDC9FD1C3A}</a:tableStyleId>
              </a:tblPr>
              <a:tblGrid>
                <a:gridCol w="3725970">
                  <a:extLst>
                    <a:ext uri="{9D8B030D-6E8A-4147-A177-3AD203B41FA5}">
                      <a16:colId xmlns:a16="http://schemas.microsoft.com/office/drawing/2014/main" val="3650113161"/>
                    </a:ext>
                  </a:extLst>
                </a:gridCol>
                <a:gridCol w="5161821">
                  <a:extLst>
                    <a:ext uri="{9D8B030D-6E8A-4147-A177-3AD203B41FA5}">
                      <a16:colId xmlns:a16="http://schemas.microsoft.com/office/drawing/2014/main" val="2195754969"/>
                    </a:ext>
                  </a:extLst>
                </a:gridCol>
              </a:tblGrid>
              <a:tr h="1770024">
                <a:tc>
                  <a:txBody>
                    <a:bodyPr/>
                    <a:lstStyle/>
                    <a:p>
                      <a:r>
                        <a:rPr lang="en-ZA" sz="4800" dirty="0"/>
                        <a:t>Subject</a:t>
                      </a:r>
                    </a:p>
                  </a:txBody>
                  <a:tcPr/>
                </a:tc>
                <a:tc>
                  <a:txBody>
                    <a:bodyPr/>
                    <a:lstStyle/>
                    <a:p>
                      <a:r>
                        <a:rPr lang="en-ZA" sz="4800" dirty="0"/>
                        <a:t>Mathematics</a:t>
                      </a:r>
                    </a:p>
                  </a:txBody>
                  <a:tcPr/>
                </a:tc>
                <a:extLst>
                  <a:ext uri="{0D108BD9-81ED-4DB2-BD59-A6C34878D82A}">
                    <a16:rowId xmlns:a16="http://schemas.microsoft.com/office/drawing/2014/main" val="2538444233"/>
                  </a:ext>
                </a:extLst>
              </a:tr>
              <a:tr h="1770024">
                <a:tc>
                  <a:txBody>
                    <a:bodyPr/>
                    <a:lstStyle/>
                    <a:p>
                      <a:r>
                        <a:rPr lang="en-ZA" sz="4800" dirty="0"/>
                        <a:t>Grade </a:t>
                      </a:r>
                    </a:p>
                  </a:txBody>
                  <a:tcPr/>
                </a:tc>
                <a:tc>
                  <a:txBody>
                    <a:bodyPr/>
                    <a:lstStyle/>
                    <a:p>
                      <a:r>
                        <a:rPr lang="en-ZA" sz="4800" dirty="0"/>
                        <a:t>2 year 1</a:t>
                      </a:r>
                    </a:p>
                  </a:txBody>
                  <a:tcPr/>
                </a:tc>
                <a:extLst>
                  <a:ext uri="{0D108BD9-81ED-4DB2-BD59-A6C34878D82A}">
                    <a16:rowId xmlns:a16="http://schemas.microsoft.com/office/drawing/2014/main" val="1930851948"/>
                  </a:ext>
                </a:extLst>
              </a:tr>
              <a:tr h="1770024">
                <a:tc>
                  <a:txBody>
                    <a:bodyPr/>
                    <a:lstStyle/>
                    <a:p>
                      <a:r>
                        <a:rPr lang="en-ZA" sz="4800" dirty="0"/>
                        <a:t>Term </a:t>
                      </a:r>
                    </a:p>
                  </a:txBody>
                  <a:tcPr/>
                </a:tc>
                <a:tc>
                  <a:txBody>
                    <a:bodyPr/>
                    <a:lstStyle/>
                    <a:p>
                      <a:r>
                        <a:rPr lang="en-ZA" sz="4800" dirty="0"/>
                        <a:t>4</a:t>
                      </a:r>
                    </a:p>
                  </a:txBody>
                  <a:tcPr/>
                </a:tc>
                <a:extLst>
                  <a:ext uri="{0D108BD9-81ED-4DB2-BD59-A6C34878D82A}">
                    <a16:rowId xmlns:a16="http://schemas.microsoft.com/office/drawing/2014/main" val="1332622935"/>
                  </a:ext>
                </a:extLst>
              </a:tr>
            </a:tbl>
          </a:graphicData>
        </a:graphic>
      </p:graphicFrame>
    </p:spTree>
    <p:extLst>
      <p:ext uri="{BB962C8B-B14F-4D97-AF65-F5344CB8AC3E}">
        <p14:creationId xmlns:p14="http://schemas.microsoft.com/office/powerpoint/2010/main" val="2332974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17A4-2DA0-4508-AB92-00378BA28FCC}"/>
              </a:ext>
            </a:extLst>
          </p:cNvPr>
          <p:cNvSpPr>
            <a:spLocks noGrp="1"/>
          </p:cNvSpPr>
          <p:nvPr>
            <p:ph type="title"/>
          </p:nvPr>
        </p:nvSpPr>
        <p:spPr>
          <a:xfrm>
            <a:off x="646111" y="-254642"/>
            <a:ext cx="9404723" cy="844951"/>
          </a:xfrm>
        </p:spPr>
        <p:txBody>
          <a:bodyPr>
            <a:normAutofit fontScale="90000"/>
          </a:bodyPr>
          <a:lstStyle/>
          <a:p>
            <a:r>
              <a:rPr lang="en-ZA" sz="6000" b="1" dirty="0"/>
              <a:t>             </a:t>
            </a:r>
            <a:r>
              <a:rPr lang="en-ZA" sz="3200" b="1" dirty="0"/>
              <a:t>LESSON PLAN CONTENT</a:t>
            </a:r>
          </a:p>
        </p:txBody>
      </p:sp>
      <p:graphicFrame>
        <p:nvGraphicFramePr>
          <p:cNvPr id="4" name="Table 4">
            <a:extLst>
              <a:ext uri="{FF2B5EF4-FFF2-40B4-BE49-F238E27FC236}">
                <a16:creationId xmlns:a16="http://schemas.microsoft.com/office/drawing/2014/main" id="{22141332-7440-49C9-8C2B-839EF51D5A12}"/>
              </a:ext>
            </a:extLst>
          </p:cNvPr>
          <p:cNvGraphicFramePr>
            <a:graphicFrameLocks noGrp="1"/>
          </p:cNvGraphicFramePr>
          <p:nvPr>
            <p:ph idx="1"/>
            <p:extLst>
              <p:ext uri="{D42A27DB-BD31-4B8C-83A1-F6EECF244321}">
                <p14:modId xmlns:p14="http://schemas.microsoft.com/office/powerpoint/2010/main" val="3628655526"/>
              </p:ext>
            </p:extLst>
          </p:nvPr>
        </p:nvGraphicFramePr>
        <p:xfrm>
          <a:off x="503583" y="509289"/>
          <a:ext cx="10955354" cy="5752616"/>
        </p:xfrm>
        <a:graphic>
          <a:graphicData uri="http://schemas.openxmlformats.org/drawingml/2006/table">
            <a:tbl>
              <a:tblPr firstRow="1" bandRow="1">
                <a:tableStyleId>{5C22544A-7EE6-4342-B048-85BDC9FD1C3A}</a:tableStyleId>
              </a:tblPr>
              <a:tblGrid>
                <a:gridCol w="5472495">
                  <a:extLst>
                    <a:ext uri="{9D8B030D-6E8A-4147-A177-3AD203B41FA5}">
                      <a16:colId xmlns:a16="http://schemas.microsoft.com/office/drawing/2014/main" val="2207677980"/>
                    </a:ext>
                  </a:extLst>
                </a:gridCol>
                <a:gridCol w="5482859">
                  <a:extLst>
                    <a:ext uri="{9D8B030D-6E8A-4147-A177-3AD203B41FA5}">
                      <a16:colId xmlns:a16="http://schemas.microsoft.com/office/drawing/2014/main" val="4232579930"/>
                    </a:ext>
                  </a:extLst>
                </a:gridCol>
              </a:tblGrid>
              <a:tr h="1740484">
                <a:tc>
                  <a:txBody>
                    <a:bodyPr/>
                    <a:lstStyle/>
                    <a:p>
                      <a:r>
                        <a:rPr lang="en-ZA" sz="1800" b="1" dirty="0"/>
                        <a:t>Week 2</a:t>
                      </a:r>
                    </a:p>
                  </a:txBody>
                  <a:tcPr/>
                </a:tc>
                <a:tc>
                  <a:txBody>
                    <a:bodyPr/>
                    <a:lstStyle/>
                    <a:p>
                      <a:r>
                        <a:rPr lang="en-ZA" sz="1800" b="1" dirty="0"/>
                        <a:t>Numbers,</a:t>
                      </a:r>
                      <a:r>
                        <a:rPr lang="en-ZA" sz="1800" b="1" baseline="0" dirty="0"/>
                        <a:t> operations and relationships.</a:t>
                      </a:r>
                    </a:p>
                    <a:p>
                      <a:pPr marL="0" indent="0">
                        <a:buFontTx/>
                        <a:buNone/>
                      </a:pPr>
                      <a:endParaRPr lang="en-ZA" sz="1600" b="1" baseline="0" dirty="0"/>
                    </a:p>
                  </a:txBody>
                  <a:tcPr/>
                </a:tc>
                <a:extLst>
                  <a:ext uri="{0D108BD9-81ED-4DB2-BD59-A6C34878D82A}">
                    <a16:rowId xmlns:a16="http://schemas.microsoft.com/office/drawing/2014/main" val="1043533483"/>
                  </a:ext>
                </a:extLst>
              </a:tr>
              <a:tr h="1885524">
                <a:tc>
                  <a:txBody>
                    <a:bodyPr/>
                    <a:lstStyle/>
                    <a:p>
                      <a:r>
                        <a:rPr lang="en-ZA" sz="1800" b="1" dirty="0"/>
                        <a:t>Week 3</a:t>
                      </a:r>
                    </a:p>
                  </a:txBody>
                  <a:tcPr/>
                </a:tc>
                <a:tc>
                  <a:txBody>
                    <a:bodyPr/>
                    <a:lstStyle/>
                    <a:p>
                      <a:r>
                        <a:rPr lang="en-ZA" sz="1800" b="1" dirty="0"/>
                        <a:t>Numbers,</a:t>
                      </a:r>
                      <a:r>
                        <a:rPr lang="en-ZA" sz="1800" b="1" baseline="0" dirty="0"/>
                        <a:t> operations and relationships.</a:t>
                      </a:r>
                    </a:p>
                    <a:p>
                      <a:pPr marL="0" indent="0">
                        <a:buFontTx/>
                        <a:buNone/>
                      </a:pPr>
                      <a:endParaRPr lang="en-ZA" sz="1800" b="1" baseline="0" dirty="0"/>
                    </a:p>
                  </a:txBody>
                  <a:tcPr/>
                </a:tc>
                <a:extLst>
                  <a:ext uri="{0D108BD9-81ED-4DB2-BD59-A6C34878D82A}">
                    <a16:rowId xmlns:a16="http://schemas.microsoft.com/office/drawing/2014/main" val="456379601"/>
                  </a:ext>
                </a:extLst>
              </a:tr>
              <a:tr h="676206">
                <a:tc>
                  <a:txBody>
                    <a:bodyPr/>
                    <a:lstStyle/>
                    <a:p>
                      <a:r>
                        <a:rPr lang="en-ZA" sz="1800" b="1" dirty="0"/>
                        <a:t>Week 4</a:t>
                      </a:r>
                    </a:p>
                  </a:txBody>
                  <a:tcPr/>
                </a:tc>
                <a:tc>
                  <a:txBody>
                    <a:bodyPr/>
                    <a:lstStyle/>
                    <a:p>
                      <a:r>
                        <a:rPr lang="en-ZA" sz="1800" b="1" dirty="0"/>
                        <a:t>Assessment</a:t>
                      </a:r>
                      <a:r>
                        <a:rPr lang="en-ZA" sz="1800" b="1" baseline="0" dirty="0"/>
                        <a:t> week</a:t>
                      </a:r>
                      <a:endParaRPr lang="en-ZA" sz="1800" b="1" dirty="0"/>
                    </a:p>
                  </a:txBody>
                  <a:tcPr/>
                </a:tc>
                <a:extLst>
                  <a:ext uri="{0D108BD9-81ED-4DB2-BD59-A6C34878D82A}">
                    <a16:rowId xmlns:a16="http://schemas.microsoft.com/office/drawing/2014/main" val="13967798"/>
                  </a:ext>
                </a:extLst>
              </a:tr>
              <a:tr h="1450402">
                <a:tc>
                  <a:txBody>
                    <a:bodyPr/>
                    <a:lstStyle/>
                    <a:p>
                      <a:r>
                        <a:rPr lang="en-ZA" sz="1800" b="1" dirty="0"/>
                        <a:t>Week 5</a:t>
                      </a:r>
                    </a:p>
                  </a:txBody>
                  <a:tcPr/>
                </a:tc>
                <a:tc>
                  <a:txBody>
                    <a:bodyPr/>
                    <a:lstStyle/>
                    <a:p>
                      <a:r>
                        <a:rPr lang="en-ZA" sz="1800" b="1" dirty="0"/>
                        <a:t>Numbers</a:t>
                      </a:r>
                      <a:r>
                        <a:rPr lang="en-ZA" sz="1800" b="1" baseline="0" dirty="0"/>
                        <a:t> operations and relationships</a:t>
                      </a:r>
                      <a:endParaRPr lang="en-ZA" sz="1800" b="1" dirty="0"/>
                    </a:p>
                  </a:txBody>
                  <a:tcPr/>
                </a:tc>
                <a:extLst>
                  <a:ext uri="{0D108BD9-81ED-4DB2-BD59-A6C34878D82A}">
                    <a16:rowId xmlns:a16="http://schemas.microsoft.com/office/drawing/2014/main" val="1662244875"/>
                  </a:ext>
                </a:extLst>
              </a:tr>
            </a:tbl>
          </a:graphicData>
        </a:graphic>
      </p:graphicFrame>
    </p:spTree>
    <p:extLst>
      <p:ext uri="{BB962C8B-B14F-4D97-AF65-F5344CB8AC3E}">
        <p14:creationId xmlns:p14="http://schemas.microsoft.com/office/powerpoint/2010/main" val="1547264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17A4-2DA0-4508-AB92-00378BA28FCC}"/>
              </a:ext>
            </a:extLst>
          </p:cNvPr>
          <p:cNvSpPr>
            <a:spLocks noGrp="1"/>
          </p:cNvSpPr>
          <p:nvPr>
            <p:ph type="title"/>
          </p:nvPr>
        </p:nvSpPr>
        <p:spPr>
          <a:xfrm>
            <a:off x="646111" y="-254642"/>
            <a:ext cx="9404723" cy="844951"/>
          </a:xfrm>
        </p:spPr>
        <p:txBody>
          <a:bodyPr>
            <a:normAutofit fontScale="90000"/>
          </a:bodyPr>
          <a:lstStyle/>
          <a:p>
            <a:r>
              <a:rPr lang="en-ZA" sz="6000" b="1" dirty="0"/>
              <a:t>             </a:t>
            </a:r>
            <a:r>
              <a:rPr lang="en-ZA" sz="3200" b="1" dirty="0"/>
              <a:t>LESSON PLAN CONTENT</a:t>
            </a:r>
          </a:p>
        </p:txBody>
      </p:sp>
      <p:graphicFrame>
        <p:nvGraphicFramePr>
          <p:cNvPr id="4" name="Table 4">
            <a:extLst>
              <a:ext uri="{FF2B5EF4-FFF2-40B4-BE49-F238E27FC236}">
                <a16:creationId xmlns:a16="http://schemas.microsoft.com/office/drawing/2014/main" id="{22141332-7440-49C9-8C2B-839EF51D5A12}"/>
              </a:ext>
            </a:extLst>
          </p:cNvPr>
          <p:cNvGraphicFramePr>
            <a:graphicFrameLocks noGrp="1"/>
          </p:cNvGraphicFramePr>
          <p:nvPr>
            <p:ph idx="1"/>
            <p:extLst>
              <p:ext uri="{D42A27DB-BD31-4B8C-83A1-F6EECF244321}">
                <p14:modId xmlns:p14="http://schemas.microsoft.com/office/powerpoint/2010/main" val="2643227281"/>
              </p:ext>
            </p:extLst>
          </p:nvPr>
        </p:nvGraphicFramePr>
        <p:xfrm>
          <a:off x="503583" y="509290"/>
          <a:ext cx="10955354" cy="5671592"/>
        </p:xfrm>
        <a:graphic>
          <a:graphicData uri="http://schemas.openxmlformats.org/drawingml/2006/table">
            <a:tbl>
              <a:tblPr firstRow="1" bandRow="1">
                <a:tableStyleId>{5C22544A-7EE6-4342-B048-85BDC9FD1C3A}</a:tableStyleId>
              </a:tblPr>
              <a:tblGrid>
                <a:gridCol w="5472495">
                  <a:extLst>
                    <a:ext uri="{9D8B030D-6E8A-4147-A177-3AD203B41FA5}">
                      <a16:colId xmlns:a16="http://schemas.microsoft.com/office/drawing/2014/main" val="2207677980"/>
                    </a:ext>
                  </a:extLst>
                </a:gridCol>
                <a:gridCol w="5482859">
                  <a:extLst>
                    <a:ext uri="{9D8B030D-6E8A-4147-A177-3AD203B41FA5}">
                      <a16:colId xmlns:a16="http://schemas.microsoft.com/office/drawing/2014/main" val="4232579930"/>
                    </a:ext>
                  </a:extLst>
                </a:gridCol>
              </a:tblGrid>
              <a:tr h="1429117">
                <a:tc>
                  <a:txBody>
                    <a:bodyPr/>
                    <a:lstStyle/>
                    <a:p>
                      <a:r>
                        <a:rPr lang="en-ZA" sz="1800" b="1" dirty="0"/>
                        <a:t>Week 6</a:t>
                      </a:r>
                    </a:p>
                  </a:txBody>
                  <a:tcPr/>
                </a:tc>
                <a:tc>
                  <a:txBody>
                    <a:bodyPr/>
                    <a:lstStyle/>
                    <a:p>
                      <a:r>
                        <a:rPr lang="en-ZA" sz="1800" b="1" baseline="0" dirty="0"/>
                        <a:t>Numbers, operations and relationships</a:t>
                      </a:r>
                    </a:p>
                  </a:txBody>
                  <a:tcPr/>
                </a:tc>
                <a:extLst>
                  <a:ext uri="{0D108BD9-81ED-4DB2-BD59-A6C34878D82A}">
                    <a16:rowId xmlns:a16="http://schemas.microsoft.com/office/drawing/2014/main" val="1043533483"/>
                  </a:ext>
                </a:extLst>
              </a:tr>
              <a:tr h="1548208">
                <a:tc>
                  <a:txBody>
                    <a:bodyPr/>
                    <a:lstStyle/>
                    <a:p>
                      <a:r>
                        <a:rPr lang="en-ZA" sz="1800" b="1" dirty="0"/>
                        <a:t>Week</a:t>
                      </a:r>
                      <a:r>
                        <a:rPr lang="en-ZA" sz="1800" b="1" baseline="0" dirty="0"/>
                        <a:t> 7</a:t>
                      </a:r>
                      <a:endParaRPr lang="en-ZA" sz="1800" b="1" dirty="0"/>
                    </a:p>
                  </a:txBody>
                  <a:tcPr/>
                </a:tc>
                <a:tc>
                  <a:txBody>
                    <a:bodyPr/>
                    <a:lstStyle/>
                    <a:p>
                      <a:r>
                        <a:rPr lang="en-ZA" sz="1800" b="1" baseline="0" dirty="0"/>
                        <a:t>Assessment week</a:t>
                      </a:r>
                    </a:p>
                  </a:txBody>
                  <a:tcPr/>
                </a:tc>
                <a:extLst>
                  <a:ext uri="{0D108BD9-81ED-4DB2-BD59-A6C34878D82A}">
                    <a16:rowId xmlns:a16="http://schemas.microsoft.com/office/drawing/2014/main" val="456379601"/>
                  </a:ext>
                </a:extLst>
              </a:tr>
              <a:tr h="942994">
                <a:tc>
                  <a:txBody>
                    <a:bodyPr/>
                    <a:lstStyle/>
                    <a:p>
                      <a:r>
                        <a:rPr lang="en-ZA" sz="1800" b="1" dirty="0"/>
                        <a:t>Week</a:t>
                      </a:r>
                      <a:r>
                        <a:rPr lang="en-ZA" sz="1800" b="1" baseline="0" dirty="0"/>
                        <a:t> 8</a:t>
                      </a:r>
                      <a:endParaRPr lang="en-ZA" sz="1800" b="1" dirty="0"/>
                    </a:p>
                  </a:txBody>
                  <a:tcPr/>
                </a:tc>
                <a:tc>
                  <a:txBody>
                    <a:bodyPr/>
                    <a:lstStyle/>
                    <a:p>
                      <a:pPr marL="0" indent="0">
                        <a:buFontTx/>
                        <a:buNone/>
                      </a:pPr>
                      <a:r>
                        <a:rPr lang="en-ZA" sz="1800" b="1" dirty="0"/>
                        <a:t>Space and shape</a:t>
                      </a:r>
                    </a:p>
                    <a:p>
                      <a:pPr marL="0" indent="0">
                        <a:buFontTx/>
                        <a:buNone/>
                      </a:pPr>
                      <a:r>
                        <a:rPr lang="en-ZA" sz="1800" b="1" dirty="0"/>
                        <a:t>- Position</a:t>
                      </a:r>
                      <a:r>
                        <a:rPr lang="en-ZA" sz="1800" b="1" baseline="0" dirty="0"/>
                        <a:t> and views</a:t>
                      </a:r>
                    </a:p>
                    <a:p>
                      <a:pPr marL="285750" indent="-285750">
                        <a:buFontTx/>
                        <a:buChar char="-"/>
                      </a:pPr>
                      <a:r>
                        <a:rPr lang="en-ZA" sz="1800" b="1" baseline="0" dirty="0"/>
                        <a:t>Position and directions</a:t>
                      </a:r>
                      <a:endParaRPr lang="en-ZA" sz="1800" b="1" dirty="0"/>
                    </a:p>
                  </a:txBody>
                  <a:tcPr/>
                </a:tc>
                <a:extLst>
                  <a:ext uri="{0D108BD9-81ED-4DB2-BD59-A6C34878D82A}">
                    <a16:rowId xmlns:a16="http://schemas.microsoft.com/office/drawing/2014/main" val="13967798"/>
                  </a:ext>
                </a:extLst>
              </a:tr>
              <a:tr h="1751273">
                <a:tc>
                  <a:txBody>
                    <a:bodyPr/>
                    <a:lstStyle/>
                    <a:p>
                      <a:r>
                        <a:rPr lang="en-ZA" sz="1800" b="1" dirty="0"/>
                        <a:t>Week 9</a:t>
                      </a:r>
                    </a:p>
                  </a:txBody>
                  <a:tcPr/>
                </a:tc>
                <a:tc>
                  <a:txBody>
                    <a:bodyPr/>
                    <a:lstStyle/>
                    <a:p>
                      <a:endParaRPr lang="en-ZA" sz="1800" b="1" baseline="0" dirty="0"/>
                    </a:p>
                    <a:p>
                      <a:pPr marL="0" indent="0">
                        <a:buFontTx/>
                        <a:buNone/>
                      </a:pPr>
                      <a:r>
                        <a:rPr lang="en-ZA" sz="1800" b="1" baseline="0" dirty="0"/>
                        <a:t>Revision</a:t>
                      </a:r>
                    </a:p>
                  </a:txBody>
                  <a:tcPr/>
                </a:tc>
                <a:extLst>
                  <a:ext uri="{0D108BD9-81ED-4DB2-BD59-A6C34878D82A}">
                    <a16:rowId xmlns:a16="http://schemas.microsoft.com/office/drawing/2014/main" val="1662244875"/>
                  </a:ext>
                </a:extLst>
              </a:tr>
            </a:tbl>
          </a:graphicData>
        </a:graphic>
      </p:graphicFrame>
    </p:spTree>
    <p:extLst>
      <p:ext uri="{BB962C8B-B14F-4D97-AF65-F5344CB8AC3E}">
        <p14:creationId xmlns:p14="http://schemas.microsoft.com/office/powerpoint/2010/main" val="879118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17A4-2DA0-4508-AB92-00378BA28FCC}"/>
              </a:ext>
            </a:extLst>
          </p:cNvPr>
          <p:cNvSpPr>
            <a:spLocks noGrp="1"/>
          </p:cNvSpPr>
          <p:nvPr>
            <p:ph type="title"/>
          </p:nvPr>
        </p:nvSpPr>
        <p:spPr>
          <a:xfrm>
            <a:off x="646111" y="-254642"/>
            <a:ext cx="9404723" cy="844951"/>
          </a:xfrm>
        </p:spPr>
        <p:txBody>
          <a:bodyPr>
            <a:normAutofit fontScale="90000"/>
          </a:bodyPr>
          <a:lstStyle/>
          <a:p>
            <a:r>
              <a:rPr lang="en-ZA" sz="6000" b="1" dirty="0"/>
              <a:t>             </a:t>
            </a:r>
            <a:r>
              <a:rPr lang="en-ZA" sz="3200" b="1" dirty="0"/>
              <a:t>LESSON PLAN CONTENT</a:t>
            </a:r>
          </a:p>
        </p:txBody>
      </p:sp>
      <p:graphicFrame>
        <p:nvGraphicFramePr>
          <p:cNvPr id="4" name="Table 4">
            <a:extLst>
              <a:ext uri="{FF2B5EF4-FFF2-40B4-BE49-F238E27FC236}">
                <a16:creationId xmlns:a16="http://schemas.microsoft.com/office/drawing/2014/main" id="{22141332-7440-49C9-8C2B-839EF51D5A12}"/>
              </a:ext>
            </a:extLst>
          </p:cNvPr>
          <p:cNvGraphicFramePr>
            <a:graphicFrameLocks noGrp="1"/>
          </p:cNvGraphicFramePr>
          <p:nvPr>
            <p:ph idx="1"/>
            <p:extLst>
              <p:ext uri="{D42A27DB-BD31-4B8C-83A1-F6EECF244321}">
                <p14:modId xmlns:p14="http://schemas.microsoft.com/office/powerpoint/2010/main" val="1267224013"/>
              </p:ext>
            </p:extLst>
          </p:nvPr>
        </p:nvGraphicFramePr>
        <p:xfrm>
          <a:off x="503583" y="509288"/>
          <a:ext cx="10955354" cy="5985296"/>
        </p:xfrm>
        <a:graphic>
          <a:graphicData uri="http://schemas.openxmlformats.org/drawingml/2006/table">
            <a:tbl>
              <a:tblPr firstRow="1" bandRow="1">
                <a:tableStyleId>{5C22544A-7EE6-4342-B048-85BDC9FD1C3A}</a:tableStyleId>
              </a:tblPr>
              <a:tblGrid>
                <a:gridCol w="5472495">
                  <a:extLst>
                    <a:ext uri="{9D8B030D-6E8A-4147-A177-3AD203B41FA5}">
                      <a16:colId xmlns:a16="http://schemas.microsoft.com/office/drawing/2014/main" val="2207677980"/>
                    </a:ext>
                  </a:extLst>
                </a:gridCol>
                <a:gridCol w="5482859">
                  <a:extLst>
                    <a:ext uri="{9D8B030D-6E8A-4147-A177-3AD203B41FA5}">
                      <a16:colId xmlns:a16="http://schemas.microsoft.com/office/drawing/2014/main" val="4232579930"/>
                    </a:ext>
                  </a:extLst>
                </a:gridCol>
              </a:tblGrid>
              <a:tr h="1810883">
                <a:tc>
                  <a:txBody>
                    <a:bodyPr/>
                    <a:lstStyle/>
                    <a:p>
                      <a:r>
                        <a:rPr lang="en-ZA" sz="1800" b="1" dirty="0"/>
                        <a:t>Week 10</a:t>
                      </a:r>
                    </a:p>
                  </a:txBody>
                  <a:tcPr/>
                </a:tc>
                <a:tc>
                  <a:txBody>
                    <a:bodyPr/>
                    <a:lstStyle/>
                    <a:p>
                      <a:r>
                        <a:rPr lang="en-ZA" sz="1800" b="1" baseline="0" dirty="0"/>
                        <a:t>Assessment week</a:t>
                      </a:r>
                    </a:p>
                  </a:txBody>
                  <a:tcPr/>
                </a:tc>
                <a:extLst>
                  <a:ext uri="{0D108BD9-81ED-4DB2-BD59-A6C34878D82A}">
                    <a16:rowId xmlns:a16="http://schemas.microsoft.com/office/drawing/2014/main" val="1043533483"/>
                  </a:ext>
                </a:extLst>
              </a:tr>
              <a:tr h="1961789">
                <a:tc>
                  <a:txBody>
                    <a:bodyPr/>
                    <a:lstStyle/>
                    <a:p>
                      <a:endParaRPr lang="en-ZA" sz="1800" b="1" dirty="0"/>
                    </a:p>
                  </a:txBody>
                  <a:tcPr/>
                </a:tc>
                <a:tc>
                  <a:txBody>
                    <a:bodyPr/>
                    <a:lstStyle/>
                    <a:p>
                      <a:endParaRPr lang="en-ZA" sz="1800" b="1" baseline="0" dirty="0"/>
                    </a:p>
                  </a:txBody>
                  <a:tcPr/>
                </a:tc>
                <a:extLst>
                  <a:ext uri="{0D108BD9-81ED-4DB2-BD59-A6C34878D82A}">
                    <a16:rowId xmlns:a16="http://schemas.microsoft.com/office/drawing/2014/main" val="456379601"/>
                  </a:ext>
                </a:extLst>
              </a:tr>
              <a:tr h="703557">
                <a:tc>
                  <a:txBody>
                    <a:bodyPr/>
                    <a:lstStyle/>
                    <a:p>
                      <a:endParaRPr lang="en-ZA" sz="1800" b="1" dirty="0"/>
                    </a:p>
                  </a:txBody>
                  <a:tcPr/>
                </a:tc>
                <a:tc>
                  <a:txBody>
                    <a:bodyPr/>
                    <a:lstStyle/>
                    <a:p>
                      <a:endParaRPr lang="en-ZA" sz="1800" b="1" baseline="0" dirty="0"/>
                    </a:p>
                  </a:txBody>
                  <a:tcPr/>
                </a:tc>
                <a:extLst>
                  <a:ext uri="{0D108BD9-81ED-4DB2-BD59-A6C34878D82A}">
                    <a16:rowId xmlns:a16="http://schemas.microsoft.com/office/drawing/2014/main" val="13967798"/>
                  </a:ext>
                </a:extLst>
              </a:tr>
              <a:tr h="1509067">
                <a:tc>
                  <a:txBody>
                    <a:bodyPr/>
                    <a:lstStyle/>
                    <a:p>
                      <a:endParaRPr lang="en-ZA" sz="1800" b="1" dirty="0"/>
                    </a:p>
                  </a:txBody>
                  <a:tcPr/>
                </a:tc>
                <a:tc>
                  <a:txBody>
                    <a:bodyPr/>
                    <a:lstStyle/>
                    <a:p>
                      <a:endParaRPr lang="en-ZA" sz="1800" b="1" baseline="0" dirty="0"/>
                    </a:p>
                  </a:txBody>
                  <a:tcPr/>
                </a:tc>
                <a:extLst>
                  <a:ext uri="{0D108BD9-81ED-4DB2-BD59-A6C34878D82A}">
                    <a16:rowId xmlns:a16="http://schemas.microsoft.com/office/drawing/2014/main" val="1662244875"/>
                  </a:ext>
                </a:extLst>
              </a:tr>
            </a:tbl>
          </a:graphicData>
        </a:graphic>
      </p:graphicFrame>
    </p:spTree>
    <p:extLst>
      <p:ext uri="{BB962C8B-B14F-4D97-AF65-F5344CB8AC3E}">
        <p14:creationId xmlns:p14="http://schemas.microsoft.com/office/powerpoint/2010/main" val="1419498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D080E-39AF-42ED-A45B-561542F1FAA4}"/>
              </a:ext>
            </a:extLst>
          </p:cNvPr>
          <p:cNvSpPr>
            <a:spLocks noGrp="1"/>
          </p:cNvSpPr>
          <p:nvPr>
            <p:ph type="title"/>
          </p:nvPr>
        </p:nvSpPr>
        <p:spPr>
          <a:xfrm>
            <a:off x="646111" y="-92596"/>
            <a:ext cx="9404723" cy="891250"/>
          </a:xfrm>
        </p:spPr>
        <p:txBody>
          <a:bodyPr>
            <a:normAutofit fontScale="90000"/>
          </a:bodyPr>
          <a:lstStyle/>
          <a:p>
            <a:r>
              <a:rPr lang="en-ZA" sz="6000" b="1" dirty="0"/>
              <a:t>             </a:t>
            </a:r>
            <a:r>
              <a:rPr lang="en-ZA" sz="3600" b="1" dirty="0"/>
              <a:t>LESSON OBJECTIVES</a:t>
            </a:r>
          </a:p>
        </p:txBody>
      </p:sp>
      <p:sp>
        <p:nvSpPr>
          <p:cNvPr id="3" name="Content Placeholder 2">
            <a:extLst>
              <a:ext uri="{FF2B5EF4-FFF2-40B4-BE49-F238E27FC236}">
                <a16:creationId xmlns:a16="http://schemas.microsoft.com/office/drawing/2014/main" id="{9607C941-F883-4022-BE28-7614D1287B70}"/>
              </a:ext>
            </a:extLst>
          </p:cNvPr>
          <p:cNvSpPr>
            <a:spLocks noGrp="1"/>
          </p:cNvSpPr>
          <p:nvPr>
            <p:ph idx="1"/>
          </p:nvPr>
        </p:nvSpPr>
        <p:spPr>
          <a:xfrm>
            <a:off x="1103312" y="891252"/>
            <a:ext cx="8946541" cy="5357148"/>
          </a:xfrm>
        </p:spPr>
        <p:txBody>
          <a:bodyPr>
            <a:normAutofit fontScale="92500" lnSpcReduction="10000"/>
          </a:bodyPr>
          <a:lstStyle/>
          <a:p>
            <a:r>
              <a:rPr lang="en-US" dirty="0"/>
              <a:t>To use mathematical knowledge and skills learnt in the classroom and to apply them in the real world.</a:t>
            </a:r>
          </a:p>
          <a:p>
            <a:r>
              <a:rPr lang="en-US" dirty="0"/>
              <a:t> To equip the learners, irrespective of their socio background, race, gender, physical ability or intellectual ability, with the knowledge, skills and values necessary for </a:t>
            </a:r>
            <a:r>
              <a:rPr lang="en-US" dirty="0" err="1"/>
              <a:t>self-fulfilment</a:t>
            </a:r>
            <a:r>
              <a:rPr lang="en-US" dirty="0"/>
              <a:t> and meaningful participation in the society as a citizen of the free country. </a:t>
            </a:r>
          </a:p>
          <a:p>
            <a:r>
              <a:rPr lang="en-US" dirty="0"/>
              <a:t>Facilitating the transition of learners from educational institution to work in the community e.g. Community Development Worker (CDW) or a sheltered workplace.</a:t>
            </a:r>
          </a:p>
          <a:p>
            <a:r>
              <a:rPr lang="en-US" dirty="0"/>
              <a:t> It helps the teacher to be able to:  create a leaner’s profile of competences - the profile will bridge the gap between the home and the school;  identify what the learner knows, can do and demonstrate in the teaching and learning situation.</a:t>
            </a:r>
          </a:p>
          <a:p>
            <a:r>
              <a:rPr lang="en-US" dirty="0"/>
              <a:t>work effectively as individuals in/or a member of a team.</a:t>
            </a:r>
          </a:p>
          <a:p>
            <a:r>
              <a:rPr lang="en-US" dirty="0"/>
              <a:t>Communicate effectively or by using Augmentative Alternative Communication (AAC) and other communicative devices (Sign language, Braille, etc.</a:t>
            </a:r>
            <a:endParaRPr lang="en-GB" sz="2000" dirty="0"/>
          </a:p>
        </p:txBody>
      </p:sp>
    </p:spTree>
    <p:extLst>
      <p:ext uri="{BB962C8B-B14F-4D97-AF65-F5344CB8AC3E}">
        <p14:creationId xmlns:p14="http://schemas.microsoft.com/office/powerpoint/2010/main" val="2843865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17A4-2DA0-4508-AB92-00378BA28FCC}"/>
              </a:ext>
            </a:extLst>
          </p:cNvPr>
          <p:cNvSpPr>
            <a:spLocks noGrp="1"/>
          </p:cNvSpPr>
          <p:nvPr>
            <p:ph type="title"/>
          </p:nvPr>
        </p:nvSpPr>
        <p:spPr>
          <a:xfrm>
            <a:off x="646111" y="-254642"/>
            <a:ext cx="9404723" cy="844951"/>
          </a:xfrm>
        </p:spPr>
        <p:txBody>
          <a:bodyPr>
            <a:normAutofit fontScale="90000"/>
          </a:bodyPr>
          <a:lstStyle/>
          <a:p>
            <a:r>
              <a:rPr lang="en-ZA" sz="6000" b="1" dirty="0"/>
              <a:t>             </a:t>
            </a:r>
            <a:r>
              <a:rPr lang="en-ZA" sz="3200" b="1" dirty="0"/>
              <a:t>Assessment Goals</a:t>
            </a:r>
          </a:p>
        </p:txBody>
      </p:sp>
      <p:graphicFrame>
        <p:nvGraphicFramePr>
          <p:cNvPr id="4" name="Table 4">
            <a:extLst>
              <a:ext uri="{FF2B5EF4-FFF2-40B4-BE49-F238E27FC236}">
                <a16:creationId xmlns:a16="http://schemas.microsoft.com/office/drawing/2014/main" id="{22141332-7440-49C9-8C2B-839EF51D5A12}"/>
              </a:ext>
            </a:extLst>
          </p:cNvPr>
          <p:cNvGraphicFramePr>
            <a:graphicFrameLocks noGrp="1"/>
          </p:cNvGraphicFramePr>
          <p:nvPr>
            <p:ph idx="1"/>
            <p:extLst>
              <p:ext uri="{D42A27DB-BD31-4B8C-83A1-F6EECF244321}">
                <p14:modId xmlns:p14="http://schemas.microsoft.com/office/powerpoint/2010/main" val="1647764730"/>
              </p:ext>
            </p:extLst>
          </p:nvPr>
        </p:nvGraphicFramePr>
        <p:xfrm>
          <a:off x="503583" y="706055"/>
          <a:ext cx="10955354" cy="5794043"/>
        </p:xfrm>
        <a:graphic>
          <a:graphicData uri="http://schemas.openxmlformats.org/drawingml/2006/table">
            <a:tbl>
              <a:tblPr firstRow="1" bandRow="1">
                <a:tableStyleId>{5C22544A-7EE6-4342-B048-85BDC9FD1C3A}</a:tableStyleId>
              </a:tblPr>
              <a:tblGrid>
                <a:gridCol w="5472495">
                  <a:extLst>
                    <a:ext uri="{9D8B030D-6E8A-4147-A177-3AD203B41FA5}">
                      <a16:colId xmlns:a16="http://schemas.microsoft.com/office/drawing/2014/main" val="2207677980"/>
                    </a:ext>
                  </a:extLst>
                </a:gridCol>
                <a:gridCol w="5482859">
                  <a:extLst>
                    <a:ext uri="{9D8B030D-6E8A-4147-A177-3AD203B41FA5}">
                      <a16:colId xmlns:a16="http://schemas.microsoft.com/office/drawing/2014/main" val="4232579930"/>
                    </a:ext>
                  </a:extLst>
                </a:gridCol>
              </a:tblGrid>
              <a:tr h="1543717">
                <a:tc>
                  <a:txBody>
                    <a:bodyPr/>
                    <a:lstStyle/>
                    <a:p>
                      <a:r>
                        <a:rPr lang="en-ZA" sz="1800" b="1" dirty="0"/>
                        <a:t>Numbers</a:t>
                      </a:r>
                      <a:r>
                        <a:rPr lang="en-ZA" sz="1800" b="1" baseline="0" dirty="0"/>
                        <a:t>, operations and relationships.</a:t>
                      </a:r>
                      <a:endParaRPr lang="en-ZA" sz="1800" b="1" dirty="0"/>
                    </a:p>
                  </a:txBody>
                  <a:tcPr/>
                </a:tc>
                <a:tc>
                  <a:txBody>
                    <a:bodyPr/>
                    <a:lstStyle/>
                    <a:p>
                      <a:pPr marL="285750" indent="-285750">
                        <a:buFontTx/>
                        <a:buChar char="-"/>
                      </a:pPr>
                      <a:r>
                        <a:rPr lang="en-US" sz="1600" baseline="0" dirty="0"/>
                        <a:t>Identify, recognize and read number symbols 1-50.</a:t>
                      </a:r>
                    </a:p>
                    <a:p>
                      <a:pPr marL="285750" indent="-285750">
                        <a:buFontTx/>
                        <a:buChar char="-"/>
                      </a:pPr>
                      <a:r>
                        <a:rPr lang="en-US" sz="1600" baseline="0" dirty="0"/>
                        <a:t>Write number symbols 1-30.</a:t>
                      </a:r>
                    </a:p>
                    <a:p>
                      <a:pPr marL="285750" indent="-285750">
                        <a:buFontTx/>
                        <a:buChar char="-"/>
                      </a:pPr>
                      <a:r>
                        <a:rPr lang="en-US" sz="1600" baseline="0" dirty="0"/>
                        <a:t>Recognize and read number names 1-20.</a:t>
                      </a:r>
                      <a:endParaRPr lang="en-US" sz="1600" dirty="0"/>
                    </a:p>
                  </a:txBody>
                  <a:tcPr/>
                </a:tc>
                <a:extLst>
                  <a:ext uri="{0D108BD9-81ED-4DB2-BD59-A6C34878D82A}">
                    <a16:rowId xmlns:a16="http://schemas.microsoft.com/office/drawing/2014/main" val="1043533483"/>
                  </a:ext>
                </a:extLst>
              </a:tr>
              <a:tr h="1885524">
                <a:tc>
                  <a:txBody>
                    <a:bodyPr/>
                    <a:lstStyle/>
                    <a:p>
                      <a:r>
                        <a:rPr lang="en-ZA" sz="1800" b="1" dirty="0"/>
                        <a:t>Numbers</a:t>
                      </a:r>
                      <a:r>
                        <a:rPr lang="en-ZA" sz="1800" b="1" baseline="0" dirty="0"/>
                        <a:t> operations and relationships</a:t>
                      </a:r>
                      <a:endParaRPr lang="en-ZA" sz="1800" b="1" dirty="0"/>
                    </a:p>
                  </a:txBody>
                  <a:tcPr/>
                </a:tc>
                <a:tc>
                  <a:txBody>
                    <a:bodyPr/>
                    <a:lstStyle/>
                    <a:p>
                      <a:pPr marL="285750" indent="-285750">
                        <a:buFontTx/>
                        <a:buChar char="-"/>
                      </a:pPr>
                      <a:r>
                        <a:rPr lang="en-US" baseline="0" dirty="0"/>
                        <a:t>Describe compare and order numbers 1-3-.</a:t>
                      </a:r>
                    </a:p>
                    <a:p>
                      <a:pPr marL="285750" indent="-285750">
                        <a:buFontTx/>
                        <a:buChar char="-"/>
                      </a:pPr>
                      <a:r>
                        <a:rPr lang="en-US" baseline="0" dirty="0"/>
                        <a:t>Compare whole numbers up to 10 using smaller than, greater than, more than, less than and is equal to.</a:t>
                      </a:r>
                      <a:endParaRPr lang="en-US" dirty="0"/>
                    </a:p>
                  </a:txBody>
                  <a:tcPr/>
                </a:tc>
                <a:extLst>
                  <a:ext uri="{0D108BD9-81ED-4DB2-BD59-A6C34878D82A}">
                    <a16:rowId xmlns:a16="http://schemas.microsoft.com/office/drawing/2014/main" val="456379601"/>
                  </a:ext>
                </a:extLst>
              </a:tr>
              <a:tr h="676206">
                <a:tc>
                  <a:txBody>
                    <a:bodyPr/>
                    <a:lstStyle/>
                    <a:p>
                      <a:r>
                        <a:rPr lang="en-ZA" sz="1800" b="1" dirty="0"/>
                        <a:t>Numbers,</a:t>
                      </a:r>
                      <a:r>
                        <a:rPr lang="en-ZA" sz="1800" b="1" baseline="0" dirty="0"/>
                        <a:t> operations and relationships</a:t>
                      </a:r>
                      <a:endParaRPr lang="en-ZA" sz="1800" b="1" dirty="0"/>
                    </a:p>
                  </a:txBody>
                  <a:tcPr/>
                </a:tc>
                <a:tc>
                  <a:txBody>
                    <a:bodyPr/>
                    <a:lstStyle/>
                    <a:p>
                      <a:r>
                        <a:rPr lang="en-US" dirty="0"/>
                        <a:t>-</a:t>
                      </a:r>
                      <a:r>
                        <a:rPr lang="en-US" baseline="0" dirty="0"/>
                        <a:t> Recognize and identify the South African coins 50c, R1, R2, R5, and bank notes R10, R20, R50, R100.</a:t>
                      </a:r>
                      <a:endParaRPr lang="en-US" dirty="0"/>
                    </a:p>
                  </a:txBody>
                  <a:tcPr/>
                </a:tc>
                <a:extLst>
                  <a:ext uri="{0D108BD9-81ED-4DB2-BD59-A6C34878D82A}">
                    <a16:rowId xmlns:a16="http://schemas.microsoft.com/office/drawing/2014/main" val="13967798"/>
                  </a:ext>
                </a:extLst>
              </a:tr>
              <a:tr h="1450402">
                <a:tc>
                  <a:txBody>
                    <a:bodyPr/>
                    <a:lstStyle/>
                    <a:p>
                      <a:r>
                        <a:rPr lang="en-ZA" sz="1800" b="1" dirty="0"/>
                        <a:t>Numbers,</a:t>
                      </a:r>
                      <a:r>
                        <a:rPr lang="en-ZA" sz="1800" b="1" baseline="0" dirty="0"/>
                        <a:t> operations and relationships</a:t>
                      </a:r>
                      <a:endParaRPr lang="en-ZA" sz="1800" b="1" dirty="0"/>
                    </a:p>
                  </a:txBody>
                  <a:tcPr/>
                </a:tc>
                <a:tc>
                  <a:txBody>
                    <a:bodyPr/>
                    <a:lstStyle/>
                    <a:p>
                      <a:pPr marL="285750" indent="-285750">
                        <a:buFontTx/>
                        <a:buChar char="-"/>
                      </a:pPr>
                      <a:r>
                        <a:rPr lang="en-US" sz="1800" b="0" baseline="0" dirty="0"/>
                        <a:t>Add to 18</a:t>
                      </a:r>
                    </a:p>
                    <a:p>
                      <a:pPr marL="285750" indent="-285750">
                        <a:buFontTx/>
                        <a:buChar char="-"/>
                      </a:pPr>
                      <a:r>
                        <a:rPr lang="en-US" sz="1800" b="0" baseline="0" dirty="0"/>
                        <a:t>Subtract from 18</a:t>
                      </a:r>
                    </a:p>
                    <a:p>
                      <a:pPr marL="285750" indent="-285750">
                        <a:buFontTx/>
                        <a:buChar char="-"/>
                      </a:pPr>
                      <a:r>
                        <a:rPr lang="en-US" sz="1800" b="0" baseline="0" dirty="0"/>
                        <a:t>Use appropriate symbols (+,-,=)</a:t>
                      </a:r>
                      <a:endParaRPr lang="en-US" dirty="0"/>
                    </a:p>
                  </a:txBody>
                  <a:tcPr/>
                </a:tc>
                <a:extLst>
                  <a:ext uri="{0D108BD9-81ED-4DB2-BD59-A6C34878D82A}">
                    <a16:rowId xmlns:a16="http://schemas.microsoft.com/office/drawing/2014/main" val="1662244875"/>
                  </a:ext>
                </a:extLst>
              </a:tr>
            </a:tbl>
          </a:graphicData>
        </a:graphic>
      </p:graphicFrame>
    </p:spTree>
    <p:extLst>
      <p:ext uri="{BB962C8B-B14F-4D97-AF65-F5344CB8AC3E}">
        <p14:creationId xmlns:p14="http://schemas.microsoft.com/office/powerpoint/2010/main" val="1576198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17A4-2DA0-4508-AB92-00378BA28FCC}"/>
              </a:ext>
            </a:extLst>
          </p:cNvPr>
          <p:cNvSpPr>
            <a:spLocks noGrp="1"/>
          </p:cNvSpPr>
          <p:nvPr>
            <p:ph type="title"/>
          </p:nvPr>
        </p:nvSpPr>
        <p:spPr>
          <a:xfrm>
            <a:off x="646111" y="-254642"/>
            <a:ext cx="9404723" cy="844951"/>
          </a:xfrm>
        </p:spPr>
        <p:txBody>
          <a:bodyPr>
            <a:normAutofit fontScale="90000"/>
          </a:bodyPr>
          <a:lstStyle/>
          <a:p>
            <a:r>
              <a:rPr lang="en-ZA" sz="6000" b="1" dirty="0"/>
              <a:t>             </a:t>
            </a:r>
            <a:r>
              <a:rPr lang="en-ZA" sz="3200" b="1" dirty="0"/>
              <a:t>Assessment Goals</a:t>
            </a:r>
          </a:p>
        </p:txBody>
      </p:sp>
      <p:graphicFrame>
        <p:nvGraphicFramePr>
          <p:cNvPr id="4" name="Table 4">
            <a:extLst>
              <a:ext uri="{FF2B5EF4-FFF2-40B4-BE49-F238E27FC236}">
                <a16:creationId xmlns:a16="http://schemas.microsoft.com/office/drawing/2014/main" id="{22141332-7440-49C9-8C2B-839EF51D5A12}"/>
              </a:ext>
            </a:extLst>
          </p:cNvPr>
          <p:cNvGraphicFramePr>
            <a:graphicFrameLocks noGrp="1"/>
          </p:cNvGraphicFramePr>
          <p:nvPr>
            <p:ph idx="1"/>
            <p:extLst>
              <p:ext uri="{D42A27DB-BD31-4B8C-83A1-F6EECF244321}">
                <p14:modId xmlns:p14="http://schemas.microsoft.com/office/powerpoint/2010/main" val="3570438025"/>
              </p:ext>
            </p:extLst>
          </p:nvPr>
        </p:nvGraphicFramePr>
        <p:xfrm>
          <a:off x="503583" y="509290"/>
          <a:ext cx="10955354" cy="4236697"/>
        </p:xfrm>
        <a:graphic>
          <a:graphicData uri="http://schemas.openxmlformats.org/drawingml/2006/table">
            <a:tbl>
              <a:tblPr firstRow="1" bandRow="1">
                <a:tableStyleId>{5C22544A-7EE6-4342-B048-85BDC9FD1C3A}</a:tableStyleId>
              </a:tblPr>
              <a:tblGrid>
                <a:gridCol w="5472495">
                  <a:extLst>
                    <a:ext uri="{9D8B030D-6E8A-4147-A177-3AD203B41FA5}">
                      <a16:colId xmlns:a16="http://schemas.microsoft.com/office/drawing/2014/main" val="2207677980"/>
                    </a:ext>
                  </a:extLst>
                </a:gridCol>
                <a:gridCol w="5482859">
                  <a:extLst>
                    <a:ext uri="{9D8B030D-6E8A-4147-A177-3AD203B41FA5}">
                      <a16:colId xmlns:a16="http://schemas.microsoft.com/office/drawing/2014/main" val="4232579930"/>
                    </a:ext>
                  </a:extLst>
                </a:gridCol>
              </a:tblGrid>
              <a:tr h="970048">
                <a:tc>
                  <a:txBody>
                    <a:bodyPr/>
                    <a:lstStyle/>
                    <a:p>
                      <a:r>
                        <a:rPr lang="en-ZA" sz="1800" b="1" dirty="0"/>
                        <a:t>Space</a:t>
                      </a:r>
                      <a:r>
                        <a:rPr lang="en-ZA" sz="1800" b="1" baseline="0" dirty="0"/>
                        <a:t> and shape</a:t>
                      </a:r>
                      <a:endParaRPr lang="en-ZA" sz="1800" b="1" dirty="0"/>
                    </a:p>
                  </a:txBody>
                  <a:tcPr/>
                </a:tc>
                <a:tc>
                  <a:txBody>
                    <a:bodyPr/>
                    <a:lstStyle/>
                    <a:p>
                      <a:r>
                        <a:rPr lang="en-ZA" sz="1800" b="1" baseline="0" dirty="0"/>
                        <a:t>Position and views</a:t>
                      </a:r>
                    </a:p>
                    <a:p>
                      <a:r>
                        <a:rPr lang="en-ZA" sz="1800" b="1" baseline="0" dirty="0"/>
                        <a:t>Understand the position of one object in relation of another e.g. top and bottom.</a:t>
                      </a:r>
                    </a:p>
                    <a:p>
                      <a:r>
                        <a:rPr lang="en-ZA" sz="1800" b="1" baseline="0" dirty="0"/>
                        <a:t>Position and directions</a:t>
                      </a:r>
                    </a:p>
                    <a:p>
                      <a:r>
                        <a:rPr lang="en-ZA" sz="1800" b="1" baseline="0" dirty="0"/>
                        <a:t>Follow directions to move around the classroom.</a:t>
                      </a:r>
                    </a:p>
                  </a:txBody>
                  <a:tcPr/>
                </a:tc>
                <a:extLst>
                  <a:ext uri="{0D108BD9-81ED-4DB2-BD59-A6C34878D82A}">
                    <a16:rowId xmlns:a16="http://schemas.microsoft.com/office/drawing/2014/main" val="1043533483"/>
                  </a:ext>
                </a:extLst>
              </a:tr>
              <a:tr h="1050885">
                <a:tc>
                  <a:txBody>
                    <a:bodyPr/>
                    <a:lstStyle/>
                    <a:p>
                      <a:endParaRPr lang="en-ZA" sz="1800" b="1"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ZA" sz="1800" b="1" baseline="0" dirty="0"/>
                    </a:p>
                    <a:p>
                      <a:endParaRPr lang="en-ZA" sz="1800" b="1" baseline="0" dirty="0"/>
                    </a:p>
                  </a:txBody>
                  <a:tcPr/>
                </a:tc>
                <a:extLst>
                  <a:ext uri="{0D108BD9-81ED-4DB2-BD59-A6C34878D82A}">
                    <a16:rowId xmlns:a16="http://schemas.microsoft.com/office/drawing/2014/main" val="456379601"/>
                  </a:ext>
                </a:extLst>
              </a:tr>
              <a:tr h="376879">
                <a:tc>
                  <a:txBody>
                    <a:bodyPr/>
                    <a:lstStyle/>
                    <a:p>
                      <a:endParaRPr lang="en-ZA" sz="1800" b="1" dirty="0"/>
                    </a:p>
                  </a:txBody>
                  <a:tcPr/>
                </a:tc>
                <a:tc>
                  <a:txBody>
                    <a:bodyPr/>
                    <a:lstStyle/>
                    <a:p>
                      <a:pPr marL="0" indent="0">
                        <a:buFontTx/>
                        <a:buNone/>
                      </a:pPr>
                      <a:endParaRPr lang="en-ZA" sz="1800" b="1" baseline="0" dirty="0"/>
                    </a:p>
                    <a:p>
                      <a:endParaRPr lang="en-ZA" sz="1800" b="1" dirty="0"/>
                    </a:p>
                  </a:txBody>
                  <a:tcPr/>
                </a:tc>
                <a:extLst>
                  <a:ext uri="{0D108BD9-81ED-4DB2-BD59-A6C34878D82A}">
                    <a16:rowId xmlns:a16="http://schemas.microsoft.com/office/drawing/2014/main" val="13967798"/>
                  </a:ext>
                </a:extLst>
              </a:tr>
              <a:tr h="808372">
                <a:tc>
                  <a:txBody>
                    <a:bodyPr/>
                    <a:lstStyle/>
                    <a:p>
                      <a:endParaRPr lang="en-ZA" sz="1800" b="1" dirty="0"/>
                    </a:p>
                  </a:txBody>
                  <a:tcPr/>
                </a:tc>
                <a:tc>
                  <a:txBody>
                    <a:bodyPr/>
                    <a:lstStyle/>
                    <a:p>
                      <a:endParaRPr lang="en-ZA" sz="1800" b="1" baseline="0" dirty="0"/>
                    </a:p>
                  </a:txBody>
                  <a:tcPr/>
                </a:tc>
                <a:extLst>
                  <a:ext uri="{0D108BD9-81ED-4DB2-BD59-A6C34878D82A}">
                    <a16:rowId xmlns:a16="http://schemas.microsoft.com/office/drawing/2014/main" val="1662244875"/>
                  </a:ext>
                </a:extLst>
              </a:tr>
            </a:tbl>
          </a:graphicData>
        </a:graphic>
      </p:graphicFrame>
    </p:spTree>
    <p:extLst>
      <p:ext uri="{BB962C8B-B14F-4D97-AF65-F5344CB8AC3E}">
        <p14:creationId xmlns:p14="http://schemas.microsoft.com/office/powerpoint/2010/main" val="1150393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Numbers, operations and relationships.</a:t>
            </a:r>
          </a:p>
        </p:txBody>
      </p:sp>
      <p:pic>
        <p:nvPicPr>
          <p:cNvPr id="1026" name="Picture 2" descr="https://tse2.mm.bing.net/th?id=OIP.NseU2lSfe6iAr2aqs1l67gHaHa&amp;pid=Api&amp;P=0&amp;h=22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37144" y="1853248"/>
            <a:ext cx="7882360" cy="4779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2673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0536" y="279097"/>
            <a:ext cx="9404723" cy="5948082"/>
          </a:xfrm>
        </p:spPr>
        <p:txBody>
          <a:bodyPr/>
          <a:lstStyle/>
          <a:p>
            <a:r>
              <a:rPr lang="en-US" b="1" dirty="0"/>
              <a:t>Group 1</a:t>
            </a:r>
            <a:br>
              <a:rPr lang="en-US" b="1" dirty="0"/>
            </a:br>
            <a:r>
              <a:rPr lang="en-US" b="1" dirty="0"/>
              <a:t>  </a:t>
            </a:r>
            <a:br>
              <a:rPr lang="en-US" b="1" dirty="0"/>
            </a:br>
            <a:br>
              <a:rPr lang="en-US" b="1" dirty="0"/>
            </a:br>
            <a:br>
              <a:rPr lang="en-US" b="1" dirty="0"/>
            </a:br>
            <a:r>
              <a:rPr lang="en-US" b="1" dirty="0"/>
              <a:t>    </a:t>
            </a:r>
            <a:r>
              <a:rPr lang="en-US" sz="3200" b="1" dirty="0"/>
              <a:t>Color the following numbers from 1-50.</a:t>
            </a:r>
            <a:br>
              <a:rPr lang="en-US" sz="3200" b="1" dirty="0"/>
            </a:br>
            <a:br>
              <a:rPr lang="en-US" sz="3200" b="1" dirty="0"/>
            </a:br>
            <a:endParaRPr lang="en-US" b="1" dirty="0"/>
          </a:p>
        </p:txBody>
      </p:sp>
    </p:spTree>
    <p:extLst>
      <p:ext uri="{BB962C8B-B14F-4D97-AF65-F5344CB8AC3E}">
        <p14:creationId xmlns:p14="http://schemas.microsoft.com/office/powerpoint/2010/main" val="1691848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i.pinimg.com/originals/ce/fc/11/cefc11d227942f55052fd7e1f8e8cea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71" y="219920"/>
            <a:ext cx="10287000" cy="6192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5156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7"/>
            <a:ext cx="9404723" cy="2244183"/>
          </a:xfrm>
        </p:spPr>
        <p:txBody>
          <a:bodyPr/>
          <a:lstStyle/>
          <a:p>
            <a:r>
              <a:rPr lang="en-US" b="1" dirty="0"/>
              <a:t>Group 2</a:t>
            </a:r>
            <a:br>
              <a:rPr lang="en-US" b="1" dirty="0"/>
            </a:br>
            <a:r>
              <a:rPr lang="en-US" b="1" dirty="0"/>
              <a:t>   </a:t>
            </a:r>
            <a:br>
              <a:rPr lang="en-US" b="1" dirty="0"/>
            </a:br>
            <a:r>
              <a:rPr lang="en-US" b="1" dirty="0"/>
              <a:t>    </a:t>
            </a:r>
            <a:r>
              <a:rPr lang="en-US" sz="3200" b="1" dirty="0"/>
              <a:t>Count from 1-50 using the following chart.</a:t>
            </a:r>
            <a:endParaRPr lang="en-US" b="1" dirty="0"/>
          </a:p>
        </p:txBody>
      </p:sp>
    </p:spTree>
    <p:extLst>
      <p:ext uri="{BB962C8B-B14F-4D97-AF65-F5344CB8AC3E}">
        <p14:creationId xmlns:p14="http://schemas.microsoft.com/office/powerpoint/2010/main" val="1321139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ree Printable Numbers 1 50">
            <a:extLst>
              <a:ext uri="{FF2B5EF4-FFF2-40B4-BE49-F238E27FC236}">
                <a16:creationId xmlns:a16="http://schemas.microsoft.com/office/drawing/2014/main" id="{13E3CBA3-58C2-4741-A04B-FF18B43519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088" y="519289"/>
            <a:ext cx="9234311" cy="5757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6304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a:t>
            </a:r>
            <a:br>
              <a:rPr lang="en-US" b="1" dirty="0"/>
            </a:br>
            <a:br>
              <a:rPr lang="en-US" b="1" dirty="0"/>
            </a:br>
            <a:br>
              <a:rPr lang="en-US" b="1" dirty="0"/>
            </a:br>
            <a:br>
              <a:rPr lang="en-US" b="1" dirty="0"/>
            </a:br>
            <a:r>
              <a:rPr lang="en-US" sz="7200" b="1" dirty="0"/>
              <a:t>             Group 3</a:t>
            </a:r>
            <a:br>
              <a:rPr lang="en-US" sz="7200" b="1" dirty="0"/>
            </a:br>
            <a:endParaRPr lang="en-US" sz="7200" b="1" dirty="0"/>
          </a:p>
        </p:txBody>
      </p:sp>
    </p:spTree>
    <p:extLst>
      <p:ext uri="{BB962C8B-B14F-4D97-AF65-F5344CB8AC3E}">
        <p14:creationId xmlns:p14="http://schemas.microsoft.com/office/powerpoint/2010/main" val="3405216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numbers up to 50 grade 1">
            <a:extLst>
              <a:ext uri="{FF2B5EF4-FFF2-40B4-BE49-F238E27FC236}">
                <a16:creationId xmlns:a16="http://schemas.microsoft.com/office/drawing/2014/main" id="{89A82F30-3B5A-421F-BE72-4B919AE00A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7467" y="0"/>
            <a:ext cx="6028266" cy="6750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1138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9BC34-CA1A-42E0-89E8-50A93796FDC3}"/>
              </a:ext>
            </a:extLst>
          </p:cNvPr>
          <p:cNvSpPr>
            <a:spLocks noGrp="1"/>
          </p:cNvSpPr>
          <p:nvPr>
            <p:ph type="title"/>
          </p:nvPr>
        </p:nvSpPr>
        <p:spPr>
          <a:xfrm>
            <a:off x="646111" y="452718"/>
            <a:ext cx="9404723" cy="901949"/>
          </a:xfrm>
        </p:spPr>
        <p:txBody>
          <a:bodyPr/>
          <a:lstStyle/>
          <a:p>
            <a:r>
              <a:rPr lang="en-ZA" b="1" dirty="0"/>
              <a:t>Comparing whole numbers</a:t>
            </a:r>
          </a:p>
        </p:txBody>
      </p:sp>
      <p:pic>
        <p:nvPicPr>
          <p:cNvPr id="4098" name="Picture 2" descr="Comparing and Ordering Whole Numbers - The Maths Journey">
            <a:extLst>
              <a:ext uri="{FF2B5EF4-FFF2-40B4-BE49-F238E27FC236}">
                <a16:creationId xmlns:a16="http://schemas.microsoft.com/office/drawing/2014/main" id="{579C608E-EBC1-4176-A490-14AF4AE7DC8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46666" y="1264357"/>
            <a:ext cx="9204167" cy="5407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9638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148498"/>
          </a:xfrm>
        </p:spPr>
        <p:txBody>
          <a:bodyPr/>
          <a:lstStyle/>
          <a:p>
            <a:br>
              <a:rPr lang="en-US" b="1" dirty="0"/>
            </a:br>
            <a:br>
              <a:rPr lang="en-US" b="1" dirty="0"/>
            </a:br>
            <a:br>
              <a:rPr lang="en-US" b="1" dirty="0"/>
            </a:br>
            <a:br>
              <a:rPr lang="en-US" b="1" dirty="0"/>
            </a:br>
            <a:r>
              <a:rPr lang="en-US" b="1" dirty="0"/>
              <a:t>                    </a:t>
            </a:r>
            <a:r>
              <a:rPr lang="en-US" sz="7200" b="1" dirty="0"/>
              <a:t>Group 1</a:t>
            </a:r>
            <a:br>
              <a:rPr lang="en-US" b="1" dirty="0"/>
            </a:br>
            <a:endParaRPr lang="en-US" b="1" dirty="0"/>
          </a:p>
        </p:txBody>
      </p:sp>
    </p:spTree>
    <p:extLst>
      <p:ext uri="{BB962C8B-B14F-4D97-AF65-F5344CB8AC3E}">
        <p14:creationId xmlns:p14="http://schemas.microsoft.com/office/powerpoint/2010/main" val="2804298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6E423-EF87-4C29-8A80-BA8D1C915A32}"/>
              </a:ext>
            </a:extLst>
          </p:cNvPr>
          <p:cNvSpPr>
            <a:spLocks noGrp="1"/>
          </p:cNvSpPr>
          <p:nvPr>
            <p:ph type="title"/>
          </p:nvPr>
        </p:nvSpPr>
        <p:spPr>
          <a:xfrm>
            <a:off x="646111" y="452718"/>
            <a:ext cx="9404723" cy="3385504"/>
          </a:xfrm>
        </p:spPr>
        <p:txBody>
          <a:bodyPr/>
          <a:lstStyle/>
          <a:p>
            <a:r>
              <a:rPr lang="en-ZA" sz="2800" dirty="0"/>
              <a:t>Activity: </a:t>
            </a:r>
            <a:br>
              <a:rPr lang="en-ZA" sz="2800" dirty="0"/>
            </a:br>
            <a:r>
              <a:rPr lang="en-ZA" sz="2800" dirty="0"/>
              <a:t>Learners will be given two groups of counters per question and they will have to choose which group has more counters than the other. For example group red has more counters than group blue.</a:t>
            </a:r>
          </a:p>
        </p:txBody>
      </p:sp>
    </p:spTree>
    <p:extLst>
      <p:ext uri="{BB962C8B-B14F-4D97-AF65-F5344CB8AC3E}">
        <p14:creationId xmlns:p14="http://schemas.microsoft.com/office/powerpoint/2010/main" val="3117945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a:t>
            </a:r>
            <a:br>
              <a:rPr lang="en-US" b="1" dirty="0"/>
            </a:br>
            <a:br>
              <a:rPr lang="en-US" b="1" dirty="0"/>
            </a:br>
            <a:br>
              <a:rPr lang="en-US" b="1" dirty="0"/>
            </a:br>
            <a:r>
              <a:rPr lang="en-US" b="1" dirty="0"/>
              <a:t>                        </a:t>
            </a:r>
            <a:r>
              <a:rPr lang="en-US" sz="7200" b="1" dirty="0"/>
              <a:t>Group 2</a:t>
            </a:r>
          </a:p>
        </p:txBody>
      </p:sp>
    </p:spTree>
    <p:extLst>
      <p:ext uri="{BB962C8B-B14F-4D97-AF65-F5344CB8AC3E}">
        <p14:creationId xmlns:p14="http://schemas.microsoft.com/office/powerpoint/2010/main" val="3737679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Number Ordering Worksheets">
            <a:extLst>
              <a:ext uri="{FF2B5EF4-FFF2-40B4-BE49-F238E27FC236}">
                <a16:creationId xmlns:a16="http://schemas.microsoft.com/office/drawing/2014/main" id="{A3EE6A0A-5EF0-4FB2-BD5D-C02132F465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8178" y="358421"/>
            <a:ext cx="7439378" cy="6381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0593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b="1" dirty="0"/>
            </a:br>
            <a:br>
              <a:rPr lang="en-US" b="1" dirty="0"/>
            </a:br>
            <a:br>
              <a:rPr lang="en-US" b="1" dirty="0"/>
            </a:br>
            <a:r>
              <a:rPr lang="en-US" b="1" dirty="0"/>
              <a:t>                        </a:t>
            </a:r>
            <a:r>
              <a:rPr lang="en-US" sz="7200" b="1" dirty="0"/>
              <a:t>Group 3</a:t>
            </a:r>
          </a:p>
        </p:txBody>
      </p:sp>
    </p:spTree>
    <p:extLst>
      <p:ext uri="{BB962C8B-B14F-4D97-AF65-F5344CB8AC3E}">
        <p14:creationId xmlns:p14="http://schemas.microsoft.com/office/powerpoint/2010/main" val="3290141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Comparing Sets Worksheets For Grade 1">
            <a:extLst>
              <a:ext uri="{FF2B5EF4-FFF2-40B4-BE49-F238E27FC236}">
                <a16:creationId xmlns:a16="http://schemas.microsoft.com/office/drawing/2014/main" id="{B645F0AF-731E-4209-8FEF-2E86184F05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222" y="0"/>
            <a:ext cx="8398934" cy="6694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744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218038"/>
          </a:xfrm>
        </p:spPr>
        <p:txBody>
          <a:bodyPr/>
          <a:lstStyle/>
          <a:p>
            <a:r>
              <a:rPr lang="en-US" dirty="0"/>
              <a:t> </a:t>
            </a:r>
            <a:r>
              <a:rPr lang="en-US" sz="7200" b="1" dirty="0"/>
              <a:t>South African coins</a:t>
            </a:r>
            <a:br>
              <a:rPr lang="en-US" sz="7200" b="1" dirty="0"/>
            </a:br>
            <a:r>
              <a:rPr lang="en-US" sz="7200" b="1" dirty="0"/>
              <a:t>and bank notes</a:t>
            </a:r>
            <a:br>
              <a:rPr lang="en-US" sz="7200" b="1" dirty="0"/>
            </a:br>
            <a:endParaRPr lang="en-US" sz="7200" b="1" dirty="0"/>
          </a:p>
        </p:txBody>
      </p:sp>
      <p:pic>
        <p:nvPicPr>
          <p:cNvPr id="7172" name="Picture 4" descr="Take a look at South Africa's new banknotes and coins | Review">
            <a:extLst>
              <a:ext uri="{FF2B5EF4-FFF2-40B4-BE49-F238E27FC236}">
                <a16:creationId xmlns:a16="http://schemas.microsoft.com/office/drawing/2014/main" id="{9538CE57-BB00-4E57-9365-18D5E143D6D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6111" y="2585156"/>
            <a:ext cx="9753599" cy="4177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9196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a:t>
            </a:r>
            <a:br>
              <a:rPr lang="en-US" b="1" dirty="0"/>
            </a:br>
            <a:br>
              <a:rPr lang="en-US" b="1" dirty="0"/>
            </a:br>
            <a:br>
              <a:rPr lang="en-US" b="1" dirty="0"/>
            </a:br>
            <a:r>
              <a:rPr lang="en-US" b="1" dirty="0"/>
              <a:t>                         </a:t>
            </a:r>
            <a:r>
              <a:rPr lang="en-US" sz="7200" b="1" dirty="0"/>
              <a:t>Group 1</a:t>
            </a:r>
          </a:p>
        </p:txBody>
      </p:sp>
    </p:spTree>
    <p:extLst>
      <p:ext uri="{BB962C8B-B14F-4D97-AF65-F5344CB8AC3E}">
        <p14:creationId xmlns:p14="http://schemas.microsoft.com/office/powerpoint/2010/main" val="3427544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D8D09-A3B3-497B-AEDB-419DB6C9FC15}"/>
              </a:ext>
            </a:extLst>
          </p:cNvPr>
          <p:cNvSpPr>
            <a:spLocks noGrp="1"/>
          </p:cNvSpPr>
          <p:nvPr>
            <p:ph type="title"/>
          </p:nvPr>
        </p:nvSpPr>
        <p:spPr>
          <a:xfrm>
            <a:off x="646111" y="452718"/>
            <a:ext cx="9404723" cy="2448526"/>
          </a:xfrm>
        </p:spPr>
        <p:txBody>
          <a:bodyPr/>
          <a:lstStyle/>
          <a:p>
            <a:br>
              <a:rPr lang="en-ZA" sz="2800" dirty="0"/>
            </a:br>
            <a:r>
              <a:rPr lang="en-ZA" sz="2800" dirty="0"/>
              <a:t>Activity: </a:t>
            </a:r>
            <a:br>
              <a:rPr lang="en-ZA" sz="2800" dirty="0"/>
            </a:br>
            <a:r>
              <a:rPr lang="en-ZA" sz="2800" dirty="0"/>
              <a:t>The teacher will come with the coins and bank notes in the classroom then ask learners how much money do they see.</a:t>
            </a:r>
          </a:p>
        </p:txBody>
      </p:sp>
    </p:spTree>
    <p:extLst>
      <p:ext uri="{BB962C8B-B14F-4D97-AF65-F5344CB8AC3E}">
        <p14:creationId xmlns:p14="http://schemas.microsoft.com/office/powerpoint/2010/main" val="10456188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a:t>Group 2</a:t>
            </a:r>
            <a:br>
              <a:rPr lang="en-US" sz="7200" b="1" dirty="0"/>
            </a:br>
            <a:endParaRPr lang="en-US" sz="7200" b="1" dirty="0"/>
          </a:p>
        </p:txBody>
      </p:sp>
    </p:spTree>
    <p:extLst>
      <p:ext uri="{BB962C8B-B14F-4D97-AF65-F5344CB8AC3E}">
        <p14:creationId xmlns:p14="http://schemas.microsoft.com/office/powerpoint/2010/main" val="8874253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South African Money Worksheet | Notes Recognition | SA Rand">
            <a:extLst>
              <a:ext uri="{FF2B5EF4-FFF2-40B4-BE49-F238E27FC236}">
                <a16:creationId xmlns:a16="http://schemas.microsoft.com/office/drawing/2014/main" id="{BEE901A4-A1A9-4A01-B8FE-A7189BCA6F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956" y="643467"/>
            <a:ext cx="8238419" cy="5813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3390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sz="7200" b="1" dirty="0"/>
            </a:br>
            <a:br>
              <a:rPr lang="en-US" sz="7200" b="1" dirty="0"/>
            </a:br>
            <a:r>
              <a:rPr lang="en-US" sz="7200" b="1" dirty="0"/>
              <a:t>            Group 3</a:t>
            </a:r>
            <a:br>
              <a:rPr lang="en-US" sz="7200" b="1" dirty="0"/>
            </a:br>
            <a:endParaRPr lang="en-US" sz="7200" b="1" dirty="0"/>
          </a:p>
        </p:txBody>
      </p:sp>
    </p:spTree>
    <p:extLst>
      <p:ext uri="{BB962C8B-B14F-4D97-AF65-F5344CB8AC3E}">
        <p14:creationId xmlns:p14="http://schemas.microsoft.com/office/powerpoint/2010/main" val="6935574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South African Money (Coins) worksheet by Rawrsome Resources | TPT">
            <a:extLst>
              <a:ext uri="{FF2B5EF4-FFF2-40B4-BE49-F238E27FC236}">
                <a16:creationId xmlns:a16="http://schemas.microsoft.com/office/drawing/2014/main" id="{10EA99C8-5F0C-4083-8B82-A3C2655839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7911" y="203200"/>
            <a:ext cx="8568267" cy="6570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802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Adding and Subtracting (song for kids about addition/subtracting ...">
            <a:extLst>
              <a:ext uri="{FF2B5EF4-FFF2-40B4-BE49-F238E27FC236}">
                <a16:creationId xmlns:a16="http://schemas.microsoft.com/office/drawing/2014/main" id="{598D9C30-4348-44B0-8D37-F9015E03AD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9333"/>
            <a:ext cx="10408356" cy="660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69354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sz="7200" b="1" dirty="0"/>
            </a:br>
            <a:br>
              <a:rPr lang="en-US" sz="7200" b="1" dirty="0"/>
            </a:br>
            <a:r>
              <a:rPr lang="en-US" sz="7200" b="1" dirty="0"/>
              <a:t>            Group 1</a:t>
            </a:r>
          </a:p>
        </p:txBody>
      </p:sp>
    </p:spTree>
    <p:extLst>
      <p:ext uri="{BB962C8B-B14F-4D97-AF65-F5344CB8AC3E}">
        <p14:creationId xmlns:p14="http://schemas.microsoft.com/office/powerpoint/2010/main" val="37658697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67B14-CE29-4FC2-89D8-5DE8587D29E6}"/>
              </a:ext>
            </a:extLst>
          </p:cNvPr>
          <p:cNvSpPr>
            <a:spLocks noGrp="1"/>
          </p:cNvSpPr>
          <p:nvPr>
            <p:ph type="title"/>
          </p:nvPr>
        </p:nvSpPr>
        <p:spPr/>
        <p:txBody>
          <a:bodyPr/>
          <a:lstStyle/>
          <a:p>
            <a:r>
              <a:rPr lang="en-ZA" sz="2800" dirty="0"/>
              <a:t>Activity:</a:t>
            </a:r>
            <a:br>
              <a:rPr lang="en-ZA" sz="2800" dirty="0"/>
            </a:br>
            <a:r>
              <a:rPr lang="en-ZA" sz="2800" dirty="0"/>
              <a:t>Learners will add and subtract using counters.</a:t>
            </a:r>
          </a:p>
        </p:txBody>
      </p:sp>
    </p:spTree>
    <p:extLst>
      <p:ext uri="{BB962C8B-B14F-4D97-AF65-F5344CB8AC3E}">
        <p14:creationId xmlns:p14="http://schemas.microsoft.com/office/powerpoint/2010/main" val="36986256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sz="7200" b="1" dirty="0"/>
            </a:br>
            <a:br>
              <a:rPr lang="en-US" sz="7200" b="1" dirty="0"/>
            </a:br>
            <a:r>
              <a:rPr lang="en-US" sz="7200" b="1" dirty="0"/>
              <a:t>            Group 2</a:t>
            </a:r>
          </a:p>
        </p:txBody>
      </p:sp>
    </p:spTree>
    <p:extLst>
      <p:ext uri="{BB962C8B-B14F-4D97-AF65-F5344CB8AC3E}">
        <p14:creationId xmlns:p14="http://schemas.microsoft.com/office/powerpoint/2010/main" val="22126607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Image result for addition colouring activities for grade 1">
            <a:extLst>
              <a:ext uri="{FF2B5EF4-FFF2-40B4-BE49-F238E27FC236}">
                <a16:creationId xmlns:a16="http://schemas.microsoft.com/office/drawing/2014/main" id="{48B16956-5F92-4615-9AB4-1280BB406E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12889"/>
            <a:ext cx="8827911" cy="6660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48306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sz="7200" b="1" dirty="0"/>
            </a:br>
            <a:br>
              <a:rPr lang="en-US" sz="7200" b="1" dirty="0"/>
            </a:br>
            <a:r>
              <a:rPr lang="en-US" sz="7200" b="1" dirty="0"/>
              <a:t>           Group 3</a:t>
            </a:r>
          </a:p>
        </p:txBody>
      </p:sp>
    </p:spTree>
    <p:extLst>
      <p:ext uri="{BB962C8B-B14F-4D97-AF65-F5344CB8AC3E}">
        <p14:creationId xmlns:p14="http://schemas.microsoft.com/office/powerpoint/2010/main" val="31410471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Addition and Subtraction Worksheets for Grade 1 with Answer Key">
            <a:extLst>
              <a:ext uri="{FF2B5EF4-FFF2-40B4-BE49-F238E27FC236}">
                <a16:creationId xmlns:a16="http://schemas.microsoft.com/office/drawing/2014/main" id="{EAA74FBF-57F3-47ED-9E30-A88E661232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512" y="0"/>
            <a:ext cx="771701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3341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FFA63-4166-420A-B447-1B9DCE79A44A}"/>
              </a:ext>
            </a:extLst>
          </p:cNvPr>
          <p:cNvSpPr>
            <a:spLocks noGrp="1"/>
          </p:cNvSpPr>
          <p:nvPr>
            <p:ph type="title"/>
          </p:nvPr>
        </p:nvSpPr>
        <p:spPr>
          <a:xfrm>
            <a:off x="646111" y="452718"/>
            <a:ext cx="9404723" cy="597149"/>
          </a:xfrm>
        </p:spPr>
        <p:txBody>
          <a:bodyPr/>
          <a:lstStyle/>
          <a:p>
            <a:r>
              <a:rPr lang="en-ZA" b="1" dirty="0"/>
              <a:t>SPACE AND SHAPE</a:t>
            </a:r>
          </a:p>
        </p:txBody>
      </p:sp>
      <p:pic>
        <p:nvPicPr>
          <p:cNvPr id="13314" name="Picture 2" descr="Image result for space and shape">
            <a:extLst>
              <a:ext uri="{FF2B5EF4-FFF2-40B4-BE49-F238E27FC236}">
                <a16:creationId xmlns:a16="http://schemas.microsoft.com/office/drawing/2014/main" id="{2CD211C1-5061-41FC-90C7-1F86958F6E0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0844" y="1049866"/>
            <a:ext cx="9404723" cy="5678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12416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F8D16-7AEA-4BE1-BFFD-F29A84799E9B}"/>
              </a:ext>
            </a:extLst>
          </p:cNvPr>
          <p:cNvSpPr>
            <a:spLocks noGrp="1"/>
          </p:cNvSpPr>
          <p:nvPr>
            <p:ph type="title"/>
          </p:nvPr>
        </p:nvSpPr>
        <p:spPr/>
        <p:txBody>
          <a:bodyPr/>
          <a:lstStyle/>
          <a:p>
            <a:r>
              <a:rPr lang="en-ZA" sz="7200" b="1" dirty="0"/>
              <a:t>     </a:t>
            </a:r>
            <a:br>
              <a:rPr lang="en-ZA" sz="7200" b="1" dirty="0"/>
            </a:br>
            <a:br>
              <a:rPr lang="en-ZA" sz="7200" b="1" dirty="0"/>
            </a:br>
            <a:r>
              <a:rPr lang="en-ZA" sz="7200" b="1" dirty="0"/>
              <a:t>          POSITIONS</a:t>
            </a:r>
          </a:p>
        </p:txBody>
      </p:sp>
    </p:spTree>
    <p:extLst>
      <p:ext uri="{BB962C8B-B14F-4D97-AF65-F5344CB8AC3E}">
        <p14:creationId xmlns:p14="http://schemas.microsoft.com/office/powerpoint/2010/main" val="11839008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sz="7200" b="1" dirty="0"/>
            </a:br>
            <a:br>
              <a:rPr lang="en-US" sz="7200" b="1" dirty="0"/>
            </a:br>
            <a:r>
              <a:rPr lang="en-US" sz="7200" b="1" dirty="0"/>
              <a:t>             Group 1</a:t>
            </a:r>
          </a:p>
        </p:txBody>
      </p:sp>
    </p:spTree>
    <p:extLst>
      <p:ext uri="{BB962C8B-B14F-4D97-AF65-F5344CB8AC3E}">
        <p14:creationId xmlns:p14="http://schemas.microsoft.com/office/powerpoint/2010/main" val="22371478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7"/>
            <a:ext cx="9404723" cy="5908893"/>
          </a:xfrm>
        </p:spPr>
        <p:txBody>
          <a:bodyPr/>
          <a:lstStyle/>
          <a:p>
            <a:r>
              <a:rPr lang="en-US" dirty="0"/>
              <a:t>Activity:</a:t>
            </a:r>
            <a:br>
              <a:rPr lang="en-US" dirty="0"/>
            </a:br>
            <a:r>
              <a:rPr lang="en-US" dirty="0"/>
              <a:t>The teacher will use objects in the classroom like chairs, desks, chalkboard, door etc. and demonstrate to learners about different positions that one object can display amongst other objects then ask learners to also demonstrate those positions.</a:t>
            </a:r>
          </a:p>
        </p:txBody>
      </p:sp>
    </p:spTree>
    <p:extLst>
      <p:ext uri="{BB962C8B-B14F-4D97-AF65-F5344CB8AC3E}">
        <p14:creationId xmlns:p14="http://schemas.microsoft.com/office/powerpoint/2010/main" val="31126214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sz="7200" b="1" dirty="0"/>
            </a:br>
            <a:br>
              <a:rPr lang="en-US" sz="7200" b="1" dirty="0"/>
            </a:br>
            <a:r>
              <a:rPr lang="en-US" sz="7200" b="1" dirty="0"/>
              <a:t>            Group 2</a:t>
            </a:r>
          </a:p>
        </p:txBody>
      </p:sp>
    </p:spTree>
    <p:extLst>
      <p:ext uri="{BB962C8B-B14F-4D97-AF65-F5344CB8AC3E}">
        <p14:creationId xmlns:p14="http://schemas.microsoft.com/office/powerpoint/2010/main" val="4609129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https://i.pinimg.com/originals/46/0a/df/460adf6eeb4384be52faa59cc5c00e4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91440"/>
            <a:ext cx="8309156" cy="6766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47317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sz="7200" b="1" dirty="0"/>
            </a:br>
            <a:br>
              <a:rPr lang="en-US" sz="7200" b="1" dirty="0"/>
            </a:br>
            <a:r>
              <a:rPr lang="en-US" sz="7200" b="1" dirty="0"/>
              <a:t>            Group 3</a:t>
            </a:r>
          </a:p>
        </p:txBody>
      </p:sp>
    </p:spTree>
    <p:extLst>
      <p:ext uri="{BB962C8B-B14F-4D97-AF65-F5344CB8AC3E}">
        <p14:creationId xmlns:p14="http://schemas.microsoft.com/office/powerpoint/2010/main" val="10456948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https://tse1.mm.bing.net/th?id=OIP.jY4jw__-72aXqyIZ1T5aZgAAAA&amp;pid=Api&amp;P=0&amp;h=2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7097" y="0"/>
            <a:ext cx="68449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6793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0"/>
            <a:ext cx="9404723" cy="715108"/>
          </a:xfrm>
        </p:spPr>
        <p:txBody>
          <a:bodyPr/>
          <a:lstStyle/>
          <a:p>
            <a:r>
              <a:rPr lang="en-US" b="1" dirty="0"/>
              <a:t>REFERENCES</a:t>
            </a:r>
          </a:p>
        </p:txBody>
      </p:sp>
      <p:sp>
        <p:nvSpPr>
          <p:cNvPr id="3" name="Content Placeholder 2"/>
          <p:cNvSpPr>
            <a:spLocks noGrp="1"/>
          </p:cNvSpPr>
          <p:nvPr>
            <p:ph idx="1"/>
          </p:nvPr>
        </p:nvSpPr>
        <p:spPr>
          <a:xfrm>
            <a:off x="1103312" y="715108"/>
            <a:ext cx="8946541" cy="5767754"/>
          </a:xfrm>
        </p:spPr>
        <p:txBody>
          <a:bodyPr>
            <a:normAutofit fontScale="85000" lnSpcReduction="20000"/>
          </a:bodyPr>
          <a:lstStyle/>
          <a:p>
            <a:endParaRPr lang="en-US" dirty="0"/>
          </a:p>
          <a:p>
            <a:pPr>
              <a:lnSpc>
                <a:spcPct val="107000"/>
              </a:lnSpc>
              <a:spcAft>
                <a:spcPts val="800"/>
              </a:spcAft>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https://themathsjourney.com/wp-content/uploads/2021/10/Comparing-and-Ordering-Whole-Numbers.jpg</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https://th.bing.com/th/id/R.df29d3e121cd194ed2e635ef0c87815b?rik=hiYDwvc4JhW0yA&amp;pid=ImgRaw&amp;r=0</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https://thumbs.dreamstime.com/z/comparing-numbers-worksheet-education-compare-groups-each-row-write-correct-sign-middle-more-equal-146369017.jpg</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5"/>
              </a:rPr>
              <a:t>https://reviewonline.co.za/wp-content/uploads/sites/68/2023/05/new-money-2-e1683208962676-780x470.png</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6"/>
              </a:rPr>
              <a:t>https://th.bing.com/th/id/OIP.aOT1L9IAZ7spIipoaxaqfQHaDt?rs=1&amp;pid=ImgDetMain</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7"/>
              </a:rPr>
              <a:t>https://th.bing.com/th/id/OIP.ig5GivxfxANnUbMDUJZ22wAAAA?rs=1&amp;pid=ImgDetMain</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8"/>
              </a:rPr>
              <a:t>https://th.bing.com/th/id/R.84f5822b8e3966bdf242f9bc90012f51?rik=izhv6cEw%2br3g0w&amp;riu=http%3a%2f%2fwww.clipartbest.com%2fcliparts%2fKij%2fL7g%2fKijL7gM5T.jpg&amp;ehk=vEIAE56wEVJGXKPU6ZpVMUjt4RgTS96PIGpPiDYJ%2bQ0%3d&amp;risl=&amp;pid=ImgRaw&amp;r=0</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9"/>
              </a:rPr>
              <a:t>https://th.bing.com/th/id/OIP.dktaN15vvZxBMKkC1DpElwAAAA?rs=1&amp;pid=ImgDetMain</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0"/>
              </a:rPr>
              <a:t>https://th.bing.com/th/id/OIP.d8INcl5iAndVsiHk9uMF4wHaKe?rs=1&amp;pid=ImgDetMain</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1"/>
              </a:rPr>
              <a:t>https://th.bing.com/th/id/OIP.j1fAi_jcuz_ZKQpa_extsAHaFj?w=222&amp;h=180&amp;c=7&amp;r=0&amp;o=5&amp;pid=1.7</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857537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1731</TotalTime>
  <Words>934</Words>
  <Application>Microsoft Office PowerPoint</Application>
  <PresentationFormat>Widescreen</PresentationFormat>
  <Paragraphs>93</Paragraphs>
  <Slides>44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Century Gothic</vt:lpstr>
      <vt:lpstr>Wingdings 3</vt:lpstr>
      <vt:lpstr>Ion</vt:lpstr>
      <vt:lpstr>PowerPoint Presentation</vt:lpstr>
      <vt:lpstr>             LESSON PLAN CONTENT</vt:lpstr>
      <vt:lpstr>             LESSON PLAN CONTENT</vt:lpstr>
      <vt:lpstr>             LESSON PLAN CONTENT</vt:lpstr>
      <vt:lpstr>             LESSON OBJECTIVES</vt:lpstr>
      <vt:lpstr>             Assessment Goals</vt:lpstr>
      <vt:lpstr>             Assessment Goals</vt:lpstr>
      <vt:lpstr>Numbers, operations and relationships.</vt:lpstr>
      <vt:lpstr>Group 1          Color the following numbers from 1-50.  </vt:lpstr>
      <vt:lpstr>PowerPoint Presentation</vt:lpstr>
      <vt:lpstr>Group 2         Count from 1-50 using the following chart.</vt:lpstr>
      <vt:lpstr>PowerPoint Presentation</vt:lpstr>
      <vt:lpstr>                               Group 3 </vt:lpstr>
      <vt:lpstr>PowerPoint Presentation</vt:lpstr>
      <vt:lpstr>Comparing whole numbers</vt:lpstr>
      <vt:lpstr>                        Group 1 </vt:lpstr>
      <vt:lpstr>Activity:  Learners will be given two groups of counters per question and they will have to choose which group has more counters than the other. For example group red has more counters than group blue.</vt:lpstr>
      <vt:lpstr>                               Group 2</vt:lpstr>
      <vt:lpstr>PowerPoint Presentation</vt:lpstr>
      <vt:lpstr>                           Group 3</vt:lpstr>
      <vt:lpstr>PowerPoint Presentation</vt:lpstr>
      <vt:lpstr> South African coins and bank notes </vt:lpstr>
      <vt:lpstr>                             Group 1</vt:lpstr>
      <vt:lpstr> Activity:  The teacher will come with the coins and bank notes in the classroom then ask learners how much money do they see.</vt:lpstr>
      <vt:lpstr>Group 2 </vt:lpstr>
      <vt:lpstr>PowerPoint Presentation</vt:lpstr>
      <vt:lpstr>              Group 3 </vt:lpstr>
      <vt:lpstr>PowerPoint Presentation</vt:lpstr>
      <vt:lpstr>PowerPoint Presentation</vt:lpstr>
      <vt:lpstr>              Group 1</vt:lpstr>
      <vt:lpstr>Activity: Learners will add and subtract using counters.</vt:lpstr>
      <vt:lpstr>              Group 2</vt:lpstr>
      <vt:lpstr>PowerPoint Presentation</vt:lpstr>
      <vt:lpstr>             Group 3</vt:lpstr>
      <vt:lpstr>PowerPoint Presentation</vt:lpstr>
      <vt:lpstr>SPACE AND SHAPE</vt:lpstr>
      <vt:lpstr>                 POSITIONS</vt:lpstr>
      <vt:lpstr>               Group 1</vt:lpstr>
      <vt:lpstr>Activity: The teacher will use objects in the classroom like chairs, desks, chalkboard, door etc. and demonstrate to learners about different positions that one object can display amongst other objects then ask learners to also demonstrate those positions.</vt:lpstr>
      <vt:lpstr>              Group 2</vt:lpstr>
      <vt:lpstr>PowerPoint Presentation</vt:lpstr>
      <vt:lpstr>              Group 3</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Student_PC</dc:creator>
  <cp:lastModifiedBy>Student_PC</cp:lastModifiedBy>
  <cp:revision>66</cp:revision>
  <dcterms:created xsi:type="dcterms:W3CDTF">2024-06-13T05:54:20Z</dcterms:created>
  <dcterms:modified xsi:type="dcterms:W3CDTF">2024-07-16T11:35:24Z</dcterms:modified>
</cp:coreProperties>
</file>