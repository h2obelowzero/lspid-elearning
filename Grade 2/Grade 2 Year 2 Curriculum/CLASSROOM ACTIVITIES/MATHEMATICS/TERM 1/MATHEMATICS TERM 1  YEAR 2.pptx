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311" r:id="rId15"/>
    <p:sldId id="269" r:id="rId16"/>
    <p:sldId id="310" r:id="rId17"/>
    <p:sldId id="270" r:id="rId18"/>
    <p:sldId id="271" r:id="rId19"/>
    <p:sldId id="312" r:id="rId20"/>
    <p:sldId id="272" r:id="rId21"/>
    <p:sldId id="273" r:id="rId22"/>
    <p:sldId id="313" r:id="rId23"/>
    <p:sldId id="274" r:id="rId24"/>
    <p:sldId id="314" r:id="rId25"/>
    <p:sldId id="275" r:id="rId26"/>
    <p:sldId id="315" r:id="rId27"/>
    <p:sldId id="276" r:id="rId28"/>
    <p:sldId id="277" r:id="rId29"/>
    <p:sldId id="317" r:id="rId30"/>
    <p:sldId id="278" r:id="rId31"/>
    <p:sldId id="318" r:id="rId32"/>
    <p:sldId id="279" r:id="rId33"/>
    <p:sldId id="319" r:id="rId34"/>
    <p:sldId id="280" r:id="rId35"/>
    <p:sldId id="283" r:id="rId36"/>
    <p:sldId id="320" r:id="rId37"/>
    <p:sldId id="282" r:id="rId38"/>
    <p:sldId id="281" r:id="rId39"/>
    <p:sldId id="321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  <p:sldId id="301" r:id="rId58"/>
    <p:sldId id="302" r:id="rId59"/>
    <p:sldId id="303" r:id="rId60"/>
    <p:sldId id="309" r:id="rId6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30BCD33-C161-4208-AC61-B0164F5026FD}">
  <a:tblStyle styleId="{330BCD33-C161-4208-AC61-B0164F5026F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61E49FE-1FB4-45CA-AD3E-BE34785661C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D772CC5-F5D9-4C1B-B34B-2D5FF8B5477F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CDEB43A-FCE1-4AF0-B5B0-3B6B2632FC1B}" styleName="Table_3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03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eba141a071_0_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g2eba141a07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eba141a071_0_1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g2eba141a071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eba141a071_0_1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g2eba141a071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eba141a071_0_1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g2eba141a071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eba141a071_0_1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g2eba141a071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ebb6801f5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g2ebb6801f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24139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57435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38527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59209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03420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28514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733220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76068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9188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700489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4403071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2eba141a071_0_1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g2eba141a071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2eba141a071_0_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g2eba141a071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hyperlink" Target="http://blakbin.blogspot.com/2017/04/panas-tapi-tidak-bisa-membakar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emf"/><Relationship Id="rId4" Type="http://schemas.openxmlformats.org/officeDocument/2006/relationships/image" Target="../media/image1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emf"/><Relationship Id="rId4" Type="http://schemas.openxmlformats.org/officeDocument/2006/relationships/image" Target="../media/image1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1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1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1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1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1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image" Target="../media/image32.jpg"/><Relationship Id="rId7" Type="http://schemas.openxmlformats.org/officeDocument/2006/relationships/image" Target="../media/image36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7.png"/><Relationship Id="rId4" Type="http://schemas.openxmlformats.org/officeDocument/2006/relationships/image" Target="../media/image33.png"/><Relationship Id="rId9" Type="http://schemas.openxmlformats.org/officeDocument/2006/relationships/image" Target="../media/image1.jp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jpg"/><Relationship Id="rId4" Type="http://schemas.openxmlformats.org/officeDocument/2006/relationships/image" Target="../media/image2.jp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41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2.jp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2.jp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1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10" Type="http://schemas.openxmlformats.org/officeDocument/2006/relationships/image" Target="../media/image2.jp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jpg"/><Relationship Id="rId4" Type="http://schemas.openxmlformats.org/officeDocument/2006/relationships/image" Target="../media/image2.jp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jpg"/><Relationship Id="rId3" Type="http://schemas.openxmlformats.org/officeDocument/2006/relationships/image" Target="../media/image1.jpg"/><Relationship Id="rId7" Type="http://schemas.openxmlformats.org/officeDocument/2006/relationships/image" Target="../media/image57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jpg"/><Relationship Id="rId5" Type="http://schemas.openxmlformats.org/officeDocument/2006/relationships/image" Target="../media/image55.jpg"/><Relationship Id="rId4" Type="http://schemas.openxmlformats.org/officeDocument/2006/relationships/image" Target="../media/image2.jpg"/><Relationship Id="rId9" Type="http://schemas.openxmlformats.org/officeDocument/2006/relationships/image" Target="../media/image59.jp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jpg"/><Relationship Id="rId4" Type="http://schemas.openxmlformats.org/officeDocument/2006/relationships/image" Target="../media/image1.jp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jpg"/><Relationship Id="rId4" Type="http://schemas.openxmlformats.org/officeDocument/2006/relationships/image" Target="../media/image1.jp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jpg"/><Relationship Id="rId4" Type="http://schemas.openxmlformats.org/officeDocument/2006/relationships/image" Target="../media/image1.jp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jpg"/><Relationship Id="rId4" Type="http://schemas.openxmlformats.org/officeDocument/2006/relationships/image" Target="../media/image2.jp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jpg"/><Relationship Id="rId3" Type="http://schemas.openxmlformats.org/officeDocument/2006/relationships/image" Target="../media/image1.jpg"/><Relationship Id="rId7" Type="http://schemas.openxmlformats.org/officeDocument/2006/relationships/image" Target="../media/image57.jp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jpg"/><Relationship Id="rId5" Type="http://schemas.openxmlformats.org/officeDocument/2006/relationships/image" Target="../media/image55.jpg"/><Relationship Id="rId4" Type="http://schemas.openxmlformats.org/officeDocument/2006/relationships/image" Target="../media/image2.jpg"/><Relationship Id="rId9" Type="http://schemas.openxmlformats.org/officeDocument/2006/relationships/image" Target="../media/image59.jp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k5learning.com/" TargetMode="External"/><Relationship Id="rId7" Type="http://schemas.openxmlformats.org/officeDocument/2006/relationships/image" Target="../media/image2.jp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g"/><Relationship Id="rId5" Type="http://schemas.openxmlformats.org/officeDocument/2006/relationships/hyperlink" Target="http://www.pinterest.com/" TargetMode="External"/><Relationship Id="rId4" Type="http://schemas.openxmlformats.org/officeDocument/2006/relationships/hyperlink" Target="http://www.twinkl.co.za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1524000" y="1311548"/>
            <a:ext cx="9144000" cy="4032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ZA" b="1">
                <a:latin typeface="Arial"/>
                <a:ea typeface="Arial"/>
                <a:cs typeface="Arial"/>
                <a:sym typeface="Arial"/>
              </a:rPr>
              <a:t>MATHEMATICS</a:t>
            </a:r>
            <a:br>
              <a:rPr lang="en-ZA" b="1">
                <a:latin typeface="Arial"/>
                <a:ea typeface="Arial"/>
                <a:cs typeface="Arial"/>
                <a:sym typeface="Arial"/>
              </a:rPr>
            </a:br>
            <a:r>
              <a:rPr lang="en-ZA" b="1">
                <a:latin typeface="Arial"/>
                <a:ea typeface="Arial"/>
                <a:cs typeface="Arial"/>
                <a:sym typeface="Arial"/>
              </a:rPr>
              <a:t>GRADE 2</a:t>
            </a:r>
            <a:br>
              <a:rPr lang="en-ZA" b="1">
                <a:latin typeface="Arial"/>
                <a:ea typeface="Arial"/>
                <a:cs typeface="Arial"/>
                <a:sym typeface="Arial"/>
              </a:rPr>
            </a:br>
            <a:r>
              <a:rPr lang="en-ZA" b="1">
                <a:latin typeface="Arial"/>
                <a:ea typeface="Arial"/>
                <a:cs typeface="Arial"/>
                <a:sym typeface="Arial"/>
              </a:rPr>
              <a:t>YEAR 2</a:t>
            </a:r>
            <a:br>
              <a:rPr lang="en-ZA" b="1">
                <a:latin typeface="Arial"/>
                <a:ea typeface="Arial"/>
                <a:cs typeface="Arial"/>
                <a:sym typeface="Arial"/>
              </a:rPr>
            </a:br>
            <a:r>
              <a:rPr lang="en-ZA" b="1">
                <a:latin typeface="Arial"/>
                <a:ea typeface="Arial"/>
                <a:cs typeface="Arial"/>
                <a:sym typeface="Arial"/>
              </a:rPr>
              <a:t> TERM 1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ftr" idx="11"/>
          </p:nvPr>
        </p:nvSpPr>
        <p:spPr>
          <a:xfrm>
            <a:off x="584201" y="5807076"/>
            <a:ext cx="11056256" cy="914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1</a:t>
            </a:fld>
            <a:endParaRPr/>
          </a:p>
        </p:txBody>
      </p:sp>
      <p:pic>
        <p:nvPicPr>
          <p:cNvPr id="90" name="Google Shape;90;p13" descr="Nokuthula logo Freehan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30807" y="5897562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New GDE log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0906" y="5807076"/>
            <a:ext cx="1152525" cy="823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38200" y="41932"/>
            <a:ext cx="10515600" cy="93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 sz="4000" b="1">
                <a:latin typeface="Arial"/>
                <a:ea typeface="Arial"/>
                <a:cs typeface="Arial"/>
                <a:sym typeface="Arial"/>
              </a:rPr>
              <a:t>OUTLINE</a:t>
            </a:r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ftr" idx="11"/>
          </p:nvPr>
        </p:nvSpPr>
        <p:spPr>
          <a:xfrm>
            <a:off x="682171" y="5791200"/>
            <a:ext cx="10943771" cy="930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2</a:t>
            </a:fld>
            <a:endParaRPr/>
          </a:p>
        </p:txBody>
      </p:sp>
      <p:pic>
        <p:nvPicPr>
          <p:cNvPr id="98" name="Google Shape;98;p14" descr="Nokuthula logo Freehan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16292" y="5897562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New GDE log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5807076"/>
            <a:ext cx="1152525" cy="82391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0" name="Google Shape;100;p14"/>
          <p:cNvGraphicFramePr/>
          <p:nvPr/>
        </p:nvGraphicFramePr>
        <p:xfrm>
          <a:off x="838199" y="977460"/>
          <a:ext cx="10515600" cy="4815900"/>
        </p:xfrm>
        <a:graphic>
          <a:graphicData uri="http://schemas.openxmlformats.org/drawingml/2006/table">
            <a:tbl>
              <a:tblPr firstRow="1" bandRow="1">
                <a:noFill/>
                <a:tableStyleId>{330BCD33-C161-4208-AC61-B0164F5026FD}</a:tableStyleId>
              </a:tblPr>
              <a:tblGrid>
                <a:gridCol w="181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2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0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Duration</a:t>
                      </a:r>
                      <a:endParaRPr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Area  </a:t>
                      </a:r>
                      <a:endParaRPr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Topic</a:t>
                      </a:r>
                      <a:endParaRPr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>
                          <a:latin typeface="Arial"/>
                          <a:ea typeface="Arial"/>
                          <a:cs typeface="Arial"/>
                          <a:sym typeface="Arial"/>
                        </a:rPr>
                        <a:t>Week 1 &amp; 2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>
                          <a:latin typeface="Arial"/>
                          <a:ea typeface="Arial"/>
                          <a:cs typeface="Arial"/>
                          <a:sym typeface="Arial"/>
                        </a:rPr>
                        <a:t>Numbers, Operations and Relationships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>
                          <a:latin typeface="Arial"/>
                          <a:ea typeface="Arial"/>
                          <a:cs typeface="Arial"/>
                          <a:sym typeface="Arial"/>
                        </a:rPr>
                        <a:t>Data handling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ZA">
                          <a:latin typeface="Arial"/>
                          <a:ea typeface="Arial"/>
                          <a:cs typeface="Arial"/>
                          <a:sym typeface="Arial"/>
                        </a:rPr>
                        <a:t>Count forwards in 1s from any number up to 20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ZA">
                          <a:latin typeface="Arial"/>
                          <a:ea typeface="Arial"/>
                          <a:cs typeface="Arial"/>
                          <a:sym typeface="Arial"/>
                        </a:rPr>
                        <a:t>Sort concrete objects according different attributes e.g. colour, shape, size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>
                          <a:latin typeface="Arial"/>
                          <a:ea typeface="Arial"/>
                          <a:cs typeface="Arial"/>
                          <a:sym typeface="Arial"/>
                        </a:rPr>
                        <a:t>Week 3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>
                          <a:latin typeface="Arial"/>
                          <a:ea typeface="Arial"/>
                          <a:cs typeface="Arial"/>
                          <a:sym typeface="Arial"/>
                        </a:rPr>
                        <a:t>Numbers, Operations and Relationships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ZA">
                          <a:latin typeface="Arial"/>
                          <a:ea typeface="Arial"/>
                          <a:cs typeface="Arial"/>
                          <a:sym typeface="Arial"/>
                        </a:rPr>
                        <a:t>Measurement 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Arial"/>
                        <a:buChar char="●"/>
                      </a:pPr>
                      <a:r>
                        <a:rPr lang="en-ZA">
                          <a:latin typeface="Arial"/>
                          <a:ea typeface="Arial"/>
                          <a:cs typeface="Arial"/>
                          <a:sym typeface="Arial"/>
                        </a:rPr>
                        <a:t>Recognise, identify and read number symbols up to 1-20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Arial"/>
                        <a:buChar char="●"/>
                      </a:pPr>
                      <a:r>
                        <a:rPr lang="en-ZA">
                          <a:latin typeface="Arial"/>
                          <a:ea typeface="Arial"/>
                          <a:cs typeface="Arial"/>
                          <a:sym typeface="Arial"/>
                        </a:rPr>
                        <a:t>Place birthdays on a chart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1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>
                          <a:latin typeface="Arial"/>
                          <a:ea typeface="Arial"/>
                          <a:cs typeface="Arial"/>
                          <a:sym typeface="Arial"/>
                        </a:rPr>
                        <a:t>Week 4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>
                          <a:latin typeface="Arial"/>
                          <a:ea typeface="Arial"/>
                          <a:cs typeface="Arial"/>
                          <a:sym typeface="Arial"/>
                        </a:rPr>
                        <a:t>Numbers, Operations and Relationships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ZA">
                          <a:latin typeface="Arial"/>
                          <a:ea typeface="Arial"/>
                          <a:cs typeface="Arial"/>
                          <a:sym typeface="Arial"/>
                        </a:rPr>
                        <a:t>Space and shape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ZA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Solve simple word problems in context involving, equal sharing and grouping up to 10</a:t>
                      </a:r>
                      <a:endParaRPr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Arial"/>
                        <a:buChar char="●"/>
                      </a:pPr>
                      <a:r>
                        <a:rPr lang="en-ZA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Describe, sort and compare 3D objects in terms of: size, colour and shape</a:t>
                      </a:r>
                      <a:endParaRPr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9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>
                          <a:latin typeface="Arial"/>
                          <a:ea typeface="Arial"/>
                          <a:cs typeface="Arial"/>
                          <a:sym typeface="Arial"/>
                        </a:rPr>
                        <a:t>Week 5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>
                          <a:latin typeface="Arial"/>
                          <a:ea typeface="Arial"/>
                          <a:cs typeface="Arial"/>
                          <a:sym typeface="Arial"/>
                        </a:rPr>
                        <a:t>Numbers, Operations and Relationships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>
                          <a:latin typeface="Arial"/>
                          <a:ea typeface="Arial"/>
                          <a:cs typeface="Arial"/>
                          <a:sym typeface="Arial"/>
                        </a:rPr>
                        <a:t>Measurement 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ZA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Solve simple word problems in context involving addition and subtraction with answers up to 10</a:t>
                      </a:r>
                      <a:endParaRPr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Arial"/>
                        <a:buChar char="●"/>
                      </a:pPr>
                      <a:r>
                        <a:rPr lang="en-ZA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Compare and order the mass of two or more objects using a balancing scale</a:t>
                      </a:r>
                      <a:endParaRPr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9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>
                          <a:latin typeface="Arial"/>
                          <a:ea typeface="Arial"/>
                          <a:cs typeface="Arial"/>
                          <a:sym typeface="Arial"/>
                        </a:rPr>
                        <a:t>Week 6 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ZA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Numbers, Operations and Relationships</a:t>
                      </a:r>
                      <a:endParaRPr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ZA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Data handling</a:t>
                      </a:r>
                      <a:endParaRPr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ZA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Addition and subtraction up to 10</a:t>
                      </a:r>
                      <a:endParaRPr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Arial"/>
                        <a:buChar char="●"/>
                      </a:pPr>
                      <a:r>
                        <a:rPr lang="en-ZA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Use pictures to represent</a:t>
                      </a:r>
                      <a:endParaRPr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data in pictograph</a:t>
                      </a:r>
                      <a:endParaRPr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4572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>
            <a:spLocks noGrp="1"/>
          </p:cNvSpPr>
          <p:nvPr>
            <p:ph type="title"/>
          </p:nvPr>
        </p:nvSpPr>
        <p:spPr>
          <a:xfrm>
            <a:off x="839800" y="113475"/>
            <a:ext cx="10514100" cy="8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ZA" sz="4000" b="1">
                <a:latin typeface="Arial"/>
                <a:ea typeface="Arial"/>
                <a:cs typeface="Arial"/>
                <a:sym typeface="Arial"/>
              </a:rPr>
              <a:t>Outline cont…</a:t>
            </a:r>
            <a:endParaRPr sz="40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 txBox="1">
            <a:spLocks noGrp="1"/>
          </p:cNvSpPr>
          <p:nvPr>
            <p:ph type="body" idx="2"/>
          </p:nvPr>
        </p:nvSpPr>
        <p:spPr>
          <a:xfrm>
            <a:off x="839800" y="1024875"/>
            <a:ext cx="10718400" cy="47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107" name="Google Shape;107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3</a:t>
            </a:fld>
            <a:endParaRPr/>
          </a:p>
        </p:txBody>
      </p:sp>
      <p:pic>
        <p:nvPicPr>
          <p:cNvPr id="108" name="Google Shape;108;p15" descr="New GD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1475" y="5735637"/>
            <a:ext cx="1152525" cy="823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Nokuthula logo Freeha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4150" y="5780767"/>
            <a:ext cx="1009650" cy="7334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0" name="Google Shape;110;p15"/>
          <p:cNvGraphicFramePr/>
          <p:nvPr/>
        </p:nvGraphicFramePr>
        <p:xfrm>
          <a:off x="953350" y="1144875"/>
          <a:ext cx="10952550" cy="4088985"/>
        </p:xfrm>
        <a:graphic>
          <a:graphicData uri="http://schemas.openxmlformats.org/drawingml/2006/table">
            <a:tbl>
              <a:tblPr>
                <a:noFill/>
                <a:tableStyleId>{B61E49FE-1FB4-45CA-AD3E-BE34785661CD}</a:tableStyleId>
              </a:tblPr>
              <a:tblGrid>
                <a:gridCol w="217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6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2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b="1"/>
                        <a:t>Duration 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b="1"/>
                        <a:t>Content Area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b="1"/>
                        <a:t>Topic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5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/>
                        <a:t>Week 7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ZA">
                          <a:solidFill>
                            <a:schemeClr val="dk1"/>
                          </a:solidFill>
                        </a:rPr>
                        <a:t>Numbers, Operations and Relationships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ZA"/>
                        <a:t>Recognise, identify and read number names 1-20</a:t>
                      </a:r>
                      <a:endParaRPr/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ZA"/>
                        <a:t>Write number symbols 1-10</a:t>
                      </a:r>
                      <a:endParaRPr/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ZA"/>
                        <a:t>Copy and extend simple number sequence to at least 10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/>
                        <a:t>Week 8 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>
                          <a:solidFill>
                            <a:schemeClr val="dk1"/>
                          </a:solidFill>
                        </a:rPr>
                        <a:t>Numbers, Operations and Relationships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/>
                        <a:t>Describe, compare and order numbers 1-15 and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/>
                        <a:t>recognise: more, less and equal to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/>
                        <a:t>Week 9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>
                          <a:solidFill>
                            <a:schemeClr val="dk1"/>
                          </a:solidFill>
                        </a:rPr>
                        <a:t>Numbers, Operations and Relationships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/>
                        <a:t>Add the same number repeatedly up to 10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9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/>
                        <a:t>Week 10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>
                          <a:solidFill>
                            <a:schemeClr val="dk1"/>
                          </a:solidFill>
                        </a:rPr>
                        <a:t>Numbers, Operations and Relationships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/>
                        <a:t>Recognise and identify the South African coins, R1,R2, R5 and the bank notes R10,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/>
                        <a:t>R20, R50 and R100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ZA" sz="4000" b="1">
                <a:latin typeface="Arial"/>
                <a:ea typeface="Arial"/>
                <a:cs typeface="Arial"/>
                <a:sym typeface="Arial"/>
              </a:rPr>
              <a:t>Week 1 &amp; 2</a:t>
            </a:r>
            <a:endParaRPr sz="40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6"/>
          <p:cNvSpPr txBox="1">
            <a:spLocks noGrp="1"/>
          </p:cNvSpPr>
          <p:nvPr>
            <p:ph type="body" idx="4294967295"/>
          </p:nvPr>
        </p:nvSpPr>
        <p:spPr>
          <a:xfrm>
            <a:off x="839800" y="1024875"/>
            <a:ext cx="10718400" cy="47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4</a:t>
            </a:fld>
            <a:endParaRPr/>
          </a:p>
        </p:txBody>
      </p:sp>
      <p:pic>
        <p:nvPicPr>
          <p:cNvPr id="118" name="Google Shape;118;p16" descr="New GD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1475" y="5735637"/>
            <a:ext cx="1152525" cy="823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Nokuthula logo Freeha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4150" y="5780767"/>
            <a:ext cx="1009650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ZA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Count forwards in 1s from any number up to 20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ZA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 concrete objects according different attributes e.g. colour, shape, size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>
            <a:spLocks noGrp="1"/>
          </p:cNvSpPr>
          <p:nvPr>
            <p:ph type="title"/>
          </p:nvPr>
        </p:nvSpPr>
        <p:spPr>
          <a:xfrm>
            <a:off x="838200" y="321583"/>
            <a:ext cx="10515600" cy="1013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/>
              <a:t>Group 1</a:t>
            </a:r>
            <a:endParaRPr/>
          </a:p>
        </p:txBody>
      </p:sp>
      <p:sp>
        <p:nvSpPr>
          <p:cNvPr id="126" name="Google Shape;126;p17"/>
          <p:cNvSpPr txBox="1">
            <a:spLocks noGrp="1"/>
          </p:cNvSpPr>
          <p:nvPr>
            <p:ph type="body" idx="1"/>
          </p:nvPr>
        </p:nvSpPr>
        <p:spPr>
          <a:xfrm>
            <a:off x="838200" y="1204325"/>
            <a:ext cx="10787700" cy="4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1: Colour as you count from 1 all the way to 20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7"/>
          <p:cNvSpPr txBox="1">
            <a:spLocks noGrp="1"/>
          </p:cNvSpPr>
          <p:nvPr>
            <p:ph type="ftr" idx="11"/>
          </p:nvPr>
        </p:nvSpPr>
        <p:spPr>
          <a:xfrm>
            <a:off x="838200" y="5892800"/>
            <a:ext cx="10947400" cy="82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5</a:t>
            </a:fld>
            <a:endParaRPr/>
          </a:p>
        </p:txBody>
      </p:sp>
      <p:pic>
        <p:nvPicPr>
          <p:cNvPr id="128" name="Google Shape;128;p17" descr="Nokuthula logo Freehan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16292" y="5897562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7" descr="New GDE log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5807076"/>
            <a:ext cx="1152525" cy="82391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0" name="Google Shape;130;p17"/>
          <p:cNvGraphicFramePr/>
          <p:nvPr/>
        </p:nvGraphicFramePr>
        <p:xfrm>
          <a:off x="1144563" y="2115688"/>
          <a:ext cx="10334675" cy="2626600"/>
        </p:xfrm>
        <a:graphic>
          <a:graphicData uri="http://schemas.openxmlformats.org/drawingml/2006/table">
            <a:tbl>
              <a:tblPr bandRow="1">
                <a:noFill/>
                <a:tableStyleId>{8D772CC5-F5D9-4C1B-B34B-2D5FF8B5477F}</a:tableStyleId>
              </a:tblPr>
              <a:tblGrid>
                <a:gridCol w="84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9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0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0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3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4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4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32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36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038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>
                          <a:latin typeface="KG Primary Penmanship 2"/>
                          <a:ea typeface="KG Primary Penmanship 2"/>
                          <a:cs typeface="KG Primary Penmanship 2"/>
                          <a:sym typeface="KG Primary Penmanship 2"/>
                        </a:rPr>
                        <a:t>1</a:t>
                      </a:r>
                      <a:endParaRPr sz="4800">
                        <a:latin typeface="KG Primary Penmanship 2"/>
                        <a:ea typeface="KG Primary Penmanship 2"/>
                        <a:cs typeface="KG Primary Penmanship 2"/>
                        <a:sym typeface="KG Primary Penmanship 2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>
                          <a:latin typeface="KG Primary Penmanship 2"/>
                          <a:ea typeface="KG Primary Penmanship 2"/>
                          <a:cs typeface="KG Primary Penmanship 2"/>
                          <a:sym typeface="KG Primary Penmanship 2"/>
                        </a:rPr>
                        <a:t>2</a:t>
                      </a:r>
                      <a:endParaRPr sz="4800">
                        <a:latin typeface="KG Primary Penmanship 2"/>
                        <a:ea typeface="KG Primary Penmanship 2"/>
                        <a:cs typeface="KG Primary Penmanship 2"/>
                        <a:sym typeface="KG Primary Penmanship 2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>
                          <a:latin typeface="KG Primary Penmanship 2"/>
                          <a:ea typeface="KG Primary Penmanship 2"/>
                          <a:cs typeface="KG Primary Penmanship 2"/>
                          <a:sym typeface="KG Primary Penmanship 2"/>
                        </a:rPr>
                        <a:t>3</a:t>
                      </a:r>
                      <a:endParaRPr sz="4800">
                        <a:latin typeface="KG Primary Penmanship 2"/>
                        <a:ea typeface="KG Primary Penmanship 2"/>
                        <a:cs typeface="KG Primary Penmanship 2"/>
                        <a:sym typeface="KG Primary Penmanship 2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>
                          <a:latin typeface="KG Primary Penmanship 2"/>
                          <a:ea typeface="KG Primary Penmanship 2"/>
                          <a:cs typeface="KG Primary Penmanship 2"/>
                          <a:sym typeface="KG Primary Penmanship 2"/>
                        </a:rPr>
                        <a:t>4</a:t>
                      </a:r>
                      <a:endParaRPr sz="4800">
                        <a:latin typeface="KG Primary Penmanship 2"/>
                        <a:ea typeface="KG Primary Penmanship 2"/>
                        <a:cs typeface="KG Primary Penmanship 2"/>
                        <a:sym typeface="KG Primary Penmanship 2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>
                          <a:latin typeface="KG Primary Penmanship 2"/>
                          <a:ea typeface="KG Primary Penmanship 2"/>
                          <a:cs typeface="KG Primary Penmanship 2"/>
                          <a:sym typeface="KG Primary Penmanship 2"/>
                        </a:rPr>
                        <a:t>5</a:t>
                      </a:r>
                      <a:endParaRPr sz="4800">
                        <a:latin typeface="KG Primary Penmanship 2"/>
                        <a:ea typeface="KG Primary Penmanship 2"/>
                        <a:cs typeface="KG Primary Penmanship 2"/>
                        <a:sym typeface="KG Primary Penmanship 2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>
                          <a:latin typeface="KG Primary Penmanship 2"/>
                          <a:ea typeface="KG Primary Penmanship 2"/>
                          <a:cs typeface="KG Primary Penmanship 2"/>
                          <a:sym typeface="KG Primary Penmanship 2"/>
                        </a:rPr>
                        <a:t>6</a:t>
                      </a:r>
                      <a:endParaRPr sz="4800">
                        <a:latin typeface="KG Primary Penmanship 2"/>
                        <a:ea typeface="KG Primary Penmanship 2"/>
                        <a:cs typeface="KG Primary Penmanship 2"/>
                        <a:sym typeface="KG Primary Penmanship 2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>
                          <a:latin typeface="KG Primary Penmanship 2"/>
                          <a:ea typeface="KG Primary Penmanship 2"/>
                          <a:cs typeface="KG Primary Penmanship 2"/>
                          <a:sym typeface="KG Primary Penmanship 2"/>
                        </a:rPr>
                        <a:t>7</a:t>
                      </a:r>
                      <a:endParaRPr sz="4800">
                        <a:latin typeface="KG Primary Penmanship 2"/>
                        <a:ea typeface="KG Primary Penmanship 2"/>
                        <a:cs typeface="KG Primary Penmanship 2"/>
                        <a:sym typeface="KG Primary Penmanship 2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>
                          <a:latin typeface="KG Primary Penmanship 2"/>
                          <a:ea typeface="KG Primary Penmanship 2"/>
                          <a:cs typeface="KG Primary Penmanship 2"/>
                          <a:sym typeface="KG Primary Penmanship 2"/>
                        </a:rPr>
                        <a:t>8</a:t>
                      </a:r>
                      <a:endParaRPr sz="4800">
                        <a:latin typeface="KG Primary Penmanship 2"/>
                        <a:ea typeface="KG Primary Penmanship 2"/>
                        <a:cs typeface="KG Primary Penmanship 2"/>
                        <a:sym typeface="KG Primary Penmanship 2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>
                          <a:latin typeface="KG Primary Penmanship 2"/>
                          <a:ea typeface="KG Primary Penmanship 2"/>
                          <a:cs typeface="KG Primary Penmanship 2"/>
                          <a:sym typeface="KG Primary Penmanship 2"/>
                        </a:rPr>
                        <a:t>9</a:t>
                      </a:r>
                      <a:endParaRPr sz="4800">
                        <a:latin typeface="KG Primary Penmanship 2"/>
                        <a:ea typeface="KG Primary Penmanship 2"/>
                        <a:cs typeface="KG Primary Penmanship 2"/>
                        <a:sym typeface="KG Primary Penmanship 2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>
                          <a:latin typeface="KG Primary Penmanship 2"/>
                          <a:ea typeface="KG Primary Penmanship 2"/>
                          <a:cs typeface="KG Primary Penmanship 2"/>
                          <a:sym typeface="KG Primary Penmanship 2"/>
                        </a:rPr>
                        <a:t>10</a:t>
                      </a:r>
                      <a:endParaRPr sz="4800">
                        <a:latin typeface="KG Primary Penmanship 2"/>
                        <a:ea typeface="KG Primary Penmanship 2"/>
                        <a:cs typeface="KG Primary Penmanship 2"/>
                        <a:sym typeface="KG Primary Penmanship 2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8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>
                          <a:latin typeface="KG Primary Penmanship 2"/>
                          <a:ea typeface="KG Primary Penmanship 2"/>
                          <a:cs typeface="KG Primary Penmanship 2"/>
                          <a:sym typeface="KG Primary Penmanship 2"/>
                        </a:rPr>
                        <a:t>11</a:t>
                      </a:r>
                      <a:endParaRPr sz="4800">
                        <a:latin typeface="KG Primary Penmanship 2"/>
                        <a:ea typeface="KG Primary Penmanship 2"/>
                        <a:cs typeface="KG Primary Penmanship 2"/>
                        <a:sym typeface="KG Primary Penmanship 2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 dirty="0">
                          <a:latin typeface="KG Primary Penmanship 2"/>
                          <a:ea typeface="KG Primary Penmanship 2"/>
                          <a:cs typeface="KG Primary Penmanship 2"/>
                          <a:sym typeface="KG Primary Penmanship 2"/>
                        </a:rPr>
                        <a:t>12</a:t>
                      </a:r>
                      <a:endParaRPr sz="4800" dirty="0">
                        <a:latin typeface="KG Primary Penmanship 2"/>
                        <a:ea typeface="KG Primary Penmanship 2"/>
                        <a:cs typeface="KG Primary Penmanship 2"/>
                        <a:sym typeface="KG Primary Penmanship 2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>
                          <a:latin typeface="KG Primary Penmanship 2"/>
                          <a:ea typeface="KG Primary Penmanship 2"/>
                          <a:cs typeface="KG Primary Penmanship 2"/>
                          <a:sym typeface="KG Primary Penmanship 2"/>
                        </a:rPr>
                        <a:t>13</a:t>
                      </a:r>
                      <a:endParaRPr sz="4800">
                        <a:latin typeface="KG Primary Penmanship 2"/>
                        <a:ea typeface="KG Primary Penmanship 2"/>
                        <a:cs typeface="KG Primary Penmanship 2"/>
                        <a:sym typeface="KG Primary Penmanship 2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>
                          <a:latin typeface="KG Primary Penmanship 2"/>
                          <a:ea typeface="KG Primary Penmanship 2"/>
                          <a:cs typeface="KG Primary Penmanship 2"/>
                          <a:sym typeface="KG Primary Penmanship 2"/>
                        </a:rPr>
                        <a:t>14</a:t>
                      </a:r>
                      <a:endParaRPr sz="4800">
                        <a:latin typeface="KG Primary Penmanship 2"/>
                        <a:ea typeface="KG Primary Penmanship 2"/>
                        <a:cs typeface="KG Primary Penmanship 2"/>
                        <a:sym typeface="KG Primary Penmanship 2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>
                          <a:latin typeface="KG Primary Penmanship 2"/>
                          <a:ea typeface="KG Primary Penmanship 2"/>
                          <a:cs typeface="KG Primary Penmanship 2"/>
                          <a:sym typeface="KG Primary Penmanship 2"/>
                        </a:rPr>
                        <a:t>15</a:t>
                      </a:r>
                      <a:endParaRPr sz="4800">
                        <a:latin typeface="KG Primary Penmanship 2"/>
                        <a:ea typeface="KG Primary Penmanship 2"/>
                        <a:cs typeface="KG Primary Penmanship 2"/>
                        <a:sym typeface="KG Primary Penmanship 2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>
                          <a:latin typeface="KG Primary Penmanship 2"/>
                          <a:ea typeface="KG Primary Penmanship 2"/>
                          <a:cs typeface="KG Primary Penmanship 2"/>
                          <a:sym typeface="KG Primary Penmanship 2"/>
                        </a:rPr>
                        <a:t>16</a:t>
                      </a:r>
                      <a:endParaRPr sz="4800">
                        <a:latin typeface="KG Primary Penmanship 2"/>
                        <a:ea typeface="KG Primary Penmanship 2"/>
                        <a:cs typeface="KG Primary Penmanship 2"/>
                        <a:sym typeface="KG Primary Penmanship 2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>
                          <a:latin typeface="KG Primary Penmanship 2"/>
                          <a:ea typeface="KG Primary Penmanship 2"/>
                          <a:cs typeface="KG Primary Penmanship 2"/>
                          <a:sym typeface="KG Primary Penmanship 2"/>
                        </a:rPr>
                        <a:t>17</a:t>
                      </a:r>
                      <a:endParaRPr sz="4800">
                        <a:latin typeface="KG Primary Penmanship 2"/>
                        <a:ea typeface="KG Primary Penmanship 2"/>
                        <a:cs typeface="KG Primary Penmanship 2"/>
                        <a:sym typeface="KG Primary Penmanship 2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>
                          <a:latin typeface="KG Primary Penmanship 2"/>
                          <a:ea typeface="KG Primary Penmanship 2"/>
                          <a:cs typeface="KG Primary Penmanship 2"/>
                          <a:sym typeface="KG Primary Penmanship 2"/>
                        </a:rPr>
                        <a:t>18</a:t>
                      </a:r>
                      <a:endParaRPr sz="4800">
                        <a:latin typeface="KG Primary Penmanship 2"/>
                        <a:ea typeface="KG Primary Penmanship 2"/>
                        <a:cs typeface="KG Primary Penmanship 2"/>
                        <a:sym typeface="KG Primary Penmanship 2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>
                          <a:latin typeface="KG Primary Penmanship 2"/>
                          <a:ea typeface="KG Primary Penmanship 2"/>
                          <a:cs typeface="KG Primary Penmanship 2"/>
                          <a:sym typeface="KG Primary Penmanship 2"/>
                        </a:rPr>
                        <a:t>19</a:t>
                      </a:r>
                      <a:endParaRPr sz="4800">
                        <a:latin typeface="KG Primary Penmanship 2"/>
                        <a:ea typeface="KG Primary Penmanship 2"/>
                        <a:cs typeface="KG Primary Penmanship 2"/>
                        <a:sym typeface="KG Primary Penmanship 2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 dirty="0">
                          <a:latin typeface="KG Primary Penmanship 2"/>
                          <a:ea typeface="KG Primary Penmanship 2"/>
                          <a:cs typeface="KG Primary Penmanship 2"/>
                          <a:sym typeface="KG Primary Penmanship 2"/>
                        </a:rPr>
                        <a:t>20</a:t>
                      </a:r>
                      <a:endParaRPr sz="4800" dirty="0">
                        <a:latin typeface="KG Primary Penmanship 2"/>
                        <a:ea typeface="KG Primary Penmanship 2"/>
                        <a:cs typeface="KG Primary Penmanship 2"/>
                        <a:sym typeface="KG Primary Penmanship 2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>
            <a:spLocks noGrp="1"/>
          </p:cNvSpPr>
          <p:nvPr>
            <p:ph type="title"/>
          </p:nvPr>
        </p:nvSpPr>
        <p:spPr>
          <a:xfrm>
            <a:off x="838200" y="321583"/>
            <a:ext cx="105156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/>
              <a:t>Group 1</a:t>
            </a:r>
            <a:endParaRPr/>
          </a:p>
        </p:txBody>
      </p:sp>
      <p:sp>
        <p:nvSpPr>
          <p:cNvPr id="136" name="Google Shape;136;p18"/>
          <p:cNvSpPr txBox="1">
            <a:spLocks noGrp="1"/>
          </p:cNvSpPr>
          <p:nvPr>
            <p:ph type="body" idx="1"/>
          </p:nvPr>
        </p:nvSpPr>
        <p:spPr>
          <a:xfrm>
            <a:off x="838200" y="1204325"/>
            <a:ext cx="10787700" cy="4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2: Cut out the shapes and paste them on the graph below.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8"/>
          <p:cNvSpPr txBox="1">
            <a:spLocks noGrp="1"/>
          </p:cNvSpPr>
          <p:nvPr>
            <p:ph type="ftr" idx="11"/>
          </p:nvPr>
        </p:nvSpPr>
        <p:spPr>
          <a:xfrm>
            <a:off x="838200" y="5892800"/>
            <a:ext cx="10947300" cy="8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6</a:t>
            </a:fld>
            <a:endParaRPr/>
          </a:p>
        </p:txBody>
      </p:sp>
      <p:pic>
        <p:nvPicPr>
          <p:cNvPr id="138" name="Google Shape;138;p18" descr="Nokuthula logo Freehan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16292" y="5897562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 descr="New GDE log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5807076"/>
            <a:ext cx="1152525" cy="823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39950" y="1873400"/>
            <a:ext cx="8246326" cy="362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>
            <a:spLocks noGrp="1"/>
          </p:cNvSpPr>
          <p:nvPr>
            <p:ph type="title"/>
          </p:nvPr>
        </p:nvSpPr>
        <p:spPr>
          <a:xfrm>
            <a:off x="838200" y="321583"/>
            <a:ext cx="105156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/>
              <a:t>Task 2 cont…</a:t>
            </a:r>
            <a:endParaRPr/>
          </a:p>
        </p:txBody>
      </p:sp>
      <p:sp>
        <p:nvSpPr>
          <p:cNvPr id="146" name="Google Shape;146;p19"/>
          <p:cNvSpPr txBox="1">
            <a:spLocks noGrp="1"/>
          </p:cNvSpPr>
          <p:nvPr>
            <p:ph type="body" idx="1"/>
          </p:nvPr>
        </p:nvSpPr>
        <p:spPr>
          <a:xfrm>
            <a:off x="838200" y="1204325"/>
            <a:ext cx="10787700" cy="4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9"/>
          <p:cNvSpPr txBox="1">
            <a:spLocks noGrp="1"/>
          </p:cNvSpPr>
          <p:nvPr>
            <p:ph type="ftr" idx="11"/>
          </p:nvPr>
        </p:nvSpPr>
        <p:spPr>
          <a:xfrm>
            <a:off x="838200" y="5892800"/>
            <a:ext cx="10947300" cy="8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7</a:t>
            </a:fld>
            <a:endParaRPr/>
          </a:p>
        </p:txBody>
      </p:sp>
      <p:pic>
        <p:nvPicPr>
          <p:cNvPr id="148" name="Google Shape;148;p19" descr="Nokuthula logo Freehan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16292" y="5897562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9" descr="New GDE log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5807076"/>
            <a:ext cx="1152525" cy="823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9975" y="1204325"/>
            <a:ext cx="10103000" cy="460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 sz="4000" b="1">
                <a:latin typeface="Arial"/>
                <a:ea typeface="Arial"/>
                <a:cs typeface="Arial"/>
                <a:sym typeface="Arial"/>
              </a:rPr>
              <a:t>Group 2</a:t>
            </a:r>
            <a:endParaRPr/>
          </a:p>
        </p:txBody>
      </p:sp>
      <p:sp>
        <p:nvSpPr>
          <p:cNvPr id="156" name="Google Shape;156;p20"/>
          <p:cNvSpPr txBox="1">
            <a:spLocks noGrp="1"/>
          </p:cNvSpPr>
          <p:nvPr>
            <p:ph type="body" idx="1"/>
          </p:nvPr>
        </p:nvSpPr>
        <p:spPr>
          <a:xfrm>
            <a:off x="838200" y="1188927"/>
            <a:ext cx="10515600" cy="49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1:</a:t>
            </a:r>
            <a:r>
              <a:rPr lang="en-Z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Trace as you count the numbers from 1 all the way to 20.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0"/>
          <p:cNvSpPr txBox="1">
            <a:spLocks noGrp="1"/>
          </p:cNvSpPr>
          <p:nvPr>
            <p:ph type="ftr" idx="11"/>
          </p:nvPr>
        </p:nvSpPr>
        <p:spPr>
          <a:xfrm>
            <a:off x="838200" y="5718630"/>
            <a:ext cx="10515600" cy="1002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8</a:t>
            </a:fld>
            <a:endParaRPr/>
          </a:p>
        </p:txBody>
      </p:sp>
      <p:pic>
        <p:nvPicPr>
          <p:cNvPr id="158" name="Google Shape;158;p20" descr="New GD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5807076"/>
            <a:ext cx="1152525" cy="823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0" descr="Nokuthula logo Freeha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4150" y="5945187"/>
            <a:ext cx="1009650" cy="7334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0" name="Google Shape;160;p20"/>
          <p:cNvGraphicFramePr/>
          <p:nvPr/>
        </p:nvGraphicFramePr>
        <p:xfrm>
          <a:off x="388450" y="2054050"/>
          <a:ext cx="10855800" cy="1837700"/>
        </p:xfrm>
        <a:graphic>
          <a:graphicData uri="http://schemas.openxmlformats.org/drawingml/2006/table">
            <a:tbl>
              <a:tblPr bandRow="1">
                <a:noFill/>
                <a:tableStyleId>{8D772CC5-F5D9-4C1B-B34B-2D5FF8B5477F}</a:tableStyleId>
              </a:tblPr>
              <a:tblGrid>
                <a:gridCol w="835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23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23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90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988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918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>
                          <a:latin typeface="KG Primary Dots"/>
                          <a:ea typeface="KG Primary Dots"/>
                          <a:cs typeface="KG Primary Dots"/>
                          <a:sym typeface="KG Primary Dots"/>
                        </a:rPr>
                        <a:t>1</a:t>
                      </a:r>
                      <a:endParaRPr sz="4800">
                        <a:latin typeface="KG Primary Dots"/>
                        <a:ea typeface="KG Primary Dots"/>
                        <a:cs typeface="KG Primary Dots"/>
                        <a:sym typeface="KG Primary Dots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>
                          <a:latin typeface="KG Primary Dots"/>
                          <a:ea typeface="KG Primary Dots"/>
                          <a:cs typeface="KG Primary Dots"/>
                          <a:sym typeface="KG Primary Dots"/>
                        </a:rPr>
                        <a:t>2</a:t>
                      </a:r>
                      <a:endParaRPr sz="4800">
                        <a:latin typeface="KG Primary Dots"/>
                        <a:ea typeface="KG Primary Dots"/>
                        <a:cs typeface="KG Primary Dots"/>
                        <a:sym typeface="KG Primary Dots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>
                          <a:latin typeface="KG Primary Dots"/>
                          <a:ea typeface="KG Primary Dots"/>
                          <a:cs typeface="KG Primary Dots"/>
                          <a:sym typeface="KG Primary Dots"/>
                        </a:rPr>
                        <a:t>3</a:t>
                      </a:r>
                      <a:endParaRPr sz="4800">
                        <a:latin typeface="KG Primary Dots"/>
                        <a:ea typeface="KG Primary Dots"/>
                        <a:cs typeface="KG Primary Dots"/>
                        <a:sym typeface="KG Primary Dots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>
                          <a:latin typeface="KG Primary Dots"/>
                          <a:ea typeface="KG Primary Dots"/>
                          <a:cs typeface="KG Primary Dots"/>
                          <a:sym typeface="KG Primary Dots"/>
                        </a:rPr>
                        <a:t>4</a:t>
                      </a:r>
                      <a:endParaRPr sz="4800">
                        <a:latin typeface="KG Primary Dots"/>
                        <a:ea typeface="KG Primary Dots"/>
                        <a:cs typeface="KG Primary Dots"/>
                        <a:sym typeface="KG Primary Dots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>
                          <a:latin typeface="KG Primary Dots"/>
                          <a:ea typeface="KG Primary Dots"/>
                          <a:cs typeface="KG Primary Dots"/>
                          <a:sym typeface="KG Primary Dots"/>
                        </a:rPr>
                        <a:t>5</a:t>
                      </a:r>
                      <a:endParaRPr sz="4800">
                        <a:latin typeface="KG Primary Dots"/>
                        <a:ea typeface="KG Primary Dots"/>
                        <a:cs typeface="KG Primary Dots"/>
                        <a:sym typeface="KG Primary Dots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>
                          <a:latin typeface="KG Primary Dots"/>
                          <a:ea typeface="KG Primary Dots"/>
                          <a:cs typeface="KG Primary Dots"/>
                          <a:sym typeface="KG Primary Dots"/>
                        </a:rPr>
                        <a:t>6</a:t>
                      </a:r>
                      <a:endParaRPr sz="4800">
                        <a:latin typeface="KG Primary Dots"/>
                        <a:ea typeface="KG Primary Dots"/>
                        <a:cs typeface="KG Primary Dots"/>
                        <a:sym typeface="KG Primary Dots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>
                          <a:latin typeface="KG Primary Dots"/>
                          <a:ea typeface="KG Primary Dots"/>
                          <a:cs typeface="KG Primary Dots"/>
                          <a:sym typeface="KG Primary Dots"/>
                        </a:rPr>
                        <a:t>7</a:t>
                      </a:r>
                      <a:endParaRPr sz="4800">
                        <a:latin typeface="KG Primary Dots"/>
                        <a:ea typeface="KG Primary Dots"/>
                        <a:cs typeface="KG Primary Dots"/>
                        <a:sym typeface="KG Primary Dots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>
                          <a:latin typeface="KG Primary Dots"/>
                          <a:ea typeface="KG Primary Dots"/>
                          <a:cs typeface="KG Primary Dots"/>
                          <a:sym typeface="KG Primary Dots"/>
                        </a:rPr>
                        <a:t>8</a:t>
                      </a:r>
                      <a:endParaRPr sz="4800">
                        <a:latin typeface="KG Primary Dots"/>
                        <a:ea typeface="KG Primary Dots"/>
                        <a:cs typeface="KG Primary Dots"/>
                        <a:sym typeface="KG Primary Dots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>
                          <a:latin typeface="KG Primary Dots"/>
                          <a:ea typeface="KG Primary Dots"/>
                          <a:cs typeface="KG Primary Dots"/>
                          <a:sym typeface="KG Primary Dots"/>
                        </a:rPr>
                        <a:t>9</a:t>
                      </a:r>
                      <a:endParaRPr sz="4800">
                        <a:latin typeface="KG Primary Dots"/>
                        <a:ea typeface="KG Primary Dots"/>
                        <a:cs typeface="KG Primary Dots"/>
                        <a:sym typeface="KG Primary Dots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>
                          <a:latin typeface="KG Primary Dots"/>
                          <a:ea typeface="KG Primary Dots"/>
                          <a:cs typeface="KG Primary Dots"/>
                          <a:sym typeface="KG Primary Dots"/>
                        </a:rPr>
                        <a:t>10</a:t>
                      </a:r>
                      <a:endParaRPr sz="4800">
                        <a:latin typeface="KG Primary Dots"/>
                        <a:ea typeface="KG Primary Dots"/>
                        <a:cs typeface="KG Primary Dots"/>
                        <a:sym typeface="KG Primary Dots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8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>
                          <a:latin typeface="KG Primary Dots"/>
                          <a:ea typeface="KG Primary Dots"/>
                          <a:cs typeface="KG Primary Dots"/>
                          <a:sym typeface="KG Primary Dots"/>
                        </a:rPr>
                        <a:t>11</a:t>
                      </a:r>
                      <a:endParaRPr sz="4800">
                        <a:latin typeface="KG Primary Dots"/>
                        <a:ea typeface="KG Primary Dots"/>
                        <a:cs typeface="KG Primary Dots"/>
                        <a:sym typeface="KG Primary Dots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>
                          <a:latin typeface="KG Primary Dots"/>
                          <a:ea typeface="KG Primary Dots"/>
                          <a:cs typeface="KG Primary Dots"/>
                          <a:sym typeface="KG Primary Dots"/>
                        </a:rPr>
                        <a:t>12</a:t>
                      </a:r>
                      <a:endParaRPr sz="4800">
                        <a:latin typeface="KG Primary Dots"/>
                        <a:ea typeface="KG Primary Dots"/>
                        <a:cs typeface="KG Primary Dots"/>
                        <a:sym typeface="KG Primary Dots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>
                          <a:latin typeface="KG Primary Dots"/>
                          <a:ea typeface="KG Primary Dots"/>
                          <a:cs typeface="KG Primary Dots"/>
                          <a:sym typeface="KG Primary Dots"/>
                        </a:rPr>
                        <a:t>13</a:t>
                      </a:r>
                      <a:endParaRPr sz="4800">
                        <a:latin typeface="KG Primary Dots"/>
                        <a:ea typeface="KG Primary Dots"/>
                        <a:cs typeface="KG Primary Dots"/>
                        <a:sym typeface="KG Primary Dots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>
                          <a:latin typeface="KG Primary Dots"/>
                          <a:ea typeface="KG Primary Dots"/>
                          <a:cs typeface="KG Primary Dots"/>
                          <a:sym typeface="KG Primary Dots"/>
                        </a:rPr>
                        <a:t>14</a:t>
                      </a:r>
                      <a:endParaRPr sz="4800">
                        <a:latin typeface="KG Primary Dots"/>
                        <a:ea typeface="KG Primary Dots"/>
                        <a:cs typeface="KG Primary Dots"/>
                        <a:sym typeface="KG Primary Dots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>
                          <a:latin typeface="KG Primary Dots"/>
                          <a:ea typeface="KG Primary Dots"/>
                          <a:cs typeface="KG Primary Dots"/>
                          <a:sym typeface="KG Primary Dots"/>
                        </a:rPr>
                        <a:t>15</a:t>
                      </a:r>
                      <a:endParaRPr sz="4800">
                        <a:latin typeface="KG Primary Dots"/>
                        <a:ea typeface="KG Primary Dots"/>
                        <a:cs typeface="KG Primary Dots"/>
                        <a:sym typeface="KG Primary Dots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>
                          <a:latin typeface="KG Primary Dots"/>
                          <a:ea typeface="KG Primary Dots"/>
                          <a:cs typeface="KG Primary Dots"/>
                          <a:sym typeface="KG Primary Dots"/>
                        </a:rPr>
                        <a:t>16</a:t>
                      </a:r>
                      <a:endParaRPr sz="4800">
                        <a:latin typeface="KG Primary Dots"/>
                        <a:ea typeface="KG Primary Dots"/>
                        <a:cs typeface="KG Primary Dots"/>
                        <a:sym typeface="KG Primary Dots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>
                          <a:latin typeface="KG Primary Dots"/>
                          <a:ea typeface="KG Primary Dots"/>
                          <a:cs typeface="KG Primary Dots"/>
                          <a:sym typeface="KG Primary Dots"/>
                        </a:rPr>
                        <a:t>17</a:t>
                      </a:r>
                      <a:endParaRPr sz="4800">
                        <a:latin typeface="KG Primary Dots"/>
                        <a:ea typeface="KG Primary Dots"/>
                        <a:cs typeface="KG Primary Dots"/>
                        <a:sym typeface="KG Primary Dots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>
                          <a:latin typeface="KG Primary Dots"/>
                          <a:ea typeface="KG Primary Dots"/>
                          <a:cs typeface="KG Primary Dots"/>
                          <a:sym typeface="KG Primary Dots"/>
                        </a:rPr>
                        <a:t>18</a:t>
                      </a:r>
                      <a:endParaRPr sz="4800">
                        <a:latin typeface="KG Primary Dots"/>
                        <a:ea typeface="KG Primary Dots"/>
                        <a:cs typeface="KG Primary Dots"/>
                        <a:sym typeface="KG Primary Dots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>
                          <a:latin typeface="KG Primary Dots"/>
                          <a:ea typeface="KG Primary Dots"/>
                          <a:cs typeface="KG Primary Dots"/>
                          <a:sym typeface="KG Primary Dots"/>
                        </a:rPr>
                        <a:t>19</a:t>
                      </a:r>
                      <a:endParaRPr sz="4800">
                        <a:latin typeface="KG Primary Dots"/>
                        <a:ea typeface="KG Primary Dots"/>
                        <a:cs typeface="KG Primary Dots"/>
                        <a:sym typeface="KG Primary Dots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800">
                          <a:latin typeface="KG Primary Dots"/>
                          <a:ea typeface="KG Primary Dots"/>
                          <a:cs typeface="KG Primary Dots"/>
                          <a:sym typeface="KG Primary Dots"/>
                        </a:rPr>
                        <a:t>20</a:t>
                      </a:r>
                      <a:endParaRPr sz="4800">
                        <a:latin typeface="KG Primary Dots"/>
                        <a:ea typeface="KG Primary Dots"/>
                        <a:cs typeface="KG Primary Dots"/>
                        <a:sym typeface="KG Primary Dots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 sz="4000" b="1">
                <a:latin typeface="Arial"/>
                <a:ea typeface="Arial"/>
                <a:cs typeface="Arial"/>
                <a:sym typeface="Arial"/>
              </a:rPr>
              <a:t>Group 2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body" idx="1"/>
          </p:nvPr>
        </p:nvSpPr>
        <p:spPr>
          <a:xfrm>
            <a:off x="838200" y="1188927"/>
            <a:ext cx="10515600" cy="49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2: Count the shapes and colour in on the chart below.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1"/>
          <p:cNvSpPr txBox="1">
            <a:spLocks noGrp="1"/>
          </p:cNvSpPr>
          <p:nvPr>
            <p:ph type="ftr" idx="11"/>
          </p:nvPr>
        </p:nvSpPr>
        <p:spPr>
          <a:xfrm>
            <a:off x="838200" y="5718630"/>
            <a:ext cx="10515600" cy="10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9</a:t>
            </a:fld>
            <a:endParaRPr/>
          </a:p>
        </p:txBody>
      </p:sp>
      <p:pic>
        <p:nvPicPr>
          <p:cNvPr id="168" name="Google Shape;168;p21" descr="New GD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5807076"/>
            <a:ext cx="1152525" cy="823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1" descr="Nokuthula logo Freeha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4150" y="5945187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7425" y="1622500"/>
            <a:ext cx="10002650" cy="4322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>
            <a:spLocks noGrp="1"/>
          </p:cNvSpPr>
          <p:nvPr>
            <p:ph type="title"/>
          </p:nvPr>
        </p:nvSpPr>
        <p:spPr>
          <a:xfrm>
            <a:off x="838200" y="401450"/>
            <a:ext cx="10515600" cy="6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ZA" sz="4000" b="1">
                <a:latin typeface="Arial"/>
                <a:ea typeface="Arial"/>
                <a:cs typeface="Arial"/>
                <a:sym typeface="Arial"/>
              </a:rPr>
              <a:t>Group 3</a:t>
            </a:r>
            <a:endParaRPr sz="4000"/>
          </a:p>
        </p:txBody>
      </p:sp>
      <p:sp>
        <p:nvSpPr>
          <p:cNvPr id="176" name="Google Shape;17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10</a:t>
            </a:fld>
            <a:endParaRPr/>
          </a:p>
        </p:txBody>
      </p:sp>
      <p:pic>
        <p:nvPicPr>
          <p:cNvPr id="177" name="Google Shape;177;p22" descr="Nokuthula logo Freehan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4150" y="5897562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2" descr="New GDE log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5807076"/>
            <a:ext cx="1152525" cy="82391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2"/>
          <p:cNvSpPr txBox="1">
            <a:spLocks noGrp="1"/>
          </p:cNvSpPr>
          <p:nvPr>
            <p:ph type="body" idx="1"/>
          </p:nvPr>
        </p:nvSpPr>
        <p:spPr>
          <a:xfrm>
            <a:off x="838200" y="1227163"/>
            <a:ext cx="10515600" cy="4949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ZA"/>
              <a:t>Task 1: Write the numbers from 1  all the way to 20 below.</a:t>
            </a:r>
            <a:endParaRPr/>
          </a:p>
        </p:txBody>
      </p:sp>
      <p:graphicFrame>
        <p:nvGraphicFramePr>
          <p:cNvPr id="180" name="Google Shape;180;p22"/>
          <p:cNvGraphicFramePr/>
          <p:nvPr/>
        </p:nvGraphicFramePr>
        <p:xfrm>
          <a:off x="952500" y="1897525"/>
          <a:ext cx="10287000" cy="3780700"/>
        </p:xfrm>
        <a:graphic>
          <a:graphicData uri="http://schemas.openxmlformats.org/drawingml/2006/table">
            <a:tbl>
              <a:tblPr>
                <a:noFill/>
                <a:tableStyleId>{B61E49FE-1FB4-45CA-AD3E-BE34785661CD}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35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5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3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5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 txBox="1">
            <a:spLocks noGrp="1"/>
          </p:cNvSpPr>
          <p:nvPr>
            <p:ph type="title"/>
          </p:nvPr>
        </p:nvSpPr>
        <p:spPr>
          <a:xfrm>
            <a:off x="838200" y="401450"/>
            <a:ext cx="10515600" cy="6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ZA" sz="4000" b="1">
                <a:latin typeface="Arial"/>
                <a:ea typeface="Arial"/>
                <a:cs typeface="Arial"/>
                <a:sym typeface="Arial"/>
              </a:rPr>
              <a:t>Group 3</a:t>
            </a:r>
            <a:endParaRPr sz="4000"/>
          </a:p>
        </p:txBody>
      </p:sp>
      <p:sp>
        <p:nvSpPr>
          <p:cNvPr id="186" name="Google Shape;18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11</a:t>
            </a:fld>
            <a:endParaRPr/>
          </a:p>
        </p:txBody>
      </p:sp>
      <p:pic>
        <p:nvPicPr>
          <p:cNvPr id="187" name="Google Shape;187;p23" descr="Nokuthula logo Freehan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4150" y="5897562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3" descr="New GDE log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5807076"/>
            <a:ext cx="1152525" cy="82391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3"/>
          <p:cNvSpPr txBox="1">
            <a:spLocks noGrp="1"/>
          </p:cNvSpPr>
          <p:nvPr>
            <p:ph type="body" idx="1"/>
          </p:nvPr>
        </p:nvSpPr>
        <p:spPr>
          <a:xfrm>
            <a:off x="838200" y="1227163"/>
            <a:ext cx="10515600" cy="4949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ZA" sz="2600" dirty="0">
                <a:latin typeface="+mn-lt"/>
              </a:rPr>
              <a:t>Task 1: </a:t>
            </a:r>
            <a:r>
              <a:rPr lang="en-ZA" sz="2200" dirty="0">
                <a:latin typeface="+mn-lt"/>
                <a:ea typeface="Arial"/>
                <a:cs typeface="Arial"/>
                <a:sym typeface="Arial"/>
              </a:rPr>
              <a:t>Count the shapes and colour in on the chart below. Then answer question</a:t>
            </a:r>
            <a:r>
              <a:rPr lang="en-ZA" sz="2600" dirty="0">
                <a:latin typeface="+mn-lt"/>
              </a:rPr>
              <a:t>s.</a:t>
            </a:r>
            <a:endParaRPr sz="2600" dirty="0">
              <a:latin typeface="+mn-lt"/>
            </a:endParaRPr>
          </a:p>
        </p:txBody>
      </p:sp>
      <p:pic>
        <p:nvPicPr>
          <p:cNvPr id="190" name="Google Shape;19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87388" y="2061275"/>
            <a:ext cx="9417224" cy="4115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"/>
          <p:cNvSpPr txBox="1">
            <a:spLocks noGrp="1"/>
          </p:cNvSpPr>
          <p:nvPr>
            <p:ph type="title"/>
          </p:nvPr>
        </p:nvSpPr>
        <p:spPr>
          <a:xfrm>
            <a:off x="838200" y="401450"/>
            <a:ext cx="10515600" cy="6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ZA" sz="4000" b="1">
                <a:latin typeface="Arial"/>
                <a:ea typeface="Arial"/>
                <a:cs typeface="Arial"/>
                <a:sym typeface="Arial"/>
              </a:rPr>
              <a:t>Task 2 cont…</a:t>
            </a:r>
            <a:endParaRPr sz="4000"/>
          </a:p>
        </p:txBody>
      </p:sp>
      <p:sp>
        <p:nvSpPr>
          <p:cNvPr id="196" name="Google Shape;19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12</a:t>
            </a:fld>
            <a:endParaRPr/>
          </a:p>
        </p:txBody>
      </p:sp>
      <p:pic>
        <p:nvPicPr>
          <p:cNvPr id="197" name="Google Shape;197;p24" descr="Nokuthula logo Freehan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4150" y="5897562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4" descr="New GDE log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5807076"/>
            <a:ext cx="1152525" cy="823911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4"/>
          <p:cNvSpPr txBox="1">
            <a:spLocks noGrp="1"/>
          </p:cNvSpPr>
          <p:nvPr>
            <p:ph type="body" idx="1"/>
          </p:nvPr>
        </p:nvSpPr>
        <p:spPr>
          <a:xfrm>
            <a:off x="838200" y="1227163"/>
            <a:ext cx="10515600" cy="4949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6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600"/>
          </a:p>
        </p:txBody>
      </p:sp>
      <p:graphicFrame>
        <p:nvGraphicFramePr>
          <p:cNvPr id="200" name="Google Shape;200;p24"/>
          <p:cNvGraphicFramePr/>
          <p:nvPr/>
        </p:nvGraphicFramePr>
        <p:xfrm>
          <a:off x="952500" y="3048000"/>
          <a:ext cx="10287000" cy="1097220"/>
        </p:xfrm>
        <a:graphic>
          <a:graphicData uri="http://schemas.openxmlformats.org/drawingml/2006/table">
            <a:tbl>
              <a:tblPr>
                <a:noFill/>
                <a:tableStyleId>{B61E49FE-1FB4-45CA-AD3E-BE34785661CD}</a:tableStyleId>
              </a:tblPr>
              <a:tblGrid>
                <a:gridCol w="1028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2400"/>
                        <a:t>The                                                are the most.</a:t>
                      </a:r>
                      <a:endParaRPr sz="24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2400"/>
                        <a:t>The                                               are the least.</a:t>
                      </a:r>
                      <a:endParaRPr sz="24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01" name="Google Shape;201;p24"/>
          <p:cNvCxnSpPr/>
          <p:nvPr/>
        </p:nvCxnSpPr>
        <p:spPr>
          <a:xfrm>
            <a:off x="1856675" y="3395550"/>
            <a:ext cx="3612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2" name="Google Shape;202;p24"/>
          <p:cNvCxnSpPr/>
          <p:nvPr/>
        </p:nvCxnSpPr>
        <p:spPr>
          <a:xfrm rot="10800000" flipH="1">
            <a:off x="1672650" y="3897525"/>
            <a:ext cx="3696600" cy="3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ZA" b="1" dirty="0">
                <a:latin typeface="Arial"/>
                <a:ea typeface="Arial"/>
                <a:cs typeface="Arial"/>
                <a:sym typeface="Arial"/>
              </a:rPr>
              <a:t>Week 3   					</a:t>
            </a:r>
            <a:endParaRPr dirty="0"/>
          </a:p>
        </p:txBody>
      </p:sp>
      <p:sp>
        <p:nvSpPr>
          <p:cNvPr id="208" name="Google Shape;208;p2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ZA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Recognise, identify and read number symbols up to 1-20</a:t>
            </a:r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ZA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 birthdays on a chart</a:t>
            </a:r>
            <a:endParaRPr sz="3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13</a:t>
            </a:fld>
            <a:endParaRPr/>
          </a:p>
        </p:txBody>
      </p:sp>
      <p:pic>
        <p:nvPicPr>
          <p:cNvPr id="210" name="Google Shape;210;p25" descr="New GD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4562" y="5941991"/>
            <a:ext cx="1152525" cy="823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5" descr="Nokuthula logo Freeha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74349" y="5986418"/>
            <a:ext cx="1009650" cy="7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37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 sz="4000" b="1" dirty="0">
                <a:latin typeface="+mn-lt"/>
              </a:rPr>
              <a:t>Group 1</a:t>
            </a:r>
            <a:endParaRPr sz="4000" b="1" dirty="0">
              <a:latin typeface="+mn-lt"/>
            </a:endParaRPr>
          </a:p>
        </p:txBody>
      </p:sp>
      <p:graphicFrame>
        <p:nvGraphicFramePr>
          <p:cNvPr id="217" name="Google Shape;217;p26"/>
          <p:cNvGraphicFramePr/>
          <p:nvPr>
            <p:extLst>
              <p:ext uri="{D42A27DB-BD31-4B8C-83A1-F6EECF244321}">
                <p14:modId xmlns:p14="http://schemas.microsoft.com/office/powerpoint/2010/main" val="2196377150"/>
              </p:ext>
            </p:extLst>
          </p:nvPr>
        </p:nvGraphicFramePr>
        <p:xfrm>
          <a:off x="579197" y="1232334"/>
          <a:ext cx="10687442" cy="4543966"/>
        </p:xfrm>
        <a:graphic>
          <a:graphicData uri="http://schemas.openxmlformats.org/drawingml/2006/table">
            <a:tbl>
              <a:tblPr firstRow="1" bandRow="1">
                <a:noFill/>
                <a:tableStyleId>{330BCD33-C161-4208-AC61-B0164F5026FD}</a:tableStyleId>
              </a:tblPr>
              <a:tblGrid>
                <a:gridCol w="10687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4396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2400" b="0" dirty="0">
                          <a:solidFill>
                            <a:schemeClr val="tx1"/>
                          </a:solidFill>
                          <a:latin typeface="+mn-lt"/>
                        </a:rPr>
                        <a:t>Task 1: Cut and complete the number puzzle below.</a:t>
                      </a:r>
                      <a:endParaRPr lang="en-GB" sz="1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ZA"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8" name="Google Shape;218;p26"/>
          <p:cNvSpPr txBox="1">
            <a:spLocks noGrp="1"/>
          </p:cNvSpPr>
          <p:nvPr>
            <p:ph type="ftr" idx="11"/>
          </p:nvPr>
        </p:nvSpPr>
        <p:spPr>
          <a:xfrm>
            <a:off x="838200" y="5727064"/>
            <a:ext cx="10686144" cy="994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14</a:t>
            </a:fld>
            <a:endParaRPr/>
          </a:p>
        </p:txBody>
      </p:sp>
      <p:pic>
        <p:nvPicPr>
          <p:cNvPr id="224" name="Google Shape;224;p26" descr="New GD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5807076"/>
            <a:ext cx="1152525" cy="823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6" descr="Nokuthula logo Freeha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4150" y="5897562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2842CA0-DFD9-42D7-B51C-4DAB22702D7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402" t="15090" r="22242"/>
          <a:stretch/>
        </p:blipFill>
        <p:spPr>
          <a:xfrm>
            <a:off x="1549831" y="1906293"/>
            <a:ext cx="6989735" cy="369152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5C115EC-BD45-4407-BC0E-F660FE9D7E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2126" y="1906293"/>
            <a:ext cx="853514" cy="51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624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37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 sz="4000" b="1" dirty="0">
                <a:latin typeface="+mn-lt"/>
              </a:rPr>
              <a:t>Group 1</a:t>
            </a:r>
            <a:endParaRPr sz="4000" b="1" dirty="0">
              <a:latin typeface="+mn-lt"/>
            </a:endParaRPr>
          </a:p>
        </p:txBody>
      </p:sp>
      <p:graphicFrame>
        <p:nvGraphicFramePr>
          <p:cNvPr id="217" name="Google Shape;217;p26"/>
          <p:cNvGraphicFramePr/>
          <p:nvPr>
            <p:extLst>
              <p:ext uri="{D42A27DB-BD31-4B8C-83A1-F6EECF244321}">
                <p14:modId xmlns:p14="http://schemas.microsoft.com/office/powerpoint/2010/main" val="1309213076"/>
              </p:ext>
            </p:extLst>
          </p:nvPr>
        </p:nvGraphicFramePr>
        <p:xfrm>
          <a:off x="838200" y="1183099"/>
          <a:ext cx="10687442" cy="4543966"/>
        </p:xfrm>
        <a:graphic>
          <a:graphicData uri="http://schemas.openxmlformats.org/drawingml/2006/table">
            <a:tbl>
              <a:tblPr firstRow="1" bandRow="1">
                <a:noFill/>
                <a:tableStyleId>{330BCD33-C161-4208-AC61-B0164F5026FD}</a:tableStyleId>
              </a:tblPr>
              <a:tblGrid>
                <a:gridCol w="10687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4396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2400" b="0" dirty="0">
                          <a:solidFill>
                            <a:schemeClr val="tx1"/>
                          </a:solidFill>
                          <a:latin typeface="+mn-lt"/>
                        </a:rPr>
                        <a:t>Task 1: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+mn-lt"/>
                        </a:rPr>
                        <a:t> Look at the picture and talk about how old you are.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ZA" sz="1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ZA" sz="1800" b="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8" name="Google Shape;218;p26"/>
          <p:cNvSpPr txBox="1">
            <a:spLocks noGrp="1"/>
          </p:cNvSpPr>
          <p:nvPr>
            <p:ph type="ftr" idx="11"/>
          </p:nvPr>
        </p:nvSpPr>
        <p:spPr>
          <a:xfrm>
            <a:off x="838200" y="5727064"/>
            <a:ext cx="10686144" cy="994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15</a:t>
            </a:fld>
            <a:endParaRPr/>
          </a:p>
        </p:txBody>
      </p:sp>
      <p:pic>
        <p:nvPicPr>
          <p:cNvPr id="224" name="Google Shape;224;p26" descr="New GD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5807076"/>
            <a:ext cx="1152525" cy="823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6" descr="Nokuthula logo Freeha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4150" y="5897562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3720DD-9333-4233-946E-0AB036BCE0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5686" y="2944914"/>
            <a:ext cx="3595607" cy="24534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88BF45-BC18-43D0-866E-0DE9C129C0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5749837" y="1846913"/>
            <a:ext cx="346163" cy="141034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E016999-5739-4050-99B3-655567C392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5065362" y="2159493"/>
            <a:ext cx="346163" cy="141034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0ED45A6-5AB3-4449-88D1-364836966D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6044471" y="2018654"/>
            <a:ext cx="325465" cy="141034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5DDB9AB-31B9-45BF-9A66-9DA9839498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6744922" y="2159493"/>
            <a:ext cx="346163" cy="141034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CBE1D56-B380-403A-8ADF-351ED24859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6368511" y="1784921"/>
            <a:ext cx="346163" cy="141034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2F272D0-F2BF-46C7-9E34-C2FAA4486A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6071502" y="2360884"/>
            <a:ext cx="346163" cy="1410346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704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ZA" sz="3200" b="1" dirty="0"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ZA" sz="4000" b="1" dirty="0">
                <a:latin typeface="Arial"/>
                <a:ea typeface="Arial"/>
                <a:cs typeface="Arial"/>
                <a:sym typeface="Arial"/>
              </a:rPr>
              <a:t>Group 2	</a:t>
            </a:r>
            <a:r>
              <a:rPr lang="en-ZA" sz="3200" b="1" dirty="0">
                <a:latin typeface="Arial"/>
                <a:ea typeface="Arial"/>
                <a:cs typeface="Arial"/>
                <a:sym typeface="Arial"/>
              </a:rPr>
              <a:t>			</a:t>
            </a:r>
            <a:endParaRPr dirty="0"/>
          </a:p>
        </p:txBody>
      </p:sp>
      <p:sp>
        <p:nvSpPr>
          <p:cNvPr id="231" name="Google Shape;231;p27"/>
          <p:cNvSpPr txBox="1">
            <a:spLocks noGrp="1"/>
          </p:cNvSpPr>
          <p:nvPr>
            <p:ph type="ftr" idx="11"/>
          </p:nvPr>
        </p:nvSpPr>
        <p:spPr>
          <a:xfrm>
            <a:off x="838200" y="5747658"/>
            <a:ext cx="10515600" cy="973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16</a:t>
            </a:fld>
            <a:endParaRPr/>
          </a:p>
        </p:txBody>
      </p:sp>
      <p:sp>
        <p:nvSpPr>
          <p:cNvPr id="232" name="Google Shape;232;p27"/>
          <p:cNvSpPr txBox="1">
            <a:spLocks noGrp="1"/>
          </p:cNvSpPr>
          <p:nvPr>
            <p:ph type="body" idx="1"/>
          </p:nvPr>
        </p:nvSpPr>
        <p:spPr>
          <a:xfrm>
            <a:off x="838200" y="1219288"/>
            <a:ext cx="10515600" cy="495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ZA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 1: Colour 20 crowns.</a:t>
            </a:r>
            <a:endParaRPr sz="2400" dirty="0"/>
          </a:p>
        </p:txBody>
      </p:sp>
      <p:pic>
        <p:nvPicPr>
          <p:cNvPr id="234" name="Google Shape;234;p27" descr="New GD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5807076"/>
            <a:ext cx="1152525" cy="823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7" descr="Nokuthula logo Freeha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4150" y="5897562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85C35B-C28C-4AF5-B4C2-A4C44823058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0000" t="11962"/>
          <a:stretch/>
        </p:blipFill>
        <p:spPr>
          <a:xfrm>
            <a:off x="2820691" y="1797804"/>
            <a:ext cx="6602277" cy="40997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856383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704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ZA" sz="3200" b="1" dirty="0"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ZA" sz="4000" b="1" dirty="0">
                <a:latin typeface="Arial"/>
                <a:ea typeface="Arial"/>
                <a:cs typeface="Arial"/>
                <a:sym typeface="Arial"/>
              </a:rPr>
              <a:t>Group 2	</a:t>
            </a:r>
            <a:r>
              <a:rPr lang="en-ZA" sz="3200" b="1" dirty="0">
                <a:latin typeface="Arial"/>
                <a:ea typeface="Arial"/>
                <a:cs typeface="Arial"/>
                <a:sym typeface="Arial"/>
              </a:rPr>
              <a:t>			</a:t>
            </a:r>
            <a:endParaRPr dirty="0"/>
          </a:p>
        </p:txBody>
      </p:sp>
      <p:sp>
        <p:nvSpPr>
          <p:cNvPr id="231" name="Google Shape;231;p27"/>
          <p:cNvSpPr txBox="1">
            <a:spLocks noGrp="1"/>
          </p:cNvSpPr>
          <p:nvPr>
            <p:ph type="ftr" idx="11"/>
          </p:nvPr>
        </p:nvSpPr>
        <p:spPr>
          <a:xfrm>
            <a:off x="838200" y="5747658"/>
            <a:ext cx="10515600" cy="973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17</a:t>
            </a:fld>
            <a:endParaRPr/>
          </a:p>
        </p:txBody>
      </p:sp>
      <p:sp>
        <p:nvSpPr>
          <p:cNvPr id="232" name="Google Shape;232;p27"/>
          <p:cNvSpPr txBox="1">
            <a:spLocks noGrp="1"/>
          </p:cNvSpPr>
          <p:nvPr>
            <p:ph type="body" idx="1"/>
          </p:nvPr>
        </p:nvSpPr>
        <p:spPr>
          <a:xfrm>
            <a:off x="838200" y="1219288"/>
            <a:ext cx="10515600" cy="495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ZA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 2: Draw candles on this cake to show how old you are.</a:t>
            </a:r>
            <a:endParaRPr sz="2400" dirty="0"/>
          </a:p>
        </p:txBody>
      </p:sp>
      <p:pic>
        <p:nvPicPr>
          <p:cNvPr id="234" name="Google Shape;234;p27" descr="New GD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5807076"/>
            <a:ext cx="1152525" cy="823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7" descr="Nokuthula logo Freeha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4150" y="5897562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EF0B62-B8B9-4FC0-93AE-C52C4CF8E4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1586" y="3022169"/>
            <a:ext cx="4370522" cy="257558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810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 sz="4000" b="1" dirty="0">
                <a:latin typeface="Arial"/>
                <a:cs typeface="Arial"/>
                <a:sym typeface="Arial"/>
              </a:rPr>
              <a:t>Group 3</a:t>
            </a:r>
            <a:endParaRPr b="1" dirty="0"/>
          </a:p>
        </p:txBody>
      </p:sp>
      <p:sp>
        <p:nvSpPr>
          <p:cNvPr id="241" name="Google Shape;241;p28"/>
          <p:cNvSpPr txBox="1">
            <a:spLocks noGrp="1"/>
          </p:cNvSpPr>
          <p:nvPr>
            <p:ph type="body" idx="1"/>
          </p:nvPr>
        </p:nvSpPr>
        <p:spPr>
          <a:xfrm>
            <a:off x="420914" y="1175658"/>
            <a:ext cx="11364686" cy="5001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ZA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 1: Draw 20 objects.</a:t>
            </a:r>
            <a:endParaRPr sz="1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242" name="Google Shape;242;p28"/>
          <p:cNvSpPr txBox="1">
            <a:spLocks noGrp="1"/>
          </p:cNvSpPr>
          <p:nvPr>
            <p:ph type="ftr" idx="11"/>
          </p:nvPr>
        </p:nvSpPr>
        <p:spPr>
          <a:xfrm>
            <a:off x="595086" y="5682342"/>
            <a:ext cx="11190514" cy="103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18</a:t>
            </a:fld>
            <a:endParaRPr/>
          </a:p>
        </p:txBody>
      </p:sp>
      <p:pic>
        <p:nvPicPr>
          <p:cNvPr id="251" name="Google Shape;251;p28" descr="New GD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5807076"/>
            <a:ext cx="1152525" cy="823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8" descr="Nokuthula logo Freeha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4150" y="5897562"/>
            <a:ext cx="1009650" cy="7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810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 sz="4000" b="1" dirty="0">
                <a:latin typeface="Arial"/>
                <a:cs typeface="Arial"/>
                <a:sym typeface="Arial"/>
              </a:rPr>
              <a:t>Group 3</a:t>
            </a:r>
            <a:endParaRPr b="1" dirty="0"/>
          </a:p>
        </p:txBody>
      </p:sp>
      <p:sp>
        <p:nvSpPr>
          <p:cNvPr id="241" name="Google Shape;241;p28"/>
          <p:cNvSpPr txBox="1">
            <a:spLocks noGrp="1"/>
          </p:cNvSpPr>
          <p:nvPr>
            <p:ph type="body" idx="1"/>
          </p:nvPr>
        </p:nvSpPr>
        <p:spPr>
          <a:xfrm>
            <a:off x="420914" y="1175658"/>
            <a:ext cx="11364686" cy="5001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ZA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 2: Draw a cake with candles to show how old you are.</a:t>
            </a:r>
            <a:endParaRPr sz="1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242" name="Google Shape;242;p28"/>
          <p:cNvSpPr txBox="1">
            <a:spLocks noGrp="1"/>
          </p:cNvSpPr>
          <p:nvPr>
            <p:ph type="ftr" idx="11"/>
          </p:nvPr>
        </p:nvSpPr>
        <p:spPr>
          <a:xfrm>
            <a:off x="595086" y="5682342"/>
            <a:ext cx="11190514" cy="103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19</a:t>
            </a:fld>
            <a:endParaRPr/>
          </a:p>
        </p:txBody>
      </p:sp>
      <p:pic>
        <p:nvPicPr>
          <p:cNvPr id="251" name="Google Shape;251;p28" descr="New GD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5807076"/>
            <a:ext cx="1152525" cy="823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8" descr="Nokuthula logo Freeha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4150" y="5897562"/>
            <a:ext cx="1009650" cy="733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948980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191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br>
              <a:rPr lang="en-ZA" sz="4000" b="1" dirty="0">
                <a:latin typeface="Arial"/>
                <a:ea typeface="Arial"/>
                <a:cs typeface="Arial"/>
                <a:sym typeface="Arial"/>
              </a:rPr>
            </a:br>
            <a:r>
              <a:rPr lang="en-ZA" sz="4000" b="1" dirty="0">
                <a:latin typeface="Arial"/>
                <a:ea typeface="Arial"/>
                <a:cs typeface="Arial"/>
                <a:sym typeface="Arial"/>
              </a:rPr>
              <a:t>Week 4				</a:t>
            </a:r>
            <a:endParaRPr dirty="0"/>
          </a:p>
        </p:txBody>
      </p:sp>
      <p:sp>
        <p:nvSpPr>
          <p:cNvPr id="258" name="Google Shape;258;p29"/>
          <p:cNvSpPr txBox="1">
            <a:spLocks noGrp="1"/>
          </p:cNvSpPr>
          <p:nvPr>
            <p:ph type="body" idx="1"/>
          </p:nvPr>
        </p:nvSpPr>
        <p:spPr>
          <a:xfrm>
            <a:off x="831850" y="3921071"/>
            <a:ext cx="10515600" cy="216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Solve simple word problems in context involving, equal sharing and grouping up to 10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GB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Describe, sort and compare 3D objects in terms of: size, colour and shape</a:t>
            </a: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259" name="Google Shape;259;p29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20</a:t>
            </a:fld>
            <a:endParaRPr/>
          </a:p>
        </p:txBody>
      </p:sp>
      <p:pic>
        <p:nvPicPr>
          <p:cNvPr id="261" name="Google Shape;261;p29" descr="New GD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5915078"/>
            <a:ext cx="1152525" cy="823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9" descr="Nokuthula logo Freeha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4150" y="5913067"/>
            <a:ext cx="1009650" cy="7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0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515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 sz="4000" b="1" dirty="0">
                <a:latin typeface="Arial"/>
                <a:ea typeface="Arial"/>
                <a:cs typeface="Arial"/>
                <a:sym typeface="Arial"/>
              </a:rPr>
              <a:t>Group 1 				</a:t>
            </a:r>
            <a:endParaRPr sz="4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0"/>
          <p:cNvSpPr txBox="1">
            <a:spLocks noGrp="1"/>
          </p:cNvSpPr>
          <p:nvPr>
            <p:ph type="body" idx="1"/>
          </p:nvPr>
        </p:nvSpPr>
        <p:spPr>
          <a:xfrm>
            <a:off x="838200" y="880157"/>
            <a:ext cx="10515600" cy="5296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 dirty="0">
                <a:latin typeface="Arial"/>
                <a:ea typeface="Arial"/>
                <a:cs typeface="Arial"/>
                <a:sym typeface="Arial"/>
              </a:rPr>
              <a:t>Task : Group the counters into 2 equal groups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269" name="Google Shape;269;p30"/>
          <p:cNvSpPr txBox="1">
            <a:spLocks noGrp="1"/>
          </p:cNvSpPr>
          <p:nvPr>
            <p:ph type="ftr" idx="11"/>
          </p:nvPr>
        </p:nvSpPr>
        <p:spPr>
          <a:xfrm>
            <a:off x="711200" y="5977843"/>
            <a:ext cx="10642600" cy="743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21</a:t>
            </a:fld>
            <a:endParaRPr/>
          </a:p>
        </p:txBody>
      </p:sp>
      <p:pic>
        <p:nvPicPr>
          <p:cNvPr id="270" name="Google Shape;270;p30" descr="New GD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5915078"/>
            <a:ext cx="1152525" cy="823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0" descr="Nokuthula logo Freeha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4150" y="5971609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511CE57-437A-41D1-88A7-60746B531AA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66509"/>
          <a:stretch/>
        </p:blipFill>
        <p:spPr>
          <a:xfrm>
            <a:off x="1737101" y="1829481"/>
            <a:ext cx="3594315" cy="26037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9E99B7-95E9-426B-B90F-B3A63CB51A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8291" y="1689315"/>
            <a:ext cx="2076773" cy="260371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0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515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 sz="4000" b="1" dirty="0">
                <a:latin typeface="Arial"/>
                <a:ea typeface="Arial"/>
                <a:cs typeface="Arial"/>
                <a:sym typeface="Arial"/>
              </a:rPr>
              <a:t>Group 1 				</a:t>
            </a:r>
            <a:endParaRPr sz="400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04D5380-532A-4D19-AF52-0F4A6C31ED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903"/>
          <a:stretch/>
        </p:blipFill>
        <p:spPr>
          <a:xfrm>
            <a:off x="3134961" y="1720312"/>
            <a:ext cx="5922078" cy="4012044"/>
          </a:xfrm>
          <a:prstGeom prst="rect">
            <a:avLst/>
          </a:prstGeom>
        </p:spPr>
      </p:pic>
      <p:sp>
        <p:nvSpPr>
          <p:cNvPr id="268" name="Google Shape;268;p30"/>
          <p:cNvSpPr txBox="1">
            <a:spLocks noGrp="1"/>
          </p:cNvSpPr>
          <p:nvPr>
            <p:ph type="body" idx="1"/>
          </p:nvPr>
        </p:nvSpPr>
        <p:spPr>
          <a:xfrm>
            <a:off x="838200" y="880157"/>
            <a:ext cx="10515600" cy="5296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ZA" dirty="0"/>
              <a:t>Task 1: Colour the balls with purple     and the boxes with yellow      .</a:t>
            </a:r>
            <a:endParaRPr dirty="0"/>
          </a:p>
        </p:txBody>
      </p:sp>
      <p:sp>
        <p:nvSpPr>
          <p:cNvPr id="269" name="Google Shape;269;p30"/>
          <p:cNvSpPr txBox="1">
            <a:spLocks noGrp="1"/>
          </p:cNvSpPr>
          <p:nvPr>
            <p:ph type="ftr" idx="11"/>
          </p:nvPr>
        </p:nvSpPr>
        <p:spPr>
          <a:xfrm>
            <a:off x="711200" y="5977843"/>
            <a:ext cx="10642600" cy="743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22</a:t>
            </a:fld>
            <a:endParaRPr dirty="0"/>
          </a:p>
        </p:txBody>
      </p:sp>
      <p:pic>
        <p:nvPicPr>
          <p:cNvPr id="270" name="Google Shape;270;p30" descr="New GDE log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5915078"/>
            <a:ext cx="1152525" cy="823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0" descr="Nokuthula logo Freehan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44150" y="5971609"/>
            <a:ext cx="1009650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Cube 32">
            <a:extLst>
              <a:ext uri="{FF2B5EF4-FFF2-40B4-BE49-F238E27FC236}">
                <a16:creationId xmlns:a16="http://schemas.microsoft.com/office/drawing/2014/main" id="{BEB98EE7-E6AF-48D0-B7E4-6995C01B39EB}"/>
              </a:ext>
            </a:extLst>
          </p:cNvPr>
          <p:cNvSpPr/>
          <p:nvPr/>
        </p:nvSpPr>
        <p:spPr>
          <a:xfrm>
            <a:off x="10344150" y="1026118"/>
            <a:ext cx="361950" cy="304800"/>
          </a:xfrm>
          <a:prstGeom prst="cub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ZA"/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26216ACE-3FB8-496B-B676-D816B5D0D1E7}"/>
              </a:ext>
            </a:extLst>
          </p:cNvPr>
          <p:cNvSpPr/>
          <p:nvPr/>
        </p:nvSpPr>
        <p:spPr>
          <a:xfrm>
            <a:off x="6082788" y="1132991"/>
            <a:ext cx="276225" cy="257175"/>
          </a:xfrm>
          <a:prstGeom prst="flowChartConnector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286125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ZA" b="1" dirty="0">
                <a:latin typeface="Arial"/>
                <a:ea typeface="Arial"/>
                <a:cs typeface="Arial"/>
                <a:sym typeface="Arial"/>
              </a:rPr>
              <a:t>Group 2	</a:t>
            </a:r>
            <a:r>
              <a:rPr lang="en-ZA" dirty="0">
                <a:latin typeface="Arial"/>
                <a:ea typeface="Arial"/>
                <a:cs typeface="Arial"/>
                <a:sym typeface="Arial"/>
              </a:rPr>
              <a:t>					</a:t>
            </a:r>
            <a:endParaRPr dirty="0"/>
          </a:p>
        </p:txBody>
      </p:sp>
      <p:sp>
        <p:nvSpPr>
          <p:cNvPr id="278" name="Google Shape;278;p31"/>
          <p:cNvSpPr txBox="1">
            <a:spLocks noGrp="1"/>
          </p:cNvSpPr>
          <p:nvPr>
            <p:ph type="body" idx="1"/>
          </p:nvPr>
        </p:nvSpPr>
        <p:spPr>
          <a:xfrm>
            <a:off x="838200" y="1045031"/>
            <a:ext cx="10515600" cy="5012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 dirty="0">
                <a:latin typeface="Arial"/>
                <a:ea typeface="Arial"/>
                <a:cs typeface="Arial"/>
                <a:sym typeface="Arial"/>
              </a:rPr>
              <a:t>Task 1: Group the counters into 2 equal groups and put a cross on the remaining counters.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1"/>
          <p:cNvSpPr txBox="1">
            <a:spLocks noGrp="1"/>
          </p:cNvSpPr>
          <p:nvPr>
            <p:ph type="ftr" idx="11"/>
          </p:nvPr>
        </p:nvSpPr>
        <p:spPr>
          <a:xfrm>
            <a:off x="838200" y="5937367"/>
            <a:ext cx="10642600" cy="919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23</a:t>
            </a:fld>
            <a:endParaRPr/>
          </a:p>
        </p:txBody>
      </p:sp>
      <p:pic>
        <p:nvPicPr>
          <p:cNvPr id="280" name="Google Shape;280;p31" descr="New GD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5937367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1" descr="Nokuthula logo Freeha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4150" y="6057499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FD326ED-F2EC-4E47-95E2-C3857D92BD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0724" y="1828800"/>
            <a:ext cx="7726713" cy="410856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ZA" b="1" dirty="0">
                <a:latin typeface="Arial"/>
                <a:ea typeface="Arial"/>
                <a:cs typeface="Arial"/>
                <a:sym typeface="Arial"/>
              </a:rPr>
              <a:t>Group 2	</a:t>
            </a:r>
            <a:r>
              <a:rPr lang="en-ZA" dirty="0">
                <a:latin typeface="Arial"/>
                <a:ea typeface="Arial"/>
                <a:cs typeface="Arial"/>
                <a:sym typeface="Arial"/>
              </a:rPr>
              <a:t>					</a:t>
            </a:r>
            <a:endParaRPr dirty="0"/>
          </a:p>
        </p:txBody>
      </p:sp>
      <p:sp>
        <p:nvSpPr>
          <p:cNvPr id="278" name="Google Shape;278;p31"/>
          <p:cNvSpPr txBox="1">
            <a:spLocks noGrp="1"/>
          </p:cNvSpPr>
          <p:nvPr>
            <p:ph type="body" idx="1"/>
          </p:nvPr>
        </p:nvSpPr>
        <p:spPr>
          <a:xfrm>
            <a:off x="838200" y="1045031"/>
            <a:ext cx="10515600" cy="5012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 dirty="0">
                <a:latin typeface="Arial"/>
                <a:ea typeface="Arial"/>
                <a:cs typeface="Arial"/>
                <a:sym typeface="Arial"/>
              </a:rPr>
              <a:t>Task 2: </a:t>
            </a:r>
            <a:r>
              <a:rPr lang="en-GB" sz="2400" dirty="0">
                <a:latin typeface="Arial"/>
                <a:ea typeface="Arial"/>
                <a:cs typeface="Arial"/>
                <a:sym typeface="Arial"/>
              </a:rPr>
              <a:t>Trace and colour all balls        purple and the boxes        yellow.</a:t>
            </a:r>
            <a:r>
              <a:rPr lang="en-ZA" sz="2400" dirty="0"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1"/>
          <p:cNvSpPr txBox="1">
            <a:spLocks noGrp="1"/>
          </p:cNvSpPr>
          <p:nvPr>
            <p:ph type="ftr" idx="11"/>
          </p:nvPr>
        </p:nvSpPr>
        <p:spPr>
          <a:xfrm>
            <a:off x="838200" y="5937367"/>
            <a:ext cx="10642600" cy="919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24</a:t>
            </a:fld>
            <a:endParaRPr/>
          </a:p>
        </p:txBody>
      </p:sp>
      <p:pic>
        <p:nvPicPr>
          <p:cNvPr id="280" name="Google Shape;280;p31" descr="New GD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5937367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1" descr="Nokuthula logo Freeha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4150" y="6057499"/>
            <a:ext cx="1009650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D7BE6D79-84F0-46AC-8357-F2D350158A13}"/>
              </a:ext>
            </a:extLst>
          </p:cNvPr>
          <p:cNvSpPr/>
          <p:nvPr/>
        </p:nvSpPr>
        <p:spPr>
          <a:xfrm>
            <a:off x="5716453" y="1058952"/>
            <a:ext cx="276225" cy="257175"/>
          </a:xfrm>
          <a:prstGeom prst="flowChartConnector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ZA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3017445B-4270-4AB4-87BD-4D2ECF4C4CC2}"/>
              </a:ext>
            </a:extLst>
          </p:cNvPr>
          <p:cNvSpPr/>
          <p:nvPr/>
        </p:nvSpPr>
        <p:spPr>
          <a:xfrm>
            <a:off x="9150781" y="1139915"/>
            <a:ext cx="361950" cy="304800"/>
          </a:xfrm>
          <a:prstGeom prst="cub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ZA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78567B5-9FD5-4EBE-A42A-C27BFA755F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0725" y="1539600"/>
            <a:ext cx="8353425" cy="4953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0846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825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 sz="4000" b="1" dirty="0">
                <a:latin typeface="Arial"/>
                <a:ea typeface="Arial"/>
                <a:cs typeface="Arial"/>
                <a:sym typeface="Arial"/>
              </a:rPr>
              <a:t>Group 3</a:t>
            </a:r>
            <a:endParaRPr dirty="0"/>
          </a:p>
        </p:txBody>
      </p:sp>
      <p:sp>
        <p:nvSpPr>
          <p:cNvPr id="296" name="Google Shape;296;p32"/>
          <p:cNvSpPr txBox="1">
            <a:spLocks noGrp="1"/>
          </p:cNvSpPr>
          <p:nvPr>
            <p:ph type="body" idx="1"/>
          </p:nvPr>
        </p:nvSpPr>
        <p:spPr>
          <a:xfrm>
            <a:off x="838200" y="1190172"/>
            <a:ext cx="10515600" cy="498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 dirty="0">
                <a:latin typeface="Arial"/>
                <a:ea typeface="Arial"/>
                <a:cs typeface="Arial"/>
                <a:sym typeface="Arial"/>
              </a:rPr>
              <a:t>Task 1: Circle the fruit and animals to share them equally.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2"/>
          <p:cNvSpPr txBox="1">
            <a:spLocks noGrp="1"/>
          </p:cNvSpPr>
          <p:nvPr>
            <p:ph type="ftr" idx="11"/>
          </p:nvPr>
        </p:nvSpPr>
        <p:spPr>
          <a:xfrm>
            <a:off x="738188" y="6036008"/>
            <a:ext cx="10615612" cy="747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25</a:t>
            </a:fld>
            <a:endParaRPr/>
          </a:p>
        </p:txBody>
      </p:sp>
      <p:pic>
        <p:nvPicPr>
          <p:cNvPr id="307" name="Google Shape;307;p32" descr="New GD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8188" y="5960461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2" descr="Nokuthula logo Freeha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4150" y="6057499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0952105-17E3-4BA6-AF78-D3D7F29585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1823" y="1720313"/>
            <a:ext cx="8896027" cy="433718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825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 sz="4000" b="1" dirty="0">
                <a:latin typeface="Arial"/>
                <a:ea typeface="Arial"/>
                <a:cs typeface="Arial"/>
                <a:sym typeface="Arial"/>
              </a:rPr>
              <a:t>Group 3</a:t>
            </a:r>
            <a:endParaRPr dirty="0"/>
          </a:p>
        </p:txBody>
      </p:sp>
      <p:sp>
        <p:nvSpPr>
          <p:cNvPr id="296" name="Google Shape;296;p32"/>
          <p:cNvSpPr txBox="1">
            <a:spLocks noGrp="1"/>
          </p:cNvSpPr>
          <p:nvPr>
            <p:ph type="body" idx="1"/>
          </p:nvPr>
        </p:nvSpPr>
        <p:spPr>
          <a:xfrm>
            <a:off x="838200" y="1190172"/>
            <a:ext cx="10515600" cy="498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2"/>
          <p:cNvSpPr txBox="1">
            <a:spLocks noGrp="1"/>
          </p:cNvSpPr>
          <p:nvPr>
            <p:ph type="ftr" idx="11"/>
          </p:nvPr>
        </p:nvSpPr>
        <p:spPr>
          <a:xfrm>
            <a:off x="738188" y="6036008"/>
            <a:ext cx="10615612" cy="747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26</a:t>
            </a:fld>
            <a:endParaRPr/>
          </a:p>
        </p:txBody>
      </p:sp>
      <p:pic>
        <p:nvPicPr>
          <p:cNvPr id="307" name="Google Shape;307;p32" descr="New GD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8188" y="5960461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2" descr="Nokuthula logo Freeha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4150" y="6057499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B534D50-7982-4911-998F-761EC46DD6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4847" y="1456841"/>
            <a:ext cx="9593451" cy="364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2628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ZA" dirty="0"/>
              <a:t>Week 5</a:t>
            </a:r>
            <a:endParaRPr dirty="0"/>
          </a:p>
        </p:txBody>
      </p:sp>
      <p:sp>
        <p:nvSpPr>
          <p:cNvPr id="314" name="Google Shape;314;p33"/>
          <p:cNvSpPr txBox="1">
            <a:spLocks noGrp="1"/>
          </p:cNvSpPr>
          <p:nvPr>
            <p:ph type="subTitle" idx="1"/>
          </p:nvPr>
        </p:nvSpPr>
        <p:spPr>
          <a:xfrm>
            <a:off x="1115878" y="3602038"/>
            <a:ext cx="9949912" cy="195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9600" dirty="0">
                <a:latin typeface="Arial"/>
                <a:ea typeface="Arial"/>
                <a:cs typeface="Arial"/>
                <a:sym typeface="Arial"/>
              </a:rPr>
              <a:t>Solve simple word problems in context involving addition and subtraction with answers up to 10</a:t>
            </a: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GB" sz="9600" dirty="0">
                <a:latin typeface="Arial"/>
                <a:ea typeface="Arial"/>
                <a:cs typeface="Arial"/>
                <a:sym typeface="Arial"/>
              </a:rPr>
              <a:t>Compare and order the mass of two or more objects using a balancing scale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3"/>
          <p:cNvSpPr txBox="1">
            <a:spLocks noGrp="1"/>
          </p:cNvSpPr>
          <p:nvPr>
            <p:ph type="ftr" idx="11"/>
          </p:nvPr>
        </p:nvSpPr>
        <p:spPr>
          <a:xfrm>
            <a:off x="783771" y="5735638"/>
            <a:ext cx="10537371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27</a:t>
            </a:fld>
            <a:endParaRPr/>
          </a:p>
        </p:txBody>
      </p:sp>
      <p:pic>
        <p:nvPicPr>
          <p:cNvPr id="316" name="Google Shape;316;p33" descr="New GD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3771" y="5813231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3" descr="Nokuthula logo Freeha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11492" y="5813231"/>
            <a:ext cx="1009650" cy="7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825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 dirty="0"/>
              <a:t>Group 1</a:t>
            </a:r>
            <a:endParaRPr dirty="0"/>
          </a:p>
        </p:txBody>
      </p:sp>
      <p:sp>
        <p:nvSpPr>
          <p:cNvPr id="323" name="Google Shape;323;p34"/>
          <p:cNvSpPr txBox="1">
            <a:spLocks noGrp="1"/>
          </p:cNvSpPr>
          <p:nvPr>
            <p:ph type="body" idx="1"/>
          </p:nvPr>
        </p:nvSpPr>
        <p:spPr>
          <a:xfrm>
            <a:off x="838200" y="1190172"/>
            <a:ext cx="10515600" cy="498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dirty="0"/>
              <a:t>Task 1: Add these sweets an d then fill in the answers</a:t>
            </a:r>
            <a:endParaRPr dirty="0"/>
          </a:p>
        </p:txBody>
      </p:sp>
      <p:sp>
        <p:nvSpPr>
          <p:cNvPr id="324" name="Google Shape;324;p34"/>
          <p:cNvSpPr txBox="1">
            <a:spLocks noGrp="1"/>
          </p:cNvSpPr>
          <p:nvPr>
            <p:ph type="ftr" idx="11"/>
          </p:nvPr>
        </p:nvSpPr>
        <p:spPr>
          <a:xfrm>
            <a:off x="838199" y="5863772"/>
            <a:ext cx="10515599" cy="857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28</a:t>
            </a:fld>
            <a:endParaRPr/>
          </a:p>
        </p:txBody>
      </p:sp>
      <p:pic>
        <p:nvPicPr>
          <p:cNvPr id="325" name="Google Shape;325;p34" descr="New GD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8188" y="5960461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4" descr="Nokuthula logo Freeha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4149" y="5925911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0D90C8-C391-44D0-A198-0EF0335CFB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0713" y="1828799"/>
            <a:ext cx="7408270" cy="403497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825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 dirty="0"/>
              <a:t>Group 1</a:t>
            </a:r>
            <a:endParaRPr dirty="0"/>
          </a:p>
        </p:txBody>
      </p:sp>
      <p:sp>
        <p:nvSpPr>
          <p:cNvPr id="323" name="Google Shape;323;p34"/>
          <p:cNvSpPr txBox="1">
            <a:spLocks noGrp="1"/>
          </p:cNvSpPr>
          <p:nvPr>
            <p:ph type="body" idx="1"/>
          </p:nvPr>
        </p:nvSpPr>
        <p:spPr>
          <a:xfrm>
            <a:off x="838200" y="1190172"/>
            <a:ext cx="10515600" cy="498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dirty="0"/>
              <a:t>Task 2: </a:t>
            </a:r>
            <a:r>
              <a:rPr lang="en-GB" dirty="0"/>
              <a:t>Circle the container that is heavier</a:t>
            </a:r>
            <a:endParaRPr dirty="0"/>
          </a:p>
        </p:txBody>
      </p:sp>
      <p:sp>
        <p:nvSpPr>
          <p:cNvPr id="324" name="Google Shape;324;p34"/>
          <p:cNvSpPr txBox="1">
            <a:spLocks noGrp="1"/>
          </p:cNvSpPr>
          <p:nvPr>
            <p:ph type="ftr" idx="11"/>
          </p:nvPr>
        </p:nvSpPr>
        <p:spPr>
          <a:xfrm>
            <a:off x="838199" y="5863772"/>
            <a:ext cx="10515599" cy="857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29</a:t>
            </a:fld>
            <a:endParaRPr/>
          </a:p>
        </p:txBody>
      </p:sp>
      <p:pic>
        <p:nvPicPr>
          <p:cNvPr id="325" name="Google Shape;325;p34" descr="New GD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8188" y="5960461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4" descr="Nokuthula logo Freeha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4149" y="5925911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00321F-1CBB-4138-8B7D-27F2321D72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861" y="2015218"/>
            <a:ext cx="9073287" cy="300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248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810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 dirty="0"/>
              <a:t>Group 2</a:t>
            </a:r>
            <a:endParaRPr dirty="0"/>
          </a:p>
        </p:txBody>
      </p:sp>
      <p:sp>
        <p:nvSpPr>
          <p:cNvPr id="332" name="Google Shape;332;p35"/>
          <p:cNvSpPr txBox="1">
            <a:spLocks noGrp="1"/>
          </p:cNvSpPr>
          <p:nvPr>
            <p:ph type="body" idx="1"/>
          </p:nvPr>
        </p:nvSpPr>
        <p:spPr>
          <a:xfrm>
            <a:off x="838200" y="1335314"/>
            <a:ext cx="10515600" cy="4484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 dirty="0">
                <a:latin typeface="Arial"/>
                <a:ea typeface="Arial"/>
                <a:cs typeface="Arial"/>
                <a:sym typeface="Arial"/>
              </a:rPr>
              <a:t>Task 1: Add the numbers.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5"/>
          <p:cNvSpPr txBox="1">
            <a:spLocks noGrp="1"/>
          </p:cNvSpPr>
          <p:nvPr>
            <p:ph type="ftr" idx="11"/>
          </p:nvPr>
        </p:nvSpPr>
        <p:spPr>
          <a:xfrm>
            <a:off x="464457" y="5820230"/>
            <a:ext cx="11248571" cy="901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30</a:t>
            </a:fld>
            <a:endParaRPr dirty="0"/>
          </a:p>
        </p:txBody>
      </p:sp>
      <p:pic>
        <p:nvPicPr>
          <p:cNvPr id="334" name="Google Shape;334;p35" descr="New GD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8972" y="5890825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35" descr="Nokuthula logo Freeha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8322" y="5890825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88E20D-3EEA-4227-AC6D-DCF52EFEA4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952786"/>
            <a:ext cx="10227590" cy="371959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825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 dirty="0"/>
              <a:t>Group 1</a:t>
            </a:r>
            <a:endParaRPr dirty="0"/>
          </a:p>
        </p:txBody>
      </p:sp>
      <p:sp>
        <p:nvSpPr>
          <p:cNvPr id="323" name="Google Shape;323;p34"/>
          <p:cNvSpPr txBox="1">
            <a:spLocks noGrp="1"/>
          </p:cNvSpPr>
          <p:nvPr>
            <p:ph type="body" idx="1"/>
          </p:nvPr>
        </p:nvSpPr>
        <p:spPr>
          <a:xfrm>
            <a:off x="838200" y="1190172"/>
            <a:ext cx="10515600" cy="498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 dirty="0">
                <a:latin typeface="+mn-lt"/>
              </a:rPr>
              <a:t>Task 2: </a:t>
            </a:r>
            <a:r>
              <a:rPr lang="en-GB" sz="2400" dirty="0">
                <a:latin typeface="+mn-lt"/>
              </a:rPr>
              <a:t>Count the blocks in each container. Then  circle the container that is lighter.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GB" sz="2400" dirty="0">
              <a:latin typeface="+mn-lt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>
              <a:latin typeface="+mn-lt"/>
            </a:endParaRPr>
          </a:p>
        </p:txBody>
      </p:sp>
      <p:sp>
        <p:nvSpPr>
          <p:cNvPr id="324" name="Google Shape;324;p34"/>
          <p:cNvSpPr txBox="1">
            <a:spLocks noGrp="1"/>
          </p:cNvSpPr>
          <p:nvPr>
            <p:ph type="ftr" idx="11"/>
          </p:nvPr>
        </p:nvSpPr>
        <p:spPr>
          <a:xfrm>
            <a:off x="838199" y="5863772"/>
            <a:ext cx="10515599" cy="857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31</a:t>
            </a:fld>
            <a:endParaRPr/>
          </a:p>
        </p:txBody>
      </p:sp>
      <p:pic>
        <p:nvPicPr>
          <p:cNvPr id="325" name="Google Shape;325;p34" descr="New GD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8188" y="5960461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4" descr="Nokuthula logo Freeha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4149" y="5925911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666C9FA-0FEB-4067-A06B-83AFDB47F6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8834" y="2311966"/>
            <a:ext cx="8632557" cy="17485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7E3CD7-2B54-409A-B67B-82043B5665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8834" y="4098699"/>
            <a:ext cx="8825315" cy="1695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8843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6"/>
          <p:cNvSpPr txBox="1">
            <a:spLocks noGrp="1"/>
          </p:cNvSpPr>
          <p:nvPr>
            <p:ph type="title"/>
          </p:nvPr>
        </p:nvSpPr>
        <p:spPr>
          <a:xfrm>
            <a:off x="838200" y="136525"/>
            <a:ext cx="10515600" cy="100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br>
              <a:rPr lang="en-ZA" sz="3600" dirty="0">
                <a:latin typeface="Arial"/>
                <a:ea typeface="Arial"/>
                <a:cs typeface="Arial"/>
                <a:sym typeface="Arial"/>
              </a:rPr>
            </a:br>
            <a:br>
              <a:rPr lang="en-ZA" sz="3600" dirty="0">
                <a:latin typeface="Arial"/>
                <a:ea typeface="Arial"/>
                <a:cs typeface="Arial"/>
                <a:sym typeface="Arial"/>
              </a:rPr>
            </a:br>
            <a:br>
              <a:rPr lang="en-ZA" sz="3600" b="1" dirty="0">
                <a:latin typeface="Arial"/>
                <a:ea typeface="Arial"/>
                <a:cs typeface="Arial"/>
                <a:sym typeface="Arial"/>
              </a:rPr>
            </a:br>
            <a:r>
              <a:rPr lang="en-ZA" sz="3600" b="1" dirty="0">
                <a:latin typeface="Arial"/>
                <a:ea typeface="Arial"/>
                <a:cs typeface="Arial"/>
                <a:sym typeface="Arial"/>
              </a:rPr>
              <a:t>Group 3</a:t>
            </a:r>
            <a:br>
              <a:rPr lang="en-ZA" sz="3600" dirty="0">
                <a:latin typeface="Arial"/>
                <a:ea typeface="Arial"/>
                <a:cs typeface="Arial"/>
                <a:sym typeface="Arial"/>
              </a:rPr>
            </a:br>
            <a:br>
              <a:rPr lang="en-ZA" sz="4400" dirty="0">
                <a:latin typeface="Arial"/>
                <a:ea typeface="Arial"/>
                <a:cs typeface="Arial"/>
                <a:sym typeface="Arial"/>
              </a:rPr>
            </a:br>
            <a:endParaRPr dirty="0"/>
          </a:p>
        </p:txBody>
      </p:sp>
      <p:sp>
        <p:nvSpPr>
          <p:cNvPr id="342" name="Google Shape;342;p36"/>
          <p:cNvSpPr txBox="1">
            <a:spLocks noGrp="1"/>
          </p:cNvSpPr>
          <p:nvPr>
            <p:ph type="ftr" idx="11"/>
          </p:nvPr>
        </p:nvSpPr>
        <p:spPr>
          <a:xfrm>
            <a:off x="838201" y="6072642"/>
            <a:ext cx="10395856" cy="648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32</a:t>
            </a:fld>
            <a:endParaRPr/>
          </a:p>
        </p:txBody>
      </p:sp>
      <p:pic>
        <p:nvPicPr>
          <p:cNvPr id="343" name="Google Shape;343;p36" descr="New GD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5960273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36" descr="Nokuthula logo Freeha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4150" y="6057499"/>
            <a:ext cx="1009650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FAF27-0223-408E-B6AA-F52AB247B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53782"/>
            <a:ext cx="10515600" cy="4923181"/>
          </a:xfrm>
        </p:spPr>
        <p:txBody>
          <a:bodyPr/>
          <a:lstStyle/>
          <a:p>
            <a:pPr marL="114300" indent="0">
              <a:buNone/>
            </a:pPr>
            <a:r>
              <a:rPr lang="en-ZA" dirty="0"/>
              <a:t>Task 1: Add the numbers</a:t>
            </a:r>
          </a:p>
          <a:p>
            <a:pPr marL="114300" indent="0">
              <a:buNone/>
            </a:pPr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DBD0CC-505A-4F25-83D0-EF125FAD71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5720" y="1844297"/>
            <a:ext cx="7888637" cy="433266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6"/>
          <p:cNvSpPr txBox="1">
            <a:spLocks noGrp="1"/>
          </p:cNvSpPr>
          <p:nvPr>
            <p:ph type="title"/>
          </p:nvPr>
        </p:nvSpPr>
        <p:spPr>
          <a:xfrm>
            <a:off x="838200" y="136525"/>
            <a:ext cx="10515600" cy="100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br>
              <a:rPr lang="en-ZA" sz="3600" dirty="0">
                <a:latin typeface="Arial"/>
                <a:ea typeface="Arial"/>
                <a:cs typeface="Arial"/>
                <a:sym typeface="Arial"/>
              </a:rPr>
            </a:br>
            <a:br>
              <a:rPr lang="en-ZA" sz="3600" dirty="0">
                <a:latin typeface="Arial"/>
                <a:ea typeface="Arial"/>
                <a:cs typeface="Arial"/>
                <a:sym typeface="Arial"/>
              </a:rPr>
            </a:br>
            <a:br>
              <a:rPr lang="en-ZA" sz="3600" b="1" dirty="0">
                <a:latin typeface="Arial"/>
                <a:ea typeface="Arial"/>
                <a:cs typeface="Arial"/>
                <a:sym typeface="Arial"/>
              </a:rPr>
            </a:br>
            <a:r>
              <a:rPr lang="en-ZA" sz="3600" b="1" dirty="0">
                <a:latin typeface="Arial"/>
                <a:ea typeface="Arial"/>
                <a:cs typeface="Arial"/>
                <a:sym typeface="Arial"/>
              </a:rPr>
              <a:t>Group 3</a:t>
            </a:r>
            <a:br>
              <a:rPr lang="en-ZA" sz="3600" dirty="0">
                <a:latin typeface="Arial"/>
                <a:ea typeface="Arial"/>
                <a:cs typeface="Arial"/>
                <a:sym typeface="Arial"/>
              </a:rPr>
            </a:br>
            <a:br>
              <a:rPr lang="en-ZA" sz="4400" dirty="0">
                <a:latin typeface="Arial"/>
                <a:ea typeface="Arial"/>
                <a:cs typeface="Arial"/>
                <a:sym typeface="Arial"/>
              </a:rPr>
            </a:br>
            <a:endParaRPr dirty="0"/>
          </a:p>
        </p:txBody>
      </p:sp>
      <p:sp>
        <p:nvSpPr>
          <p:cNvPr id="342" name="Google Shape;342;p36"/>
          <p:cNvSpPr txBox="1">
            <a:spLocks noGrp="1"/>
          </p:cNvSpPr>
          <p:nvPr>
            <p:ph type="ftr" idx="11"/>
          </p:nvPr>
        </p:nvSpPr>
        <p:spPr>
          <a:xfrm>
            <a:off x="838201" y="6072642"/>
            <a:ext cx="10395856" cy="648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33</a:t>
            </a:fld>
            <a:endParaRPr/>
          </a:p>
        </p:txBody>
      </p:sp>
      <p:pic>
        <p:nvPicPr>
          <p:cNvPr id="343" name="Google Shape;343;p36" descr="New GD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5960273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36" descr="Nokuthula logo Freeha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4150" y="6057499"/>
            <a:ext cx="1009650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FAF27-0223-408E-B6AA-F52AB247B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53782"/>
            <a:ext cx="10515600" cy="4923181"/>
          </a:xfrm>
        </p:spPr>
        <p:txBody>
          <a:bodyPr/>
          <a:lstStyle/>
          <a:p>
            <a:pPr marL="114300" indent="0">
              <a:buNone/>
            </a:pPr>
            <a:r>
              <a:rPr lang="en-ZA" dirty="0"/>
              <a:t>Task 1: </a:t>
            </a:r>
            <a:r>
              <a:rPr lang="en-GB" dirty="0"/>
              <a:t>Draw an object that is heavier or lighter than the blocks.</a:t>
            </a:r>
            <a:endParaRPr lang="en-ZA" dirty="0"/>
          </a:p>
          <a:p>
            <a:pPr marL="114300" indent="0">
              <a:buNone/>
            </a:pPr>
            <a:endParaRPr lang="en-Z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9A30CF-26DD-4CAA-B10B-29C6F286A1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98" y="1875294"/>
            <a:ext cx="9638655" cy="4197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3983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 dirty="0"/>
              <a:t>Week 6</a:t>
            </a:r>
            <a:endParaRPr dirty="0"/>
          </a:p>
        </p:txBody>
      </p:sp>
      <p:sp>
        <p:nvSpPr>
          <p:cNvPr id="350" name="Google Shape;350;p37"/>
          <p:cNvSpPr txBox="1">
            <a:spLocks noGrp="1"/>
          </p:cNvSpPr>
          <p:nvPr>
            <p:ph type="body" idx="1"/>
          </p:nvPr>
        </p:nvSpPr>
        <p:spPr>
          <a:xfrm>
            <a:off x="831850" y="4215539"/>
            <a:ext cx="10515600" cy="187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Addition and subtraction up to 10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GB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Use pictures to represent data in pictograph</a:t>
            </a:r>
          </a:p>
        </p:txBody>
      </p:sp>
      <p:sp>
        <p:nvSpPr>
          <p:cNvPr id="351" name="Google Shape;351;p37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34</a:t>
            </a:fld>
            <a:endParaRPr/>
          </a:p>
        </p:txBody>
      </p:sp>
      <p:pic>
        <p:nvPicPr>
          <p:cNvPr id="352" name="Google Shape;352;p37" descr="New GD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5960273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37" descr="Nokuthula logo Freeha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4150" y="5960273"/>
            <a:ext cx="1009650" cy="7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21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 sz="4000" b="1" dirty="0">
                <a:latin typeface="Arial"/>
                <a:ea typeface="Arial"/>
                <a:cs typeface="Arial"/>
                <a:sym typeface="Arial"/>
              </a:rPr>
              <a:t>Group 1</a:t>
            </a:r>
            <a:endParaRPr dirty="0"/>
          </a:p>
        </p:txBody>
      </p:sp>
      <p:sp>
        <p:nvSpPr>
          <p:cNvPr id="391" name="Google Shape;391;p40"/>
          <p:cNvSpPr txBox="1">
            <a:spLocks noGrp="1"/>
          </p:cNvSpPr>
          <p:nvPr>
            <p:ph type="body" idx="1"/>
          </p:nvPr>
        </p:nvSpPr>
        <p:spPr>
          <a:xfrm>
            <a:off x="838200" y="1190171"/>
            <a:ext cx="10515600" cy="4986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 dirty="0">
                <a:latin typeface="Arial"/>
                <a:ea typeface="Arial"/>
                <a:cs typeface="Arial"/>
                <a:sym typeface="Arial"/>
              </a:rPr>
              <a:t>Task 2: Cut and paste each animal flash card on the bus windows. 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ZA" sz="24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40"/>
          <p:cNvSpPr txBox="1">
            <a:spLocks noGrp="1"/>
          </p:cNvSpPr>
          <p:nvPr>
            <p:ph type="ftr" idx="11"/>
          </p:nvPr>
        </p:nvSpPr>
        <p:spPr>
          <a:xfrm>
            <a:off x="957943" y="5959085"/>
            <a:ext cx="10395857" cy="76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35</a:t>
            </a:fld>
            <a:endParaRPr/>
          </a:p>
        </p:txBody>
      </p:sp>
      <p:pic>
        <p:nvPicPr>
          <p:cNvPr id="401" name="Google Shape;401;p40" descr="New GD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5959085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40" descr="Nokuthula logo Freeha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4150" y="5960273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BA4CFD7-C96E-4E75-ACD6-B22A1E1035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942" y="1804987"/>
            <a:ext cx="5766061" cy="38628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EC9D848-14C9-4932-8D4E-CC14A06C7CC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588" t="10294" r="23145" b="6411"/>
          <a:stretch/>
        </p:blipFill>
        <p:spPr>
          <a:xfrm>
            <a:off x="6974237" y="1835721"/>
            <a:ext cx="4129330" cy="323196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21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 sz="4000" b="1" dirty="0">
                <a:latin typeface="Arial"/>
                <a:ea typeface="Arial"/>
                <a:cs typeface="Arial"/>
                <a:sym typeface="Arial"/>
              </a:rPr>
              <a:t>Group 1</a:t>
            </a:r>
            <a:endParaRPr dirty="0"/>
          </a:p>
        </p:txBody>
      </p:sp>
      <p:sp>
        <p:nvSpPr>
          <p:cNvPr id="391" name="Google Shape;391;p40"/>
          <p:cNvSpPr txBox="1">
            <a:spLocks noGrp="1"/>
          </p:cNvSpPr>
          <p:nvPr>
            <p:ph type="body" idx="1"/>
          </p:nvPr>
        </p:nvSpPr>
        <p:spPr>
          <a:xfrm>
            <a:off x="838200" y="1190171"/>
            <a:ext cx="10515600" cy="4986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ZA" sz="24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40"/>
          <p:cNvSpPr txBox="1">
            <a:spLocks noGrp="1"/>
          </p:cNvSpPr>
          <p:nvPr>
            <p:ph type="ftr" idx="11"/>
          </p:nvPr>
        </p:nvSpPr>
        <p:spPr>
          <a:xfrm>
            <a:off x="957943" y="5959085"/>
            <a:ext cx="10395857" cy="76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36</a:t>
            </a:fld>
            <a:endParaRPr/>
          </a:p>
        </p:txBody>
      </p:sp>
      <p:pic>
        <p:nvPicPr>
          <p:cNvPr id="401" name="Google Shape;401;p40" descr="New GD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5959085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40" descr="Nokuthula logo Freeha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4150" y="5960273"/>
            <a:ext cx="1009650" cy="733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57106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9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78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 sz="4000" b="1">
                <a:latin typeface="Arial"/>
                <a:ea typeface="Arial"/>
                <a:cs typeface="Arial"/>
                <a:sym typeface="Arial"/>
              </a:rPr>
              <a:t>GROUP 2</a:t>
            </a:r>
            <a:endParaRPr/>
          </a:p>
        </p:txBody>
      </p:sp>
      <p:sp>
        <p:nvSpPr>
          <p:cNvPr id="377" name="Google Shape;377;p39"/>
          <p:cNvSpPr txBox="1">
            <a:spLocks noGrp="1"/>
          </p:cNvSpPr>
          <p:nvPr>
            <p:ph type="ftr" idx="11"/>
          </p:nvPr>
        </p:nvSpPr>
        <p:spPr>
          <a:xfrm>
            <a:off x="838201" y="5824538"/>
            <a:ext cx="10196592" cy="896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EF6BA194-DA04-42F5-B52C-DD38FE0BA786}" type="slidenum">
              <a:rPr lang="en-ZA" smtClean="0"/>
              <a:t>37</a:t>
            </a:fld>
            <a:endParaRPr dirty="0"/>
          </a:p>
        </p:txBody>
      </p:sp>
      <p:sp>
        <p:nvSpPr>
          <p:cNvPr id="378" name="Google Shape;378;p39"/>
          <p:cNvSpPr txBox="1">
            <a:spLocks noGrp="1"/>
          </p:cNvSpPr>
          <p:nvPr>
            <p:ph type="body" idx="1"/>
          </p:nvPr>
        </p:nvSpPr>
        <p:spPr>
          <a:xfrm>
            <a:off x="838200" y="1146630"/>
            <a:ext cx="10515600" cy="5073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ZA" dirty="0"/>
              <a:t>Task 1: </a:t>
            </a:r>
            <a:r>
              <a:rPr lang="en-GB" sz="2800" dirty="0">
                <a:latin typeface="Arial"/>
                <a:ea typeface="Arial"/>
                <a:cs typeface="Arial"/>
                <a:sym typeface="Arial"/>
              </a:rPr>
              <a:t>Count  and draw circles to show the sums</a:t>
            </a:r>
            <a:r>
              <a:rPr lang="en-ZA" sz="2800" dirty="0"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77A4369-AC17-4E0F-A1AC-FA32E2E839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794579"/>
              </p:ext>
            </p:extLst>
          </p:nvPr>
        </p:nvGraphicFramePr>
        <p:xfrm>
          <a:off x="1379349" y="1611824"/>
          <a:ext cx="8780652" cy="4181717"/>
        </p:xfrm>
        <a:graphic>
          <a:graphicData uri="http://schemas.openxmlformats.org/drawingml/2006/table">
            <a:tbl>
              <a:tblPr firstRow="1" bandRow="1">
                <a:tableStyleId>{330BCD33-C161-4208-AC61-B0164F5026FD}</a:tableStyleId>
              </a:tblPr>
              <a:tblGrid>
                <a:gridCol w="4390326">
                  <a:extLst>
                    <a:ext uri="{9D8B030D-6E8A-4147-A177-3AD203B41FA5}">
                      <a16:colId xmlns:a16="http://schemas.microsoft.com/office/drawing/2014/main" val="2849157055"/>
                    </a:ext>
                  </a:extLst>
                </a:gridCol>
                <a:gridCol w="4390326">
                  <a:extLst>
                    <a:ext uri="{9D8B030D-6E8A-4147-A177-3AD203B41FA5}">
                      <a16:colId xmlns:a16="http://schemas.microsoft.com/office/drawing/2014/main" val="1718793044"/>
                    </a:ext>
                  </a:extLst>
                </a:gridCol>
              </a:tblGrid>
              <a:tr h="4181717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1637213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5701A8A1-BE3B-4513-A3CE-87EEC54A2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648" y="1642820"/>
            <a:ext cx="4324027" cy="4068550"/>
          </a:xfrm>
          <a:prstGeom prst="rect">
            <a:avLst/>
          </a:prstGeom>
        </p:spPr>
      </p:pic>
      <p:pic>
        <p:nvPicPr>
          <p:cNvPr id="16" name="Google Shape;401;p40" descr="New GDE logo">
            <a:extLst>
              <a:ext uri="{FF2B5EF4-FFF2-40B4-BE49-F238E27FC236}">
                <a16:creationId xmlns:a16="http://schemas.microsoft.com/office/drawing/2014/main" id="{FF999477-77E7-419C-81CC-5021C1D553A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199" y="5851952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402;p40" descr="Nokuthula logo Freehand">
            <a:extLst>
              <a:ext uri="{FF2B5EF4-FFF2-40B4-BE49-F238E27FC236}">
                <a16:creationId xmlns:a16="http://schemas.microsoft.com/office/drawing/2014/main" id="{99CCDA66-9E2C-48E3-ACED-C22618BB9BF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84647" y="5884790"/>
            <a:ext cx="1009650" cy="7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65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 sz="4000" b="1" dirty="0">
                <a:latin typeface="Arial"/>
                <a:ea typeface="Arial"/>
                <a:cs typeface="Arial"/>
                <a:sym typeface="Arial"/>
              </a:rPr>
              <a:t>GROUP 3</a:t>
            </a:r>
            <a:endParaRPr sz="4000" dirty="0"/>
          </a:p>
        </p:txBody>
      </p:sp>
      <p:sp>
        <p:nvSpPr>
          <p:cNvPr id="367" name="Google Shape;367;p38"/>
          <p:cNvSpPr txBox="1">
            <a:spLocks noGrp="1"/>
          </p:cNvSpPr>
          <p:nvPr>
            <p:ph type="body" idx="1"/>
          </p:nvPr>
        </p:nvSpPr>
        <p:spPr>
          <a:xfrm>
            <a:off x="838200" y="1392614"/>
            <a:ext cx="10318499" cy="454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 dirty="0">
                <a:latin typeface="Arial"/>
                <a:ea typeface="Arial"/>
                <a:cs typeface="Arial"/>
                <a:sym typeface="Arial"/>
              </a:rPr>
              <a:t>Task 1: </a:t>
            </a:r>
            <a:r>
              <a:rPr lang="en-GB" sz="2400" dirty="0">
                <a:latin typeface="Arial"/>
                <a:ea typeface="Arial"/>
                <a:cs typeface="Arial"/>
                <a:sym typeface="Arial"/>
              </a:rPr>
              <a:t>Count / draw circles, read / write numbers and find the sums.</a:t>
            </a:r>
            <a:r>
              <a:rPr lang="en-ZA" sz="2400" dirty="0">
                <a:latin typeface="Arial"/>
                <a:ea typeface="Arial"/>
                <a:cs typeface="Arial"/>
                <a:sym typeface="Arial"/>
              </a:rPr>
              <a:t> 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368" name="Google Shape;368;p38"/>
          <p:cNvSpPr txBox="1">
            <a:spLocks noGrp="1"/>
          </p:cNvSpPr>
          <p:nvPr>
            <p:ph type="ftr" idx="11"/>
          </p:nvPr>
        </p:nvSpPr>
        <p:spPr>
          <a:xfrm>
            <a:off x="838200" y="5937350"/>
            <a:ext cx="10496298" cy="784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38</a:t>
            </a:fld>
            <a:endParaRPr/>
          </a:p>
        </p:txBody>
      </p:sp>
      <p:pic>
        <p:nvPicPr>
          <p:cNvPr id="370" name="Google Shape;370;p38" descr="New GD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5960273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8" descr="Nokuthula logo Freeha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4150" y="5960273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D08462-7249-49E9-981C-22F504EF7A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0644" y="1890792"/>
            <a:ext cx="8883506" cy="4246537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65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 sz="4000" b="1" dirty="0">
                <a:latin typeface="Arial"/>
                <a:ea typeface="Arial"/>
                <a:cs typeface="Arial"/>
                <a:sym typeface="Arial"/>
              </a:rPr>
              <a:t>GROUP 3</a:t>
            </a:r>
            <a:endParaRPr sz="4000" dirty="0"/>
          </a:p>
        </p:txBody>
      </p:sp>
      <p:sp>
        <p:nvSpPr>
          <p:cNvPr id="367" name="Google Shape;367;p38"/>
          <p:cNvSpPr txBox="1">
            <a:spLocks noGrp="1"/>
          </p:cNvSpPr>
          <p:nvPr>
            <p:ph type="body" idx="1"/>
          </p:nvPr>
        </p:nvSpPr>
        <p:spPr>
          <a:xfrm>
            <a:off x="838200" y="1136163"/>
            <a:ext cx="10318499" cy="480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 dirty="0">
                <a:latin typeface="Arial"/>
                <a:cs typeface="Arial"/>
                <a:sym typeface="Arial"/>
              </a:rPr>
              <a:t>Task 2: </a:t>
            </a:r>
            <a:r>
              <a:rPr lang="en-GB" sz="2400" dirty="0">
                <a:latin typeface="Arial"/>
                <a:cs typeface="Arial"/>
                <a:sym typeface="Arial"/>
              </a:rPr>
              <a:t>Some monsters are taken away. Write the subtraction sentence in the box</a:t>
            </a:r>
            <a:endParaRPr lang="en-ZA" sz="2400" dirty="0">
              <a:latin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 dirty="0">
                <a:latin typeface="Arial"/>
                <a:cs typeface="Arial"/>
                <a:sym typeface="Arial"/>
              </a:rPr>
              <a:t> </a:t>
            </a:r>
            <a:endParaRPr dirty="0"/>
          </a:p>
        </p:txBody>
      </p:sp>
      <p:sp>
        <p:nvSpPr>
          <p:cNvPr id="368" name="Google Shape;368;p38"/>
          <p:cNvSpPr txBox="1">
            <a:spLocks noGrp="1"/>
          </p:cNvSpPr>
          <p:nvPr>
            <p:ph type="ftr" idx="11"/>
          </p:nvPr>
        </p:nvSpPr>
        <p:spPr>
          <a:xfrm>
            <a:off x="838200" y="5937350"/>
            <a:ext cx="10496298" cy="784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39</a:t>
            </a:fld>
            <a:endParaRPr/>
          </a:p>
        </p:txBody>
      </p:sp>
      <p:pic>
        <p:nvPicPr>
          <p:cNvPr id="370" name="Google Shape;370;p38" descr="New GD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5960273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8" descr="Nokuthula logo Freeha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4150" y="5960273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5EFF1F-A508-4ED2-8D9A-1615593705E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3215"/>
          <a:stretch/>
        </p:blipFill>
        <p:spPr>
          <a:xfrm>
            <a:off x="2169763" y="1629857"/>
            <a:ext cx="7082725" cy="427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739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1"/>
          <p:cNvSpPr txBox="1">
            <a:spLocks noGrp="1"/>
          </p:cNvSpPr>
          <p:nvPr>
            <p:ph type="title"/>
          </p:nvPr>
        </p:nvSpPr>
        <p:spPr>
          <a:xfrm>
            <a:off x="838200" y="361269"/>
            <a:ext cx="10515600" cy="737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 sz="4000" dirty="0">
                <a:latin typeface="Arial"/>
                <a:ea typeface="Arial"/>
                <a:cs typeface="Arial"/>
                <a:sym typeface="Arial"/>
              </a:rPr>
              <a:t>Task …</a:t>
            </a:r>
            <a:endParaRPr dirty="0"/>
          </a:p>
        </p:txBody>
      </p:sp>
      <p:sp>
        <p:nvSpPr>
          <p:cNvPr id="409" name="Google Shape;409;p41"/>
          <p:cNvSpPr txBox="1">
            <a:spLocks noGrp="1"/>
          </p:cNvSpPr>
          <p:nvPr>
            <p:ph type="ftr" idx="11"/>
          </p:nvPr>
        </p:nvSpPr>
        <p:spPr>
          <a:xfrm>
            <a:off x="979714" y="5892800"/>
            <a:ext cx="10515600" cy="82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40</a:t>
            </a:fld>
            <a:endParaRPr/>
          </a:p>
        </p:txBody>
      </p:sp>
      <p:pic>
        <p:nvPicPr>
          <p:cNvPr id="410" name="Google Shape;410;p41" descr="New GD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5960273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41" descr="Nokuthula logo Freeha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4150" y="5960273"/>
            <a:ext cx="1009650" cy="7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39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 sz="4000" b="1">
                <a:latin typeface="Arial"/>
                <a:ea typeface="Arial"/>
                <a:cs typeface="Arial"/>
                <a:sym typeface="Arial"/>
              </a:rPr>
              <a:t>GROUP 3</a:t>
            </a:r>
            <a:endParaRPr/>
          </a:p>
        </p:txBody>
      </p:sp>
      <p:sp>
        <p:nvSpPr>
          <p:cNvPr id="417" name="Google Shape;417;p42"/>
          <p:cNvSpPr txBox="1">
            <a:spLocks noGrp="1"/>
          </p:cNvSpPr>
          <p:nvPr>
            <p:ph type="body" idx="1"/>
          </p:nvPr>
        </p:nvSpPr>
        <p:spPr>
          <a:xfrm>
            <a:off x="838200" y="1393371"/>
            <a:ext cx="10515600" cy="4783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2: Draw your favourite water animals.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418" name="Google Shape;418;p42"/>
          <p:cNvSpPr txBox="1">
            <a:spLocks noGrp="1"/>
          </p:cNvSpPr>
          <p:nvPr>
            <p:ph type="ftr" idx="11"/>
          </p:nvPr>
        </p:nvSpPr>
        <p:spPr>
          <a:xfrm>
            <a:off x="711200" y="5834744"/>
            <a:ext cx="10160000" cy="886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41</a:t>
            </a:fld>
            <a:endParaRPr/>
          </a:p>
        </p:txBody>
      </p:sp>
      <p:graphicFrame>
        <p:nvGraphicFramePr>
          <p:cNvPr id="419" name="Google Shape;419;p42"/>
          <p:cNvGraphicFramePr/>
          <p:nvPr/>
        </p:nvGraphicFramePr>
        <p:xfrm>
          <a:off x="1190171" y="1973943"/>
          <a:ext cx="9129475" cy="3860800"/>
        </p:xfrm>
        <a:graphic>
          <a:graphicData uri="http://schemas.openxmlformats.org/drawingml/2006/table">
            <a:tbl>
              <a:tblPr firstRow="1" bandRow="1">
                <a:noFill/>
                <a:tableStyleId>{330BCD33-C161-4208-AC61-B0164F5026FD}</a:tableStyleId>
              </a:tblPr>
              <a:tblGrid>
                <a:gridCol w="9129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6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20" name="Google Shape;420;p42" descr="New GD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5960273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42" descr="Nokuthula logo Freeha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4150" y="5960273"/>
            <a:ext cx="1009650" cy="7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endParaRPr dirty="0"/>
          </a:p>
        </p:txBody>
      </p:sp>
      <p:sp>
        <p:nvSpPr>
          <p:cNvPr id="427" name="Google Shape;427;p4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</p:txBody>
      </p:sp>
      <p:sp>
        <p:nvSpPr>
          <p:cNvPr id="428" name="Google Shape;428;p43"/>
          <p:cNvSpPr txBox="1">
            <a:spLocks noGrp="1"/>
          </p:cNvSpPr>
          <p:nvPr>
            <p:ph type="ftr" idx="11"/>
          </p:nvPr>
        </p:nvSpPr>
        <p:spPr>
          <a:xfrm>
            <a:off x="232229" y="5892800"/>
            <a:ext cx="11524341" cy="82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42</a:t>
            </a:fld>
            <a:endParaRPr/>
          </a:p>
        </p:txBody>
      </p:sp>
      <p:pic>
        <p:nvPicPr>
          <p:cNvPr id="429" name="Google Shape;429;p43" descr="Nokuthula logo Freehan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4150" y="5960273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43" descr="New GDE log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1475" y="5863047"/>
            <a:ext cx="1152525" cy="830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2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dirty="0"/>
          </a:p>
        </p:txBody>
      </p:sp>
      <p:sp>
        <p:nvSpPr>
          <p:cNvPr id="436" name="Google Shape;436;p44"/>
          <p:cNvSpPr txBox="1">
            <a:spLocks noGrp="1"/>
          </p:cNvSpPr>
          <p:nvPr>
            <p:ph type="body" idx="1"/>
          </p:nvPr>
        </p:nvSpPr>
        <p:spPr>
          <a:xfrm>
            <a:off x="838200" y="1291772"/>
            <a:ext cx="10515600" cy="4885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44"/>
          <p:cNvSpPr txBox="1">
            <a:spLocks noGrp="1"/>
          </p:cNvSpPr>
          <p:nvPr>
            <p:ph type="ftr" idx="11"/>
          </p:nvPr>
        </p:nvSpPr>
        <p:spPr>
          <a:xfrm>
            <a:off x="653143" y="5718628"/>
            <a:ext cx="10700657" cy="928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43</a:t>
            </a:fld>
            <a:endParaRPr/>
          </a:p>
        </p:txBody>
      </p:sp>
      <p:pic>
        <p:nvPicPr>
          <p:cNvPr id="438" name="Google Shape;438;p44" descr="New GD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5873187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44" descr="Nokuthula logo Freeha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4150" y="6002341"/>
            <a:ext cx="1009650" cy="688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825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 sz="4000" b="1">
                <a:latin typeface="Arial"/>
                <a:ea typeface="Arial"/>
                <a:cs typeface="Arial"/>
                <a:sym typeface="Arial"/>
              </a:rPr>
              <a:t>ASSESSMENT GOALS</a:t>
            </a:r>
            <a:endParaRPr/>
          </a:p>
        </p:txBody>
      </p:sp>
      <p:sp>
        <p:nvSpPr>
          <p:cNvPr id="445" name="Google Shape;445;p45"/>
          <p:cNvSpPr txBox="1">
            <a:spLocks noGrp="1"/>
          </p:cNvSpPr>
          <p:nvPr>
            <p:ph type="body" idx="1"/>
          </p:nvPr>
        </p:nvSpPr>
        <p:spPr>
          <a:xfrm>
            <a:off x="838200" y="1349829"/>
            <a:ext cx="10515600" cy="4827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ZA" sz="2400" dirty="0">
                <a:latin typeface="Arial"/>
                <a:ea typeface="Arial"/>
                <a:cs typeface="Arial"/>
                <a:sym typeface="Arial"/>
              </a:rPr>
              <a:t>Explain and compare the purpose of the homes of animals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45"/>
          <p:cNvSpPr txBox="1">
            <a:spLocks noGrp="1"/>
          </p:cNvSpPr>
          <p:nvPr>
            <p:ph type="ftr" idx="11"/>
          </p:nvPr>
        </p:nvSpPr>
        <p:spPr>
          <a:xfrm>
            <a:off x="464457" y="5752221"/>
            <a:ext cx="10889343" cy="930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44</a:t>
            </a:fld>
            <a:endParaRPr/>
          </a:p>
        </p:txBody>
      </p:sp>
      <p:pic>
        <p:nvPicPr>
          <p:cNvPr id="447" name="Google Shape;447;p45" descr="New GD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0485" y="5802032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45" descr="Nokuthula logo Freeha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4150" y="5899258"/>
            <a:ext cx="1009650" cy="7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955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 sz="4000" b="1">
                <a:latin typeface="Arial"/>
                <a:ea typeface="Arial"/>
                <a:cs typeface="Arial"/>
                <a:sym typeface="Arial"/>
              </a:rPr>
              <a:t>ANIMALS AND THEIR SHELTERS</a:t>
            </a:r>
            <a:endParaRPr/>
          </a:p>
        </p:txBody>
      </p:sp>
      <p:pic>
        <p:nvPicPr>
          <p:cNvPr id="454" name="Google Shape;454;p46" title="Animals and their homes | Animals home | Home of animals | Animal homes | Animal shelter for kids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697038" y="1204913"/>
            <a:ext cx="8799512" cy="497205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46"/>
          <p:cNvSpPr txBox="1">
            <a:spLocks noGrp="1"/>
          </p:cNvSpPr>
          <p:nvPr>
            <p:ph type="ftr" idx="11"/>
          </p:nvPr>
        </p:nvSpPr>
        <p:spPr>
          <a:xfrm>
            <a:off x="674914" y="5890825"/>
            <a:ext cx="10515600" cy="830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45</a:t>
            </a:fld>
            <a:endParaRPr/>
          </a:p>
        </p:txBody>
      </p:sp>
      <p:pic>
        <p:nvPicPr>
          <p:cNvPr id="456" name="Google Shape;456;p46" descr="New GDE log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5905114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46" descr="Nokuthula logo Freehan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80864" y="5939437"/>
            <a:ext cx="1009650" cy="7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7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028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 sz="4000" b="1">
                <a:latin typeface="Arial"/>
                <a:ea typeface="Arial"/>
                <a:cs typeface="Arial"/>
                <a:sym typeface="Arial"/>
              </a:rPr>
              <a:t>Group 1</a:t>
            </a:r>
            <a:endParaRPr/>
          </a:p>
        </p:txBody>
      </p:sp>
      <p:sp>
        <p:nvSpPr>
          <p:cNvPr id="463" name="Google Shape;463;p47"/>
          <p:cNvSpPr txBox="1">
            <a:spLocks noGrp="1"/>
          </p:cNvSpPr>
          <p:nvPr>
            <p:ph type="body" idx="1"/>
          </p:nvPr>
        </p:nvSpPr>
        <p:spPr>
          <a:xfrm>
            <a:off x="838200" y="1277257"/>
            <a:ext cx="10515600" cy="4943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ZA"/>
              <a:t>Task 1: Colour the animal homes below.</a:t>
            </a:r>
            <a:endParaRPr/>
          </a:p>
        </p:txBody>
      </p:sp>
      <p:sp>
        <p:nvSpPr>
          <p:cNvPr id="464" name="Google Shape;464;p47"/>
          <p:cNvSpPr txBox="1">
            <a:spLocks noGrp="1"/>
          </p:cNvSpPr>
          <p:nvPr>
            <p:ph type="ftr" idx="11"/>
          </p:nvPr>
        </p:nvSpPr>
        <p:spPr>
          <a:xfrm>
            <a:off x="943203" y="6220505"/>
            <a:ext cx="10518444" cy="59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46</a:t>
            </a:fld>
            <a:endParaRPr/>
          </a:p>
        </p:txBody>
      </p:sp>
      <p:pic>
        <p:nvPicPr>
          <p:cNvPr id="465" name="Google Shape;465;p47" descr="Image result for animal homes coloring sheet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7924" y="1986756"/>
            <a:ext cx="2276475" cy="176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3314" y="1773237"/>
            <a:ext cx="2931886" cy="2033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4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18446" y="1164943"/>
            <a:ext cx="2743201" cy="2318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4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43202" y="4027144"/>
            <a:ext cx="2046741" cy="2054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47" descr="a farm scene with animals and a barn coloring pages for kids, free ..."/>
          <p:cNvPicPr preferRelativeResize="0"/>
          <p:nvPr/>
        </p:nvPicPr>
        <p:blipFill rotWithShape="1">
          <a:blip r:embed="rId7">
            <a:alphaModFix/>
          </a:blip>
          <a:srcRect t="10228" r="11927" b="11363"/>
          <a:stretch/>
        </p:blipFill>
        <p:spPr>
          <a:xfrm>
            <a:off x="4057197" y="3901848"/>
            <a:ext cx="2743202" cy="2318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47" descr="New GDE logo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0162" y="5890825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47" descr="Nokuthula logo Freehan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344150" y="6014879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4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84901" y="3615755"/>
            <a:ext cx="2629175" cy="2329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66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 sz="4000" b="1">
                <a:latin typeface="Arial"/>
                <a:ea typeface="Arial"/>
                <a:cs typeface="Arial"/>
                <a:sym typeface="Arial"/>
              </a:rPr>
              <a:t>GROUP 1</a:t>
            </a:r>
            <a:endParaRPr/>
          </a:p>
        </p:txBody>
      </p:sp>
      <p:sp>
        <p:nvSpPr>
          <p:cNvPr id="478" name="Google Shape;478;p48"/>
          <p:cNvSpPr txBox="1">
            <a:spLocks noGrp="1"/>
          </p:cNvSpPr>
          <p:nvPr>
            <p:ph type="body" idx="1"/>
          </p:nvPr>
        </p:nvSpPr>
        <p:spPr>
          <a:xfrm>
            <a:off x="838200" y="1132114"/>
            <a:ext cx="10515600" cy="5044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2: Cut and paste each animal home in front of the animal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479" name="Google Shape;479;p48"/>
          <p:cNvSpPr txBox="1">
            <a:spLocks noGrp="1"/>
          </p:cNvSpPr>
          <p:nvPr>
            <p:ph type="ftr" idx="11"/>
          </p:nvPr>
        </p:nvSpPr>
        <p:spPr>
          <a:xfrm>
            <a:off x="838200" y="5902778"/>
            <a:ext cx="10628085" cy="81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47</a:t>
            </a:fld>
            <a:endParaRPr/>
          </a:p>
        </p:txBody>
      </p:sp>
      <p:pic>
        <p:nvPicPr>
          <p:cNvPr id="480" name="Google Shape;480;p48" descr="Nokuthula logo Freehan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4150" y="6014879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48" descr="New GDE log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5905114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48" descr="Animal Homes Worksheet for Grade 1-5"/>
          <p:cNvPicPr preferRelativeResize="0"/>
          <p:nvPr/>
        </p:nvPicPr>
        <p:blipFill rotWithShape="1">
          <a:blip r:embed="rId5">
            <a:alphaModFix/>
          </a:blip>
          <a:srcRect l="-997" t="21019" r="996" b="11236"/>
          <a:stretch/>
        </p:blipFill>
        <p:spPr>
          <a:xfrm>
            <a:off x="2380344" y="1640114"/>
            <a:ext cx="7170056" cy="4741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4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8200" y="2499918"/>
            <a:ext cx="9998307" cy="493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66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 sz="4000" b="1">
                <a:latin typeface="Arial"/>
                <a:ea typeface="Arial"/>
                <a:cs typeface="Arial"/>
                <a:sym typeface="Arial"/>
              </a:rPr>
              <a:t>GROUP 2</a:t>
            </a:r>
            <a:endParaRPr/>
          </a:p>
        </p:txBody>
      </p:sp>
      <p:sp>
        <p:nvSpPr>
          <p:cNvPr id="489" name="Google Shape;489;p49"/>
          <p:cNvSpPr txBox="1">
            <a:spLocks noGrp="1"/>
          </p:cNvSpPr>
          <p:nvPr>
            <p:ph type="ftr" idx="11"/>
          </p:nvPr>
        </p:nvSpPr>
        <p:spPr>
          <a:xfrm>
            <a:off x="838200" y="5961834"/>
            <a:ext cx="10849430" cy="75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49"/>
          <p:cNvSpPr txBox="1">
            <a:spLocks noGrp="1"/>
          </p:cNvSpPr>
          <p:nvPr>
            <p:ph type="body" idx="1"/>
          </p:nvPr>
        </p:nvSpPr>
        <p:spPr>
          <a:xfrm>
            <a:off x="838200" y="1132114"/>
            <a:ext cx="10515600" cy="5044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1: Match the images on the left with their corresponding images on the right.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491" name="Google Shape;491;p49" descr="Homes of Farm Animals | Turtle Diary Worksheet"/>
          <p:cNvPicPr preferRelativeResize="0"/>
          <p:nvPr/>
        </p:nvPicPr>
        <p:blipFill rotWithShape="1">
          <a:blip r:embed="rId3">
            <a:alphaModFix/>
          </a:blip>
          <a:srcRect t="3866" b="1869"/>
          <a:stretch/>
        </p:blipFill>
        <p:spPr>
          <a:xfrm>
            <a:off x="1712687" y="1741714"/>
            <a:ext cx="9100456" cy="4220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1777" y="5989893"/>
            <a:ext cx="1012024" cy="731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49" descr="New GDE logo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0162" y="5890825"/>
            <a:ext cx="1152525" cy="830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723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 sz="4000" b="1">
                <a:latin typeface="Arial"/>
                <a:ea typeface="Arial"/>
                <a:cs typeface="Arial"/>
                <a:sym typeface="Arial"/>
              </a:rPr>
              <a:t>GROUP 2</a:t>
            </a:r>
            <a:endParaRPr/>
          </a:p>
        </p:txBody>
      </p:sp>
      <p:sp>
        <p:nvSpPr>
          <p:cNvPr id="499" name="Google Shape;499;p50"/>
          <p:cNvSpPr txBox="1">
            <a:spLocks noGrp="1"/>
          </p:cNvSpPr>
          <p:nvPr>
            <p:ph type="body" idx="1"/>
          </p:nvPr>
        </p:nvSpPr>
        <p:spPr>
          <a:xfrm>
            <a:off x="838200" y="1088572"/>
            <a:ext cx="10515600" cy="5088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2: Identify the type of animal that lives each picture below.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50"/>
          <p:cNvSpPr txBox="1">
            <a:spLocks noGrp="1"/>
          </p:cNvSpPr>
          <p:nvPr>
            <p:ph type="ftr" idx="11"/>
          </p:nvPr>
        </p:nvSpPr>
        <p:spPr>
          <a:xfrm>
            <a:off x="547430" y="5979886"/>
            <a:ext cx="10614056" cy="741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49</a:t>
            </a:fld>
            <a:endParaRPr/>
          </a:p>
        </p:txBody>
      </p:sp>
      <p:pic>
        <p:nvPicPr>
          <p:cNvPr id="501" name="Google Shape;501;p50" descr="New GD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7430" y="5890824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1776" y="5989893"/>
            <a:ext cx="1037423" cy="73158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03" name="Google Shape;503;p50"/>
          <p:cNvGraphicFramePr/>
          <p:nvPr/>
        </p:nvGraphicFramePr>
        <p:xfrm>
          <a:off x="1872343" y="168365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{330BCD33-C161-4208-AC61-B0164F5026FD}</a:tableStyleId>
              </a:tblPr>
              <a:tblGrid>
                <a:gridCol w="3677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6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7150"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000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cave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8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000">
                          <a:latin typeface="Arial"/>
                          <a:ea typeface="Arial"/>
                          <a:cs typeface="Arial"/>
                          <a:sym typeface="Arial"/>
                        </a:rPr>
                        <a:t>kennel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7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000">
                          <a:latin typeface="Arial"/>
                          <a:ea typeface="Arial"/>
                          <a:cs typeface="Arial"/>
                          <a:sym typeface="Arial"/>
                        </a:rPr>
                        <a:t>den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7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000">
                          <a:latin typeface="Arial"/>
                          <a:ea typeface="Arial"/>
                          <a:cs typeface="Arial"/>
                          <a:sym typeface="Arial"/>
                        </a:rPr>
                        <a:t>pond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6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4000">
                          <a:latin typeface="Arial"/>
                          <a:ea typeface="Arial"/>
                          <a:cs typeface="Arial"/>
                          <a:sym typeface="Arial"/>
                        </a:rPr>
                        <a:t>coop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04" name="Google Shape;504;p5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17486" y="1683656"/>
            <a:ext cx="1219200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5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03666" y="3858396"/>
            <a:ext cx="11811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5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491469" y="2860819"/>
            <a:ext cx="62865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5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17486" y="4804885"/>
            <a:ext cx="1181100" cy="766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5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90511" y="5708580"/>
            <a:ext cx="1181100" cy="7842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 sz="4000" b="1">
                <a:latin typeface="Arial"/>
                <a:ea typeface="Arial"/>
                <a:cs typeface="Arial"/>
                <a:sym typeface="Arial"/>
              </a:rPr>
              <a:t>Group 3</a:t>
            </a:r>
            <a:endParaRPr/>
          </a:p>
        </p:txBody>
      </p:sp>
      <p:sp>
        <p:nvSpPr>
          <p:cNvPr id="514" name="Google Shape;514;p51"/>
          <p:cNvSpPr txBox="1">
            <a:spLocks noGrp="1"/>
          </p:cNvSpPr>
          <p:nvPr>
            <p:ph type="body" idx="1"/>
          </p:nvPr>
        </p:nvSpPr>
        <p:spPr>
          <a:xfrm>
            <a:off x="838200" y="1117600"/>
            <a:ext cx="105156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1: All living things need shelter to protect them. Tick √ the correct animal home</a:t>
            </a:r>
            <a:r>
              <a:rPr lang="en-ZA"/>
              <a:t>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515" name="Google Shape;515;p51"/>
          <p:cNvSpPr txBox="1">
            <a:spLocks noGrp="1"/>
          </p:cNvSpPr>
          <p:nvPr>
            <p:ph type="ftr" idx="11"/>
          </p:nvPr>
        </p:nvSpPr>
        <p:spPr>
          <a:xfrm>
            <a:off x="547430" y="5950858"/>
            <a:ext cx="10806371" cy="770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50</a:t>
            </a:fld>
            <a:endParaRPr/>
          </a:p>
        </p:txBody>
      </p:sp>
      <p:pic>
        <p:nvPicPr>
          <p:cNvPr id="516" name="Google Shape;516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2686" y="1870075"/>
            <a:ext cx="8606971" cy="3870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51" descr="New GDE log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7430" y="5859164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41777" y="5989893"/>
            <a:ext cx="1012024" cy="731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 sz="4000" b="1">
                <a:latin typeface="Arial"/>
                <a:ea typeface="Arial"/>
                <a:cs typeface="Arial"/>
                <a:sym typeface="Arial"/>
              </a:rPr>
              <a:t>GROUP 3</a:t>
            </a:r>
            <a:endParaRPr/>
          </a:p>
        </p:txBody>
      </p:sp>
      <p:sp>
        <p:nvSpPr>
          <p:cNvPr id="524" name="Google Shape;524;p52"/>
          <p:cNvSpPr txBox="1">
            <a:spLocks noGrp="1"/>
          </p:cNvSpPr>
          <p:nvPr>
            <p:ph type="body" idx="1"/>
          </p:nvPr>
        </p:nvSpPr>
        <p:spPr>
          <a:xfrm>
            <a:off x="838200" y="1204686"/>
            <a:ext cx="10515600" cy="5015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2: Write in the name of  the home.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5" name="Google Shape;525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60876" y="5750758"/>
            <a:ext cx="1012024" cy="731583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52"/>
          <p:cNvSpPr txBox="1">
            <a:spLocks noGrp="1"/>
          </p:cNvSpPr>
          <p:nvPr>
            <p:ph type="ftr" idx="11"/>
          </p:nvPr>
        </p:nvSpPr>
        <p:spPr>
          <a:xfrm>
            <a:off x="256660" y="5700349"/>
            <a:ext cx="11354284" cy="9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51</a:t>
            </a:fld>
            <a:endParaRPr/>
          </a:p>
        </p:txBody>
      </p:sp>
      <p:sp>
        <p:nvSpPr>
          <p:cNvPr id="527" name="Google Shape;527;p52"/>
          <p:cNvSpPr/>
          <p:nvPr/>
        </p:nvSpPr>
        <p:spPr>
          <a:xfrm>
            <a:off x="6676571" y="1107242"/>
            <a:ext cx="5515429" cy="68217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9689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1800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chicken coop	cave	coral reefs	spiderweb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8" name="Google Shape;528;p5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487" y="1740192"/>
            <a:ext cx="1143494" cy="112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5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51798" y="1851624"/>
            <a:ext cx="2047619" cy="14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5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7430" y="3308767"/>
            <a:ext cx="1743607" cy="871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5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8200" y="4503969"/>
            <a:ext cx="1713124" cy="926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5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51798" y="3468423"/>
            <a:ext cx="2047619" cy="1361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5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12085" y="4879854"/>
            <a:ext cx="2047619" cy="1438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52" descr="New GDE logo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47430" y="5859164"/>
            <a:ext cx="1152525" cy="830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ZA">
                <a:latin typeface="Arial"/>
                <a:ea typeface="Arial"/>
                <a:cs typeface="Arial"/>
                <a:sym typeface="Arial"/>
              </a:rPr>
              <a:t>Week 10</a:t>
            </a:r>
            <a:endParaRPr/>
          </a:p>
        </p:txBody>
      </p:sp>
      <p:sp>
        <p:nvSpPr>
          <p:cNvPr id="540" name="Google Shape;540;p5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ZA" sz="2200">
                <a:latin typeface="Arial"/>
                <a:ea typeface="Arial"/>
                <a:cs typeface="Arial"/>
                <a:sym typeface="Arial"/>
              </a:rPr>
              <a:t>Recognise and identify the South African coins, R1,R2, R5 and the bank notes R10, R20, R50, R100 and R200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sp>
        <p:nvSpPr>
          <p:cNvPr id="541" name="Google Shape;541;p53"/>
          <p:cNvSpPr txBox="1">
            <a:spLocks noGrp="1"/>
          </p:cNvSpPr>
          <p:nvPr>
            <p:ph type="ftr" idx="11"/>
          </p:nvPr>
        </p:nvSpPr>
        <p:spPr>
          <a:xfrm>
            <a:off x="841829" y="5735637"/>
            <a:ext cx="10624457" cy="985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52</a:t>
            </a:fld>
            <a:endParaRPr/>
          </a:p>
        </p:txBody>
      </p:sp>
      <p:pic>
        <p:nvPicPr>
          <p:cNvPr id="542" name="Google Shape;542;p53" descr="New GD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829" y="5890825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53" descr="Nokuthula logo Freeha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0521" y="5939437"/>
            <a:ext cx="1009650" cy="7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57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 sz="4000" b="1">
                <a:latin typeface="Arial"/>
                <a:ea typeface="Arial"/>
                <a:cs typeface="Arial"/>
                <a:sym typeface="Arial"/>
              </a:rPr>
              <a:t>Group 1</a:t>
            </a:r>
            <a:endParaRPr/>
          </a:p>
        </p:txBody>
      </p:sp>
      <p:sp>
        <p:nvSpPr>
          <p:cNvPr id="549" name="Google Shape;549;p54"/>
          <p:cNvSpPr txBox="1">
            <a:spLocks noGrp="1"/>
          </p:cNvSpPr>
          <p:nvPr>
            <p:ph type="body" idx="1"/>
          </p:nvPr>
        </p:nvSpPr>
        <p:spPr>
          <a:xfrm>
            <a:off x="838200" y="1567543"/>
            <a:ext cx="10515600" cy="4652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1: Say the correct value of each South African coin.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54"/>
          <p:cNvSpPr txBox="1">
            <a:spLocks noGrp="1"/>
          </p:cNvSpPr>
          <p:nvPr>
            <p:ph type="ftr" idx="11"/>
          </p:nvPr>
        </p:nvSpPr>
        <p:spPr>
          <a:xfrm>
            <a:off x="682171" y="5820229"/>
            <a:ext cx="10671629" cy="901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53</a:t>
            </a:fld>
            <a:endParaRPr/>
          </a:p>
        </p:txBody>
      </p:sp>
      <p:pic>
        <p:nvPicPr>
          <p:cNvPr id="551" name="Google Shape;551;p54" descr="Nokuthula logo Freehan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4150" y="5960273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54" descr="New GDE log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1829" y="5890825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9225" y="2414750"/>
            <a:ext cx="10976476" cy="302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 sz="4000" b="1">
                <a:latin typeface="Arial"/>
                <a:ea typeface="Arial"/>
                <a:cs typeface="Arial"/>
                <a:sym typeface="Arial"/>
              </a:rPr>
              <a:t>Group 1</a:t>
            </a:r>
            <a:endParaRPr/>
          </a:p>
        </p:txBody>
      </p:sp>
      <p:sp>
        <p:nvSpPr>
          <p:cNvPr id="559" name="Google Shape;559;p55"/>
          <p:cNvSpPr txBox="1">
            <a:spLocks noGrp="1"/>
          </p:cNvSpPr>
          <p:nvPr>
            <p:ph type="body" idx="1"/>
          </p:nvPr>
        </p:nvSpPr>
        <p:spPr>
          <a:xfrm>
            <a:off x="838200" y="1567543"/>
            <a:ext cx="10515600" cy="46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2: Say the correct value of each South African note.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55"/>
          <p:cNvSpPr txBox="1">
            <a:spLocks noGrp="1"/>
          </p:cNvSpPr>
          <p:nvPr>
            <p:ph type="ftr" idx="11"/>
          </p:nvPr>
        </p:nvSpPr>
        <p:spPr>
          <a:xfrm>
            <a:off x="682171" y="5820229"/>
            <a:ext cx="10671600" cy="9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54</a:t>
            </a:fld>
            <a:endParaRPr/>
          </a:p>
        </p:txBody>
      </p:sp>
      <p:pic>
        <p:nvPicPr>
          <p:cNvPr id="561" name="Google Shape;561;p55" descr="Nokuthula logo Freehan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4150" y="5960273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55" descr="New GDE log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1829" y="5890825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6600" y="2397463"/>
            <a:ext cx="2686050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71875" y="4319813"/>
            <a:ext cx="2800350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5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78688" y="2294000"/>
            <a:ext cx="2790825" cy="140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5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68513" y="4763175"/>
            <a:ext cx="2600325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5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02113" y="2195950"/>
            <a:ext cx="2695575" cy="136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5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57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 sz="4000" b="1">
                <a:latin typeface="Arial"/>
                <a:ea typeface="Arial"/>
                <a:cs typeface="Arial"/>
                <a:sym typeface="Arial"/>
              </a:rPr>
              <a:t>Group 2</a:t>
            </a:r>
            <a:endParaRPr/>
          </a:p>
        </p:txBody>
      </p:sp>
      <p:sp>
        <p:nvSpPr>
          <p:cNvPr id="573" name="Google Shape;573;p56"/>
          <p:cNvSpPr txBox="1">
            <a:spLocks noGrp="1"/>
          </p:cNvSpPr>
          <p:nvPr>
            <p:ph type="body" idx="1"/>
          </p:nvPr>
        </p:nvSpPr>
        <p:spPr>
          <a:xfrm>
            <a:off x="838200" y="1567543"/>
            <a:ext cx="10515600" cy="460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1: Match the coin with the correct value.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56"/>
          <p:cNvSpPr txBox="1">
            <a:spLocks noGrp="1"/>
          </p:cNvSpPr>
          <p:nvPr>
            <p:ph type="ftr" idx="11"/>
          </p:nvPr>
        </p:nvSpPr>
        <p:spPr>
          <a:xfrm>
            <a:off x="838200" y="5907315"/>
            <a:ext cx="10515600" cy="82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55</a:t>
            </a:fld>
            <a:endParaRPr/>
          </a:p>
        </p:txBody>
      </p:sp>
      <p:pic>
        <p:nvPicPr>
          <p:cNvPr id="575" name="Google Shape;575;p56" descr="New GD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5905114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56" descr="Nokuthula logo Freeha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4150" y="6014880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41025" y="1940325"/>
            <a:ext cx="7543800" cy="437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57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78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 sz="4000" b="1">
                <a:latin typeface="Arial"/>
                <a:ea typeface="Arial"/>
                <a:cs typeface="Arial"/>
                <a:sym typeface="Arial"/>
              </a:rPr>
              <a:t>GROUP 2</a:t>
            </a:r>
            <a:endParaRPr/>
          </a:p>
        </p:txBody>
      </p:sp>
      <p:sp>
        <p:nvSpPr>
          <p:cNvPr id="583" name="Google Shape;583;p57"/>
          <p:cNvSpPr txBox="1">
            <a:spLocks noGrp="1"/>
          </p:cNvSpPr>
          <p:nvPr>
            <p:ph type="body" idx="1"/>
          </p:nvPr>
        </p:nvSpPr>
        <p:spPr>
          <a:xfrm>
            <a:off x="838200" y="1146630"/>
            <a:ext cx="10515600" cy="50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2:</a:t>
            </a:r>
            <a:r>
              <a:rPr lang="en-ZA" sz="2400">
                <a:solidFill>
                  <a:srgbClr val="292526"/>
                </a:solidFill>
                <a:latin typeface="Arial"/>
                <a:ea typeface="Arial"/>
                <a:cs typeface="Arial"/>
                <a:sym typeface="Arial"/>
              </a:rPr>
              <a:t> Cut and stick the bank notes in the right place.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57"/>
          <p:cNvSpPr txBox="1">
            <a:spLocks noGrp="1"/>
          </p:cNvSpPr>
          <p:nvPr>
            <p:ph type="ftr" idx="11"/>
          </p:nvPr>
        </p:nvSpPr>
        <p:spPr>
          <a:xfrm>
            <a:off x="1074057" y="5950858"/>
            <a:ext cx="10279743" cy="770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56</a:t>
            </a:fld>
            <a:endParaRPr/>
          </a:p>
        </p:txBody>
      </p:sp>
      <p:pic>
        <p:nvPicPr>
          <p:cNvPr id="585" name="Google Shape;585;p57" descr="New GD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5905114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57" descr="Nokuthula logo Freeha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4150" y="6002340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57"/>
          <p:cNvPicPr preferRelativeResize="0"/>
          <p:nvPr/>
        </p:nvPicPr>
        <p:blipFill rotWithShape="1">
          <a:blip r:embed="rId5">
            <a:alphaModFix/>
          </a:blip>
          <a:srcRect t="5365"/>
          <a:stretch/>
        </p:blipFill>
        <p:spPr>
          <a:xfrm>
            <a:off x="1204325" y="1739600"/>
            <a:ext cx="10149474" cy="4165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5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66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 sz="4000" b="1">
                <a:latin typeface="Arial"/>
                <a:ea typeface="Arial"/>
                <a:cs typeface="Arial"/>
                <a:sym typeface="Arial"/>
              </a:rPr>
              <a:t>Task 2 cont…</a:t>
            </a:r>
            <a:endParaRPr/>
          </a:p>
        </p:txBody>
      </p:sp>
      <p:sp>
        <p:nvSpPr>
          <p:cNvPr id="593" name="Google Shape;593;p58"/>
          <p:cNvSpPr txBox="1">
            <a:spLocks noGrp="1"/>
          </p:cNvSpPr>
          <p:nvPr>
            <p:ph type="body" idx="1"/>
          </p:nvPr>
        </p:nvSpPr>
        <p:spPr>
          <a:xfrm>
            <a:off x="838200" y="1277258"/>
            <a:ext cx="10515600" cy="4899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58"/>
          <p:cNvSpPr txBox="1">
            <a:spLocks noGrp="1"/>
          </p:cNvSpPr>
          <p:nvPr>
            <p:ph type="ftr" idx="11"/>
          </p:nvPr>
        </p:nvSpPr>
        <p:spPr>
          <a:xfrm>
            <a:off x="478971" y="5580742"/>
            <a:ext cx="11117943" cy="1140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57</a:t>
            </a:fld>
            <a:endParaRPr/>
          </a:p>
        </p:txBody>
      </p:sp>
      <p:pic>
        <p:nvPicPr>
          <p:cNvPr id="595" name="Google Shape;595;p58" descr="New GDE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8971" y="5890824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58" descr="Nokuthula logo Freeha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4150" y="6002340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93750" y="1277250"/>
            <a:ext cx="5787475" cy="447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58" title="A pair of scissors vector icon | Public domain vector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800000">
            <a:off x="2893750" y="1438525"/>
            <a:ext cx="853075" cy="51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5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br>
              <a:rPr lang="en-ZA" sz="4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ZA" sz="4444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Group 3</a:t>
            </a:r>
            <a:br>
              <a:rPr lang="en-ZA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604" name="Google Shape;604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58</a:t>
            </a:fld>
            <a:endParaRPr/>
          </a:p>
        </p:txBody>
      </p:sp>
      <p:pic>
        <p:nvPicPr>
          <p:cNvPr id="605" name="Google Shape;605;p59" descr="Nokuthula logo Freehan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4150" y="6014880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59" descr="New GDE log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5905114"/>
            <a:ext cx="1152525" cy="830651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59"/>
          <p:cNvSpPr txBox="1">
            <a:spLocks noGrp="1"/>
          </p:cNvSpPr>
          <p:nvPr>
            <p:ph type="body" idx="1"/>
          </p:nvPr>
        </p:nvSpPr>
        <p:spPr>
          <a:xfrm>
            <a:off x="838200" y="1195825"/>
            <a:ext cx="10515600" cy="498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ZA"/>
              <a:t>Task 1: Write the correct value under each coin.</a:t>
            </a:r>
            <a:endParaRPr/>
          </a:p>
        </p:txBody>
      </p:sp>
      <p:pic>
        <p:nvPicPr>
          <p:cNvPr id="608" name="Google Shape;608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9250" y="2157750"/>
            <a:ext cx="10437550" cy="202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6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br>
              <a:rPr lang="en-ZA" sz="4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ZA" sz="4444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Group 3</a:t>
            </a:r>
            <a:br>
              <a:rPr lang="en-ZA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614" name="Google Shape;614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59</a:t>
            </a:fld>
            <a:endParaRPr/>
          </a:p>
        </p:txBody>
      </p:sp>
      <p:pic>
        <p:nvPicPr>
          <p:cNvPr id="615" name="Google Shape;615;p60" descr="Nokuthula logo Freehan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4150" y="6014880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60" descr="New GDE log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5905114"/>
            <a:ext cx="1152525" cy="830651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60"/>
          <p:cNvSpPr txBox="1">
            <a:spLocks noGrp="1"/>
          </p:cNvSpPr>
          <p:nvPr>
            <p:ph type="body" idx="1"/>
          </p:nvPr>
        </p:nvSpPr>
        <p:spPr>
          <a:xfrm>
            <a:off x="838200" y="1195825"/>
            <a:ext cx="10515600" cy="498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ZA"/>
              <a:t>Task 2: Write the correct value under each note.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18" name="Google Shape;618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2975" y="2733675"/>
            <a:ext cx="2686050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25175" y="4200513"/>
            <a:ext cx="2800350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6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2938" y="1775975"/>
            <a:ext cx="2790825" cy="140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6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0188" y="4334313"/>
            <a:ext cx="2600325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6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277550" y="1795013"/>
            <a:ext cx="2695575" cy="1362075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60"/>
          <p:cNvSpPr txBox="1"/>
          <p:nvPr/>
        </p:nvSpPr>
        <p:spPr>
          <a:xfrm>
            <a:off x="942413" y="3242675"/>
            <a:ext cx="2391900" cy="615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60"/>
          <p:cNvSpPr txBox="1"/>
          <p:nvPr/>
        </p:nvSpPr>
        <p:spPr>
          <a:xfrm>
            <a:off x="2081713" y="5791650"/>
            <a:ext cx="2391900" cy="615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60"/>
          <p:cNvSpPr txBox="1"/>
          <p:nvPr/>
        </p:nvSpPr>
        <p:spPr>
          <a:xfrm>
            <a:off x="4752963" y="4200525"/>
            <a:ext cx="2391900" cy="615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60"/>
          <p:cNvSpPr txBox="1"/>
          <p:nvPr/>
        </p:nvSpPr>
        <p:spPr>
          <a:xfrm>
            <a:off x="8429388" y="3121200"/>
            <a:ext cx="2391900" cy="615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60"/>
          <p:cNvSpPr txBox="1"/>
          <p:nvPr/>
        </p:nvSpPr>
        <p:spPr>
          <a:xfrm>
            <a:off x="7851138" y="5505450"/>
            <a:ext cx="2391900" cy="615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6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723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 sz="4000">
                <a:latin typeface="Arial"/>
                <a:ea typeface="Arial"/>
                <a:cs typeface="Arial"/>
                <a:sym typeface="Arial"/>
              </a:rPr>
              <a:t>Resources</a:t>
            </a:r>
            <a:endParaRPr/>
          </a:p>
        </p:txBody>
      </p:sp>
      <p:sp>
        <p:nvSpPr>
          <p:cNvPr id="693" name="Google Shape;693;p66"/>
          <p:cNvSpPr txBox="1">
            <a:spLocks noGrp="1"/>
          </p:cNvSpPr>
          <p:nvPr>
            <p:ph type="body" idx="1"/>
          </p:nvPr>
        </p:nvSpPr>
        <p:spPr>
          <a:xfrm>
            <a:off x="838200" y="1233714"/>
            <a:ext cx="10515600" cy="4943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ZA" u="sng" dirty="0">
                <a:solidFill>
                  <a:schemeClr val="hlink"/>
                </a:solidFill>
                <a:hlinkClick r:id="rId3"/>
              </a:rPr>
              <a:t>www.k5learning.com</a:t>
            </a:r>
            <a:r>
              <a:rPr lang="en-ZA" dirty="0"/>
              <a:t>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ZA" dirty="0"/>
              <a:t>www. sparklebox.co.uk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ZA" u="sng" dirty="0">
                <a:solidFill>
                  <a:schemeClr val="hlink"/>
                </a:solidFill>
                <a:hlinkClick r:id="rId4"/>
              </a:rPr>
              <a:t>www.twinkl.co.za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ZA" u="sng" dirty="0">
                <a:solidFill>
                  <a:schemeClr val="hlink"/>
                </a:solidFill>
                <a:hlinkClick r:id="rId5"/>
              </a:rPr>
              <a:t>www.Pinterest.com</a:t>
            </a:r>
            <a:r>
              <a:rPr lang="en-ZA" dirty="0"/>
              <a:t>  </a:t>
            </a:r>
            <a:endParaRPr dirty="0"/>
          </a:p>
          <a:p>
            <a:pPr marL="0" indent="0">
              <a:buSzPts val="2800"/>
              <a:buNone/>
            </a:pPr>
            <a:r>
              <a:rPr lang="en-GB" dirty="0"/>
              <a:t>DBE Mathematics grade 1 book 1 and 2</a:t>
            </a:r>
            <a:endParaRPr lang="en-ZA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ZA" dirty="0"/>
              <a:t>DBE Mathematics grade 1 book 3 and 4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ZA" dirty="0"/>
              <a:t> </a:t>
            </a:r>
            <a:endParaRPr dirty="0"/>
          </a:p>
        </p:txBody>
      </p:sp>
      <p:sp>
        <p:nvSpPr>
          <p:cNvPr id="694" name="Google Shape;694;p66"/>
          <p:cNvSpPr txBox="1">
            <a:spLocks noGrp="1"/>
          </p:cNvSpPr>
          <p:nvPr>
            <p:ph type="ftr" idx="11"/>
          </p:nvPr>
        </p:nvSpPr>
        <p:spPr>
          <a:xfrm>
            <a:off x="838200" y="5878286"/>
            <a:ext cx="10515600" cy="843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60</a:t>
            </a:fld>
            <a:endParaRPr/>
          </a:p>
        </p:txBody>
      </p:sp>
      <p:pic>
        <p:nvPicPr>
          <p:cNvPr id="695" name="Google Shape;695;p66" descr="Nokuthula logo Freehan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344150" y="5960273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66" descr="New GDE logo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1829" y="5890825"/>
            <a:ext cx="1152525" cy="830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1298</Words>
  <Application>Microsoft Office PowerPoint</Application>
  <PresentationFormat>Widescreen</PresentationFormat>
  <Paragraphs>286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6" baseType="lpstr">
      <vt:lpstr>Arial</vt:lpstr>
      <vt:lpstr>Calibri</vt:lpstr>
      <vt:lpstr>KG Primary Dots</vt:lpstr>
      <vt:lpstr>KG Primary Penmanship 2</vt:lpstr>
      <vt:lpstr>Noto Sans Symbols</vt:lpstr>
      <vt:lpstr>Office Theme</vt:lpstr>
      <vt:lpstr>MATHEMATICS GRADE 2 YEAR 2  TERM 1</vt:lpstr>
      <vt:lpstr>OUTLINE</vt:lpstr>
      <vt:lpstr>Outline cont…</vt:lpstr>
      <vt:lpstr>Week 1 &amp; 2</vt:lpstr>
      <vt:lpstr>Group 1</vt:lpstr>
      <vt:lpstr>Group 1</vt:lpstr>
      <vt:lpstr>Task 2 cont…</vt:lpstr>
      <vt:lpstr>Group 2</vt:lpstr>
      <vt:lpstr>Group 2</vt:lpstr>
      <vt:lpstr>Group 3</vt:lpstr>
      <vt:lpstr>Group 3</vt:lpstr>
      <vt:lpstr>Task 2 cont…</vt:lpstr>
      <vt:lpstr>Week 3        </vt:lpstr>
      <vt:lpstr>Group 1</vt:lpstr>
      <vt:lpstr>Group 1</vt:lpstr>
      <vt:lpstr>  Group 2    </vt:lpstr>
      <vt:lpstr>  Group 2    </vt:lpstr>
      <vt:lpstr>Group 3</vt:lpstr>
      <vt:lpstr>Group 3</vt:lpstr>
      <vt:lpstr> Week 4    </vt:lpstr>
      <vt:lpstr>Group 1     </vt:lpstr>
      <vt:lpstr>Group 1     </vt:lpstr>
      <vt:lpstr>Group 2      </vt:lpstr>
      <vt:lpstr>Group 2      </vt:lpstr>
      <vt:lpstr>Group 3</vt:lpstr>
      <vt:lpstr>Group 3</vt:lpstr>
      <vt:lpstr>Week 5</vt:lpstr>
      <vt:lpstr>Group 1</vt:lpstr>
      <vt:lpstr>Group 1</vt:lpstr>
      <vt:lpstr>Group 2</vt:lpstr>
      <vt:lpstr>Group 1</vt:lpstr>
      <vt:lpstr>   Group 3  </vt:lpstr>
      <vt:lpstr>   Group 3  </vt:lpstr>
      <vt:lpstr>Week 6</vt:lpstr>
      <vt:lpstr>Group 1</vt:lpstr>
      <vt:lpstr>Group 1</vt:lpstr>
      <vt:lpstr>GROUP 2</vt:lpstr>
      <vt:lpstr>GROUP 3</vt:lpstr>
      <vt:lpstr>GROUP 3</vt:lpstr>
      <vt:lpstr>Task …</vt:lpstr>
      <vt:lpstr>GROUP 3</vt:lpstr>
      <vt:lpstr>PowerPoint Presentation</vt:lpstr>
      <vt:lpstr>PowerPoint Presentation</vt:lpstr>
      <vt:lpstr>ASSESSMENT GOALS</vt:lpstr>
      <vt:lpstr>ANIMALS AND THEIR SHELTERS</vt:lpstr>
      <vt:lpstr>Group 1</vt:lpstr>
      <vt:lpstr>GROUP 1</vt:lpstr>
      <vt:lpstr>GROUP 2</vt:lpstr>
      <vt:lpstr>GROUP 2</vt:lpstr>
      <vt:lpstr>Group 3</vt:lpstr>
      <vt:lpstr>GROUP 3</vt:lpstr>
      <vt:lpstr>Week 10</vt:lpstr>
      <vt:lpstr>Group 1</vt:lpstr>
      <vt:lpstr>Group 1</vt:lpstr>
      <vt:lpstr>Group 2</vt:lpstr>
      <vt:lpstr>GROUP 2</vt:lpstr>
      <vt:lpstr>Task 2 cont…</vt:lpstr>
      <vt:lpstr> Group 3 </vt:lpstr>
      <vt:lpstr> Group 3 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MATHEMATICS GRADE 2 YEAR 2  TERM 1</dc:title>
  <dc:creator>Student_PC</dc:creator>
  <cp:lastModifiedBy>Khumbudzo Zelda Sigidi</cp:lastModifiedBy>
  <cp:revision>27</cp:revision>
  <dcterms:modified xsi:type="dcterms:W3CDTF">2024-07-12T11:45:05Z</dcterms:modified>
</cp:coreProperties>
</file>