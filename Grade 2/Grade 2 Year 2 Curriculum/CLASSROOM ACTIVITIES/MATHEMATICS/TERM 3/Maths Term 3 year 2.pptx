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303" r:id="rId6"/>
    <p:sldId id="262" r:id="rId7"/>
    <p:sldId id="263" r:id="rId8"/>
    <p:sldId id="264" r:id="rId9"/>
    <p:sldId id="265" r:id="rId10"/>
    <p:sldId id="266" r:id="rId11"/>
    <p:sldId id="268" r:id="rId12"/>
    <p:sldId id="304" r:id="rId13"/>
    <p:sldId id="302" r:id="rId14"/>
    <p:sldId id="267" r:id="rId15"/>
    <p:sldId id="269" r:id="rId16"/>
    <p:sldId id="270" r:id="rId17"/>
    <p:sldId id="271" r:id="rId18"/>
    <p:sldId id="272" r:id="rId19"/>
    <p:sldId id="305" r:id="rId20"/>
    <p:sldId id="301" r:id="rId21"/>
    <p:sldId id="273" r:id="rId22"/>
    <p:sldId id="274" r:id="rId23"/>
    <p:sldId id="275" r:id="rId24"/>
    <p:sldId id="276" r:id="rId25"/>
    <p:sldId id="300" r:id="rId26"/>
    <p:sldId id="277" r:id="rId27"/>
    <p:sldId id="278" r:id="rId28"/>
    <p:sldId id="279" r:id="rId29"/>
    <p:sldId id="281" r:id="rId30"/>
    <p:sldId id="306" r:id="rId31"/>
    <p:sldId id="299" r:id="rId32"/>
    <p:sldId id="280" r:id="rId33"/>
    <p:sldId id="282" r:id="rId34"/>
    <p:sldId id="283" r:id="rId35"/>
    <p:sldId id="285" r:id="rId36"/>
    <p:sldId id="298" r:id="rId37"/>
    <p:sldId id="284" r:id="rId38"/>
    <p:sldId id="286" r:id="rId39"/>
    <p:sldId id="287" r:id="rId40"/>
    <p:sldId id="288" r:id="rId41"/>
    <p:sldId id="307" r:id="rId42"/>
    <p:sldId id="297" r:id="rId43"/>
    <p:sldId id="289" r:id="rId44"/>
    <p:sldId id="290" r:id="rId45"/>
    <p:sldId id="291" r:id="rId46"/>
    <p:sldId id="292" r:id="rId47"/>
    <p:sldId id="308" r:id="rId48"/>
    <p:sldId id="296" r:id="rId49"/>
    <p:sldId id="293" r:id="rId50"/>
    <p:sldId id="294" r:id="rId51"/>
    <p:sldId id="295" r:id="rId52"/>
    <p:sldId id="309" r:id="rId5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E61BF-1CA4-4358-8B89-A4A6796F4CFC}" type="datetimeFigureOut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AECDF-C86A-4BE4-AE0C-3574EB82D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50881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E61BF-1CA4-4358-8B89-A4A6796F4CFC}" type="datetimeFigureOut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AECDF-C86A-4BE4-AE0C-3574EB82D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769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E61BF-1CA4-4358-8B89-A4A6796F4CFC}" type="datetimeFigureOut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AECDF-C86A-4BE4-AE0C-3574EB82D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96007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E61BF-1CA4-4358-8B89-A4A6796F4CFC}" type="datetimeFigureOut">
              <a:rPr lang="en-US" smtClean="0"/>
              <a:t>7/12/2024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AECDF-C86A-4BE4-AE0C-3574EB82D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9329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E61BF-1CA4-4358-8B89-A4A6796F4CFC}" type="datetimeFigureOut">
              <a:rPr lang="en-US" smtClean="0"/>
              <a:t>7/12/2024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AECDF-C86A-4BE4-AE0C-3574EB82D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149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E61BF-1CA4-4358-8B89-A4A6796F4CFC}" type="datetimeFigureOut">
              <a:rPr lang="en-US" smtClean="0"/>
              <a:t>7/12/2024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AECDF-C86A-4BE4-AE0C-3574EB82D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02943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E61BF-1CA4-4358-8B89-A4A6796F4CFC}" type="datetimeFigureOut">
              <a:rPr lang="en-US" smtClean="0"/>
              <a:t>7/12/2024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AECDF-C86A-4BE4-AE0C-3574EB82D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4121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E61BF-1CA4-4358-8B89-A4A6796F4CFC}" type="datetimeFigureOut">
              <a:rPr lang="en-US" smtClean="0"/>
              <a:t>7/12/2024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AECDF-C86A-4BE4-AE0C-3574EB82D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25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E61BF-1CA4-4358-8B89-A4A6796F4CFC}" type="datetimeFigureOut">
              <a:rPr lang="en-US" smtClean="0"/>
              <a:t>7/12/2024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AECDF-C86A-4BE4-AE0C-3574EB82D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316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E61BF-1CA4-4358-8B89-A4A6796F4CFC}" type="datetimeFigureOut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AECDF-C86A-4BE4-AE0C-3574EB82D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6669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DE61BF-1CA4-4358-8B89-A4A6796F4CFC}" type="datetimeFigureOut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AAECDF-C86A-4BE4-AE0C-3574EB82D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2818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DE61BF-1CA4-4358-8B89-A4A6796F4CFC}" type="datetimeFigureOut">
              <a:rPr lang="en-US" smtClean="0"/>
              <a:t>7/12/2024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AAECDF-C86A-4BE4-AE0C-3574EB82DC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460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8.w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TERM 3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MATHEMATICS </a:t>
            </a:r>
          </a:p>
          <a:p>
            <a:r>
              <a:rPr lang="en-US" dirty="0" smtClean="0"/>
              <a:t>GRADE 2 YEAR 2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20282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LESSON PLAN CONTENT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6615111"/>
              </p:ext>
            </p:extLst>
          </p:nvPr>
        </p:nvGraphicFramePr>
        <p:xfrm>
          <a:off x="457200" y="1600200"/>
          <a:ext cx="8229600" cy="438912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 smtClean="0"/>
                        <a:t>WEEK 1-2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Numbers, Operations and relationships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b="0" dirty="0" smtClean="0"/>
                        <a:t>Identify</a:t>
                      </a:r>
                      <a:r>
                        <a:rPr lang="en-US" b="0" baseline="0" dirty="0" smtClean="0"/>
                        <a:t> and read numbers 1-40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ZA" sz="18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Counting with whole numbers</a:t>
                      </a:r>
                      <a:endParaRPr lang="en-US" b="0" baseline="0" dirty="0" smtClean="0"/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b="0" baseline="0" dirty="0" smtClean="0"/>
                        <a:t>Identify, recognize and read numbers 0-18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b="0" baseline="0" dirty="0" smtClean="0"/>
                        <a:t>Count backwards and forward </a:t>
                      </a:r>
                      <a:endParaRPr lang="en-US" b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WEEK</a:t>
                      </a:r>
                      <a:r>
                        <a:rPr lang="en-US" baseline="0" dirty="0" smtClean="0"/>
                        <a:t> 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Numbers,</a:t>
                      </a:r>
                      <a:r>
                        <a:rPr lang="en-US" baseline="0" dirty="0" smtClean="0"/>
                        <a:t> Operations and relationships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baseline="0" dirty="0" smtClean="0"/>
                        <a:t>Order numbers from biggest to smallest, and from smallest to biggest. Smaller than, greater than, more than, less than, and equal to.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baseline="0" dirty="0" smtClean="0"/>
                        <a:t>Position objects in line from first to tenth.</a:t>
                      </a:r>
                      <a:endParaRPr lang="en-US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WEEK</a:t>
                      </a:r>
                      <a:r>
                        <a:rPr lang="en-US" baseline="0" dirty="0" smtClean="0"/>
                        <a:t> 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Patterns,</a:t>
                      </a:r>
                      <a:r>
                        <a:rPr lang="en-US" baseline="0" dirty="0" smtClean="0"/>
                        <a:t> functions, and algebra</a:t>
                      </a:r>
                      <a:endParaRPr lang="en-US" dirty="0" smtClean="0"/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dirty="0" smtClean="0"/>
                        <a:t>Sequences 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1533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LESSON PLAN CONTENT CONT…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2839175"/>
              </p:ext>
            </p:extLst>
          </p:nvPr>
        </p:nvGraphicFramePr>
        <p:xfrm>
          <a:off x="457200" y="1600200"/>
          <a:ext cx="8229600" cy="3474720"/>
        </p:xfrm>
        <a:graphic>
          <a:graphicData uri="http://schemas.openxmlformats.org/drawingml/2006/table">
            <a:tbl>
              <a:tblPr firstRow="1" bandRow="1">
                <a:tableStyleId>{22838BEF-8BB2-4498-84A7-C5851F593DF1}</a:tableStyleId>
              </a:tblPr>
              <a:tblGrid>
                <a:gridCol w="4114800"/>
                <a:gridCol w="4114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dirty="0" smtClean="0"/>
                        <a:t>WEEK 5</a:t>
                      </a:r>
                      <a:endParaRPr lang="en-US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0" dirty="0" smtClean="0"/>
                        <a:t>Measurement</a:t>
                      </a:r>
                      <a:r>
                        <a:rPr lang="en-US" b="0" baseline="0" dirty="0" smtClean="0"/>
                        <a:t> 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ZA" sz="18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Days of the week, concept of today and tomorrow and birthday charts.</a:t>
                      </a:r>
                      <a:endParaRPr lang="en-US" b="0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WEEK</a:t>
                      </a:r>
                      <a:r>
                        <a:rPr lang="en-US" baseline="0" dirty="0" smtClean="0"/>
                        <a:t> 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Space and shape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sz="1800" kern="1200" baseline="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3D shapes</a:t>
                      </a:r>
                      <a:endParaRPr lang="en-US" baseline="0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WEEK</a:t>
                      </a:r>
                      <a:r>
                        <a:rPr lang="en-US" baseline="0" dirty="0" smtClean="0"/>
                        <a:t> 7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Space and Shape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ZA" sz="18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Features of shapes</a:t>
                      </a:r>
                      <a:endParaRPr lang="en-US" b="0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WEEK</a:t>
                      </a:r>
                      <a:r>
                        <a:rPr lang="en-US" baseline="0" dirty="0" smtClean="0"/>
                        <a:t> 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Numbers, Operations and Relationships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Addition and Subtraction</a:t>
                      </a:r>
                      <a:endParaRPr lang="en-US" b="0" dirty="0" smtClean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WEEK 9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 pitchFamily="34" charset="0"/>
                        <a:buNone/>
                      </a:pPr>
                      <a:r>
                        <a:rPr lang="en-US" sz="180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Numbers, Operations and Relationships</a:t>
                      </a:r>
                    </a:p>
                    <a:p>
                      <a:pPr marL="285750" indent="-285750">
                        <a:buFont typeface="Arial" pitchFamily="34" charset="0"/>
                        <a:buChar char="•"/>
                      </a:pPr>
                      <a:r>
                        <a:rPr lang="en-US" sz="1800" b="0" kern="1200" dirty="0" smtClean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South African coins and bank notes</a:t>
                      </a:r>
                      <a:endParaRPr lang="en-US" b="0" dirty="0" smtClean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676136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Week 1-2</a:t>
            </a:r>
            <a:endParaRPr lang="en-US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524000"/>
            <a:ext cx="4495800" cy="449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608835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Lesson objectives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Identify and recognize numbers from 1-40. </a:t>
            </a:r>
          </a:p>
          <a:p>
            <a:pPr lvl="0"/>
            <a:r>
              <a:rPr lang="en-US" dirty="0"/>
              <a:t>Count everyday objects reliable.</a:t>
            </a:r>
          </a:p>
          <a:p>
            <a:pPr lvl="0"/>
            <a:r>
              <a:rPr lang="en-US" dirty="0"/>
              <a:t>Identify numbers on the number chart or on the chalkboard.</a:t>
            </a:r>
          </a:p>
          <a:p>
            <a:pPr lvl="0"/>
            <a:r>
              <a:rPr lang="en-US" dirty="0"/>
              <a:t>Read number symbols from 0-18.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0697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Count 1-40</a:t>
            </a:r>
            <a:endParaRPr lang="en-US" dirty="0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362200"/>
            <a:ext cx="4969625" cy="2590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541695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Counting backwards and forward</a:t>
            </a:r>
            <a:endParaRPr lang="en-US" dirty="0"/>
          </a:p>
        </p:txBody>
      </p:sp>
      <p:pic>
        <p:nvPicPr>
          <p:cNvPr id="307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7543" y="1600200"/>
            <a:ext cx="3028913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553842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Group 1</a:t>
            </a:r>
            <a:br>
              <a:rPr lang="en-US" dirty="0" smtClean="0"/>
            </a:br>
            <a:r>
              <a:rPr lang="en-US" dirty="0" smtClean="0"/>
              <a:t>Trace the following numbers</a:t>
            </a:r>
            <a:endParaRPr lang="en-US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42574" y="1600200"/>
            <a:ext cx="5858851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186746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Group 2</a:t>
            </a:r>
            <a:endParaRPr lang="en-US" dirty="0"/>
          </a:p>
        </p:txBody>
      </p:sp>
      <p:pic>
        <p:nvPicPr>
          <p:cNvPr id="5123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4320" y="1600200"/>
            <a:ext cx="3495359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966668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Group 3</a:t>
            </a:r>
            <a:endParaRPr lang="en-US" dirty="0"/>
          </a:p>
        </p:txBody>
      </p:sp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4764" y="1600200"/>
            <a:ext cx="3394472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72736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533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Week 3</a:t>
            </a:r>
            <a:br>
              <a:rPr lang="en-US" dirty="0" smtClean="0"/>
            </a:br>
            <a:r>
              <a:rPr lang="en-ZA" sz="3600" dirty="0"/>
              <a:t>Describe, compare and order numbers.</a:t>
            </a:r>
            <a:r>
              <a:rPr lang="en-US" sz="3600" dirty="0" smtClean="0"/>
              <a:t/>
            </a:r>
            <a:br>
              <a:rPr lang="en-US" sz="3600" dirty="0" smtClean="0"/>
            </a:br>
            <a:endParaRPr lang="en-US" sz="3600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8400" y="1981200"/>
            <a:ext cx="4495800" cy="403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961543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6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4764" y="1600200"/>
            <a:ext cx="3394472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94907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Lesson objectives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Order numbers from the smallest to the biggest and also from the smallest to the biggest.</a:t>
            </a:r>
          </a:p>
          <a:p>
            <a:pPr lvl="0"/>
            <a:r>
              <a:rPr lang="en-US" dirty="0"/>
              <a:t>Write numbers from 1 up to 40. </a:t>
            </a:r>
          </a:p>
          <a:p>
            <a:pPr lvl="0"/>
            <a:r>
              <a:rPr lang="en-US" dirty="0"/>
              <a:t>Compare numbers from 1 up to 40 using big, small, more, less and equal to.</a:t>
            </a:r>
          </a:p>
          <a:p>
            <a:pPr lvl="0"/>
            <a:r>
              <a:rPr lang="en-US" dirty="0"/>
              <a:t>Position different objects in a line from first to tenth.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79015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Ordering numbers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aphicFrame>
        <p:nvGraphicFramePr>
          <p:cNvPr id="4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38425548"/>
              </p:ext>
            </p:extLst>
          </p:nvPr>
        </p:nvGraphicFramePr>
        <p:xfrm>
          <a:off x="2733294" y="3581400"/>
          <a:ext cx="3035681" cy="1277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Packager Shell Object" showAsIcon="1" r:id="rId3" imgW="1045080" imgH="439560" progId="Package">
                  <p:embed/>
                </p:oleObj>
              </mc:Choice>
              <mc:Fallback>
                <p:oleObj name="Packager Shell Object" showAsIcon="1" r:id="rId3" imgW="1045080" imgH="439560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733294" y="3581400"/>
                        <a:ext cx="3035681" cy="1277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03656457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Group 1</a:t>
            </a:r>
            <a:endParaRPr lang="en-US" dirty="0"/>
          </a:p>
        </p:txBody>
      </p:sp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2307" y="1600200"/>
            <a:ext cx="3379385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44779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Group 2</a:t>
            </a:r>
            <a:endParaRPr lang="en-US" dirty="0"/>
          </a:p>
        </p:txBody>
      </p:sp>
      <p:pic>
        <p:nvPicPr>
          <p:cNvPr id="717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3332" y="1600200"/>
            <a:ext cx="3497335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985153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Group 3</a:t>
            </a:r>
            <a:endParaRPr lang="en-US" dirty="0"/>
          </a:p>
        </p:txBody>
      </p:sp>
      <p:pic>
        <p:nvPicPr>
          <p:cNvPr id="81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5681" y="1600200"/>
            <a:ext cx="3292638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513687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Week 4</a:t>
            </a:r>
            <a:br>
              <a:rPr lang="en-US" dirty="0" smtClean="0"/>
            </a:br>
            <a:r>
              <a:rPr lang="en-ZA" sz="3600" dirty="0"/>
              <a:t>Sequences</a:t>
            </a:r>
            <a:endParaRPr lang="en-US" sz="3600" dirty="0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2381" y="1613562"/>
            <a:ext cx="4499238" cy="4499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3830636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Lets complete the sequence!</a:t>
            </a:r>
            <a:endParaRPr lang="en-US" dirty="0"/>
          </a:p>
        </p:txBody>
      </p:sp>
      <p:pic>
        <p:nvPicPr>
          <p:cNvPr id="307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8635" y="1600200"/>
            <a:ext cx="332673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574282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Lesson 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Count forward in 1’s.</a:t>
            </a:r>
          </a:p>
          <a:p>
            <a:pPr lvl="0"/>
            <a:r>
              <a:rPr lang="en-US" dirty="0"/>
              <a:t>Count forward in 5’s.</a:t>
            </a:r>
          </a:p>
          <a:p>
            <a:pPr lvl="0"/>
            <a:r>
              <a:rPr lang="en-US" dirty="0"/>
              <a:t>Count forward in 10’s.</a:t>
            </a:r>
          </a:p>
          <a:p>
            <a:pPr lvl="0"/>
            <a:r>
              <a:rPr lang="en-US" dirty="0"/>
              <a:t>Arrange the sequence.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99123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Group 1</a:t>
            </a:r>
            <a:endParaRPr lang="en-US" dirty="0"/>
          </a:p>
        </p:txBody>
      </p:sp>
      <p:pic>
        <p:nvPicPr>
          <p:cNvPr id="1331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1615" y="1600200"/>
            <a:ext cx="362077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654426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Group 2</a:t>
            </a:r>
            <a:endParaRPr lang="en-US" dirty="0"/>
          </a:p>
        </p:txBody>
      </p:sp>
      <p:pic>
        <p:nvPicPr>
          <p:cNvPr id="112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04037" y="1600200"/>
            <a:ext cx="3135925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4681404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Group 3</a:t>
            </a:r>
            <a:endParaRPr lang="en-US" dirty="0"/>
          </a:p>
        </p:txBody>
      </p:sp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4133" y="1600200"/>
            <a:ext cx="3495734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7469224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Week 5</a:t>
            </a:r>
            <a:br>
              <a:rPr lang="en-US" dirty="0" smtClean="0"/>
            </a:br>
            <a:r>
              <a:rPr lang="en-ZA" sz="3600" dirty="0"/>
              <a:t>Days of the week, concept of today and tomorrow and birthday charts.</a:t>
            </a:r>
            <a:r>
              <a:rPr lang="en-US" sz="3600" dirty="0" smtClean="0"/>
              <a:t/>
            </a:r>
            <a:br>
              <a:rPr lang="en-US" sz="3600" dirty="0" smtClean="0"/>
            </a:br>
            <a:endParaRPr lang="en-US" sz="3600" dirty="0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2381" y="1613562"/>
            <a:ext cx="4499238" cy="4499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664237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Lesson 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Identify the days of the week in order.</a:t>
            </a:r>
          </a:p>
          <a:p>
            <a:pPr lvl="0"/>
            <a:r>
              <a:rPr lang="en-US" dirty="0"/>
              <a:t>Understand the concept of today and tomorrow.</a:t>
            </a:r>
          </a:p>
          <a:p>
            <a:pPr lvl="0"/>
            <a:r>
              <a:rPr lang="en-US" dirty="0"/>
              <a:t>State their birthdays.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800077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Group 1</a:t>
            </a:r>
            <a:br>
              <a:rPr lang="en-US" dirty="0" smtClean="0"/>
            </a:br>
            <a:r>
              <a:rPr lang="en-US" dirty="0" smtClean="0"/>
              <a:t>Sing along</a:t>
            </a:r>
            <a:endParaRPr lang="en-US" dirty="0"/>
          </a:p>
        </p:txBody>
      </p:sp>
      <p:pic>
        <p:nvPicPr>
          <p:cNvPr id="1433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7528" y="1600200"/>
            <a:ext cx="6788944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3015587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Group 2</a:t>
            </a:r>
            <a:br>
              <a:rPr lang="en-US" dirty="0" smtClean="0"/>
            </a:br>
            <a:r>
              <a:rPr lang="en-US" dirty="0" smtClean="0"/>
              <a:t>Trace the days of the week</a:t>
            </a:r>
            <a:endParaRPr lang="en-US" dirty="0"/>
          </a:p>
        </p:txBody>
      </p:sp>
      <p:pic>
        <p:nvPicPr>
          <p:cNvPr id="1638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3432" y="1600200"/>
            <a:ext cx="3197135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520259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Group 3</a:t>
            </a:r>
            <a:br>
              <a:rPr lang="en-US" dirty="0" smtClean="0"/>
            </a:br>
            <a:r>
              <a:rPr lang="en-US" dirty="0" smtClean="0"/>
              <a:t>Arrange the days of the week in order</a:t>
            </a:r>
            <a:endParaRPr lang="en-US" dirty="0"/>
          </a:p>
        </p:txBody>
      </p:sp>
      <p:pic>
        <p:nvPicPr>
          <p:cNvPr id="1536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659" y="1600200"/>
            <a:ext cx="3200681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5001188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Week 6</a:t>
            </a:r>
            <a:br>
              <a:rPr lang="en-US" dirty="0" smtClean="0"/>
            </a:br>
            <a:r>
              <a:rPr lang="en-ZA" sz="3200" b="1" dirty="0" smtClean="0"/>
              <a:t>3D </a:t>
            </a:r>
            <a:r>
              <a:rPr lang="en-ZA" sz="3200" b="1" dirty="0"/>
              <a:t>Shapes</a:t>
            </a:r>
            <a:r>
              <a:rPr lang="en-US" sz="3600" dirty="0" smtClean="0"/>
              <a:t/>
            </a:r>
            <a:br>
              <a:rPr lang="en-US" sz="3600" dirty="0" smtClean="0"/>
            </a:br>
            <a:endParaRPr lang="en-US" sz="3600" dirty="0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2381" y="1613562"/>
            <a:ext cx="4499238" cy="4499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9929788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Every day 3D objects</a:t>
            </a:r>
            <a:endParaRPr lang="en-US" dirty="0"/>
          </a:p>
        </p:txBody>
      </p:sp>
      <p:pic>
        <p:nvPicPr>
          <p:cNvPr id="317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4028" y="1600200"/>
            <a:ext cx="6435944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790789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Lesson objectives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Recognize </a:t>
            </a:r>
            <a:r>
              <a:rPr lang="en-US" dirty="0" smtClean="0"/>
              <a:t>3D </a:t>
            </a:r>
            <a:r>
              <a:rPr lang="en-US" dirty="0"/>
              <a:t>shapes.</a:t>
            </a:r>
          </a:p>
          <a:p>
            <a:pPr lvl="0"/>
            <a:r>
              <a:rPr lang="en-US" dirty="0"/>
              <a:t>Identify the </a:t>
            </a:r>
            <a:r>
              <a:rPr lang="en-US" dirty="0" smtClean="0"/>
              <a:t>3D </a:t>
            </a:r>
            <a:r>
              <a:rPr lang="en-US" dirty="0"/>
              <a:t>shapes.</a:t>
            </a:r>
          </a:p>
          <a:p>
            <a:r>
              <a:rPr lang="en-ZA" dirty="0"/>
              <a:t>Name the </a:t>
            </a:r>
            <a:r>
              <a:rPr lang="en-ZA" dirty="0" smtClean="0"/>
              <a:t>3D </a:t>
            </a:r>
            <a:r>
              <a:rPr lang="en-ZA" dirty="0"/>
              <a:t>shapes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597010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Group 1</a:t>
            </a:r>
            <a:br>
              <a:rPr lang="en-US" dirty="0" smtClean="0"/>
            </a:br>
            <a:r>
              <a:rPr lang="en-US" dirty="0" smtClean="0"/>
              <a:t>Color the following 3D shapes</a:t>
            </a:r>
            <a:endParaRPr lang="en-US" dirty="0"/>
          </a:p>
        </p:txBody>
      </p:sp>
      <p:pic>
        <p:nvPicPr>
          <p:cNvPr id="1945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9490" y="2529681"/>
            <a:ext cx="2065020" cy="2667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4135835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Group 2</a:t>
            </a:r>
            <a:endParaRPr lang="en-US" dirty="0"/>
          </a:p>
        </p:txBody>
      </p:sp>
      <p:pic>
        <p:nvPicPr>
          <p:cNvPr id="1843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5507" y="1600200"/>
            <a:ext cx="3012985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6618874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Group 3</a:t>
            </a:r>
            <a:endParaRPr lang="en-US" dirty="0"/>
          </a:p>
        </p:txBody>
      </p:sp>
      <p:pic>
        <p:nvPicPr>
          <p:cNvPr id="1741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2072" y="1600200"/>
            <a:ext cx="3199855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74085238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Week 7</a:t>
            </a:r>
            <a:br>
              <a:rPr lang="en-US" dirty="0" smtClean="0"/>
            </a:br>
            <a:r>
              <a:rPr lang="en-ZA" sz="3200" b="1" dirty="0"/>
              <a:t>Features of shapes</a:t>
            </a:r>
            <a:r>
              <a:rPr lang="en-US" sz="3600" dirty="0" smtClean="0"/>
              <a:t/>
            </a:r>
            <a:br>
              <a:rPr lang="en-US" sz="3600" dirty="0" smtClean="0"/>
            </a:br>
            <a:endParaRPr lang="en-US" sz="3600" dirty="0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2381" y="1613562"/>
            <a:ext cx="4499238" cy="4499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1231295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Lesson objectives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Compare the different </a:t>
            </a:r>
            <a:r>
              <a:rPr lang="en-US" dirty="0" smtClean="0"/>
              <a:t>3D </a:t>
            </a:r>
            <a:r>
              <a:rPr lang="en-US" dirty="0"/>
              <a:t>shapes in terms of </a:t>
            </a:r>
            <a:r>
              <a:rPr lang="en-US" dirty="0" err="1"/>
              <a:t>colour</a:t>
            </a:r>
            <a:r>
              <a:rPr lang="en-US" dirty="0"/>
              <a:t> and size.</a:t>
            </a:r>
          </a:p>
          <a:p>
            <a:pPr lvl="0"/>
            <a:r>
              <a:rPr lang="en-US" dirty="0"/>
              <a:t>Draw </a:t>
            </a:r>
            <a:r>
              <a:rPr lang="en-US" dirty="0" smtClean="0"/>
              <a:t>3D </a:t>
            </a:r>
            <a:r>
              <a:rPr lang="en-US" dirty="0"/>
              <a:t>shapes like the square, triangle, rectangle, and circle.</a:t>
            </a:r>
          </a:p>
          <a:p>
            <a:r>
              <a:rPr lang="en-ZA" dirty="0"/>
              <a:t>Sort the shapes in terms of colour and size.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7020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Group 1</a:t>
            </a:r>
            <a:br>
              <a:rPr lang="en-US" dirty="0" smtClean="0"/>
            </a:br>
            <a:r>
              <a:rPr lang="en-US" sz="3600" dirty="0" smtClean="0"/>
              <a:t>Color the faces of the following 3D shapes Blue</a:t>
            </a:r>
            <a:endParaRPr lang="en-US" sz="3600" dirty="0"/>
          </a:p>
        </p:txBody>
      </p:sp>
      <p:pic>
        <p:nvPicPr>
          <p:cNvPr id="2253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5" y="1600200"/>
            <a:ext cx="3200389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9589287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Group 2</a:t>
            </a:r>
            <a:endParaRPr lang="en-US" dirty="0"/>
          </a:p>
        </p:txBody>
      </p:sp>
      <p:pic>
        <p:nvPicPr>
          <p:cNvPr id="2150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2836" y="1600200"/>
            <a:ext cx="3498328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2559594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Group 3</a:t>
            </a:r>
            <a:endParaRPr lang="en-US" dirty="0"/>
          </a:p>
        </p:txBody>
      </p:sp>
      <p:pic>
        <p:nvPicPr>
          <p:cNvPr id="2048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23332" y="1600200"/>
            <a:ext cx="3497335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742673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Week 8</a:t>
            </a:r>
            <a:br>
              <a:rPr lang="en-US" dirty="0" smtClean="0"/>
            </a:br>
            <a:r>
              <a:rPr lang="en-ZA" sz="3200" dirty="0"/>
              <a:t>Addition and subtraction</a:t>
            </a:r>
            <a:r>
              <a:rPr lang="en-US" sz="3600" dirty="0" smtClean="0"/>
              <a:t/>
            </a:r>
            <a:br>
              <a:rPr lang="en-US" sz="3600" dirty="0" smtClean="0"/>
            </a:br>
            <a:endParaRPr lang="en-US" sz="3600" dirty="0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2381" y="1613562"/>
            <a:ext cx="4499238" cy="4499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096089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27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815181"/>
            <a:ext cx="2914650" cy="3886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4072563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Lesson objectives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Identify the four operation symbols.</a:t>
            </a:r>
          </a:p>
          <a:p>
            <a:pPr lvl="0"/>
            <a:r>
              <a:rPr lang="en-US" dirty="0"/>
              <a:t>Add and subtract using concrete objects.</a:t>
            </a:r>
          </a:p>
          <a:p>
            <a:pPr lvl="0"/>
            <a:r>
              <a:rPr lang="en-US" dirty="0"/>
              <a:t>Add numbers up to 18.</a:t>
            </a:r>
          </a:p>
          <a:p>
            <a:r>
              <a:rPr lang="en-ZA" dirty="0"/>
              <a:t>Subtract numbers from 18.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25036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Group 1</a:t>
            </a:r>
            <a:endParaRPr lang="en-US" dirty="0"/>
          </a:p>
        </p:txBody>
      </p:sp>
      <p:pic>
        <p:nvPicPr>
          <p:cNvPr id="2560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9347" y="1600200"/>
            <a:ext cx="4905306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4275291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Group 2</a:t>
            </a:r>
            <a:endParaRPr lang="en-US" dirty="0"/>
          </a:p>
        </p:txBody>
      </p:sp>
      <p:pic>
        <p:nvPicPr>
          <p:cNvPr id="2457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24200" y="1752600"/>
            <a:ext cx="2796540" cy="39203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244551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Group 3</a:t>
            </a:r>
            <a:endParaRPr lang="en-US" dirty="0"/>
          </a:p>
        </p:txBody>
      </p:sp>
      <p:pic>
        <p:nvPicPr>
          <p:cNvPr id="2355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74764" y="1600200"/>
            <a:ext cx="3394472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4018722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Week 9</a:t>
            </a:r>
            <a:br>
              <a:rPr lang="en-US" dirty="0" smtClean="0"/>
            </a:br>
            <a:r>
              <a:rPr lang="en-ZA" sz="3200" dirty="0"/>
              <a:t>South African coins and bank notes</a:t>
            </a:r>
            <a:r>
              <a:rPr lang="en-US" sz="3600" dirty="0" smtClean="0"/>
              <a:t/>
            </a:r>
            <a:br>
              <a:rPr lang="en-US" sz="3600" dirty="0" smtClean="0"/>
            </a:br>
            <a:endParaRPr lang="en-US" sz="3600" dirty="0"/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2381" y="1613562"/>
            <a:ext cx="4499238" cy="44992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1871536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What is the picture showing? Do you recognize it?</a:t>
            </a:r>
            <a:endParaRPr lang="en-US" dirty="0"/>
          </a:p>
        </p:txBody>
      </p:sp>
      <p:pic>
        <p:nvPicPr>
          <p:cNvPr id="337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3160" y="2430621"/>
            <a:ext cx="4297680" cy="28651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306793657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Lesson objectives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Identify the South African coins and bank notes.</a:t>
            </a:r>
          </a:p>
          <a:p>
            <a:pPr lvl="0"/>
            <a:r>
              <a:rPr lang="en-US" dirty="0"/>
              <a:t>Recognize the South African coins and bank notes.</a:t>
            </a:r>
          </a:p>
          <a:p>
            <a:pPr lvl="0"/>
            <a:r>
              <a:rPr lang="en-US" dirty="0"/>
              <a:t>Add coins and bank notes.</a:t>
            </a:r>
          </a:p>
          <a:p>
            <a:r>
              <a:rPr lang="en-ZA" dirty="0"/>
              <a:t>Subtract coins and bank notes.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282232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Group 1</a:t>
            </a:r>
            <a:br>
              <a:rPr lang="en-US" dirty="0" smtClean="0"/>
            </a:br>
            <a:r>
              <a:rPr lang="en-US" dirty="0" smtClean="0"/>
              <a:t>Color the following coins</a:t>
            </a:r>
            <a:endParaRPr lang="en-US" dirty="0"/>
          </a:p>
        </p:txBody>
      </p:sp>
      <p:pic>
        <p:nvPicPr>
          <p:cNvPr id="276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9018" y="1600200"/>
            <a:ext cx="4525963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4765663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Group 2</a:t>
            </a:r>
            <a:endParaRPr lang="en-US" dirty="0"/>
          </a:p>
        </p:txBody>
      </p:sp>
      <p:pic>
        <p:nvPicPr>
          <p:cNvPr id="266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1700" y="1905000"/>
            <a:ext cx="4800600" cy="3158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5170036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Group 3</a:t>
            </a:r>
            <a:endParaRPr lang="en-US" dirty="0"/>
          </a:p>
        </p:txBody>
      </p:sp>
      <p:pic>
        <p:nvPicPr>
          <p:cNvPr id="286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1371600"/>
            <a:ext cx="2998470" cy="42488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4177060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 List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96788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139</TotalTime>
  <Words>488</Words>
  <Application>Microsoft Office PowerPoint</Application>
  <PresentationFormat>On-screen Show (4:3)</PresentationFormat>
  <Paragraphs>109</Paragraphs>
  <Slides>52</Slides>
  <Notes>0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52</vt:i4>
      </vt:variant>
    </vt:vector>
  </HeadingPairs>
  <TitlesOfParts>
    <vt:vector size="54" baseType="lpstr">
      <vt:lpstr>Office Theme</vt:lpstr>
      <vt:lpstr>Package</vt:lpstr>
      <vt:lpstr>TERM 3</vt:lpstr>
      <vt:lpstr>LESSON PLAN CONTENT</vt:lpstr>
      <vt:lpstr>LESSON PLAN CONTENT CONT…</vt:lpstr>
      <vt:lpstr>Week 1-2</vt:lpstr>
      <vt:lpstr>Lesson objectives </vt:lpstr>
      <vt:lpstr>Count 1-40</vt:lpstr>
      <vt:lpstr>Counting backwards and forward</vt:lpstr>
      <vt:lpstr>Group 1 Trace the following numbers</vt:lpstr>
      <vt:lpstr>Group 2</vt:lpstr>
      <vt:lpstr>Group 3</vt:lpstr>
      <vt:lpstr>Week 3 Describe, compare and order numbers. </vt:lpstr>
      <vt:lpstr>PowerPoint Presentation</vt:lpstr>
      <vt:lpstr>Lesson objectives </vt:lpstr>
      <vt:lpstr>Ordering numbers</vt:lpstr>
      <vt:lpstr>Group 1</vt:lpstr>
      <vt:lpstr>Group 2</vt:lpstr>
      <vt:lpstr>Group 3</vt:lpstr>
      <vt:lpstr>Week 4 Sequences</vt:lpstr>
      <vt:lpstr>Lets complete the sequence!</vt:lpstr>
      <vt:lpstr>Lesson objectives</vt:lpstr>
      <vt:lpstr>Group 1</vt:lpstr>
      <vt:lpstr>Group 2</vt:lpstr>
      <vt:lpstr>Group 3</vt:lpstr>
      <vt:lpstr>Week 5 Days of the week, concept of today and tomorrow and birthday charts. </vt:lpstr>
      <vt:lpstr>Lesson objectives</vt:lpstr>
      <vt:lpstr>Group 1 Sing along</vt:lpstr>
      <vt:lpstr>Group 2 Trace the days of the week</vt:lpstr>
      <vt:lpstr>Group 3 Arrange the days of the week in order</vt:lpstr>
      <vt:lpstr>Week 6 3D Shapes </vt:lpstr>
      <vt:lpstr>Every day 3D objects</vt:lpstr>
      <vt:lpstr>Lesson objectives</vt:lpstr>
      <vt:lpstr>Group 1 Color the following 3D shapes</vt:lpstr>
      <vt:lpstr>Group 2</vt:lpstr>
      <vt:lpstr>Group 3</vt:lpstr>
      <vt:lpstr>Week 7 Features of shapes </vt:lpstr>
      <vt:lpstr>Lesson objectives </vt:lpstr>
      <vt:lpstr>Group 1 Color the faces of the following 3D shapes Blue</vt:lpstr>
      <vt:lpstr>Group 2</vt:lpstr>
      <vt:lpstr>Group 3</vt:lpstr>
      <vt:lpstr>Week 8 Addition and subtraction </vt:lpstr>
      <vt:lpstr>PowerPoint Presentation</vt:lpstr>
      <vt:lpstr>Lesson objectives </vt:lpstr>
      <vt:lpstr>Group 1</vt:lpstr>
      <vt:lpstr>Group 2</vt:lpstr>
      <vt:lpstr>Group 3</vt:lpstr>
      <vt:lpstr>Week 9 South African coins and bank notes </vt:lpstr>
      <vt:lpstr>What is the picture showing? Do you recognize it?</vt:lpstr>
      <vt:lpstr>Lesson objectives </vt:lpstr>
      <vt:lpstr>Group 1 Color the following coins</vt:lpstr>
      <vt:lpstr>Group 2</vt:lpstr>
      <vt:lpstr>Group 3</vt:lpstr>
      <vt:lpstr>Reference List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TERM 3</dc:title>
  <dc:creator>Jeanette Zimba</dc:creator>
  <cp:lastModifiedBy>Jeanette Zimba</cp:lastModifiedBy>
  <cp:revision>15</cp:revision>
  <dcterms:created xsi:type="dcterms:W3CDTF">2024-07-11T15:58:58Z</dcterms:created>
  <dcterms:modified xsi:type="dcterms:W3CDTF">2024-07-12T06:34:59Z</dcterms:modified>
</cp:coreProperties>
</file>