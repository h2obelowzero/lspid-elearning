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0"/>
  </p:notesMasterIdLst>
  <p:sldIdLst>
    <p:sldId id="257" r:id="rId2"/>
    <p:sldId id="260" r:id="rId3"/>
    <p:sldId id="298" r:id="rId4"/>
    <p:sldId id="299" r:id="rId5"/>
    <p:sldId id="261" r:id="rId6"/>
    <p:sldId id="301" r:id="rId7"/>
    <p:sldId id="303" r:id="rId8"/>
    <p:sldId id="304" r:id="rId9"/>
    <p:sldId id="305" r:id="rId10"/>
    <p:sldId id="359" r:id="rId11"/>
    <p:sldId id="307" r:id="rId12"/>
    <p:sldId id="360" r:id="rId13"/>
    <p:sldId id="309" r:id="rId14"/>
    <p:sldId id="310" r:id="rId15"/>
    <p:sldId id="311" r:id="rId16"/>
    <p:sldId id="312" r:id="rId17"/>
    <p:sldId id="320" r:id="rId18"/>
    <p:sldId id="314" r:id="rId19"/>
    <p:sldId id="315" r:id="rId20"/>
    <p:sldId id="316" r:id="rId21"/>
    <p:sldId id="361" r:id="rId22"/>
    <p:sldId id="318" r:id="rId23"/>
    <p:sldId id="327" r:id="rId24"/>
    <p:sldId id="319" r:id="rId25"/>
    <p:sldId id="321" r:id="rId26"/>
    <p:sldId id="322" r:id="rId27"/>
    <p:sldId id="362" r:id="rId28"/>
    <p:sldId id="326" r:id="rId29"/>
    <p:sldId id="363" r:id="rId30"/>
    <p:sldId id="328" r:id="rId31"/>
    <p:sldId id="264" r:id="rId32"/>
    <p:sldId id="329" r:id="rId33"/>
    <p:sldId id="330" r:id="rId34"/>
    <p:sldId id="331" r:id="rId35"/>
    <p:sldId id="332" r:id="rId36"/>
    <p:sldId id="364" r:id="rId37"/>
    <p:sldId id="334" r:id="rId38"/>
    <p:sldId id="335" r:id="rId39"/>
    <p:sldId id="336" r:id="rId40"/>
    <p:sldId id="337" r:id="rId41"/>
    <p:sldId id="365" r:id="rId42"/>
    <p:sldId id="339" r:id="rId43"/>
    <p:sldId id="366" r:id="rId44"/>
    <p:sldId id="341" r:id="rId45"/>
    <p:sldId id="342" r:id="rId46"/>
    <p:sldId id="343" r:id="rId47"/>
    <p:sldId id="344" r:id="rId48"/>
    <p:sldId id="345" r:id="rId49"/>
    <p:sldId id="346" r:id="rId50"/>
    <p:sldId id="367" r:id="rId51"/>
    <p:sldId id="348" r:id="rId52"/>
    <p:sldId id="349" r:id="rId53"/>
    <p:sldId id="368" r:id="rId54"/>
    <p:sldId id="351" r:id="rId55"/>
    <p:sldId id="353" r:id="rId56"/>
    <p:sldId id="354" r:id="rId57"/>
    <p:sldId id="369" r:id="rId58"/>
    <p:sldId id="370" r:id="rId5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34" autoAdjust="0"/>
  </p:normalViewPr>
  <p:slideViewPr>
    <p:cSldViewPr snapToGrid="0">
      <p:cViewPr varScale="1">
        <p:scale>
          <a:sx n="82" d="100"/>
          <a:sy n="82" d="100"/>
        </p:scale>
        <p:origin x="138"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D77643-8529-46C2-9DE4-751577CF64CA}" type="datetimeFigureOut">
              <a:rPr lang="en-US" smtClean="0"/>
              <a:t>7/12/2024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D86E0A-FC77-4FAB-BF1F-C5E3EB0071F6}" type="slidenum">
              <a:rPr lang="en-US" smtClean="0"/>
              <a:t>‹#›</a:t>
            </a:fld>
            <a:endParaRPr lang="en-US"/>
          </a:p>
        </p:txBody>
      </p:sp>
    </p:spTree>
    <p:extLst>
      <p:ext uri="{BB962C8B-B14F-4D97-AF65-F5344CB8AC3E}">
        <p14:creationId xmlns:p14="http://schemas.microsoft.com/office/powerpoint/2010/main" val="486868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ED86E0A-FC77-4FAB-BF1F-C5E3EB0071F6}" type="slidenum">
              <a:rPr lang="en-US" smtClean="0"/>
              <a:t>32</a:t>
            </a:fld>
            <a:endParaRPr lang="en-US"/>
          </a:p>
        </p:txBody>
      </p:sp>
    </p:spTree>
    <p:extLst>
      <p:ext uri="{BB962C8B-B14F-4D97-AF65-F5344CB8AC3E}">
        <p14:creationId xmlns:p14="http://schemas.microsoft.com/office/powerpoint/2010/main" val="2858591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1990155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33715260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1146087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6AA7088-B216-45CE-9144-B068066D4925}" type="datetimeFigureOut">
              <a:rPr lang="en-ZA" smtClean="0"/>
              <a:t>2024/07/11</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3205040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6AA7088-B216-45CE-9144-B068066D4925}" type="datetimeFigureOut">
              <a:rPr lang="en-ZA" smtClean="0"/>
              <a:t>2024/07/11</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1231963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3"/>
          <p:cNvSpPr>
            <a:spLocks noGrp="1"/>
          </p:cNvSpPr>
          <p:nvPr>
            <p:ph type="ftr" sz="quarter" idx="11"/>
          </p:nvPr>
        </p:nvSpPr>
        <p:spPr/>
        <p:txBody>
          <a:bodyPr/>
          <a:lstStyle/>
          <a:p>
            <a:endParaRPr lang="en-ZA"/>
          </a:p>
        </p:txBody>
      </p:sp>
      <p:sp>
        <p:nvSpPr>
          <p:cNvPr id="6" name="Slide Number Placeholder 4"/>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2034046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2"/>
          <p:cNvSpPr>
            <a:spLocks noGrp="1"/>
          </p:cNvSpPr>
          <p:nvPr>
            <p:ph type="ftr" sz="quarter" idx="11"/>
          </p:nvPr>
        </p:nvSpPr>
        <p:spPr/>
        <p:txBody>
          <a:bodyPr/>
          <a:lstStyle/>
          <a:p>
            <a:endParaRPr lang="en-ZA"/>
          </a:p>
        </p:txBody>
      </p:sp>
      <p:sp>
        <p:nvSpPr>
          <p:cNvPr id="6" name="Slide Number Placeholder 3"/>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1641973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5"/>
          <p:cNvSpPr>
            <a:spLocks noGrp="1"/>
          </p:cNvSpPr>
          <p:nvPr>
            <p:ph type="ftr" sz="quarter" idx="11"/>
          </p:nvPr>
        </p:nvSpPr>
        <p:spPr/>
        <p:txBody>
          <a:bodyPr/>
          <a:lstStyle/>
          <a:p>
            <a:endParaRPr lang="en-ZA"/>
          </a:p>
        </p:txBody>
      </p:sp>
      <p:sp>
        <p:nvSpPr>
          <p:cNvPr id="6" name="Slide Number Placeholder 6"/>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1151528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AA7088-B216-45CE-9144-B068066D4925}" type="datetimeFigureOut">
              <a:rPr lang="en-ZA" smtClean="0"/>
              <a:t>2024/07/11</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25246801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AA7088-B216-45CE-9144-B068066D4925}" type="datetimeFigureOut">
              <a:rPr lang="en-ZA" smtClean="0"/>
              <a:t>2024/07/11</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36611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33713957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0814986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37049947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4"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28229981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4"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3871488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10863965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AA7088-B216-45CE-9144-B068066D4925}" type="datetimeFigureOut">
              <a:rPr lang="en-ZA" smtClean="0"/>
              <a:t>2024/07/11</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FA825E92-66FC-4255-8C2B-6877120039F9}" type="slidenum">
              <a:rPr lang="en-ZA" smtClean="0"/>
              <a:t>‹#›</a:t>
            </a:fld>
            <a:endParaRPr lang="en-ZA"/>
          </a:p>
        </p:txBody>
      </p:sp>
    </p:spTree>
    <p:extLst>
      <p:ext uri="{BB962C8B-B14F-4D97-AF65-F5344CB8AC3E}">
        <p14:creationId xmlns:p14="http://schemas.microsoft.com/office/powerpoint/2010/main" val="277602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6AA7088-B216-45CE-9144-B068066D4925}" type="datetimeFigureOut">
              <a:rPr lang="en-ZA" smtClean="0"/>
              <a:t>2024/07/11</a:t>
            </a:fld>
            <a:endParaRPr lang="en-ZA"/>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ZA"/>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FA825E92-66FC-4255-8C2B-6877120039F9}" type="slidenum">
              <a:rPr lang="en-ZA" smtClean="0"/>
              <a:t>‹#›</a:t>
            </a:fld>
            <a:endParaRPr lang="en-ZA"/>
          </a:p>
        </p:txBody>
      </p:sp>
    </p:spTree>
    <p:extLst>
      <p:ext uri="{BB962C8B-B14F-4D97-AF65-F5344CB8AC3E}">
        <p14:creationId xmlns:p14="http://schemas.microsoft.com/office/powerpoint/2010/main" val="55696978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27.gif"/><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8" Type="http://schemas.openxmlformats.org/officeDocument/2006/relationships/hyperlink" Target="https://witknowlearn.com/cdn/images/thumbnail/handling-data-worksheet-for-grade-3-0-2020-11-07-061035.jpg" TargetMode="External"/><Relationship Id="rId3" Type="http://schemas.openxmlformats.org/officeDocument/2006/relationships/hyperlink" Target="https://tse2.mm.bing.net/th?id=OIP.pmj2R0guqGQdM8XR_mEhbAAAAA&amp;pid=Api&amp;P=0&amp;h=220" TargetMode="External"/><Relationship Id="rId7" Type="http://schemas.openxmlformats.org/officeDocument/2006/relationships/hyperlink" Target="https://storage.googleapis.com/worksheetzone/image/6221ff931becbd4e04bda302/data-handling-w1000-h662-preview-0.jpg" TargetMode="External"/><Relationship Id="rId2" Type="http://schemas.openxmlformats.org/officeDocument/2006/relationships/hyperlink" Target="https://tse1.mm.bing.net/th?id=OIP.xGKS3Rl7LV-kS8v9qqcRQwHaFg&amp;pid=Api&amp;P=0&amp;h=220" TargetMode="External"/><Relationship Id="rId1" Type="http://schemas.openxmlformats.org/officeDocument/2006/relationships/slideLayout" Target="../slideLayouts/slideLayout2.xml"/><Relationship Id="rId6" Type="http://schemas.openxmlformats.org/officeDocument/2006/relationships/hyperlink" Target="https://i.pinimg.com/originals/d1/da/a9/d1daa90e07d2810f087a5482d18f2b0b.png" TargetMode="External"/><Relationship Id="rId5" Type="http://schemas.openxmlformats.org/officeDocument/2006/relationships/hyperlink" Target="https://www.kidpid.com/wp-content/uploads/2021/11/position-words-practice-worksheets-for-kindergarten-1.png" TargetMode="External"/><Relationship Id="rId10" Type="http://schemas.openxmlformats.org/officeDocument/2006/relationships/hyperlink" Target="https://i.pinimg.com/originals/0c/89/e9/0c89e978bca96b271655ff48f801a3df.gif" TargetMode="External"/><Relationship Id="rId4" Type="http://schemas.openxmlformats.org/officeDocument/2006/relationships/hyperlink" Target="https://whatistheurl.com/wp-content/uploads/2020/11/identifying-left-and-right-position-worksheet-3.png" TargetMode="External"/><Relationship Id="rId9" Type="http://schemas.openxmlformats.org/officeDocument/2006/relationships/hyperlink" Target="http://www.mathsdiary.com/wp-content/uploads/2015/08/days-of-a-week-worksheet-3.jp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3CACF1D1-CD20-42D5-B267-A8D5494C5013}"/>
              </a:ext>
            </a:extLst>
          </p:cNvPr>
          <p:cNvGraphicFramePr>
            <a:graphicFrameLocks noGrp="1"/>
          </p:cNvGraphicFramePr>
          <p:nvPr>
            <p:extLst>
              <p:ext uri="{D42A27DB-BD31-4B8C-83A1-F6EECF244321}">
                <p14:modId xmlns:p14="http://schemas.microsoft.com/office/powerpoint/2010/main" val="441919401"/>
              </p:ext>
            </p:extLst>
          </p:nvPr>
        </p:nvGraphicFramePr>
        <p:xfrm>
          <a:off x="1272209" y="719665"/>
          <a:ext cx="8887791" cy="5310072"/>
        </p:xfrm>
        <a:graphic>
          <a:graphicData uri="http://schemas.openxmlformats.org/drawingml/2006/table">
            <a:tbl>
              <a:tblPr firstRow="1" bandRow="1">
                <a:tableStyleId>{5C22544A-7EE6-4342-B048-85BDC9FD1C3A}</a:tableStyleId>
              </a:tblPr>
              <a:tblGrid>
                <a:gridCol w="3725970">
                  <a:extLst>
                    <a:ext uri="{9D8B030D-6E8A-4147-A177-3AD203B41FA5}">
                      <a16:colId xmlns:a16="http://schemas.microsoft.com/office/drawing/2014/main" val="3650113161"/>
                    </a:ext>
                  </a:extLst>
                </a:gridCol>
                <a:gridCol w="5161821">
                  <a:extLst>
                    <a:ext uri="{9D8B030D-6E8A-4147-A177-3AD203B41FA5}">
                      <a16:colId xmlns:a16="http://schemas.microsoft.com/office/drawing/2014/main" val="2195754969"/>
                    </a:ext>
                  </a:extLst>
                </a:gridCol>
              </a:tblGrid>
              <a:tr h="1770024">
                <a:tc>
                  <a:txBody>
                    <a:bodyPr/>
                    <a:lstStyle/>
                    <a:p>
                      <a:r>
                        <a:rPr lang="en-ZA" sz="4800" dirty="0"/>
                        <a:t>Subject</a:t>
                      </a:r>
                    </a:p>
                  </a:txBody>
                  <a:tcPr/>
                </a:tc>
                <a:tc>
                  <a:txBody>
                    <a:bodyPr/>
                    <a:lstStyle/>
                    <a:p>
                      <a:r>
                        <a:rPr lang="en-ZA" sz="4800" dirty="0" smtClean="0"/>
                        <a:t>Mathematics</a:t>
                      </a:r>
                      <a:endParaRPr lang="en-ZA" sz="4800" dirty="0"/>
                    </a:p>
                  </a:txBody>
                  <a:tcPr/>
                </a:tc>
                <a:extLst>
                  <a:ext uri="{0D108BD9-81ED-4DB2-BD59-A6C34878D82A}">
                    <a16:rowId xmlns:a16="http://schemas.microsoft.com/office/drawing/2014/main" val="2538444233"/>
                  </a:ext>
                </a:extLst>
              </a:tr>
              <a:tr h="1770024">
                <a:tc>
                  <a:txBody>
                    <a:bodyPr/>
                    <a:lstStyle/>
                    <a:p>
                      <a:r>
                        <a:rPr lang="en-ZA" sz="4800" dirty="0"/>
                        <a:t>Grade </a:t>
                      </a:r>
                    </a:p>
                  </a:txBody>
                  <a:tcPr/>
                </a:tc>
                <a:tc>
                  <a:txBody>
                    <a:bodyPr/>
                    <a:lstStyle/>
                    <a:p>
                      <a:r>
                        <a:rPr lang="en-ZA" sz="4800" dirty="0"/>
                        <a:t>2 year </a:t>
                      </a:r>
                      <a:r>
                        <a:rPr lang="en-ZA" sz="4800" dirty="0" smtClean="0"/>
                        <a:t>2</a:t>
                      </a:r>
                      <a:endParaRPr lang="en-ZA" sz="4800" dirty="0"/>
                    </a:p>
                  </a:txBody>
                  <a:tcPr/>
                </a:tc>
                <a:extLst>
                  <a:ext uri="{0D108BD9-81ED-4DB2-BD59-A6C34878D82A}">
                    <a16:rowId xmlns:a16="http://schemas.microsoft.com/office/drawing/2014/main" val="1930851948"/>
                  </a:ext>
                </a:extLst>
              </a:tr>
              <a:tr h="1770024">
                <a:tc>
                  <a:txBody>
                    <a:bodyPr/>
                    <a:lstStyle/>
                    <a:p>
                      <a:r>
                        <a:rPr lang="en-ZA" sz="4800" dirty="0"/>
                        <a:t>Term </a:t>
                      </a:r>
                    </a:p>
                  </a:txBody>
                  <a:tcPr/>
                </a:tc>
                <a:tc>
                  <a:txBody>
                    <a:bodyPr/>
                    <a:lstStyle/>
                    <a:p>
                      <a:r>
                        <a:rPr lang="en-ZA" sz="4800" dirty="0" smtClean="0"/>
                        <a:t>2</a:t>
                      </a:r>
                      <a:endParaRPr lang="en-ZA" sz="4800" dirty="0"/>
                    </a:p>
                  </a:txBody>
                  <a:tcPr/>
                </a:tc>
                <a:extLst>
                  <a:ext uri="{0D108BD9-81ED-4DB2-BD59-A6C34878D82A}">
                    <a16:rowId xmlns:a16="http://schemas.microsoft.com/office/drawing/2014/main" val="1332622935"/>
                  </a:ext>
                </a:extLst>
              </a:tr>
            </a:tbl>
          </a:graphicData>
        </a:graphic>
      </p:graphicFrame>
    </p:spTree>
    <p:extLst>
      <p:ext uri="{BB962C8B-B14F-4D97-AF65-F5344CB8AC3E}">
        <p14:creationId xmlns:p14="http://schemas.microsoft.com/office/powerpoint/2010/main" val="2332974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B17A4-2DA0-4508-AB92-00378BA28FCC}"/>
              </a:ext>
            </a:extLst>
          </p:cNvPr>
          <p:cNvSpPr>
            <a:spLocks noGrp="1"/>
          </p:cNvSpPr>
          <p:nvPr>
            <p:ph type="title"/>
          </p:nvPr>
        </p:nvSpPr>
        <p:spPr>
          <a:xfrm>
            <a:off x="646111" y="-254642"/>
            <a:ext cx="9404723" cy="844951"/>
          </a:xfrm>
        </p:spPr>
        <p:txBody>
          <a:bodyPr>
            <a:normAutofit fontScale="90000"/>
          </a:bodyPr>
          <a:lstStyle/>
          <a:p>
            <a:r>
              <a:rPr lang="en-ZA" sz="6000" b="1" dirty="0"/>
              <a:t>      </a:t>
            </a:r>
            <a:r>
              <a:rPr lang="en-ZA" sz="6000" b="1" dirty="0" smtClean="0"/>
              <a:t>       </a:t>
            </a:r>
            <a:r>
              <a:rPr lang="en-ZA" sz="3200" b="1" dirty="0"/>
              <a:t>LESSON PLAN CONTENT</a:t>
            </a:r>
          </a:p>
        </p:txBody>
      </p:sp>
      <p:graphicFrame>
        <p:nvGraphicFramePr>
          <p:cNvPr id="4" name="Table 4">
            <a:extLst>
              <a:ext uri="{FF2B5EF4-FFF2-40B4-BE49-F238E27FC236}">
                <a16:creationId xmlns:a16="http://schemas.microsoft.com/office/drawing/2014/main" id="{22141332-7440-49C9-8C2B-839EF51D5A12}"/>
              </a:ext>
            </a:extLst>
          </p:cNvPr>
          <p:cNvGraphicFramePr>
            <a:graphicFrameLocks noGrp="1"/>
          </p:cNvGraphicFramePr>
          <p:nvPr>
            <p:ph idx="1"/>
            <p:extLst>
              <p:ext uri="{D42A27DB-BD31-4B8C-83A1-F6EECF244321}">
                <p14:modId xmlns:p14="http://schemas.microsoft.com/office/powerpoint/2010/main" val="2324766738"/>
              </p:ext>
            </p:extLst>
          </p:nvPr>
        </p:nvGraphicFramePr>
        <p:xfrm>
          <a:off x="503583" y="509289"/>
          <a:ext cx="10955354" cy="5752616"/>
        </p:xfrm>
        <a:graphic>
          <a:graphicData uri="http://schemas.openxmlformats.org/drawingml/2006/table">
            <a:tbl>
              <a:tblPr firstRow="1" bandRow="1">
                <a:tableStyleId>{5C22544A-7EE6-4342-B048-85BDC9FD1C3A}</a:tableStyleId>
              </a:tblPr>
              <a:tblGrid>
                <a:gridCol w="5472495">
                  <a:extLst>
                    <a:ext uri="{9D8B030D-6E8A-4147-A177-3AD203B41FA5}">
                      <a16:colId xmlns:a16="http://schemas.microsoft.com/office/drawing/2014/main" val="2207677980"/>
                    </a:ext>
                  </a:extLst>
                </a:gridCol>
                <a:gridCol w="5482859">
                  <a:extLst>
                    <a:ext uri="{9D8B030D-6E8A-4147-A177-3AD203B41FA5}">
                      <a16:colId xmlns:a16="http://schemas.microsoft.com/office/drawing/2014/main" val="4232579930"/>
                    </a:ext>
                  </a:extLst>
                </a:gridCol>
              </a:tblGrid>
              <a:tr h="1740484">
                <a:tc>
                  <a:txBody>
                    <a:bodyPr/>
                    <a:lstStyle/>
                    <a:p>
                      <a:r>
                        <a:rPr lang="en-ZA" sz="1800" b="1" dirty="0"/>
                        <a:t>Week </a:t>
                      </a:r>
                      <a:r>
                        <a:rPr lang="en-ZA" sz="1800" b="1" dirty="0" smtClean="0"/>
                        <a:t>2</a:t>
                      </a:r>
                      <a:endParaRPr lang="en-ZA" sz="1800" b="1" dirty="0"/>
                    </a:p>
                  </a:txBody>
                  <a:tcPr/>
                </a:tc>
                <a:tc>
                  <a:txBody>
                    <a:bodyPr/>
                    <a:lstStyle/>
                    <a:p>
                      <a:r>
                        <a:rPr lang="en-ZA" sz="1800" b="1" dirty="0" smtClean="0"/>
                        <a:t>Numbers,</a:t>
                      </a:r>
                      <a:r>
                        <a:rPr lang="en-ZA" sz="1800" b="1" baseline="0" dirty="0" smtClean="0"/>
                        <a:t> operations and relationships.</a:t>
                      </a:r>
                    </a:p>
                    <a:p>
                      <a:pPr marL="0" indent="0">
                        <a:buFontTx/>
                        <a:buNone/>
                      </a:pPr>
                      <a:endParaRPr lang="en-ZA" sz="1600" b="1" baseline="0" dirty="0" smtClean="0"/>
                    </a:p>
                  </a:txBody>
                  <a:tcPr/>
                </a:tc>
                <a:extLst>
                  <a:ext uri="{0D108BD9-81ED-4DB2-BD59-A6C34878D82A}">
                    <a16:rowId xmlns:a16="http://schemas.microsoft.com/office/drawing/2014/main" val="1043533483"/>
                  </a:ext>
                </a:extLst>
              </a:tr>
              <a:tr h="1885524">
                <a:tc>
                  <a:txBody>
                    <a:bodyPr/>
                    <a:lstStyle/>
                    <a:p>
                      <a:r>
                        <a:rPr lang="en-ZA" sz="1800" b="1" dirty="0"/>
                        <a:t>Week </a:t>
                      </a:r>
                      <a:r>
                        <a:rPr lang="en-ZA" sz="1800" b="1" dirty="0" smtClean="0"/>
                        <a:t>3</a:t>
                      </a:r>
                      <a:endParaRPr lang="en-ZA" sz="1800" b="1" dirty="0"/>
                    </a:p>
                  </a:txBody>
                  <a:tcPr/>
                </a:tc>
                <a:tc>
                  <a:txBody>
                    <a:bodyPr/>
                    <a:lstStyle/>
                    <a:p>
                      <a:r>
                        <a:rPr lang="en-ZA" sz="1800" b="1" dirty="0" smtClean="0"/>
                        <a:t>Numbers,</a:t>
                      </a:r>
                      <a:r>
                        <a:rPr lang="en-ZA" sz="1800" b="1" baseline="0" dirty="0" smtClean="0"/>
                        <a:t> operations and relationships.</a:t>
                      </a:r>
                    </a:p>
                    <a:p>
                      <a:pPr marL="0" indent="0">
                        <a:buFontTx/>
                        <a:buNone/>
                      </a:pPr>
                      <a:endParaRPr lang="en-ZA" sz="1800" b="1" baseline="0" dirty="0" smtClean="0"/>
                    </a:p>
                  </a:txBody>
                  <a:tcPr/>
                </a:tc>
                <a:extLst>
                  <a:ext uri="{0D108BD9-81ED-4DB2-BD59-A6C34878D82A}">
                    <a16:rowId xmlns:a16="http://schemas.microsoft.com/office/drawing/2014/main" val="456379601"/>
                  </a:ext>
                </a:extLst>
              </a:tr>
              <a:tr h="676206">
                <a:tc>
                  <a:txBody>
                    <a:bodyPr/>
                    <a:lstStyle/>
                    <a:p>
                      <a:r>
                        <a:rPr lang="en-ZA" sz="1800" b="1" dirty="0"/>
                        <a:t>Week </a:t>
                      </a:r>
                      <a:r>
                        <a:rPr lang="en-ZA" sz="1800" b="1" dirty="0" smtClean="0"/>
                        <a:t>4</a:t>
                      </a:r>
                      <a:endParaRPr lang="en-ZA" sz="1800" b="1" dirty="0"/>
                    </a:p>
                  </a:txBody>
                  <a:tcPr/>
                </a:tc>
                <a:tc>
                  <a:txBody>
                    <a:bodyPr/>
                    <a:lstStyle/>
                    <a:p>
                      <a:r>
                        <a:rPr lang="en-ZA" sz="1800" b="1" dirty="0" smtClean="0"/>
                        <a:t>Assessment</a:t>
                      </a:r>
                      <a:r>
                        <a:rPr lang="en-ZA" sz="1800" b="1" baseline="0" dirty="0" smtClean="0"/>
                        <a:t> week</a:t>
                      </a:r>
                      <a:endParaRPr lang="en-ZA" sz="1800" b="1" dirty="0"/>
                    </a:p>
                  </a:txBody>
                  <a:tcPr/>
                </a:tc>
                <a:extLst>
                  <a:ext uri="{0D108BD9-81ED-4DB2-BD59-A6C34878D82A}">
                    <a16:rowId xmlns:a16="http://schemas.microsoft.com/office/drawing/2014/main" val="13967798"/>
                  </a:ext>
                </a:extLst>
              </a:tr>
              <a:tr h="1450402">
                <a:tc>
                  <a:txBody>
                    <a:bodyPr/>
                    <a:lstStyle/>
                    <a:p>
                      <a:r>
                        <a:rPr lang="en-ZA" sz="1800" b="1" dirty="0"/>
                        <a:t>Week </a:t>
                      </a:r>
                      <a:r>
                        <a:rPr lang="en-ZA" sz="1800" b="1" dirty="0" smtClean="0"/>
                        <a:t>5</a:t>
                      </a:r>
                      <a:endParaRPr lang="en-ZA" sz="1800" b="1" dirty="0"/>
                    </a:p>
                  </a:txBody>
                  <a:tcPr/>
                </a:tc>
                <a:tc>
                  <a:txBody>
                    <a:bodyPr/>
                    <a:lstStyle/>
                    <a:p>
                      <a:r>
                        <a:rPr lang="en-ZA" sz="1800" b="1" dirty="0" smtClean="0"/>
                        <a:t>Space</a:t>
                      </a:r>
                      <a:r>
                        <a:rPr lang="en-ZA" sz="1800" b="1" baseline="0" dirty="0" smtClean="0"/>
                        <a:t> and shape</a:t>
                      </a:r>
                    </a:p>
                    <a:p>
                      <a:endParaRPr lang="en-ZA" sz="1800" b="1" dirty="0"/>
                    </a:p>
                  </a:txBody>
                  <a:tcPr/>
                </a:tc>
                <a:extLst>
                  <a:ext uri="{0D108BD9-81ED-4DB2-BD59-A6C34878D82A}">
                    <a16:rowId xmlns:a16="http://schemas.microsoft.com/office/drawing/2014/main" val="1662244875"/>
                  </a:ext>
                </a:extLst>
              </a:tr>
            </a:tbl>
          </a:graphicData>
        </a:graphic>
      </p:graphicFrame>
    </p:spTree>
    <p:extLst>
      <p:ext uri="{BB962C8B-B14F-4D97-AF65-F5344CB8AC3E}">
        <p14:creationId xmlns:p14="http://schemas.microsoft.com/office/powerpoint/2010/main" val="15472644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B17A4-2DA0-4508-AB92-00378BA28FCC}"/>
              </a:ext>
            </a:extLst>
          </p:cNvPr>
          <p:cNvSpPr>
            <a:spLocks noGrp="1"/>
          </p:cNvSpPr>
          <p:nvPr>
            <p:ph type="title"/>
          </p:nvPr>
        </p:nvSpPr>
        <p:spPr>
          <a:xfrm>
            <a:off x="646111" y="-254642"/>
            <a:ext cx="9404723" cy="844951"/>
          </a:xfrm>
        </p:spPr>
        <p:txBody>
          <a:bodyPr>
            <a:normAutofit fontScale="90000"/>
          </a:bodyPr>
          <a:lstStyle/>
          <a:p>
            <a:r>
              <a:rPr lang="en-ZA" sz="6000" b="1" dirty="0"/>
              <a:t>      </a:t>
            </a:r>
            <a:r>
              <a:rPr lang="en-ZA" sz="6000" b="1" dirty="0" smtClean="0"/>
              <a:t>       </a:t>
            </a:r>
            <a:r>
              <a:rPr lang="en-ZA" sz="3200" b="1" dirty="0"/>
              <a:t>LESSON PLAN CONTENT</a:t>
            </a:r>
          </a:p>
        </p:txBody>
      </p:sp>
      <p:graphicFrame>
        <p:nvGraphicFramePr>
          <p:cNvPr id="4" name="Table 4">
            <a:extLst>
              <a:ext uri="{FF2B5EF4-FFF2-40B4-BE49-F238E27FC236}">
                <a16:creationId xmlns:a16="http://schemas.microsoft.com/office/drawing/2014/main" id="{22141332-7440-49C9-8C2B-839EF51D5A12}"/>
              </a:ext>
            </a:extLst>
          </p:cNvPr>
          <p:cNvGraphicFramePr>
            <a:graphicFrameLocks noGrp="1"/>
          </p:cNvGraphicFramePr>
          <p:nvPr>
            <p:ph idx="1"/>
            <p:extLst>
              <p:ext uri="{D42A27DB-BD31-4B8C-83A1-F6EECF244321}">
                <p14:modId xmlns:p14="http://schemas.microsoft.com/office/powerpoint/2010/main" val="2504694085"/>
              </p:ext>
            </p:extLst>
          </p:nvPr>
        </p:nvGraphicFramePr>
        <p:xfrm>
          <a:off x="503583" y="509290"/>
          <a:ext cx="10955354" cy="5997018"/>
        </p:xfrm>
        <a:graphic>
          <a:graphicData uri="http://schemas.openxmlformats.org/drawingml/2006/table">
            <a:tbl>
              <a:tblPr firstRow="1" bandRow="1">
                <a:tableStyleId>{5C22544A-7EE6-4342-B048-85BDC9FD1C3A}</a:tableStyleId>
              </a:tblPr>
              <a:tblGrid>
                <a:gridCol w="5472495">
                  <a:extLst>
                    <a:ext uri="{9D8B030D-6E8A-4147-A177-3AD203B41FA5}">
                      <a16:colId xmlns:a16="http://schemas.microsoft.com/office/drawing/2014/main" val="2207677980"/>
                    </a:ext>
                  </a:extLst>
                </a:gridCol>
                <a:gridCol w="5482859">
                  <a:extLst>
                    <a:ext uri="{9D8B030D-6E8A-4147-A177-3AD203B41FA5}">
                      <a16:colId xmlns:a16="http://schemas.microsoft.com/office/drawing/2014/main" val="4232579930"/>
                    </a:ext>
                  </a:extLst>
                </a:gridCol>
              </a:tblGrid>
              <a:tr h="1511117">
                <a:tc>
                  <a:txBody>
                    <a:bodyPr/>
                    <a:lstStyle/>
                    <a:p>
                      <a:r>
                        <a:rPr lang="en-ZA" sz="1800" b="1" dirty="0"/>
                        <a:t>Week </a:t>
                      </a:r>
                      <a:r>
                        <a:rPr lang="en-ZA" sz="1800" b="1" dirty="0" smtClean="0"/>
                        <a:t>6</a:t>
                      </a:r>
                      <a:endParaRPr lang="en-ZA" sz="1800" b="1" dirty="0"/>
                    </a:p>
                  </a:txBody>
                  <a:tcPr/>
                </a:tc>
                <a:tc>
                  <a:txBody>
                    <a:bodyPr/>
                    <a:lstStyle/>
                    <a:p>
                      <a:r>
                        <a:rPr lang="en-ZA" sz="1800" b="1" baseline="0" dirty="0" smtClean="0"/>
                        <a:t>Space and shape</a:t>
                      </a:r>
                    </a:p>
                    <a:p>
                      <a:endParaRPr lang="en-ZA" sz="1800" b="1" baseline="0" dirty="0" smtClean="0"/>
                    </a:p>
                  </a:txBody>
                  <a:tcPr/>
                </a:tc>
                <a:extLst>
                  <a:ext uri="{0D108BD9-81ED-4DB2-BD59-A6C34878D82A}">
                    <a16:rowId xmlns:a16="http://schemas.microsoft.com/office/drawing/2014/main" val="1043533483"/>
                  </a:ext>
                </a:extLst>
              </a:tr>
              <a:tr h="1637042">
                <a:tc>
                  <a:txBody>
                    <a:bodyPr/>
                    <a:lstStyle/>
                    <a:p>
                      <a:r>
                        <a:rPr lang="en-ZA" sz="1800" b="1" dirty="0" smtClean="0"/>
                        <a:t>Week</a:t>
                      </a:r>
                      <a:r>
                        <a:rPr lang="en-ZA" sz="1800" b="1" baseline="0" dirty="0" smtClean="0"/>
                        <a:t> 7</a:t>
                      </a:r>
                      <a:endParaRPr lang="en-ZA" sz="1800" b="1" dirty="0"/>
                    </a:p>
                  </a:txBody>
                  <a:tcPr/>
                </a:tc>
                <a:tc>
                  <a:txBody>
                    <a:bodyPr/>
                    <a:lstStyle/>
                    <a:p>
                      <a:r>
                        <a:rPr lang="en-ZA" sz="1800" b="1" baseline="0" dirty="0" smtClean="0"/>
                        <a:t>Assessment week</a:t>
                      </a:r>
                    </a:p>
                  </a:txBody>
                  <a:tcPr/>
                </a:tc>
                <a:extLst>
                  <a:ext uri="{0D108BD9-81ED-4DB2-BD59-A6C34878D82A}">
                    <a16:rowId xmlns:a16="http://schemas.microsoft.com/office/drawing/2014/main" val="456379601"/>
                  </a:ext>
                </a:extLst>
              </a:tr>
              <a:tr h="997101">
                <a:tc>
                  <a:txBody>
                    <a:bodyPr/>
                    <a:lstStyle/>
                    <a:p>
                      <a:r>
                        <a:rPr lang="en-ZA" sz="1800" b="1" dirty="0" smtClean="0"/>
                        <a:t>Week</a:t>
                      </a:r>
                      <a:r>
                        <a:rPr lang="en-ZA" sz="1800" b="1" baseline="0" dirty="0" smtClean="0"/>
                        <a:t> 8</a:t>
                      </a:r>
                      <a:endParaRPr lang="en-ZA" sz="1800" b="1" dirty="0"/>
                    </a:p>
                  </a:txBody>
                  <a:tcPr/>
                </a:tc>
                <a:tc>
                  <a:txBody>
                    <a:bodyPr/>
                    <a:lstStyle/>
                    <a:p>
                      <a:r>
                        <a:rPr lang="en-ZA" sz="1800" b="1" dirty="0" smtClean="0"/>
                        <a:t>Data</a:t>
                      </a:r>
                      <a:r>
                        <a:rPr lang="en-ZA" sz="1800" b="1" baseline="0" dirty="0" smtClean="0"/>
                        <a:t> handling</a:t>
                      </a:r>
                    </a:p>
                    <a:p>
                      <a:endParaRPr lang="en-ZA" sz="1800" b="1" dirty="0"/>
                    </a:p>
                  </a:txBody>
                  <a:tcPr/>
                </a:tc>
                <a:extLst>
                  <a:ext uri="{0D108BD9-81ED-4DB2-BD59-A6C34878D82A}">
                    <a16:rowId xmlns:a16="http://schemas.microsoft.com/office/drawing/2014/main" val="13967798"/>
                  </a:ext>
                </a:extLst>
              </a:tr>
              <a:tr h="1851758">
                <a:tc>
                  <a:txBody>
                    <a:bodyPr/>
                    <a:lstStyle/>
                    <a:p>
                      <a:r>
                        <a:rPr lang="en-ZA" sz="1800" b="1" dirty="0"/>
                        <a:t>Week </a:t>
                      </a:r>
                      <a:r>
                        <a:rPr lang="en-ZA" sz="1800" b="1" dirty="0" smtClean="0"/>
                        <a:t>9</a:t>
                      </a:r>
                      <a:endParaRPr lang="en-ZA" sz="1800" b="1" dirty="0"/>
                    </a:p>
                  </a:txBody>
                  <a:tcPr/>
                </a:tc>
                <a:tc>
                  <a:txBody>
                    <a:bodyPr/>
                    <a:lstStyle/>
                    <a:p>
                      <a:r>
                        <a:rPr lang="en-ZA" sz="1800" b="1" baseline="0" dirty="0" smtClean="0"/>
                        <a:t>- Measurement </a:t>
                      </a:r>
                    </a:p>
                    <a:p>
                      <a:pPr marL="0" indent="0">
                        <a:buFontTx/>
                        <a:buNone/>
                      </a:pPr>
                      <a:endParaRPr lang="en-ZA" sz="1800" b="1" baseline="0" dirty="0" smtClean="0"/>
                    </a:p>
                    <a:p>
                      <a:pPr marL="0" indent="0">
                        <a:buFontTx/>
                        <a:buNone/>
                      </a:pPr>
                      <a:r>
                        <a:rPr lang="en-ZA" sz="1800" b="1" baseline="0" dirty="0" smtClean="0"/>
                        <a:t>- Patterns </a:t>
                      </a:r>
                    </a:p>
                    <a:p>
                      <a:pPr marL="0" indent="0">
                        <a:buFontTx/>
                        <a:buNone/>
                      </a:pPr>
                      <a:endParaRPr lang="en-ZA" sz="1800" b="1" baseline="0" dirty="0" smtClean="0"/>
                    </a:p>
                  </a:txBody>
                  <a:tcPr/>
                </a:tc>
                <a:extLst>
                  <a:ext uri="{0D108BD9-81ED-4DB2-BD59-A6C34878D82A}">
                    <a16:rowId xmlns:a16="http://schemas.microsoft.com/office/drawing/2014/main" val="1662244875"/>
                  </a:ext>
                </a:extLst>
              </a:tr>
            </a:tbl>
          </a:graphicData>
        </a:graphic>
      </p:graphicFrame>
    </p:spTree>
    <p:extLst>
      <p:ext uri="{BB962C8B-B14F-4D97-AF65-F5344CB8AC3E}">
        <p14:creationId xmlns:p14="http://schemas.microsoft.com/office/powerpoint/2010/main" val="879118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B17A4-2DA0-4508-AB92-00378BA28FCC}"/>
              </a:ext>
            </a:extLst>
          </p:cNvPr>
          <p:cNvSpPr>
            <a:spLocks noGrp="1"/>
          </p:cNvSpPr>
          <p:nvPr>
            <p:ph type="title"/>
          </p:nvPr>
        </p:nvSpPr>
        <p:spPr>
          <a:xfrm>
            <a:off x="646111" y="-254642"/>
            <a:ext cx="9404723" cy="844951"/>
          </a:xfrm>
        </p:spPr>
        <p:txBody>
          <a:bodyPr>
            <a:normAutofit fontScale="90000"/>
          </a:bodyPr>
          <a:lstStyle/>
          <a:p>
            <a:r>
              <a:rPr lang="en-ZA" sz="6000" b="1" dirty="0"/>
              <a:t>      </a:t>
            </a:r>
            <a:r>
              <a:rPr lang="en-ZA" sz="6000" b="1" dirty="0" smtClean="0"/>
              <a:t>       </a:t>
            </a:r>
            <a:r>
              <a:rPr lang="en-ZA" sz="3200" b="1" dirty="0"/>
              <a:t>LESSON PLAN CONTENT</a:t>
            </a:r>
          </a:p>
        </p:txBody>
      </p:sp>
      <p:graphicFrame>
        <p:nvGraphicFramePr>
          <p:cNvPr id="4" name="Table 4">
            <a:extLst>
              <a:ext uri="{FF2B5EF4-FFF2-40B4-BE49-F238E27FC236}">
                <a16:creationId xmlns:a16="http://schemas.microsoft.com/office/drawing/2014/main" id="{22141332-7440-49C9-8C2B-839EF51D5A12}"/>
              </a:ext>
            </a:extLst>
          </p:cNvPr>
          <p:cNvGraphicFramePr>
            <a:graphicFrameLocks noGrp="1"/>
          </p:cNvGraphicFramePr>
          <p:nvPr>
            <p:ph idx="1"/>
            <p:extLst>
              <p:ext uri="{D42A27DB-BD31-4B8C-83A1-F6EECF244321}">
                <p14:modId xmlns:p14="http://schemas.microsoft.com/office/powerpoint/2010/main" val="1267224013"/>
              </p:ext>
            </p:extLst>
          </p:nvPr>
        </p:nvGraphicFramePr>
        <p:xfrm>
          <a:off x="503583" y="509288"/>
          <a:ext cx="10955354" cy="5985296"/>
        </p:xfrm>
        <a:graphic>
          <a:graphicData uri="http://schemas.openxmlformats.org/drawingml/2006/table">
            <a:tbl>
              <a:tblPr firstRow="1" bandRow="1">
                <a:tableStyleId>{5C22544A-7EE6-4342-B048-85BDC9FD1C3A}</a:tableStyleId>
              </a:tblPr>
              <a:tblGrid>
                <a:gridCol w="5472495">
                  <a:extLst>
                    <a:ext uri="{9D8B030D-6E8A-4147-A177-3AD203B41FA5}">
                      <a16:colId xmlns:a16="http://schemas.microsoft.com/office/drawing/2014/main" val="2207677980"/>
                    </a:ext>
                  </a:extLst>
                </a:gridCol>
                <a:gridCol w="5482859">
                  <a:extLst>
                    <a:ext uri="{9D8B030D-6E8A-4147-A177-3AD203B41FA5}">
                      <a16:colId xmlns:a16="http://schemas.microsoft.com/office/drawing/2014/main" val="4232579930"/>
                    </a:ext>
                  </a:extLst>
                </a:gridCol>
              </a:tblGrid>
              <a:tr h="1810883">
                <a:tc>
                  <a:txBody>
                    <a:bodyPr/>
                    <a:lstStyle/>
                    <a:p>
                      <a:r>
                        <a:rPr lang="en-ZA" sz="1800" b="1" dirty="0"/>
                        <a:t>Week </a:t>
                      </a:r>
                      <a:r>
                        <a:rPr lang="en-ZA" sz="1800" b="1" dirty="0" smtClean="0"/>
                        <a:t>10</a:t>
                      </a:r>
                      <a:endParaRPr lang="en-ZA" sz="1800" b="1" dirty="0"/>
                    </a:p>
                  </a:txBody>
                  <a:tcPr/>
                </a:tc>
                <a:tc>
                  <a:txBody>
                    <a:bodyPr/>
                    <a:lstStyle/>
                    <a:p>
                      <a:r>
                        <a:rPr lang="en-ZA" sz="1800" b="1" baseline="0" dirty="0" smtClean="0"/>
                        <a:t>Assessment week</a:t>
                      </a:r>
                    </a:p>
                  </a:txBody>
                  <a:tcPr/>
                </a:tc>
                <a:extLst>
                  <a:ext uri="{0D108BD9-81ED-4DB2-BD59-A6C34878D82A}">
                    <a16:rowId xmlns:a16="http://schemas.microsoft.com/office/drawing/2014/main" val="1043533483"/>
                  </a:ext>
                </a:extLst>
              </a:tr>
              <a:tr h="1961789">
                <a:tc>
                  <a:txBody>
                    <a:bodyPr/>
                    <a:lstStyle/>
                    <a:p>
                      <a:endParaRPr lang="en-ZA" sz="1800" b="1" dirty="0"/>
                    </a:p>
                  </a:txBody>
                  <a:tcPr/>
                </a:tc>
                <a:tc>
                  <a:txBody>
                    <a:bodyPr/>
                    <a:lstStyle/>
                    <a:p>
                      <a:endParaRPr lang="en-ZA" sz="1800" b="1" baseline="0" dirty="0" smtClean="0"/>
                    </a:p>
                  </a:txBody>
                  <a:tcPr/>
                </a:tc>
                <a:extLst>
                  <a:ext uri="{0D108BD9-81ED-4DB2-BD59-A6C34878D82A}">
                    <a16:rowId xmlns:a16="http://schemas.microsoft.com/office/drawing/2014/main" val="456379601"/>
                  </a:ext>
                </a:extLst>
              </a:tr>
              <a:tr h="703557">
                <a:tc>
                  <a:txBody>
                    <a:bodyPr/>
                    <a:lstStyle/>
                    <a:p>
                      <a:endParaRPr lang="en-ZA" sz="1800" b="1" dirty="0"/>
                    </a:p>
                  </a:txBody>
                  <a:tcPr/>
                </a:tc>
                <a:tc>
                  <a:txBody>
                    <a:bodyPr/>
                    <a:lstStyle/>
                    <a:p>
                      <a:endParaRPr lang="en-ZA" sz="1800" b="1" baseline="0" dirty="0" smtClean="0"/>
                    </a:p>
                  </a:txBody>
                  <a:tcPr/>
                </a:tc>
                <a:extLst>
                  <a:ext uri="{0D108BD9-81ED-4DB2-BD59-A6C34878D82A}">
                    <a16:rowId xmlns:a16="http://schemas.microsoft.com/office/drawing/2014/main" val="13967798"/>
                  </a:ext>
                </a:extLst>
              </a:tr>
              <a:tr h="1509067">
                <a:tc>
                  <a:txBody>
                    <a:bodyPr/>
                    <a:lstStyle/>
                    <a:p>
                      <a:endParaRPr lang="en-ZA" sz="1800" b="1" dirty="0"/>
                    </a:p>
                  </a:txBody>
                  <a:tcPr/>
                </a:tc>
                <a:tc>
                  <a:txBody>
                    <a:bodyPr/>
                    <a:lstStyle/>
                    <a:p>
                      <a:endParaRPr lang="en-ZA" sz="1800" b="1" baseline="0" dirty="0" smtClean="0"/>
                    </a:p>
                  </a:txBody>
                  <a:tcPr/>
                </a:tc>
                <a:extLst>
                  <a:ext uri="{0D108BD9-81ED-4DB2-BD59-A6C34878D82A}">
                    <a16:rowId xmlns:a16="http://schemas.microsoft.com/office/drawing/2014/main" val="1662244875"/>
                  </a:ext>
                </a:extLst>
              </a:tr>
            </a:tbl>
          </a:graphicData>
        </a:graphic>
      </p:graphicFrame>
    </p:spTree>
    <p:extLst>
      <p:ext uri="{BB962C8B-B14F-4D97-AF65-F5344CB8AC3E}">
        <p14:creationId xmlns:p14="http://schemas.microsoft.com/office/powerpoint/2010/main" val="1419498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D080E-39AF-42ED-A45B-561542F1FAA4}"/>
              </a:ext>
            </a:extLst>
          </p:cNvPr>
          <p:cNvSpPr>
            <a:spLocks noGrp="1"/>
          </p:cNvSpPr>
          <p:nvPr>
            <p:ph type="title"/>
          </p:nvPr>
        </p:nvSpPr>
        <p:spPr>
          <a:xfrm>
            <a:off x="646111" y="-92596"/>
            <a:ext cx="9404723" cy="891250"/>
          </a:xfrm>
        </p:spPr>
        <p:txBody>
          <a:bodyPr>
            <a:normAutofit fontScale="90000"/>
          </a:bodyPr>
          <a:lstStyle/>
          <a:p>
            <a:r>
              <a:rPr lang="en-ZA" sz="6000" b="1" dirty="0" smtClean="0"/>
              <a:t>             </a:t>
            </a:r>
            <a:r>
              <a:rPr lang="en-ZA" sz="3600" b="1" dirty="0" smtClean="0"/>
              <a:t>LESSON </a:t>
            </a:r>
            <a:r>
              <a:rPr lang="en-ZA" sz="3600" b="1" dirty="0"/>
              <a:t>OBJECTIVES</a:t>
            </a:r>
          </a:p>
        </p:txBody>
      </p:sp>
      <p:sp>
        <p:nvSpPr>
          <p:cNvPr id="3" name="Content Placeholder 2">
            <a:extLst>
              <a:ext uri="{FF2B5EF4-FFF2-40B4-BE49-F238E27FC236}">
                <a16:creationId xmlns:a16="http://schemas.microsoft.com/office/drawing/2014/main" id="{9607C941-F883-4022-BE28-7614D1287B70}"/>
              </a:ext>
            </a:extLst>
          </p:cNvPr>
          <p:cNvSpPr>
            <a:spLocks noGrp="1"/>
          </p:cNvSpPr>
          <p:nvPr>
            <p:ph idx="1"/>
          </p:nvPr>
        </p:nvSpPr>
        <p:spPr>
          <a:xfrm>
            <a:off x="1103312" y="891252"/>
            <a:ext cx="8946541" cy="5357148"/>
          </a:xfrm>
        </p:spPr>
        <p:txBody>
          <a:bodyPr>
            <a:normAutofit fontScale="92500" lnSpcReduction="10000"/>
          </a:bodyPr>
          <a:lstStyle/>
          <a:p>
            <a:r>
              <a:rPr lang="en-US" dirty="0"/>
              <a:t>To use mathematical knowledge and skills learnt in the classroom and to apply them in the real </a:t>
            </a:r>
            <a:r>
              <a:rPr lang="en-US" dirty="0" smtClean="0"/>
              <a:t>world.</a:t>
            </a:r>
          </a:p>
          <a:p>
            <a:r>
              <a:rPr lang="en-US" dirty="0" smtClean="0"/>
              <a:t> To </a:t>
            </a:r>
            <a:r>
              <a:rPr lang="en-US" dirty="0"/>
              <a:t>equip the learners, irrespective of their socio background, race, gender, physical ability or intellectual ability, with the knowledge, skills and values necessary for </a:t>
            </a:r>
            <a:r>
              <a:rPr lang="en-US" dirty="0" err="1" smtClean="0"/>
              <a:t>self-fulfilment</a:t>
            </a:r>
            <a:r>
              <a:rPr lang="en-US" dirty="0" smtClean="0"/>
              <a:t> </a:t>
            </a:r>
            <a:r>
              <a:rPr lang="en-US" dirty="0"/>
              <a:t>and meaningful participation in the society as a citizen of the free country. </a:t>
            </a:r>
            <a:endParaRPr lang="en-US" dirty="0" smtClean="0"/>
          </a:p>
          <a:p>
            <a:r>
              <a:rPr lang="en-US" dirty="0" smtClean="0"/>
              <a:t>Facilitating </a:t>
            </a:r>
            <a:r>
              <a:rPr lang="en-US" dirty="0"/>
              <a:t>the transition of learners from educational institution to work in the community e.g. Community Development Worker (CDW) or a sheltered workplace</a:t>
            </a:r>
            <a:r>
              <a:rPr lang="en-US" dirty="0" smtClean="0"/>
              <a:t>.</a:t>
            </a:r>
          </a:p>
          <a:p>
            <a:r>
              <a:rPr lang="en-US" dirty="0" smtClean="0"/>
              <a:t> </a:t>
            </a:r>
            <a:r>
              <a:rPr lang="en-US" dirty="0"/>
              <a:t>It helps the teacher to be able to:  create a leaner’s profile of competences - the profile will bridge the gap between the home and the school;  identify what the learner knows, can do and demonstrate in the teaching and learning </a:t>
            </a:r>
            <a:r>
              <a:rPr lang="en-US" dirty="0" smtClean="0"/>
              <a:t>situation.</a:t>
            </a:r>
          </a:p>
          <a:p>
            <a:r>
              <a:rPr lang="en-US" dirty="0"/>
              <a:t>work effectively as individuals in/or a member of a </a:t>
            </a:r>
            <a:r>
              <a:rPr lang="en-US" dirty="0" smtClean="0"/>
              <a:t>team.</a:t>
            </a:r>
          </a:p>
          <a:p>
            <a:r>
              <a:rPr lang="en-US" dirty="0"/>
              <a:t>Communicate effectively or by using Augmentative Alternative Communication (AAC) and other communicative devices (Sign language, Braille, etc.</a:t>
            </a:r>
            <a:endParaRPr lang="en-GB" sz="2000" dirty="0"/>
          </a:p>
        </p:txBody>
      </p:sp>
    </p:spTree>
    <p:extLst>
      <p:ext uri="{BB962C8B-B14F-4D97-AF65-F5344CB8AC3E}">
        <p14:creationId xmlns:p14="http://schemas.microsoft.com/office/powerpoint/2010/main" val="2843865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B17A4-2DA0-4508-AB92-00378BA28FCC}"/>
              </a:ext>
            </a:extLst>
          </p:cNvPr>
          <p:cNvSpPr>
            <a:spLocks noGrp="1"/>
          </p:cNvSpPr>
          <p:nvPr>
            <p:ph type="title"/>
          </p:nvPr>
        </p:nvSpPr>
        <p:spPr>
          <a:xfrm>
            <a:off x="646111" y="-254642"/>
            <a:ext cx="9404723" cy="844951"/>
          </a:xfrm>
        </p:spPr>
        <p:txBody>
          <a:bodyPr>
            <a:normAutofit fontScale="90000"/>
          </a:bodyPr>
          <a:lstStyle/>
          <a:p>
            <a:r>
              <a:rPr lang="en-ZA" sz="6000" b="1" dirty="0"/>
              <a:t>      </a:t>
            </a:r>
            <a:r>
              <a:rPr lang="en-ZA" sz="6000" b="1" dirty="0" smtClean="0"/>
              <a:t>       </a:t>
            </a:r>
            <a:r>
              <a:rPr lang="en-ZA" sz="3200" b="1" dirty="0" smtClean="0"/>
              <a:t>Assessment Goals</a:t>
            </a:r>
            <a:endParaRPr lang="en-ZA" sz="3200" b="1" dirty="0"/>
          </a:p>
        </p:txBody>
      </p:sp>
      <p:graphicFrame>
        <p:nvGraphicFramePr>
          <p:cNvPr id="4" name="Table 4">
            <a:extLst>
              <a:ext uri="{FF2B5EF4-FFF2-40B4-BE49-F238E27FC236}">
                <a16:creationId xmlns:a16="http://schemas.microsoft.com/office/drawing/2014/main" id="{22141332-7440-49C9-8C2B-839EF51D5A12}"/>
              </a:ext>
            </a:extLst>
          </p:cNvPr>
          <p:cNvGraphicFramePr>
            <a:graphicFrameLocks noGrp="1"/>
          </p:cNvGraphicFramePr>
          <p:nvPr>
            <p:ph idx="1"/>
            <p:extLst>
              <p:ext uri="{D42A27DB-BD31-4B8C-83A1-F6EECF244321}">
                <p14:modId xmlns:p14="http://schemas.microsoft.com/office/powerpoint/2010/main" val="1336828802"/>
              </p:ext>
            </p:extLst>
          </p:nvPr>
        </p:nvGraphicFramePr>
        <p:xfrm>
          <a:off x="503583" y="706055"/>
          <a:ext cx="10955354" cy="5555849"/>
        </p:xfrm>
        <a:graphic>
          <a:graphicData uri="http://schemas.openxmlformats.org/drawingml/2006/table">
            <a:tbl>
              <a:tblPr firstRow="1" bandRow="1">
                <a:tableStyleId>{5C22544A-7EE6-4342-B048-85BDC9FD1C3A}</a:tableStyleId>
              </a:tblPr>
              <a:tblGrid>
                <a:gridCol w="5472495">
                  <a:extLst>
                    <a:ext uri="{9D8B030D-6E8A-4147-A177-3AD203B41FA5}">
                      <a16:colId xmlns:a16="http://schemas.microsoft.com/office/drawing/2014/main" val="2207677980"/>
                    </a:ext>
                  </a:extLst>
                </a:gridCol>
                <a:gridCol w="5482859">
                  <a:extLst>
                    <a:ext uri="{9D8B030D-6E8A-4147-A177-3AD203B41FA5}">
                      <a16:colId xmlns:a16="http://schemas.microsoft.com/office/drawing/2014/main" val="4232579930"/>
                    </a:ext>
                  </a:extLst>
                </a:gridCol>
              </a:tblGrid>
              <a:tr h="1543717">
                <a:tc>
                  <a:txBody>
                    <a:bodyPr/>
                    <a:lstStyle/>
                    <a:p>
                      <a:r>
                        <a:rPr lang="en-ZA" sz="1800" b="1" dirty="0" smtClean="0"/>
                        <a:t>Numbers</a:t>
                      </a:r>
                      <a:r>
                        <a:rPr lang="en-ZA" sz="1800" b="1" baseline="0" dirty="0" smtClean="0"/>
                        <a:t>, operations and relationships.</a:t>
                      </a:r>
                      <a:endParaRPr lang="en-ZA" sz="1800" b="1" dirty="0"/>
                    </a:p>
                  </a:txBody>
                  <a:tcPr/>
                </a:tc>
                <a:tc>
                  <a:txBody>
                    <a:bodyPr/>
                    <a:lstStyle/>
                    <a:p>
                      <a:pPr marL="0" indent="0">
                        <a:buFontTx/>
                        <a:buNone/>
                      </a:pPr>
                      <a:r>
                        <a:rPr lang="en-ZA" sz="1800" b="1" baseline="0" dirty="0" smtClean="0"/>
                        <a:t>- </a:t>
                      </a:r>
                      <a:r>
                        <a:rPr lang="en-ZA" sz="1600" b="1" baseline="0" dirty="0" smtClean="0"/>
                        <a:t>Count forward and backwards up to 30 from a given number.</a:t>
                      </a:r>
                    </a:p>
                    <a:p>
                      <a:pPr marL="285750" indent="-285750">
                        <a:buFontTx/>
                        <a:buChar char="-"/>
                      </a:pPr>
                      <a:r>
                        <a:rPr lang="en-ZA" sz="1600" b="1" baseline="0" dirty="0" smtClean="0"/>
                        <a:t>Identify number symbols and number names.</a:t>
                      </a:r>
                      <a:endParaRPr lang="en-ZA" sz="1800" b="1" dirty="0"/>
                    </a:p>
                  </a:txBody>
                  <a:tcPr/>
                </a:tc>
                <a:extLst>
                  <a:ext uri="{0D108BD9-81ED-4DB2-BD59-A6C34878D82A}">
                    <a16:rowId xmlns:a16="http://schemas.microsoft.com/office/drawing/2014/main" val="1043533483"/>
                  </a:ext>
                </a:extLst>
              </a:tr>
              <a:tr h="1885524">
                <a:tc>
                  <a:txBody>
                    <a:bodyPr/>
                    <a:lstStyle/>
                    <a:p>
                      <a:r>
                        <a:rPr lang="en-ZA" sz="1800" b="1" dirty="0" smtClean="0"/>
                        <a:t>Numbers</a:t>
                      </a:r>
                      <a:r>
                        <a:rPr lang="en-ZA" sz="1800" b="1" baseline="0" dirty="0" smtClean="0"/>
                        <a:t> operations and relation ships</a:t>
                      </a:r>
                      <a:endParaRPr lang="en-ZA" sz="1800" b="1" dirty="0"/>
                    </a:p>
                  </a:txBody>
                  <a:tcPr/>
                </a:tc>
                <a:tc>
                  <a:txBody>
                    <a:bodyPr/>
                    <a:lstStyle/>
                    <a:p>
                      <a:pPr marL="0" indent="0">
                        <a:buFontTx/>
                        <a:buNone/>
                      </a:pPr>
                      <a:r>
                        <a:rPr lang="en-ZA" sz="1800" b="1" baseline="0" dirty="0" smtClean="0"/>
                        <a:t>- Recognize and identify the South African coins.</a:t>
                      </a:r>
                    </a:p>
                    <a:p>
                      <a:pPr marL="285750" indent="-285750">
                        <a:buFontTx/>
                        <a:buChar char="-"/>
                      </a:pPr>
                      <a:r>
                        <a:rPr lang="en-ZA" sz="1800" b="1" baseline="0" dirty="0" smtClean="0"/>
                        <a:t>Addition and subtraction of money.</a:t>
                      </a:r>
                      <a:endParaRPr lang="en-ZA" sz="1800" b="1" dirty="0"/>
                    </a:p>
                  </a:txBody>
                  <a:tcPr/>
                </a:tc>
                <a:extLst>
                  <a:ext uri="{0D108BD9-81ED-4DB2-BD59-A6C34878D82A}">
                    <a16:rowId xmlns:a16="http://schemas.microsoft.com/office/drawing/2014/main" val="456379601"/>
                  </a:ext>
                </a:extLst>
              </a:tr>
              <a:tr h="676206">
                <a:tc>
                  <a:txBody>
                    <a:bodyPr/>
                    <a:lstStyle/>
                    <a:p>
                      <a:r>
                        <a:rPr lang="en-ZA" sz="1800" b="1" dirty="0" smtClean="0"/>
                        <a:t>Space</a:t>
                      </a:r>
                      <a:r>
                        <a:rPr lang="en-ZA" sz="1800" b="1" baseline="0" dirty="0" smtClean="0"/>
                        <a:t> and shape</a:t>
                      </a:r>
                      <a:endParaRPr lang="en-ZA" sz="1800" b="1" dirty="0"/>
                    </a:p>
                  </a:txBody>
                  <a:tcPr/>
                </a:tc>
                <a:tc>
                  <a:txBody>
                    <a:bodyPr/>
                    <a:lstStyle/>
                    <a:p>
                      <a:r>
                        <a:rPr lang="en-ZA" sz="1800" b="1" dirty="0" smtClean="0"/>
                        <a:t>-</a:t>
                      </a:r>
                      <a:r>
                        <a:rPr lang="en-ZA" sz="1800" b="1" baseline="0" dirty="0" smtClean="0"/>
                        <a:t> Understand the position of one object in relation to another.</a:t>
                      </a:r>
                      <a:endParaRPr lang="en-ZA" sz="1800" b="1" dirty="0"/>
                    </a:p>
                  </a:txBody>
                  <a:tcPr/>
                </a:tc>
                <a:extLst>
                  <a:ext uri="{0D108BD9-81ED-4DB2-BD59-A6C34878D82A}">
                    <a16:rowId xmlns:a16="http://schemas.microsoft.com/office/drawing/2014/main" val="13967798"/>
                  </a:ext>
                </a:extLst>
              </a:tr>
              <a:tr h="1450402">
                <a:tc>
                  <a:txBody>
                    <a:bodyPr/>
                    <a:lstStyle/>
                    <a:p>
                      <a:r>
                        <a:rPr lang="en-ZA" sz="1800" b="1" dirty="0" smtClean="0"/>
                        <a:t>Space</a:t>
                      </a:r>
                      <a:r>
                        <a:rPr lang="en-ZA" sz="1800" b="1" baseline="0" dirty="0" smtClean="0"/>
                        <a:t> and shape</a:t>
                      </a:r>
                      <a:endParaRPr lang="en-ZA" sz="1800" b="1" dirty="0"/>
                    </a:p>
                  </a:txBody>
                  <a:tcPr/>
                </a:tc>
                <a:tc>
                  <a:txBody>
                    <a:bodyPr/>
                    <a:lstStyle/>
                    <a:p>
                      <a:r>
                        <a:rPr lang="en-ZA" sz="1800" b="1" baseline="0" dirty="0" smtClean="0"/>
                        <a:t>- Recognize and name 3D objects in the classroom and in pictures.</a:t>
                      </a:r>
                    </a:p>
                  </a:txBody>
                  <a:tcPr/>
                </a:tc>
                <a:extLst>
                  <a:ext uri="{0D108BD9-81ED-4DB2-BD59-A6C34878D82A}">
                    <a16:rowId xmlns:a16="http://schemas.microsoft.com/office/drawing/2014/main" val="1662244875"/>
                  </a:ext>
                </a:extLst>
              </a:tr>
            </a:tbl>
          </a:graphicData>
        </a:graphic>
      </p:graphicFrame>
    </p:spTree>
    <p:extLst>
      <p:ext uri="{BB962C8B-B14F-4D97-AF65-F5344CB8AC3E}">
        <p14:creationId xmlns:p14="http://schemas.microsoft.com/office/powerpoint/2010/main" val="15761985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B17A4-2DA0-4508-AB92-00378BA28FCC}"/>
              </a:ext>
            </a:extLst>
          </p:cNvPr>
          <p:cNvSpPr>
            <a:spLocks noGrp="1"/>
          </p:cNvSpPr>
          <p:nvPr>
            <p:ph type="title"/>
          </p:nvPr>
        </p:nvSpPr>
        <p:spPr>
          <a:xfrm>
            <a:off x="646111" y="-254642"/>
            <a:ext cx="9404723" cy="844951"/>
          </a:xfrm>
        </p:spPr>
        <p:txBody>
          <a:bodyPr>
            <a:normAutofit fontScale="90000"/>
          </a:bodyPr>
          <a:lstStyle/>
          <a:p>
            <a:r>
              <a:rPr lang="en-ZA" sz="6000" b="1" dirty="0"/>
              <a:t>      </a:t>
            </a:r>
            <a:r>
              <a:rPr lang="en-ZA" sz="6000" b="1" dirty="0" smtClean="0"/>
              <a:t>       </a:t>
            </a:r>
            <a:r>
              <a:rPr lang="en-ZA" sz="3200" b="1" dirty="0" smtClean="0"/>
              <a:t>Assessment Goals</a:t>
            </a:r>
            <a:endParaRPr lang="en-ZA" sz="3200" b="1" dirty="0"/>
          </a:p>
        </p:txBody>
      </p:sp>
      <p:graphicFrame>
        <p:nvGraphicFramePr>
          <p:cNvPr id="4" name="Table 4">
            <a:extLst>
              <a:ext uri="{FF2B5EF4-FFF2-40B4-BE49-F238E27FC236}">
                <a16:creationId xmlns:a16="http://schemas.microsoft.com/office/drawing/2014/main" id="{22141332-7440-49C9-8C2B-839EF51D5A12}"/>
              </a:ext>
            </a:extLst>
          </p:cNvPr>
          <p:cNvGraphicFramePr>
            <a:graphicFrameLocks noGrp="1"/>
          </p:cNvGraphicFramePr>
          <p:nvPr>
            <p:ph idx="1"/>
            <p:extLst>
              <p:ext uri="{D42A27DB-BD31-4B8C-83A1-F6EECF244321}">
                <p14:modId xmlns:p14="http://schemas.microsoft.com/office/powerpoint/2010/main" val="2903361875"/>
              </p:ext>
            </p:extLst>
          </p:nvPr>
        </p:nvGraphicFramePr>
        <p:xfrm>
          <a:off x="503583" y="509290"/>
          <a:ext cx="10955354" cy="4704500"/>
        </p:xfrm>
        <a:graphic>
          <a:graphicData uri="http://schemas.openxmlformats.org/drawingml/2006/table">
            <a:tbl>
              <a:tblPr firstRow="1" bandRow="1">
                <a:tableStyleId>{5C22544A-7EE6-4342-B048-85BDC9FD1C3A}</a:tableStyleId>
              </a:tblPr>
              <a:tblGrid>
                <a:gridCol w="5472495">
                  <a:extLst>
                    <a:ext uri="{9D8B030D-6E8A-4147-A177-3AD203B41FA5}">
                      <a16:colId xmlns:a16="http://schemas.microsoft.com/office/drawing/2014/main" val="2207677980"/>
                    </a:ext>
                  </a:extLst>
                </a:gridCol>
                <a:gridCol w="5482859">
                  <a:extLst>
                    <a:ext uri="{9D8B030D-6E8A-4147-A177-3AD203B41FA5}">
                      <a16:colId xmlns:a16="http://schemas.microsoft.com/office/drawing/2014/main" val="4232579930"/>
                    </a:ext>
                  </a:extLst>
                </a:gridCol>
              </a:tblGrid>
              <a:tr h="970048">
                <a:tc>
                  <a:txBody>
                    <a:bodyPr/>
                    <a:lstStyle/>
                    <a:p>
                      <a:r>
                        <a:rPr lang="en-ZA" sz="1800" b="1" dirty="0" smtClean="0"/>
                        <a:t>Data</a:t>
                      </a:r>
                      <a:r>
                        <a:rPr lang="en-ZA" sz="1800" b="1" baseline="0" dirty="0" smtClean="0"/>
                        <a:t> handling</a:t>
                      </a:r>
                      <a:endParaRPr lang="en-ZA" sz="1800" b="1" dirty="0"/>
                    </a:p>
                  </a:txBody>
                  <a:tcPr/>
                </a:tc>
                <a:tc>
                  <a:txBody>
                    <a:bodyPr/>
                    <a:lstStyle/>
                    <a:p>
                      <a:r>
                        <a:rPr lang="en-ZA" sz="1800" b="1" baseline="0" dirty="0" smtClean="0"/>
                        <a:t>- Sort out everyday concrete objects.</a:t>
                      </a:r>
                    </a:p>
                  </a:txBody>
                  <a:tcPr/>
                </a:tc>
                <a:extLst>
                  <a:ext uri="{0D108BD9-81ED-4DB2-BD59-A6C34878D82A}">
                    <a16:rowId xmlns:a16="http://schemas.microsoft.com/office/drawing/2014/main" val="1043533483"/>
                  </a:ext>
                </a:extLst>
              </a:tr>
              <a:tr h="1050885">
                <a:tc>
                  <a:txBody>
                    <a:bodyPr/>
                    <a:lstStyle/>
                    <a:p>
                      <a:r>
                        <a:rPr lang="en-ZA" sz="1800" b="1" dirty="0" smtClean="0"/>
                        <a:t>Measurement</a:t>
                      </a:r>
                      <a:endParaRPr lang="en-ZA" sz="1800" b="1"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ZA" sz="1800" b="1" baseline="0" dirty="0" smtClean="0"/>
                        <a:t>Time</a:t>
                      </a:r>
                    </a:p>
                    <a:p>
                      <a:pPr marL="0" marR="0" lvl="0" indent="0" algn="l" defTabSz="457200" rtl="0" eaLnBrk="1" fontAlgn="auto" latinLnBrk="0" hangingPunct="1">
                        <a:lnSpc>
                          <a:spcPct val="100000"/>
                        </a:lnSpc>
                        <a:spcBef>
                          <a:spcPts val="0"/>
                        </a:spcBef>
                        <a:spcAft>
                          <a:spcPts val="0"/>
                        </a:spcAft>
                        <a:buClrTx/>
                        <a:buSzTx/>
                        <a:buFontTx/>
                        <a:buNone/>
                        <a:tabLst/>
                        <a:defRPr/>
                      </a:pPr>
                      <a:r>
                        <a:rPr lang="en-ZA" sz="1800" b="1" baseline="0" dirty="0" smtClean="0"/>
                        <a:t>-  Talk about passing of time, sequence of events [start to use concepts like today and tomorrow].</a:t>
                      </a:r>
                    </a:p>
                    <a:p>
                      <a:endParaRPr lang="en-ZA" sz="1800" b="1" baseline="0" dirty="0" smtClean="0"/>
                    </a:p>
                  </a:txBody>
                  <a:tcPr/>
                </a:tc>
                <a:extLst>
                  <a:ext uri="{0D108BD9-81ED-4DB2-BD59-A6C34878D82A}">
                    <a16:rowId xmlns:a16="http://schemas.microsoft.com/office/drawing/2014/main" val="456379601"/>
                  </a:ext>
                </a:extLst>
              </a:tr>
              <a:tr h="376879">
                <a:tc>
                  <a:txBody>
                    <a:bodyPr/>
                    <a:lstStyle/>
                    <a:p>
                      <a:r>
                        <a:rPr lang="en-ZA" sz="1800" b="1" dirty="0" smtClean="0"/>
                        <a:t>Patterns</a:t>
                      </a:r>
                      <a:endParaRPr lang="en-ZA" sz="1800" b="1" dirty="0"/>
                    </a:p>
                  </a:txBody>
                  <a:tcPr/>
                </a:tc>
                <a:tc>
                  <a:txBody>
                    <a:bodyPr/>
                    <a:lstStyle/>
                    <a:p>
                      <a:pPr marL="285750" indent="-285750">
                        <a:buFontTx/>
                        <a:buChar char="-"/>
                      </a:pPr>
                      <a:r>
                        <a:rPr lang="en-ZA" sz="1800" b="1" baseline="0" dirty="0" smtClean="0"/>
                        <a:t>Copy and extend simple patterns using body percussions [ clapping, stamping].</a:t>
                      </a:r>
                    </a:p>
                    <a:p>
                      <a:pPr marL="285750" indent="-285750">
                        <a:buFontTx/>
                        <a:buChar char="-"/>
                      </a:pPr>
                      <a:r>
                        <a:rPr lang="en-ZA" sz="1800" b="1" baseline="0" dirty="0" smtClean="0"/>
                        <a:t>Make simple patterns using 2D geometric shapes.</a:t>
                      </a:r>
                    </a:p>
                    <a:p>
                      <a:endParaRPr lang="en-ZA" sz="1800" b="1" dirty="0"/>
                    </a:p>
                  </a:txBody>
                  <a:tcPr/>
                </a:tc>
                <a:extLst>
                  <a:ext uri="{0D108BD9-81ED-4DB2-BD59-A6C34878D82A}">
                    <a16:rowId xmlns:a16="http://schemas.microsoft.com/office/drawing/2014/main" val="13967798"/>
                  </a:ext>
                </a:extLst>
              </a:tr>
              <a:tr h="808372">
                <a:tc>
                  <a:txBody>
                    <a:bodyPr/>
                    <a:lstStyle/>
                    <a:p>
                      <a:endParaRPr lang="en-ZA" sz="1800" b="1" dirty="0"/>
                    </a:p>
                  </a:txBody>
                  <a:tcPr/>
                </a:tc>
                <a:tc>
                  <a:txBody>
                    <a:bodyPr/>
                    <a:lstStyle/>
                    <a:p>
                      <a:endParaRPr lang="en-ZA" sz="1800" b="1" baseline="0" dirty="0" smtClean="0"/>
                    </a:p>
                  </a:txBody>
                  <a:tcPr/>
                </a:tc>
                <a:extLst>
                  <a:ext uri="{0D108BD9-81ED-4DB2-BD59-A6C34878D82A}">
                    <a16:rowId xmlns:a16="http://schemas.microsoft.com/office/drawing/2014/main" val="1662244875"/>
                  </a:ext>
                </a:extLst>
              </a:tr>
            </a:tbl>
          </a:graphicData>
        </a:graphic>
      </p:graphicFrame>
    </p:spTree>
    <p:extLst>
      <p:ext uri="{BB962C8B-B14F-4D97-AF65-F5344CB8AC3E}">
        <p14:creationId xmlns:p14="http://schemas.microsoft.com/office/powerpoint/2010/main" val="11503939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Numbers, operations and relationships.</a:t>
            </a:r>
            <a:endParaRPr lang="en-US" b="1" dirty="0"/>
          </a:p>
        </p:txBody>
      </p:sp>
      <p:pic>
        <p:nvPicPr>
          <p:cNvPr id="1026" name="Picture 2" descr="https://tse2.mm.bing.net/th?id=OIP.NseU2lSfe6iAr2aqs1l67gHaHa&amp;pid=Api&amp;P=0&amp;h=22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37144" y="1853248"/>
            <a:ext cx="7882360" cy="47790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26731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0536" y="279097"/>
            <a:ext cx="9404723" cy="5948082"/>
          </a:xfrm>
        </p:spPr>
        <p:txBody>
          <a:bodyPr/>
          <a:lstStyle/>
          <a:p>
            <a:r>
              <a:rPr lang="en-US" b="1" dirty="0" smtClean="0"/>
              <a:t>Group 1</a:t>
            </a:r>
            <a:br>
              <a:rPr lang="en-US" b="1" dirty="0" smtClean="0"/>
            </a:br>
            <a:r>
              <a:rPr lang="en-US" b="1" dirty="0" smtClean="0"/>
              <a:t>  </a:t>
            </a:r>
            <a:br>
              <a:rPr lang="en-US" b="1" dirty="0" smtClean="0"/>
            </a:br>
            <a:r>
              <a:rPr lang="en-US" b="1" dirty="0"/>
              <a:t/>
            </a:r>
            <a:br>
              <a:rPr lang="en-US" b="1" dirty="0"/>
            </a:br>
            <a:r>
              <a:rPr lang="en-US" b="1" dirty="0" smtClean="0"/>
              <a:t/>
            </a:r>
            <a:br>
              <a:rPr lang="en-US" b="1" dirty="0" smtClean="0"/>
            </a:br>
            <a:r>
              <a:rPr lang="en-US" b="1" dirty="0"/>
              <a:t> </a:t>
            </a:r>
            <a:r>
              <a:rPr lang="en-US" b="1" dirty="0" smtClean="0"/>
              <a:t>   </a:t>
            </a:r>
            <a:r>
              <a:rPr lang="en-US" sz="3200" b="1" dirty="0" smtClean="0"/>
              <a:t>Color the following numbers from 1-20.</a:t>
            </a:r>
            <a:br>
              <a:rPr lang="en-US" sz="3200" b="1" dirty="0" smtClean="0"/>
            </a:br>
            <a:r>
              <a:rPr lang="en-US" sz="3200" b="1" dirty="0"/>
              <a:t/>
            </a:r>
            <a:br>
              <a:rPr lang="en-US" sz="3200" b="1" dirty="0"/>
            </a:br>
            <a:endParaRPr lang="en-US" b="1" dirty="0"/>
          </a:p>
        </p:txBody>
      </p:sp>
    </p:spTree>
    <p:extLst>
      <p:ext uri="{BB962C8B-B14F-4D97-AF65-F5344CB8AC3E}">
        <p14:creationId xmlns:p14="http://schemas.microsoft.com/office/powerpoint/2010/main" val="1691848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https://tse1.mm.bing.net/th?id=OIP.xGKS3Rl7LV-kS8v9qqcRQwHaFg&amp;pid=Api&amp;P=0&amp;h=2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5015" y="257908"/>
            <a:ext cx="7526216" cy="64242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3398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7"/>
            <a:ext cx="9404723" cy="2244183"/>
          </a:xfrm>
        </p:spPr>
        <p:txBody>
          <a:bodyPr/>
          <a:lstStyle/>
          <a:p>
            <a:r>
              <a:rPr lang="en-US" b="1" dirty="0" smtClean="0"/>
              <a:t>Group 2</a:t>
            </a:r>
            <a:br>
              <a:rPr lang="en-US" b="1" dirty="0" smtClean="0"/>
            </a:br>
            <a:r>
              <a:rPr lang="en-US" b="1" dirty="0" smtClean="0"/>
              <a:t>   </a:t>
            </a:r>
            <a:br>
              <a:rPr lang="en-US" b="1" dirty="0" smtClean="0"/>
            </a:br>
            <a:r>
              <a:rPr lang="en-US" sz="3200" b="1" dirty="0" smtClean="0"/>
              <a:t>Count while pointing the numbers  from1-40 using the following chart.</a:t>
            </a:r>
            <a:endParaRPr lang="en-US" b="1" dirty="0"/>
          </a:p>
        </p:txBody>
      </p:sp>
    </p:spTree>
    <p:extLst>
      <p:ext uri="{BB962C8B-B14F-4D97-AF65-F5344CB8AC3E}">
        <p14:creationId xmlns:p14="http://schemas.microsoft.com/office/powerpoint/2010/main" val="1321139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https://classplayground.com/wp-content/uploads/number_chart_1_to_40.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969" y="152400"/>
            <a:ext cx="10034954" cy="64476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091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t>
            </a:r>
            <a:br>
              <a:rPr lang="en-US" b="1" dirty="0" smtClean="0"/>
            </a:br>
            <a:r>
              <a:rPr lang="en-US" b="1" dirty="0"/>
              <a:t/>
            </a:r>
            <a:br>
              <a:rPr lang="en-US" b="1" dirty="0"/>
            </a:br>
            <a:r>
              <a:rPr lang="en-US" b="1" dirty="0" smtClean="0"/>
              <a:t/>
            </a:r>
            <a:br>
              <a:rPr lang="en-US" b="1" dirty="0" smtClean="0"/>
            </a:br>
            <a:r>
              <a:rPr lang="en-US" b="1" dirty="0"/>
              <a:t/>
            </a:r>
            <a:br>
              <a:rPr lang="en-US" b="1" dirty="0"/>
            </a:br>
            <a:r>
              <a:rPr lang="en-US" sz="7200" b="1" dirty="0"/>
              <a:t> </a:t>
            </a:r>
            <a:r>
              <a:rPr lang="en-US" sz="7200" b="1" dirty="0" smtClean="0"/>
              <a:t>            Group 3</a:t>
            </a:r>
            <a:r>
              <a:rPr lang="en-US" sz="7200" b="1" dirty="0"/>
              <a:t/>
            </a:r>
            <a:br>
              <a:rPr lang="en-US" sz="7200" b="1" dirty="0"/>
            </a:br>
            <a:endParaRPr lang="en-US" sz="7200" b="1" dirty="0"/>
          </a:p>
        </p:txBody>
      </p:sp>
    </p:spTree>
    <p:extLst>
      <p:ext uri="{BB962C8B-B14F-4D97-AF65-F5344CB8AC3E}">
        <p14:creationId xmlns:p14="http://schemas.microsoft.com/office/powerpoint/2010/main" val="34052165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descr="https://i.pinimg.com/originals/18/1e/80/181e80ade659574ef92cad26f66e7ca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0286" y="0"/>
            <a:ext cx="9281786" cy="66888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3506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787359"/>
          </a:xfrm>
        </p:spPr>
        <p:txBody>
          <a:bodyPr/>
          <a:lstStyle/>
          <a:p>
            <a:r>
              <a:rPr lang="en-US" b="1" dirty="0" smtClean="0"/>
              <a:t>South African coins</a:t>
            </a:r>
            <a:endParaRPr lang="en-US" b="1" dirty="0"/>
          </a:p>
        </p:txBody>
      </p:sp>
      <p:pic>
        <p:nvPicPr>
          <p:cNvPr id="6146" name="Picture 2" descr="https://tse3.mm.bing.net/th?id=OIP.O3RojEXa0lKMlrzGaxUQngHaHa&amp;pid=Api&amp;P=0&amp;h=22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15025" y="1114816"/>
            <a:ext cx="9457150" cy="54613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42803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6148498"/>
          </a:xfrm>
        </p:spPr>
        <p:txBody>
          <a:bodyPr/>
          <a:lstStyle/>
          <a:p>
            <a:r>
              <a:rPr lang="en-US" b="1" dirty="0" smtClean="0"/>
              <a:t/>
            </a:r>
            <a:br>
              <a:rPr lang="en-US" b="1" dirty="0" smtClean="0"/>
            </a:br>
            <a:r>
              <a:rPr lang="en-US" b="1" dirty="0"/>
              <a:t/>
            </a:r>
            <a:br>
              <a:rPr lang="en-US" b="1" dirty="0"/>
            </a:br>
            <a:r>
              <a:rPr lang="en-US" b="1" dirty="0" smtClean="0"/>
              <a:t/>
            </a:r>
            <a:br>
              <a:rPr lang="en-US" b="1" dirty="0" smtClean="0"/>
            </a:br>
            <a:r>
              <a:rPr lang="en-US" b="1" dirty="0"/>
              <a:t/>
            </a:r>
            <a:br>
              <a:rPr lang="en-US" b="1" dirty="0"/>
            </a:br>
            <a:r>
              <a:rPr lang="en-US" b="1" dirty="0"/>
              <a:t> </a:t>
            </a:r>
            <a:r>
              <a:rPr lang="en-US" b="1" dirty="0" smtClean="0"/>
              <a:t>                   </a:t>
            </a:r>
            <a:r>
              <a:rPr lang="en-US" sz="7200" b="1" dirty="0" smtClean="0"/>
              <a:t>Group 1</a:t>
            </a:r>
            <a:r>
              <a:rPr lang="en-US" b="1" dirty="0"/>
              <a:t/>
            </a:r>
            <a:br>
              <a:rPr lang="en-US" b="1" dirty="0"/>
            </a:br>
            <a:endParaRPr lang="en-US" b="1" dirty="0"/>
          </a:p>
        </p:txBody>
      </p:sp>
    </p:spTree>
    <p:extLst>
      <p:ext uri="{BB962C8B-B14F-4D97-AF65-F5344CB8AC3E}">
        <p14:creationId xmlns:p14="http://schemas.microsoft.com/office/powerpoint/2010/main" val="28042989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7"/>
            <a:ext cx="9404723" cy="2643179"/>
          </a:xfrm>
        </p:spPr>
        <p:txBody>
          <a:bodyPr/>
          <a:lstStyle/>
          <a:p>
            <a:r>
              <a:rPr lang="en-US" dirty="0" smtClean="0"/>
              <a:t>Activity:</a:t>
            </a:r>
            <a:br>
              <a:rPr lang="en-US" dirty="0" smtClean="0"/>
            </a:br>
            <a:r>
              <a:rPr lang="en-US" dirty="0" smtClean="0"/>
              <a:t>The teacher will come with coins in the classroom and ask learners what coins do they see.</a:t>
            </a:r>
            <a:endParaRPr lang="en-US" dirty="0"/>
          </a:p>
        </p:txBody>
      </p:sp>
    </p:spTree>
    <p:extLst>
      <p:ext uri="{BB962C8B-B14F-4D97-AF65-F5344CB8AC3E}">
        <p14:creationId xmlns:p14="http://schemas.microsoft.com/office/powerpoint/2010/main" val="694420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t>
            </a:r>
            <a:br>
              <a:rPr lang="en-US" b="1" dirty="0" smtClean="0"/>
            </a:br>
            <a:r>
              <a:rPr lang="en-US" b="1" dirty="0"/>
              <a:t/>
            </a:r>
            <a:br>
              <a:rPr lang="en-US" b="1" dirty="0"/>
            </a:br>
            <a:r>
              <a:rPr lang="en-US" b="1" dirty="0" smtClean="0"/>
              <a:t/>
            </a:r>
            <a:br>
              <a:rPr lang="en-US" b="1" dirty="0" smtClean="0"/>
            </a:br>
            <a:r>
              <a:rPr lang="en-US" b="1" dirty="0" smtClean="0"/>
              <a:t>                        </a:t>
            </a:r>
            <a:r>
              <a:rPr lang="en-US" sz="7200" b="1" dirty="0" smtClean="0"/>
              <a:t>Group 2</a:t>
            </a:r>
            <a:endParaRPr lang="en-US" sz="7200" b="1" dirty="0"/>
          </a:p>
        </p:txBody>
      </p:sp>
    </p:spTree>
    <p:extLst>
      <p:ext uri="{BB962C8B-B14F-4D97-AF65-F5344CB8AC3E}">
        <p14:creationId xmlns:p14="http://schemas.microsoft.com/office/powerpoint/2010/main" val="37376797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https://www.teacharesources.com/wp-content/uploads/2023/02/south-african-coin-matching-pdf.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457" y="87682"/>
            <a:ext cx="10077450" cy="6551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38096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r>
            <a:br>
              <a:rPr lang="en-US" b="1" dirty="0" smtClean="0"/>
            </a:br>
            <a:r>
              <a:rPr lang="en-US" b="1" dirty="0"/>
              <a:t/>
            </a:r>
            <a:br>
              <a:rPr lang="en-US" b="1" dirty="0"/>
            </a:br>
            <a:r>
              <a:rPr lang="en-US" b="1" dirty="0" smtClean="0"/>
              <a:t/>
            </a:r>
            <a:br>
              <a:rPr lang="en-US" b="1" dirty="0" smtClean="0"/>
            </a:br>
            <a:r>
              <a:rPr lang="en-US" b="1" dirty="0" smtClean="0"/>
              <a:t>                        </a:t>
            </a:r>
            <a:r>
              <a:rPr lang="en-US" sz="7200" b="1" dirty="0" smtClean="0"/>
              <a:t>Group 3</a:t>
            </a:r>
            <a:endParaRPr lang="en-US" sz="7200" b="1" dirty="0"/>
          </a:p>
        </p:txBody>
      </p:sp>
    </p:spTree>
    <p:extLst>
      <p:ext uri="{BB962C8B-B14F-4D97-AF65-F5344CB8AC3E}">
        <p14:creationId xmlns:p14="http://schemas.microsoft.com/office/powerpoint/2010/main" val="32901414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descr="https://www.k5learning.com/worksheets/math/grade-2-counting-south-african-rand.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831" y="387228"/>
            <a:ext cx="6951783" cy="63183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39168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130630"/>
            <a:ext cx="9404723" cy="927462"/>
          </a:xfrm>
        </p:spPr>
        <p:txBody>
          <a:bodyPr/>
          <a:lstStyle/>
          <a:p>
            <a:r>
              <a:rPr lang="en-US" b="1" dirty="0" smtClean="0"/>
              <a:t>SPACE AND SHAPE</a:t>
            </a:r>
            <a:endParaRPr lang="en-US" b="1" dirty="0"/>
          </a:p>
        </p:txBody>
      </p:sp>
      <p:pic>
        <p:nvPicPr>
          <p:cNvPr id="9218" name="Picture 2" descr="https://tse1.mm.bing.net/th?id=OIP.pHWfiljXKxQd34KL7GMauwHaHa&amp;pid=Api&amp;P=0&amp;h=22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31966" y="849085"/>
            <a:ext cx="9366068" cy="59044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32006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r>
            <a:br>
              <a:rPr lang="en-US" dirty="0" smtClean="0"/>
            </a:br>
            <a:r>
              <a:rPr lang="en-US" dirty="0"/>
              <a:t/>
            </a:r>
            <a:br>
              <a:rPr lang="en-US" dirty="0"/>
            </a:br>
            <a:r>
              <a:rPr lang="en-US" dirty="0" smtClean="0"/>
              <a:t/>
            </a:r>
            <a:br>
              <a:rPr lang="en-US" dirty="0" smtClean="0"/>
            </a:br>
            <a:r>
              <a:rPr lang="en-US" dirty="0"/>
              <a:t> </a:t>
            </a:r>
            <a:r>
              <a:rPr lang="en-US" dirty="0" smtClean="0"/>
              <a:t>                    </a:t>
            </a:r>
            <a:r>
              <a:rPr lang="en-US" sz="7200" b="1" dirty="0" smtClean="0"/>
              <a:t>POSITIONS</a:t>
            </a:r>
            <a:endParaRPr lang="en-US" sz="7200" b="1" dirty="0"/>
          </a:p>
        </p:txBody>
      </p:sp>
    </p:spTree>
    <p:extLst>
      <p:ext uri="{BB962C8B-B14F-4D97-AF65-F5344CB8AC3E}">
        <p14:creationId xmlns:p14="http://schemas.microsoft.com/office/powerpoint/2010/main" val="32549196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t>
            </a:r>
            <a:br>
              <a:rPr lang="en-US" b="1" dirty="0" smtClean="0"/>
            </a:br>
            <a:r>
              <a:rPr lang="en-US" b="1" dirty="0"/>
              <a:t/>
            </a:r>
            <a:br>
              <a:rPr lang="en-US" b="1" dirty="0"/>
            </a:br>
            <a:r>
              <a:rPr lang="en-US" b="1" dirty="0" smtClean="0"/>
              <a:t/>
            </a:r>
            <a:br>
              <a:rPr lang="en-US" b="1" dirty="0" smtClean="0"/>
            </a:br>
            <a:r>
              <a:rPr lang="en-US" b="1" dirty="0"/>
              <a:t> </a:t>
            </a:r>
            <a:r>
              <a:rPr lang="en-US" b="1" dirty="0" smtClean="0"/>
              <a:t>                        </a:t>
            </a:r>
            <a:r>
              <a:rPr lang="en-US" sz="7200" b="1" dirty="0" smtClean="0"/>
              <a:t>Group 1</a:t>
            </a:r>
            <a:endParaRPr lang="en-US" sz="7200" b="1" dirty="0"/>
          </a:p>
        </p:txBody>
      </p:sp>
    </p:spTree>
    <p:extLst>
      <p:ext uri="{BB962C8B-B14F-4D97-AF65-F5344CB8AC3E}">
        <p14:creationId xmlns:p14="http://schemas.microsoft.com/office/powerpoint/2010/main" val="34275440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7"/>
            <a:ext cx="9404723" cy="5908893"/>
          </a:xfrm>
        </p:spPr>
        <p:txBody>
          <a:bodyPr/>
          <a:lstStyle/>
          <a:p>
            <a:r>
              <a:rPr lang="en-US" dirty="0" smtClean="0"/>
              <a:t>Activity:</a:t>
            </a:r>
            <a:br>
              <a:rPr lang="en-US" dirty="0" smtClean="0"/>
            </a:br>
            <a:r>
              <a:rPr lang="en-US" dirty="0" smtClean="0"/>
              <a:t>The teacher will use objects in the classroom like chairs, desks, chalkboard, door etc. and demonstrate to learners about different positions that one object can display amongst other objects then ask learners to also demonstrate those positions.</a:t>
            </a:r>
            <a:endParaRPr lang="en-US" dirty="0"/>
          </a:p>
        </p:txBody>
      </p:sp>
    </p:spTree>
    <p:extLst>
      <p:ext uri="{BB962C8B-B14F-4D97-AF65-F5344CB8AC3E}">
        <p14:creationId xmlns:p14="http://schemas.microsoft.com/office/powerpoint/2010/main" val="31126214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b="1" dirty="0" smtClean="0"/>
              <a:t>Group 2</a:t>
            </a:r>
            <a:r>
              <a:rPr lang="en-US" sz="7200" b="1" dirty="0"/>
              <a:t/>
            </a:r>
            <a:br>
              <a:rPr lang="en-US" sz="7200" b="1" dirty="0"/>
            </a:br>
            <a:endParaRPr lang="en-US" sz="7200" b="1" dirty="0"/>
          </a:p>
        </p:txBody>
      </p:sp>
    </p:spTree>
    <p:extLst>
      <p:ext uri="{BB962C8B-B14F-4D97-AF65-F5344CB8AC3E}">
        <p14:creationId xmlns:p14="http://schemas.microsoft.com/office/powerpoint/2010/main" val="8874253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descr="https://whatistheurl.com/wp-content/uploads/2020/11/identifying-left-and-right-position-worksheet-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51328" y="0"/>
            <a:ext cx="8015410" cy="6635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161783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2114636"/>
          </a:xfrm>
        </p:spPr>
        <p:txBody>
          <a:bodyPr/>
          <a:lstStyle/>
          <a:p>
            <a:r>
              <a:rPr lang="en-US" sz="7200" b="1" dirty="0" smtClean="0"/>
              <a:t/>
            </a:r>
            <a:br>
              <a:rPr lang="en-US" sz="7200" b="1" dirty="0" smtClean="0"/>
            </a:br>
            <a:r>
              <a:rPr lang="en-US" sz="7200" b="1" dirty="0"/>
              <a:t/>
            </a:r>
            <a:br>
              <a:rPr lang="en-US" sz="7200" b="1" dirty="0"/>
            </a:br>
            <a:r>
              <a:rPr lang="en-US" sz="7200" b="1" dirty="0" smtClean="0"/>
              <a:t>            Group 3</a:t>
            </a:r>
            <a:r>
              <a:rPr lang="en-US" sz="7200" b="1" dirty="0"/>
              <a:t/>
            </a:r>
            <a:br>
              <a:rPr lang="en-US" sz="7200" b="1" dirty="0"/>
            </a:br>
            <a:endParaRPr lang="en-US" sz="7200" b="1" dirty="0"/>
          </a:p>
        </p:txBody>
      </p:sp>
    </p:spTree>
    <p:extLst>
      <p:ext uri="{BB962C8B-B14F-4D97-AF65-F5344CB8AC3E}">
        <p14:creationId xmlns:p14="http://schemas.microsoft.com/office/powerpoint/2010/main" val="27859095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descr="https://www.kidpid.com/wp-content/uploads/2021/11/position-words-practice-worksheets-for-kindergarten-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831" y="117231"/>
            <a:ext cx="7936523" cy="6576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81994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840505"/>
          </a:xfrm>
        </p:spPr>
        <p:txBody>
          <a:bodyPr/>
          <a:lstStyle/>
          <a:p>
            <a:r>
              <a:rPr lang="en-US" b="1" dirty="0" smtClean="0"/>
              <a:t>3D OBJECTS</a:t>
            </a:r>
            <a:endParaRPr lang="en-US" b="1" dirty="0"/>
          </a:p>
        </p:txBody>
      </p:sp>
      <p:pic>
        <p:nvPicPr>
          <p:cNvPr id="12290" name="Picture 2" descr="https://tse1.mm.bing.net/th?id=OIP.vffXLOKw06v7kUEHxXuTpwHaFP&amp;pid=Api&amp;P=0&amp;h=22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6111" y="1175657"/>
            <a:ext cx="9608231" cy="5577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17336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FB332-ADD8-41C4-B7C6-B9D03217BDC3}"/>
              </a:ext>
            </a:extLst>
          </p:cNvPr>
          <p:cNvSpPr>
            <a:spLocks noGrp="1"/>
          </p:cNvSpPr>
          <p:nvPr>
            <p:ph type="title"/>
          </p:nvPr>
        </p:nvSpPr>
        <p:spPr>
          <a:xfrm>
            <a:off x="646111" y="452718"/>
            <a:ext cx="9404723" cy="6067352"/>
          </a:xfrm>
        </p:spPr>
        <p:txBody>
          <a:bodyPr/>
          <a:lstStyle/>
          <a:p>
            <a:r>
              <a:rPr lang="en-ZA" sz="7200" b="1" dirty="0" smtClean="0"/>
              <a:t>GROUP 1</a:t>
            </a:r>
            <a:r>
              <a:rPr lang="en-ZA" sz="9600" b="1" dirty="0" smtClean="0"/>
              <a:t/>
            </a:r>
            <a:br>
              <a:rPr lang="en-ZA" sz="9600" b="1" dirty="0" smtClean="0"/>
            </a:br>
            <a:r>
              <a:rPr lang="en-ZA" sz="4400" b="1" dirty="0" err="1" smtClean="0"/>
              <a:t>Color</a:t>
            </a:r>
            <a:r>
              <a:rPr lang="en-ZA" sz="4400" b="1" dirty="0" smtClean="0"/>
              <a:t> the 3D shapes.</a:t>
            </a:r>
            <a:endParaRPr lang="en-ZA" sz="9600" b="1" dirty="0"/>
          </a:p>
        </p:txBody>
      </p:sp>
    </p:spTree>
    <p:extLst>
      <p:ext uri="{BB962C8B-B14F-4D97-AF65-F5344CB8AC3E}">
        <p14:creationId xmlns:p14="http://schemas.microsoft.com/office/powerpoint/2010/main" val="31635126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descr="https://tse1.mm.bing.net/th?id=OIP.Bz1N8jRxld9iO_txZrG1DwHaI4&amp;pid=Api&amp;P=0&amp;h=2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1248" y="182880"/>
            <a:ext cx="9217151" cy="65288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0775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b="1" dirty="0" smtClean="0"/>
              <a:t/>
            </a:r>
            <a:br>
              <a:rPr lang="en-US" sz="7200" b="1" dirty="0" smtClean="0"/>
            </a:br>
            <a:r>
              <a:rPr lang="en-US" sz="7200" b="1" dirty="0"/>
              <a:t/>
            </a:r>
            <a:br>
              <a:rPr lang="en-US" sz="7200" b="1" dirty="0"/>
            </a:br>
            <a:r>
              <a:rPr lang="en-US" sz="7200" b="1" dirty="0" smtClean="0"/>
              <a:t>            Group 2</a:t>
            </a:r>
            <a:endParaRPr lang="en-US" sz="7200" b="1" dirty="0"/>
          </a:p>
        </p:txBody>
      </p:sp>
    </p:spTree>
    <p:extLst>
      <p:ext uri="{BB962C8B-B14F-4D97-AF65-F5344CB8AC3E}">
        <p14:creationId xmlns:p14="http://schemas.microsoft.com/office/powerpoint/2010/main" val="22126607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Activity:</a:t>
            </a:r>
            <a:br>
              <a:rPr lang="en-US" dirty="0" smtClean="0"/>
            </a:br>
            <a:r>
              <a:rPr lang="en-US" dirty="0" smtClean="0"/>
              <a:t>Name the 3D objects that you can see around the classroom.</a:t>
            </a:r>
            <a:endParaRPr lang="en-US" dirty="0"/>
          </a:p>
        </p:txBody>
      </p:sp>
    </p:spTree>
    <p:extLst>
      <p:ext uri="{BB962C8B-B14F-4D97-AF65-F5344CB8AC3E}">
        <p14:creationId xmlns:p14="http://schemas.microsoft.com/office/powerpoint/2010/main" val="19720048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b="1" dirty="0" smtClean="0"/>
              <a:t/>
            </a:r>
            <a:br>
              <a:rPr lang="en-US" sz="7200" b="1" dirty="0" smtClean="0"/>
            </a:br>
            <a:r>
              <a:rPr lang="en-US" sz="7200" b="1" dirty="0"/>
              <a:t/>
            </a:r>
            <a:br>
              <a:rPr lang="en-US" sz="7200" b="1" dirty="0"/>
            </a:br>
            <a:r>
              <a:rPr lang="en-US" sz="7200" b="1" dirty="0" smtClean="0"/>
              <a:t>            Group 3</a:t>
            </a:r>
            <a:r>
              <a:rPr lang="en-US" sz="7200" b="1" dirty="0"/>
              <a:t/>
            </a:r>
            <a:br>
              <a:rPr lang="en-US" sz="7200" b="1" dirty="0"/>
            </a:br>
            <a:endParaRPr lang="en-US" sz="7200" b="1" dirty="0"/>
          </a:p>
        </p:txBody>
      </p:sp>
    </p:spTree>
    <p:extLst>
      <p:ext uri="{BB962C8B-B14F-4D97-AF65-F5344CB8AC3E}">
        <p14:creationId xmlns:p14="http://schemas.microsoft.com/office/powerpoint/2010/main" val="6935574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https://i.pinimg.com/originals/d1/da/a9/d1daa90e07d2810f087a5482d18f2b0b.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692" y="128954"/>
            <a:ext cx="9777046" cy="67290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44552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6600" b="1" dirty="0" smtClean="0"/>
              <a:t>DATA HANDLING</a:t>
            </a:r>
            <a:endParaRPr lang="en-US" sz="6600" b="1" dirty="0"/>
          </a:p>
        </p:txBody>
      </p:sp>
      <p:pic>
        <p:nvPicPr>
          <p:cNvPr id="19458" name="Picture 2" descr="https://image3.slideserve.com/7022864/data-handling-l.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4048" y="1481138"/>
            <a:ext cx="10204704" cy="5211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40345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b="1" dirty="0" smtClean="0"/>
              <a:t/>
            </a:r>
            <a:br>
              <a:rPr lang="en-US" sz="7200" b="1" dirty="0" smtClean="0"/>
            </a:br>
            <a:r>
              <a:rPr lang="en-US" sz="7200" b="1" dirty="0"/>
              <a:t/>
            </a:r>
            <a:br>
              <a:rPr lang="en-US" sz="7200" b="1" dirty="0"/>
            </a:br>
            <a:r>
              <a:rPr lang="en-US" sz="7200" b="1" dirty="0" smtClean="0"/>
              <a:t>            Group 1</a:t>
            </a:r>
            <a:endParaRPr lang="en-US" sz="7200" b="1" dirty="0"/>
          </a:p>
        </p:txBody>
      </p:sp>
    </p:spTree>
    <p:extLst>
      <p:ext uri="{BB962C8B-B14F-4D97-AF65-F5344CB8AC3E}">
        <p14:creationId xmlns:p14="http://schemas.microsoft.com/office/powerpoint/2010/main" val="37658697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3918114"/>
          </a:xfrm>
        </p:spPr>
        <p:txBody>
          <a:bodyPr/>
          <a:lstStyle/>
          <a:p>
            <a:r>
              <a:rPr lang="en-US" dirty="0" smtClean="0"/>
              <a:t>Activity: </a:t>
            </a:r>
            <a:br>
              <a:rPr lang="en-US" dirty="0" smtClean="0"/>
            </a:br>
            <a:r>
              <a:rPr lang="en-US" dirty="0" smtClean="0"/>
              <a:t>Learners will be given counters with different color and they will have to sort and arrange those counters according to their colors.</a:t>
            </a:r>
            <a:endParaRPr lang="en-US" dirty="0"/>
          </a:p>
        </p:txBody>
      </p:sp>
    </p:spTree>
    <p:extLst>
      <p:ext uri="{BB962C8B-B14F-4D97-AF65-F5344CB8AC3E}">
        <p14:creationId xmlns:p14="http://schemas.microsoft.com/office/powerpoint/2010/main" val="1545991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b="1" dirty="0" smtClean="0"/>
              <a:t/>
            </a:r>
            <a:br>
              <a:rPr lang="en-US" sz="7200" b="1" dirty="0" smtClean="0"/>
            </a:br>
            <a:r>
              <a:rPr lang="en-US" sz="7200" b="1" dirty="0"/>
              <a:t/>
            </a:r>
            <a:br>
              <a:rPr lang="en-US" sz="7200" b="1" dirty="0"/>
            </a:br>
            <a:r>
              <a:rPr lang="en-US" sz="7200" b="1" dirty="0" smtClean="0"/>
              <a:t>            Group 2</a:t>
            </a:r>
            <a:endParaRPr lang="en-US" sz="7200" b="1" dirty="0"/>
          </a:p>
        </p:txBody>
      </p:sp>
    </p:spTree>
    <p:extLst>
      <p:ext uri="{BB962C8B-B14F-4D97-AF65-F5344CB8AC3E}">
        <p14:creationId xmlns:p14="http://schemas.microsoft.com/office/powerpoint/2010/main" val="4609129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descr="https://storage.googleapis.com/worksheetzone/image/6221ff931becbd4e04bda302/data-handling-w1000-h662-preview-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144" y="363782"/>
            <a:ext cx="9525000" cy="63418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69858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b="1" dirty="0" smtClean="0"/>
              <a:t/>
            </a:r>
            <a:br>
              <a:rPr lang="en-US" sz="7200" b="1" dirty="0" smtClean="0"/>
            </a:br>
            <a:r>
              <a:rPr lang="en-US" sz="7200" b="1" dirty="0"/>
              <a:t/>
            </a:r>
            <a:br>
              <a:rPr lang="en-US" sz="7200" b="1" dirty="0"/>
            </a:br>
            <a:r>
              <a:rPr lang="en-US" sz="7200" b="1" dirty="0" smtClean="0"/>
              <a:t>           Group 3</a:t>
            </a:r>
            <a:endParaRPr lang="en-US" sz="7200" b="1" dirty="0"/>
          </a:p>
        </p:txBody>
      </p:sp>
    </p:spTree>
    <p:extLst>
      <p:ext uri="{BB962C8B-B14F-4D97-AF65-F5344CB8AC3E}">
        <p14:creationId xmlns:p14="http://schemas.microsoft.com/office/powerpoint/2010/main" val="31410471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https://witknowlearn.com/cdn/images/thumbnail/handling-data-worksheet-for-grade-3-0-2020-11-07-06103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6836" y="216876"/>
            <a:ext cx="7620000" cy="64887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08235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MEASUREMENTS</a:t>
            </a:r>
            <a:endParaRPr lang="en-US" b="1" dirty="0"/>
          </a:p>
        </p:txBody>
      </p:sp>
      <p:pic>
        <p:nvPicPr>
          <p:cNvPr id="22530" name="Picture 2" descr="https://tse3.mm.bing.net/th?id=OIP.w8PNkGCAWxN9egOjNh83uwHaDF&amp;pid=Api&amp;P=0&amp;h=22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46110" y="1160585"/>
            <a:ext cx="9635027" cy="5521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60597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b="1" dirty="0" smtClean="0"/>
              <a:t/>
            </a:r>
            <a:br>
              <a:rPr lang="en-US" sz="7200" b="1" dirty="0" smtClean="0"/>
            </a:br>
            <a:r>
              <a:rPr lang="en-US" sz="7200" b="1" dirty="0"/>
              <a:t/>
            </a:r>
            <a:br>
              <a:rPr lang="en-US" sz="7200" b="1" dirty="0"/>
            </a:br>
            <a:r>
              <a:rPr lang="en-US" sz="7200" b="1" dirty="0" smtClean="0"/>
              <a:t>             Group 1</a:t>
            </a:r>
            <a:endParaRPr lang="en-US" sz="7200" b="1" dirty="0"/>
          </a:p>
        </p:txBody>
      </p:sp>
    </p:spTree>
    <p:extLst>
      <p:ext uri="{BB962C8B-B14F-4D97-AF65-F5344CB8AC3E}">
        <p14:creationId xmlns:p14="http://schemas.microsoft.com/office/powerpoint/2010/main" val="29142663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Activity:</a:t>
            </a:r>
            <a:br>
              <a:rPr lang="en-US" dirty="0" smtClean="0"/>
            </a:br>
            <a:r>
              <a:rPr lang="en-US" dirty="0" smtClean="0"/>
              <a:t>1. Tell us about the things you did yesterday at home.</a:t>
            </a:r>
            <a:br>
              <a:rPr lang="en-US" dirty="0" smtClean="0"/>
            </a:br>
            <a:r>
              <a:rPr lang="en-US" dirty="0" smtClean="0"/>
              <a:t>2. What are you going to do today at school with your friends?</a:t>
            </a:r>
            <a:br>
              <a:rPr lang="en-US" dirty="0" smtClean="0"/>
            </a:br>
            <a:r>
              <a:rPr lang="en-US" dirty="0" smtClean="0"/>
              <a:t>3. What are you going to do tomorrow after school?</a:t>
            </a:r>
            <a:endParaRPr lang="en-US" dirty="0"/>
          </a:p>
        </p:txBody>
      </p:sp>
    </p:spTree>
    <p:extLst>
      <p:ext uri="{BB962C8B-B14F-4D97-AF65-F5344CB8AC3E}">
        <p14:creationId xmlns:p14="http://schemas.microsoft.com/office/powerpoint/2010/main" val="28303490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b="1" dirty="0" smtClean="0"/>
              <a:t>         </a:t>
            </a:r>
            <a:br>
              <a:rPr lang="en-US" sz="7200" b="1" dirty="0" smtClean="0"/>
            </a:br>
            <a:r>
              <a:rPr lang="en-US" sz="7200" b="1" dirty="0"/>
              <a:t/>
            </a:r>
            <a:br>
              <a:rPr lang="en-US" sz="7200" b="1" dirty="0"/>
            </a:br>
            <a:r>
              <a:rPr lang="en-US" sz="7200" b="1" dirty="0"/>
              <a:t> </a:t>
            </a:r>
            <a:r>
              <a:rPr lang="en-US" sz="7200" b="1" dirty="0" smtClean="0"/>
              <a:t>           Group 2</a:t>
            </a:r>
            <a:endParaRPr lang="en-US" sz="7200" b="1" dirty="0"/>
          </a:p>
        </p:txBody>
      </p:sp>
    </p:spTree>
    <p:extLst>
      <p:ext uri="{BB962C8B-B14F-4D97-AF65-F5344CB8AC3E}">
        <p14:creationId xmlns:p14="http://schemas.microsoft.com/office/powerpoint/2010/main" val="33827661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Activity:</a:t>
            </a:r>
            <a:br>
              <a:rPr lang="en-US" dirty="0" smtClean="0"/>
            </a:br>
            <a:r>
              <a:rPr lang="en-US" dirty="0" smtClean="0"/>
              <a:t>1. Today is Friday, what day is tomorrow?</a:t>
            </a:r>
            <a:br>
              <a:rPr lang="en-US" dirty="0" smtClean="0"/>
            </a:br>
            <a:r>
              <a:rPr lang="en-US" dirty="0" smtClean="0"/>
              <a:t>2. Today is Monday, what day was yesterday?</a:t>
            </a:r>
            <a:br>
              <a:rPr lang="en-US" dirty="0" smtClean="0"/>
            </a:br>
            <a:r>
              <a:rPr lang="en-US" dirty="0" smtClean="0"/>
              <a:t>3. Yesterday was Wednesday, what day is today?</a:t>
            </a:r>
            <a:br>
              <a:rPr lang="en-US" dirty="0" smtClean="0"/>
            </a:br>
            <a:endParaRPr lang="en-US" dirty="0"/>
          </a:p>
        </p:txBody>
      </p:sp>
    </p:spTree>
    <p:extLst>
      <p:ext uri="{BB962C8B-B14F-4D97-AF65-F5344CB8AC3E}">
        <p14:creationId xmlns:p14="http://schemas.microsoft.com/office/powerpoint/2010/main" val="19917373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b="1" dirty="0" smtClean="0"/>
              <a:t/>
            </a:r>
            <a:br>
              <a:rPr lang="en-US" sz="7200" b="1" dirty="0" smtClean="0"/>
            </a:br>
            <a:r>
              <a:rPr lang="en-US" sz="7200" b="1" dirty="0"/>
              <a:t/>
            </a:r>
            <a:br>
              <a:rPr lang="en-US" sz="7200" b="1" dirty="0"/>
            </a:br>
            <a:r>
              <a:rPr lang="en-US" sz="7200" b="1" dirty="0" smtClean="0"/>
              <a:t>            Group 3</a:t>
            </a:r>
            <a:endParaRPr lang="en-US" sz="7200" b="1" dirty="0"/>
          </a:p>
        </p:txBody>
      </p:sp>
    </p:spTree>
    <p:extLst>
      <p:ext uri="{BB962C8B-B14F-4D97-AF65-F5344CB8AC3E}">
        <p14:creationId xmlns:p14="http://schemas.microsoft.com/office/powerpoint/2010/main" val="10456948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http://www.mathsdiary.com/wp-content/uploads/2015/08/days-of-a-week-worksheet-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589" y="93784"/>
            <a:ext cx="10214810" cy="66352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35206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707867"/>
          </a:xfrm>
        </p:spPr>
        <p:txBody>
          <a:bodyPr/>
          <a:lstStyle/>
          <a:p>
            <a:r>
              <a:rPr lang="en-US" b="1" dirty="0" smtClean="0"/>
              <a:t>PATTERNS</a:t>
            </a:r>
            <a:endParaRPr lang="en-US" b="1" dirty="0"/>
          </a:p>
        </p:txBody>
      </p:sp>
      <p:pic>
        <p:nvPicPr>
          <p:cNvPr id="24578" name="Picture 2" descr="https://www.lifewire.com/thmb/Xn4Zitq3x8TEkJAI_0B95HOqK9k=/3865x2576/filters:fill(auto,1)/abstract-paper-flower-pattern-656688606-5a5ea0587d4be8003778c1e3.jpg"/>
          <p:cNvPicPr>
            <a:picLocks noGrp="1" noChangeAspect="1" noChangeArrowheads="1"/>
          </p:cNvPicPr>
          <p:nvPr>
            <p:ph idx="1"/>
          </p:nvPr>
        </p:nvPicPr>
        <p:blipFill>
          <a:blip r:embed="rId2" cstate="hqprint">
            <a:extLst>
              <a:ext uri="{28A0092B-C50C-407E-A947-70E740481C1C}">
                <a14:useLocalDpi xmlns:a14="http://schemas.microsoft.com/office/drawing/2010/main" val="0"/>
              </a:ext>
            </a:extLst>
          </a:blip>
          <a:srcRect/>
          <a:stretch>
            <a:fillRect/>
          </a:stretch>
        </p:blipFill>
        <p:spPr bwMode="auto">
          <a:xfrm>
            <a:off x="773723" y="1160463"/>
            <a:ext cx="9530861" cy="555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0124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b="1" dirty="0" smtClean="0"/>
              <a:t/>
            </a:r>
            <a:br>
              <a:rPr lang="en-US" sz="7200" b="1" dirty="0" smtClean="0"/>
            </a:br>
            <a:r>
              <a:rPr lang="en-US" sz="7200" b="1" dirty="0"/>
              <a:t/>
            </a:r>
            <a:br>
              <a:rPr lang="en-US" sz="7200" b="1" dirty="0"/>
            </a:br>
            <a:r>
              <a:rPr lang="en-US" sz="7200" b="1" dirty="0" smtClean="0"/>
              <a:t>           Group 1</a:t>
            </a:r>
            <a:endParaRPr lang="en-US" sz="7200" b="1" dirty="0"/>
          </a:p>
        </p:txBody>
      </p:sp>
    </p:spTree>
    <p:extLst>
      <p:ext uri="{BB962C8B-B14F-4D97-AF65-F5344CB8AC3E}">
        <p14:creationId xmlns:p14="http://schemas.microsoft.com/office/powerpoint/2010/main" val="34381847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descr="http://www.guruparents.com/wp-content/uploads/2015/06/patterns-worksheet-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492" y="170838"/>
            <a:ext cx="8654806" cy="64644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80373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b="1" dirty="0" smtClean="0"/>
              <a:t> Group 2</a:t>
            </a:r>
            <a:br>
              <a:rPr lang="en-US" sz="7200" b="1" dirty="0" smtClean="0"/>
            </a:br>
            <a:r>
              <a:rPr lang="en-US" sz="4400" b="1" dirty="0" smtClean="0"/>
              <a:t>Complete the following pattern by drawing the picture in the box. </a:t>
            </a:r>
            <a:endParaRPr lang="en-US" sz="7200" b="1" dirty="0"/>
          </a:p>
        </p:txBody>
      </p:sp>
    </p:spTree>
    <p:extLst>
      <p:ext uri="{BB962C8B-B14F-4D97-AF65-F5344CB8AC3E}">
        <p14:creationId xmlns:p14="http://schemas.microsoft.com/office/powerpoint/2010/main" val="38031869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 descr="https://tse3.mm.bing.net/th?id=OIP.9hv5qGcJ0tH6JeNqZIEVLQAAAA&amp;pid=Api&amp;P=0&amp;h=2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677" y="117232"/>
            <a:ext cx="10128738" cy="6588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908169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7200" b="1" dirty="0" smtClean="0"/>
              <a:t/>
            </a:r>
            <a:br>
              <a:rPr lang="en-US" sz="7200" b="1" dirty="0" smtClean="0"/>
            </a:br>
            <a:r>
              <a:rPr lang="en-US" sz="7200" b="1" dirty="0"/>
              <a:t/>
            </a:r>
            <a:br>
              <a:rPr lang="en-US" sz="7200" b="1" dirty="0"/>
            </a:br>
            <a:r>
              <a:rPr lang="en-US" sz="7200" b="1" dirty="0" smtClean="0"/>
              <a:t>            Group 3</a:t>
            </a:r>
            <a:endParaRPr lang="en-US" sz="7200" b="1" dirty="0"/>
          </a:p>
        </p:txBody>
      </p:sp>
    </p:spTree>
    <p:extLst>
      <p:ext uri="{BB962C8B-B14F-4D97-AF65-F5344CB8AC3E}">
        <p14:creationId xmlns:p14="http://schemas.microsoft.com/office/powerpoint/2010/main" val="27978546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ttps://i.pinimg.com/originals/0c/89/e9/0c89e978bca96b271655ff48f801a3df.gif"/>
          <p:cNvPicPr/>
          <p:nvPr/>
        </p:nvPicPr>
        <p:blipFill>
          <a:blip r:embed="rId2">
            <a:extLst>
              <a:ext uri="{28A0092B-C50C-407E-A947-70E740481C1C}">
                <a14:useLocalDpi xmlns:a14="http://schemas.microsoft.com/office/drawing/2010/main" val="0"/>
              </a:ext>
            </a:extLst>
          </a:blip>
          <a:srcRect/>
          <a:stretch>
            <a:fillRect/>
          </a:stretch>
        </p:blipFill>
        <p:spPr bwMode="auto">
          <a:xfrm>
            <a:off x="2321169" y="0"/>
            <a:ext cx="7502769" cy="6693877"/>
          </a:xfrm>
          <a:prstGeom prst="rect">
            <a:avLst/>
          </a:prstGeom>
          <a:noFill/>
          <a:ln>
            <a:noFill/>
          </a:ln>
        </p:spPr>
      </p:pic>
    </p:spTree>
    <p:extLst>
      <p:ext uri="{BB962C8B-B14F-4D97-AF65-F5344CB8AC3E}">
        <p14:creationId xmlns:p14="http://schemas.microsoft.com/office/powerpoint/2010/main" val="20333461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684420"/>
          </a:xfrm>
        </p:spPr>
        <p:txBody>
          <a:bodyPr/>
          <a:lstStyle/>
          <a:p>
            <a:r>
              <a:rPr lang="en-US" b="1" dirty="0" smtClean="0"/>
              <a:t>REFERENCES</a:t>
            </a:r>
            <a:endParaRPr lang="en-US" b="1" dirty="0"/>
          </a:p>
        </p:txBody>
      </p:sp>
      <p:sp>
        <p:nvSpPr>
          <p:cNvPr id="3" name="Content Placeholder 2"/>
          <p:cNvSpPr>
            <a:spLocks noGrp="1"/>
          </p:cNvSpPr>
          <p:nvPr>
            <p:ph idx="1"/>
          </p:nvPr>
        </p:nvSpPr>
        <p:spPr>
          <a:xfrm>
            <a:off x="1103312" y="1137138"/>
            <a:ext cx="8946541" cy="5486400"/>
          </a:xfrm>
        </p:spPr>
        <p:txBody>
          <a:bodyPr>
            <a:normAutofit fontScale="92500" lnSpcReduction="20000"/>
          </a:bodyPr>
          <a:lstStyle/>
          <a:p>
            <a:r>
              <a:rPr lang="en-US" u="sng" dirty="0">
                <a:hlinkClick r:id="rId2"/>
              </a:rPr>
              <a:t>https://tse1.mm.bing.net/th?id=OIP.xGKS3Rl7LV-kS8v9qqcRQwHaFg&amp;pid=Api&amp;P=0&amp;h=220</a:t>
            </a:r>
            <a:endParaRPr lang="en-US" dirty="0"/>
          </a:p>
          <a:p>
            <a:r>
              <a:rPr lang="en-US" u="sng" dirty="0">
                <a:hlinkClick r:id="rId3"/>
              </a:rPr>
              <a:t>https://tse2.mm.bing.net/th?id=OIP.pmj2R0guqGQdM8XR_mEhbAAAAA&amp;pid=Api&amp;P=0&amp;h=220</a:t>
            </a:r>
            <a:endParaRPr lang="en-US" dirty="0"/>
          </a:p>
          <a:p>
            <a:r>
              <a:rPr lang="en-US" u="sng" dirty="0">
                <a:hlinkClick r:id="rId4"/>
              </a:rPr>
              <a:t>https://whatistheurl.com/wp-content/uploads/2020/11/identifying-left-and-right-position-worksheet-3.png</a:t>
            </a:r>
            <a:endParaRPr lang="en-US" dirty="0"/>
          </a:p>
          <a:p>
            <a:r>
              <a:rPr lang="en-US" u="sng" dirty="0">
                <a:hlinkClick r:id="rId5"/>
              </a:rPr>
              <a:t>https://www.kidpid.com/wp-content/uploads/2021/11/position-words-practice-worksheets-for-kindergarten-1.png</a:t>
            </a:r>
            <a:endParaRPr lang="en-US" dirty="0"/>
          </a:p>
          <a:p>
            <a:r>
              <a:rPr lang="en-US" u="sng" dirty="0">
                <a:hlinkClick r:id="rId6"/>
              </a:rPr>
              <a:t>https://i.pinimg.com/originals/d1/da/a9/d1daa90e07d2810f087a5482d18f2b0b.png</a:t>
            </a:r>
            <a:endParaRPr lang="en-US" dirty="0"/>
          </a:p>
          <a:p>
            <a:r>
              <a:rPr lang="en-US" u="sng" dirty="0">
                <a:hlinkClick r:id="rId7"/>
              </a:rPr>
              <a:t>https://storage.googleapis.com/worksheetzone/image/6221ff931becbd4e04bda302/data-handling-w1000-h662-preview-0.jpg</a:t>
            </a:r>
            <a:endParaRPr lang="en-US" dirty="0"/>
          </a:p>
          <a:p>
            <a:r>
              <a:rPr lang="en-US" u="sng" dirty="0">
                <a:hlinkClick r:id="rId8"/>
              </a:rPr>
              <a:t>https://witknowlearn.com/cdn/images/thumbnail/handling-data-worksheet-for-grade-3-0-2020-11-07-061035.jpg</a:t>
            </a:r>
            <a:endParaRPr lang="en-US" dirty="0"/>
          </a:p>
          <a:p>
            <a:r>
              <a:rPr lang="en-US" u="sng" dirty="0">
                <a:hlinkClick r:id="rId9"/>
              </a:rPr>
              <a:t>http://www.mathsdiary.com/wp-content/uploads/2015/08/days-of-a-week-worksheet-3.jpg</a:t>
            </a:r>
            <a:endParaRPr lang="en-US" dirty="0"/>
          </a:p>
          <a:p>
            <a:r>
              <a:rPr lang="en-US" u="sng" dirty="0">
                <a:hlinkClick r:id="rId10"/>
              </a:rPr>
              <a:t>https://i.pinimg.com/originals/0c/89/e9/0c89e978bca96b271655ff48f801a3df.gif</a:t>
            </a:r>
            <a:endParaRPr lang="en-US" dirty="0"/>
          </a:p>
          <a:p>
            <a:endParaRPr lang="en-US" dirty="0"/>
          </a:p>
        </p:txBody>
      </p:sp>
    </p:spTree>
    <p:extLst>
      <p:ext uri="{BB962C8B-B14F-4D97-AF65-F5344CB8AC3E}">
        <p14:creationId xmlns:p14="http://schemas.microsoft.com/office/powerpoint/2010/main" val="2879164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1626</TotalTime>
  <Words>455</Words>
  <Application>Microsoft Office PowerPoint</Application>
  <PresentationFormat>Widescreen</PresentationFormat>
  <Paragraphs>102</Paragraphs>
  <Slides>58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58</vt:i4>
      </vt:variant>
    </vt:vector>
  </HeadingPairs>
  <TitlesOfParts>
    <vt:vector size="63" baseType="lpstr">
      <vt:lpstr>Arial</vt:lpstr>
      <vt:lpstr>Calibri</vt:lpstr>
      <vt:lpstr>Century Gothic</vt:lpstr>
      <vt:lpstr>Wingdings 3</vt:lpstr>
      <vt:lpstr>Ion</vt:lpstr>
      <vt:lpstr>PowerPoint Presentation</vt:lpstr>
      <vt:lpstr>             LESSON PLAN CONTENT</vt:lpstr>
      <vt:lpstr>             LESSON PLAN CONTENT</vt:lpstr>
      <vt:lpstr>             LESSON PLAN CONTENT</vt:lpstr>
      <vt:lpstr>             LESSON OBJECTIVES</vt:lpstr>
      <vt:lpstr>             Assessment Goals</vt:lpstr>
      <vt:lpstr>             Assessment Goals</vt:lpstr>
      <vt:lpstr>Numbers, operations and relationships.</vt:lpstr>
      <vt:lpstr>Group 1          Color the following numbers from 1-20.  </vt:lpstr>
      <vt:lpstr>PowerPoint Presentation</vt:lpstr>
      <vt:lpstr>Group 2     Count while pointing the numbers  from1-40 using the following chart.</vt:lpstr>
      <vt:lpstr>PowerPoint Presentation</vt:lpstr>
      <vt:lpstr>                               Group 3 </vt:lpstr>
      <vt:lpstr>PowerPoint Presentation</vt:lpstr>
      <vt:lpstr>South African coins</vt:lpstr>
      <vt:lpstr>                        Group 1 </vt:lpstr>
      <vt:lpstr>Activity: The teacher will come with coins in the classroom and ask learners what coins do they see.</vt:lpstr>
      <vt:lpstr>                               Group 2</vt:lpstr>
      <vt:lpstr>PowerPoint Presentation</vt:lpstr>
      <vt:lpstr>                           Group 3</vt:lpstr>
      <vt:lpstr>PowerPoint Presentation</vt:lpstr>
      <vt:lpstr>SPACE AND SHAPE</vt:lpstr>
      <vt:lpstr>                        POSITIONS</vt:lpstr>
      <vt:lpstr>                             Group 1</vt:lpstr>
      <vt:lpstr>Activity: The teacher will use objects in the classroom like chairs, desks, chalkboard, door etc. and demonstrate to learners about different positions that one object can display amongst other objects then ask learners to also demonstrate those positions.</vt:lpstr>
      <vt:lpstr>Group 2 </vt:lpstr>
      <vt:lpstr>PowerPoint Presentation</vt:lpstr>
      <vt:lpstr>              Group 3 </vt:lpstr>
      <vt:lpstr>PowerPoint Presentation</vt:lpstr>
      <vt:lpstr>3D OBJECTS</vt:lpstr>
      <vt:lpstr>GROUP 1 Color the 3D shapes.</vt:lpstr>
      <vt:lpstr>PowerPoint Presentation</vt:lpstr>
      <vt:lpstr>              Group 2</vt:lpstr>
      <vt:lpstr>Activity: Name the 3D objects that you can see around the classroom.</vt:lpstr>
      <vt:lpstr>              Group 3 </vt:lpstr>
      <vt:lpstr>PowerPoint Presentation</vt:lpstr>
      <vt:lpstr>DATA HANDLING</vt:lpstr>
      <vt:lpstr>              Group 1</vt:lpstr>
      <vt:lpstr>Activity:  Learners will be given counters with different color and they will have to sort and arrange those counters according to their colors.</vt:lpstr>
      <vt:lpstr>              Group 2</vt:lpstr>
      <vt:lpstr>PowerPoint Presentation</vt:lpstr>
      <vt:lpstr>             Group 3</vt:lpstr>
      <vt:lpstr>PowerPoint Presentation</vt:lpstr>
      <vt:lpstr>MEASUREMENTS</vt:lpstr>
      <vt:lpstr>               Group 1</vt:lpstr>
      <vt:lpstr>Activity: 1. Tell us about the things you did yesterday at home. 2. What are you going to do today at school with your friends? 3. What are you going to do tomorrow after school?</vt:lpstr>
      <vt:lpstr>                       Group 2</vt:lpstr>
      <vt:lpstr>Activity: 1. Today is Friday, what day is tomorrow? 2. Today is Monday, what day was yesterday? 3. Yesterday was Wednesday, what day is today? </vt:lpstr>
      <vt:lpstr>              Group 3</vt:lpstr>
      <vt:lpstr>PowerPoint Presentation</vt:lpstr>
      <vt:lpstr>PATTERNS</vt:lpstr>
      <vt:lpstr>             Group 1</vt:lpstr>
      <vt:lpstr>PowerPoint Presentation</vt:lpstr>
      <vt:lpstr> Group 2 Complete the following pattern by drawing the picture in the box. </vt:lpstr>
      <vt:lpstr>PowerPoint Presentation</vt:lpstr>
      <vt:lpstr>              Group 3</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Student_PC</dc:creator>
  <cp:lastModifiedBy>Lerato Vinger</cp:lastModifiedBy>
  <cp:revision>57</cp:revision>
  <dcterms:created xsi:type="dcterms:W3CDTF">2024-06-13T05:54:20Z</dcterms:created>
  <dcterms:modified xsi:type="dcterms:W3CDTF">2024-07-12T07:51:17Z</dcterms:modified>
</cp:coreProperties>
</file>