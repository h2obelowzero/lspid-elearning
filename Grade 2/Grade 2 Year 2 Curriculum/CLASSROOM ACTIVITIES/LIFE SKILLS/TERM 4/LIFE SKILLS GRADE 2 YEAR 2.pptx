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4" r:id="rId4"/>
    <p:sldId id="305" r:id="rId5"/>
    <p:sldId id="302" r:id="rId6"/>
    <p:sldId id="303" r:id="rId7"/>
    <p:sldId id="259" r:id="rId8"/>
    <p:sldId id="260" r:id="rId9"/>
    <p:sldId id="261" r:id="rId10"/>
    <p:sldId id="262" r:id="rId11"/>
    <p:sldId id="263" r:id="rId12"/>
    <p:sldId id="264" r:id="rId13"/>
    <p:sldId id="267" r:id="rId14"/>
    <p:sldId id="268" r:id="rId15"/>
    <p:sldId id="277" r:id="rId16"/>
    <p:sldId id="27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53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7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856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14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397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62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32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426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59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606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126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52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863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2456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853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126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1144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185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366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th.bing.com/th/id/OIP.Nf6VTxle16YtwHqxzvj24QAAAA?rs=1&amp;pid=ImgDetMain" TargetMode="External"/><Relationship Id="rId3" Type="http://schemas.openxmlformats.org/officeDocument/2006/relationships/hyperlink" Target="https://th.bing.com/th/id/R.4bedde0a34a46c3f8476e8a9c3193ea9?rik=HzmXgDwWSMiEgg&amp;riu=http%3a%2f%2fcdn.turtlediary.com%2fworksheets%2fela%2fpreschool%2fmiscellaneous%2fland-transport-match-the-parts%2fquestion%2fland-transport-match-the-parts-1.png&amp;ehk=QmUIA1EFbE4f0svBv4Cz5sxyTCRyjPK21lGTtr58rpw%3d&amp;risl=&amp;pid=ImgRaw&amp;r=0" TargetMode="External"/><Relationship Id="rId7" Type="http://schemas.openxmlformats.org/officeDocument/2006/relationships/hyperlink" Target="https://th.bing.com/th/id/OIP.sfoXR83NPVP-oQz6Fw5fKgAAAA?w=178&amp;h=241&amp;c=7&amp;r=0&amp;o=5&amp;pid=1.7" TargetMode="External"/><Relationship Id="rId2" Type="http://schemas.openxmlformats.org/officeDocument/2006/relationships/hyperlink" Target="https://cdn4.vectorstock.com/i/1000x1000/81/78/transport-cartoons-vector-598178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.bing.com/th/id/OIP.j1aGQgbLnwFPQ_I9JjVwygHaKe?w=178&amp;h=252&amp;c=7&amp;r=0&amp;o=5&amp;pid=1.7" TargetMode="External"/><Relationship Id="rId5" Type="http://schemas.openxmlformats.org/officeDocument/2006/relationships/hyperlink" Target="https://th.bing.com/th/id/OIP.fRSAqPJELZxVQ3CRL-bfpgAAAA?rs=1&amp;pid=ImgDetMain" TargetMode="External"/><Relationship Id="rId4" Type="http://schemas.openxmlformats.org/officeDocument/2006/relationships/hyperlink" Target="https://www.kids-pages.com/folders/worksheets/Transportation/TransportationFillIn.jpg" TargetMode="External"/><Relationship Id="rId9" Type="http://schemas.openxmlformats.org/officeDocument/2006/relationships/hyperlink" Target="https://th.bing.com/th/id/OIP.G22CAwskSgcV--pN-tS4-gAAAA?rs=1&amp;pid=ImgDet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A923-0714-4031-A893-1F905F1FEF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TERM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5CB9C-FD8A-4C01-A2D1-9D29CB646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LIFE SKILLS </a:t>
            </a:r>
          </a:p>
          <a:p>
            <a:r>
              <a:rPr lang="en-ZA" dirty="0"/>
              <a:t>GRADE 2 YEAR 2</a:t>
            </a:r>
          </a:p>
        </p:txBody>
      </p:sp>
    </p:spTree>
    <p:extLst>
      <p:ext uri="{BB962C8B-B14F-4D97-AF65-F5344CB8AC3E}">
        <p14:creationId xmlns:p14="http://schemas.microsoft.com/office/powerpoint/2010/main" val="241004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2EEA5-77CB-47DB-BA8E-291871F6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LESSON PLAN CONTENT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AAFBFCA-B211-4540-B012-1F19BEFDE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200928"/>
              </p:ext>
            </p:extLst>
          </p:nvPr>
        </p:nvGraphicFramePr>
        <p:xfrm>
          <a:off x="1295400" y="2557463"/>
          <a:ext cx="9601200" cy="3325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9035">
                  <a:extLst>
                    <a:ext uri="{9D8B030D-6E8A-4147-A177-3AD203B41FA5}">
                      <a16:colId xmlns:a16="http://schemas.microsoft.com/office/drawing/2014/main" val="4145566532"/>
                    </a:ext>
                  </a:extLst>
                </a:gridCol>
                <a:gridCol w="6722165">
                  <a:extLst>
                    <a:ext uri="{9D8B030D-6E8A-4147-A177-3AD203B41FA5}">
                      <a16:colId xmlns:a16="http://schemas.microsoft.com/office/drawing/2014/main" val="1165783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WATER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OUR COUNTRY SOUTH AFRICA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422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COMMUNICATION IN OUR WORLD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999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LIFE AT NIGHT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20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3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E2EC-8C6C-4C1E-92D3-D4CAF3C9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Lesson objectives</a:t>
            </a:r>
            <a:br>
              <a:rPr lang="en-ZA" dirty="0"/>
            </a:br>
            <a:r>
              <a:rPr lang="en-ZA" sz="3100" dirty="0"/>
              <a:t>Learners will be able to</a:t>
            </a:r>
            <a:r>
              <a:rPr lang="en-ZA" dirty="0"/>
              <a:t>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E9EF-7FA1-465B-9029-9F4189DBB0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Discuss the water cycle</a:t>
            </a:r>
          </a:p>
          <a:p>
            <a:r>
              <a:rPr lang="en-GB" dirty="0"/>
              <a:t> Save water</a:t>
            </a:r>
          </a:p>
          <a:p>
            <a:r>
              <a:rPr lang="en-GB" dirty="0"/>
              <a:t>Water purification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1668D-9CC1-4893-B748-F51ACD5D29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Know the name of our country South Africa</a:t>
            </a:r>
          </a:p>
          <a:p>
            <a:r>
              <a:rPr lang="en-GB" dirty="0"/>
              <a:t>Recognise the map of South Africa</a:t>
            </a:r>
          </a:p>
          <a:p>
            <a:r>
              <a:rPr lang="en-GB" dirty="0"/>
              <a:t>Recognise the symbols of South Africa</a:t>
            </a:r>
          </a:p>
          <a:p>
            <a:r>
              <a:rPr lang="en-GB" dirty="0"/>
              <a:t>Name own province</a:t>
            </a:r>
          </a:p>
          <a:p>
            <a:r>
              <a:rPr lang="en-GB" dirty="0"/>
              <a:t>Name own town</a:t>
            </a:r>
          </a:p>
          <a:p>
            <a:r>
              <a:rPr lang="en-GB" dirty="0"/>
              <a:t>Recognise the South African </a:t>
            </a:r>
          </a:p>
          <a:p>
            <a:r>
              <a:rPr lang="en-GB" dirty="0"/>
              <a:t>flag and places where we can </a:t>
            </a:r>
          </a:p>
          <a:p>
            <a:r>
              <a:rPr lang="en-GB" dirty="0"/>
              <a:t>see it flying. Meaning of colours</a:t>
            </a:r>
          </a:p>
          <a:p>
            <a:r>
              <a:rPr lang="en-GB" dirty="0"/>
              <a:t>Listen/hum/sing South African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1641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03BB-165D-4A25-8755-2E450EE5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Lesson objectives </a:t>
            </a:r>
            <a:r>
              <a:rPr lang="en-ZA" dirty="0" err="1"/>
              <a:t>cont</a:t>
            </a:r>
            <a:r>
              <a:rPr lang="en-ZA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97F02-0EAF-4E40-8193-E96826C8E7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Identify common communication skills</a:t>
            </a:r>
          </a:p>
          <a:p>
            <a:r>
              <a:rPr lang="en-GB" dirty="0"/>
              <a:t>Identify common communication technologies</a:t>
            </a:r>
          </a:p>
          <a:p>
            <a:r>
              <a:rPr lang="en-GB" dirty="0"/>
              <a:t>Identify ways that a person’s privacy and reputation may be compromised online </a:t>
            </a:r>
          </a:p>
          <a:p>
            <a:r>
              <a:rPr lang="en-GB" dirty="0"/>
              <a:t>Identify examples of texting style language, including abbreviations and emoticons. </a:t>
            </a:r>
          </a:p>
          <a:p>
            <a:r>
              <a:rPr lang="en-GB" dirty="0"/>
              <a:t>Describe the appropriate and inappropriate uses of texting style language. </a:t>
            </a:r>
          </a:p>
          <a:p>
            <a:r>
              <a:rPr lang="en-GB" dirty="0"/>
              <a:t>Describe some potential consequences of the inappropriate use of texting style language 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5A46E-E5A9-4A17-A167-2EB8B8E274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Discuss things they do at night get ready for bed, read and tell stories, sleep and dream</a:t>
            </a:r>
          </a:p>
          <a:p>
            <a:r>
              <a:rPr lang="en-GB" dirty="0"/>
              <a:t>Identify people who work at night - such as security officers, doctors, pilots, truck drivers</a:t>
            </a:r>
          </a:p>
          <a:p>
            <a:r>
              <a:rPr lang="en-GB" dirty="0"/>
              <a:t>Identify night animals - such as owls, hamsters, porcupines, leopards, jackal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38552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774C-0814-4705-A4AE-4FC9F2C8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ASSESSMENT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EF127-2552-4C85-BB2A-58C8D0C124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Know and discuss the water cycle using basic vocabulary</a:t>
            </a:r>
          </a:p>
          <a:p>
            <a:r>
              <a:rPr lang="en-GB" dirty="0"/>
              <a:t>Know how to save water</a:t>
            </a:r>
          </a:p>
          <a:p>
            <a:r>
              <a:rPr lang="en-GB" dirty="0"/>
              <a:t>Know and explain how water purification works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00D0B-980F-4CD3-A0CC-C7A96516F2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Know the province of residence</a:t>
            </a:r>
          </a:p>
          <a:p>
            <a:r>
              <a:rPr lang="en-GB" dirty="0"/>
              <a:t>Know town of residence</a:t>
            </a:r>
          </a:p>
          <a:p>
            <a:r>
              <a:rPr lang="en-GB" dirty="0"/>
              <a:t>Know and label the flag and the meaning of the colours</a:t>
            </a:r>
          </a:p>
          <a:p>
            <a:r>
              <a:rPr lang="en-GB" dirty="0"/>
              <a:t>Know and sing/hum the anthem</a:t>
            </a:r>
          </a:p>
          <a:p>
            <a:r>
              <a:rPr lang="en-GB" dirty="0"/>
              <a:t>Understand the term rainbow nation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071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5176-B3D7-4D56-AAAA-02ED157D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ASSESSMENT GOALS </a:t>
            </a:r>
            <a:r>
              <a:rPr lang="en-ZA" dirty="0" err="1"/>
              <a:t>cont</a:t>
            </a:r>
            <a:r>
              <a:rPr lang="en-ZA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61D7F-EB26-4572-B8EC-425B51E844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Identify ways that a person’s privacy and reputation may be compromised online.</a:t>
            </a:r>
          </a:p>
          <a:p>
            <a:r>
              <a:rPr lang="en-GB" dirty="0"/>
              <a:t>Identify examples of texting-style language, including abbreviations and emoticons. </a:t>
            </a:r>
          </a:p>
          <a:p>
            <a:r>
              <a:rPr lang="en-GB" dirty="0"/>
              <a:t>Describe and discuss the appropriate and inappropriate uses of texting-style language.</a:t>
            </a:r>
          </a:p>
          <a:p>
            <a:r>
              <a:rPr lang="en-GB" dirty="0"/>
              <a:t>Describe and discuss some potential consequences of the inappropriate use of texting-style language.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FD418-288D-482F-B3CD-A7DB10B6CF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Identify, name and </a:t>
            </a:r>
            <a:r>
              <a:rPr lang="en-GB" dirty="0" err="1"/>
              <a:t>lable</a:t>
            </a:r>
            <a:r>
              <a:rPr lang="en-GB" dirty="0"/>
              <a:t> people who work at night - such as security officers, doctors, pilots, truck drivers</a:t>
            </a:r>
          </a:p>
          <a:p>
            <a:r>
              <a:rPr lang="en-GB" dirty="0"/>
              <a:t> Identify night animals - such as owls, hamsters, porcupines, leopards, jackal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26600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8858-880E-4DAB-BB49-88341D53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ED1B3-DE08-40F5-B0E9-7429D2CEE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8E7B1-66C9-4F53-A7BB-A60B4C058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556931"/>
            <a:ext cx="5430078" cy="357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59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3879-B00A-4D82-8591-9F60ACF2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 </a:t>
            </a:r>
          </a:p>
        </p:txBody>
      </p:sp>
      <p:pic>
        <p:nvPicPr>
          <p:cNvPr id="1026" name="Picture 2" descr="Premium Vector | Water cycle diagram earth hydrologic process ...">
            <a:extLst>
              <a:ext uri="{FF2B5EF4-FFF2-40B4-BE49-F238E27FC236}">
                <a16:creationId xmlns:a16="http://schemas.microsoft.com/office/drawing/2014/main" id="{7C84F454-8D5F-44AA-B92A-AF847DBFC8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554" y="2557463"/>
            <a:ext cx="4692892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01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FB33-8FE4-4035-9DDE-CE7BFDD8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/>
              <a:buChar char="•"/>
              <a:tabLst/>
              <a:defRPr/>
            </a:pPr>
            <a:r>
              <a:rPr lang="en-ZA" dirty="0"/>
              <a:t>Group 1</a:t>
            </a:r>
            <a:br>
              <a:rPr lang="en-ZA" dirty="0"/>
            </a:b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Colour the rain cloud using pencil colours </a:t>
            </a:r>
            <a:b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</a:br>
            <a:endParaRPr lang="en-ZA" dirty="0"/>
          </a:p>
        </p:txBody>
      </p:sp>
      <p:pic>
        <p:nvPicPr>
          <p:cNvPr id="2052" name="Picture 4" descr="Weather thunderstorm icon. Outline weather thunderstorm vector icon for ...">
            <a:extLst>
              <a:ext uri="{FF2B5EF4-FFF2-40B4-BE49-F238E27FC236}">
                <a16:creationId xmlns:a16="http://schemas.microsoft.com/office/drawing/2014/main" id="{D30286D4-FD15-4A53-B9D6-2D9733195B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065" y="2614613"/>
            <a:ext cx="3037869" cy="326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798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3425-B4CC-4557-BCF6-67EB4665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Practical task</a:t>
            </a:r>
            <a:br>
              <a:rPr lang="en-ZA" dirty="0"/>
            </a:br>
            <a:r>
              <a:rPr lang="en-ZA" dirty="0"/>
              <a:t>HOW TO SAVE WATER</a:t>
            </a:r>
          </a:p>
        </p:txBody>
      </p:sp>
      <p:pic>
        <p:nvPicPr>
          <p:cNvPr id="3074" name="Picture 2" descr="Teaching Kids to Save Water - Teach Me Mommy">
            <a:extLst>
              <a:ext uri="{FF2B5EF4-FFF2-40B4-BE49-F238E27FC236}">
                <a16:creationId xmlns:a16="http://schemas.microsoft.com/office/drawing/2014/main" id="{A087AE55-AA7E-43BD-ACA8-069C5EEC2B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357" y="2557463"/>
            <a:ext cx="4293704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21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F156-FCB0-4EE7-8B4A-FC29244E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in the water bottle picture below</a:t>
            </a:r>
          </a:p>
        </p:txBody>
      </p:sp>
      <p:pic>
        <p:nvPicPr>
          <p:cNvPr id="4098" name="Picture 2" descr="Water Bottle and Glass coloring page | Free Printable Coloring Pages">
            <a:extLst>
              <a:ext uri="{FF2B5EF4-FFF2-40B4-BE49-F238E27FC236}">
                <a16:creationId xmlns:a16="http://schemas.microsoft.com/office/drawing/2014/main" id="{DDD3888E-22E7-4C7E-A4DC-98788F966A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871" y="2557463"/>
            <a:ext cx="4505738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121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C778-8E5C-41C1-9CAB-CF6A6A3D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ZA" dirty="0"/>
              <a:t>water cycle</a:t>
            </a:r>
          </a:p>
        </p:txBody>
      </p:sp>
      <p:pic>
        <p:nvPicPr>
          <p:cNvPr id="5124" name="Picture 4" descr="36 Simple Water Cycle Worksheet Ideas - bacamajalah | Water cycle ...">
            <a:extLst>
              <a:ext uri="{FF2B5EF4-FFF2-40B4-BE49-F238E27FC236}">
                <a16:creationId xmlns:a16="http://schemas.microsoft.com/office/drawing/2014/main" id="{B87774C5-EE2A-4F5B-87AB-E14CE9B433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57" y="2557463"/>
            <a:ext cx="467801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070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C67E64-3A91-4AF5-AC35-0748E0DC6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017" y="1770744"/>
            <a:ext cx="5002609" cy="378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25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C04B-DF10-4F07-A3F3-1704FFC2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Where do we get water?</a:t>
            </a:r>
            <a:br>
              <a:rPr lang="en-ZA" dirty="0"/>
            </a:br>
            <a:r>
              <a:rPr lang="en-ZA" dirty="0"/>
              <a:t>Colour the picture below</a:t>
            </a:r>
          </a:p>
        </p:txBody>
      </p:sp>
      <p:pic>
        <p:nvPicPr>
          <p:cNvPr id="7170" name="Picture 2" descr="Water coloring pages to download and print for free">
            <a:extLst>
              <a:ext uri="{FF2B5EF4-FFF2-40B4-BE49-F238E27FC236}">
                <a16:creationId xmlns:a16="http://schemas.microsoft.com/office/drawing/2014/main" id="{09AB56DD-A9E3-4585-A2DD-4F4CA31E0E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271" y="2557463"/>
            <a:ext cx="4210636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905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FEBB-BDB3-4108-B013-75C313D7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ZA" sz="3600" dirty="0"/>
              <a:t>Tick the images that shows the ways we use water</a:t>
            </a:r>
          </a:p>
        </p:txBody>
      </p:sp>
      <p:pic>
        <p:nvPicPr>
          <p:cNvPr id="4" name="Content Placeholder 3" descr="Water Worksheet: Free Natural Resources Printable for Kids">
            <a:extLst>
              <a:ext uri="{FF2B5EF4-FFF2-40B4-BE49-F238E27FC236}">
                <a16:creationId xmlns:a16="http://schemas.microsoft.com/office/drawing/2014/main" id="{880625A5-BC9F-42F7-BB37-6FA0D35434A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74" b="2522"/>
          <a:stretch/>
        </p:blipFill>
        <p:spPr bwMode="auto">
          <a:xfrm>
            <a:off x="3856383" y="2557463"/>
            <a:ext cx="3830971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7646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9D7F0-EC4B-4AEF-9838-86A34C7F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What are the 3 ways you can save water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88B109-3EFA-43C8-9EFB-AD32E12A6E2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26"/>
          <a:stretch/>
        </p:blipFill>
        <p:spPr bwMode="auto">
          <a:xfrm>
            <a:off x="4452638" y="2557463"/>
            <a:ext cx="3286724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38726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Our Country South Africa - Juffrou met hart">
            <a:extLst>
              <a:ext uri="{FF2B5EF4-FFF2-40B4-BE49-F238E27FC236}">
                <a16:creationId xmlns:a16="http://schemas.microsoft.com/office/drawing/2014/main" id="{79891A52-B994-4B66-8039-B40E0C2E2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3" y="947738"/>
            <a:ext cx="7267575" cy="49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210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8D1D-CCEA-423B-A713-F75FFD17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ZA" dirty="0"/>
              <a:t>Colour the South African flag</a:t>
            </a:r>
          </a:p>
        </p:txBody>
      </p:sp>
      <p:pic>
        <p:nvPicPr>
          <p:cNvPr id="10242" name="Picture 2" descr="South African Flag - ClipArt Best">
            <a:extLst>
              <a:ext uri="{FF2B5EF4-FFF2-40B4-BE49-F238E27FC236}">
                <a16:creationId xmlns:a16="http://schemas.microsoft.com/office/drawing/2014/main" id="{C577BB56-E9C9-493A-B067-9816A342BD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904" y="2557463"/>
            <a:ext cx="6851373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725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4E32-EC34-48D6-8A6A-E9EBE307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Point out 9 South African provinces</a:t>
            </a:r>
          </a:p>
        </p:txBody>
      </p:sp>
      <p:pic>
        <p:nvPicPr>
          <p:cNvPr id="11266" name="Picture 2" descr="1: Provinces of South Africa (South African Government, 2016 ...">
            <a:extLst>
              <a:ext uri="{FF2B5EF4-FFF2-40B4-BE49-F238E27FC236}">
                <a16:creationId xmlns:a16="http://schemas.microsoft.com/office/drawing/2014/main" id="{8C7EFD49-BECF-4229-8838-A18DB45DBA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769704"/>
            <a:ext cx="5151953" cy="296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77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2F1-F0A6-43FC-AC0B-260F55F2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ZA" dirty="0"/>
              <a:t>Colour the South African flag</a:t>
            </a:r>
          </a:p>
        </p:txBody>
      </p:sp>
      <p:pic>
        <p:nvPicPr>
          <p:cNvPr id="12290" name="Picture 2" descr="South African Flag to Color Flags Countries - Etsy">
            <a:extLst>
              <a:ext uri="{FF2B5EF4-FFF2-40B4-BE49-F238E27FC236}">
                <a16:creationId xmlns:a16="http://schemas.microsoft.com/office/drawing/2014/main" id="{5634ED47-8189-4CF5-826D-79C3CC8754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758" y="2557463"/>
            <a:ext cx="5405324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664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B8DA-31CA-4C71-B40F-5CAD9960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9 South African provinces</a:t>
            </a:r>
          </a:p>
        </p:txBody>
      </p:sp>
      <p:pic>
        <p:nvPicPr>
          <p:cNvPr id="13314" name="Picture 2" descr="South Africa free map, free blank map, free outline map, free base map ...">
            <a:extLst>
              <a:ext uri="{FF2B5EF4-FFF2-40B4-BE49-F238E27FC236}">
                <a16:creationId xmlns:a16="http://schemas.microsoft.com/office/drawing/2014/main" id="{6248F7C5-C280-4AA5-80AC-3E46434026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557463"/>
            <a:ext cx="5228120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196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989C-0BD5-49E1-8D74-220921F2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the national springbok</a:t>
            </a:r>
          </a:p>
        </p:txBody>
      </p:sp>
      <p:pic>
        <p:nvPicPr>
          <p:cNvPr id="14338" name="Picture 2" descr="Springbok From South Africa Coloring Page. Free Printable Coloring Page ...">
            <a:extLst>
              <a:ext uri="{FF2B5EF4-FFF2-40B4-BE49-F238E27FC236}">
                <a16:creationId xmlns:a16="http://schemas.microsoft.com/office/drawing/2014/main" id="{DEFC626E-88BB-4B0D-B228-36667BE459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043" y="2557463"/>
            <a:ext cx="5459896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522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89FD-0046-427C-ABAC-DC4160F0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ZA" dirty="0"/>
              <a:t>Colour the South African flag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7FF944-21FC-4546-BC50-AE1EC0E7A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5238" y="2558145"/>
            <a:ext cx="5401524" cy="33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14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783C-8F54-4690-99AE-1F1D70A2C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Colour in the protea national flower using different colours</a:t>
            </a:r>
          </a:p>
        </p:txBody>
      </p:sp>
      <p:pic>
        <p:nvPicPr>
          <p:cNvPr id="15362" name="Picture 2" descr="a drawing of a flower with leaves and petals in black and white on a ...">
            <a:extLst>
              <a:ext uri="{FF2B5EF4-FFF2-40B4-BE49-F238E27FC236}">
                <a16:creationId xmlns:a16="http://schemas.microsoft.com/office/drawing/2014/main" id="{DC433BC4-C09A-45B7-B7FF-DFBEE7D9E0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157" y="2629916"/>
            <a:ext cx="3485321" cy="317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320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2CE7F-3F78-4AE9-BF7F-70060E10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Practical work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E9241C-6164-4476-91C7-ADBF2519C0C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58" y="2557463"/>
            <a:ext cx="4982816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5886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9170-A34C-476D-A6E5-9C1537B9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Complete and colour the map</a:t>
            </a:r>
            <a:endParaRPr lang="en-ZA" dirty="0"/>
          </a:p>
        </p:txBody>
      </p:sp>
      <p:pic>
        <p:nvPicPr>
          <p:cNvPr id="4" name="Content Placeholder 3" descr="Geography Provinces of SA - Learning with Mrs Du Preez">
            <a:extLst>
              <a:ext uri="{FF2B5EF4-FFF2-40B4-BE49-F238E27FC236}">
                <a16:creationId xmlns:a16="http://schemas.microsoft.com/office/drawing/2014/main" id="{EB014A53-5FB4-43D3-BBB5-FC88A538586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529" y="2557463"/>
            <a:ext cx="4744279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3129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C253-9C6A-40DB-96F5-36BA806A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Communication in our world </a:t>
            </a:r>
          </a:p>
        </p:txBody>
      </p:sp>
      <p:pic>
        <p:nvPicPr>
          <p:cNvPr id="16386" name="Picture 2" descr="Communication | FREE Infographic Maker">
            <a:extLst>
              <a:ext uri="{FF2B5EF4-FFF2-40B4-BE49-F238E27FC236}">
                <a16:creationId xmlns:a16="http://schemas.microsoft.com/office/drawing/2014/main" id="{F406ACBC-07B0-4902-8521-AD8251F695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2806700"/>
            <a:ext cx="451485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290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008D-DF25-4FDE-9661-A03802EC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Introduction </a:t>
            </a:r>
            <a:br>
              <a:rPr lang="en-ZA" dirty="0"/>
            </a:br>
            <a:r>
              <a:rPr lang="en-ZA" dirty="0"/>
              <a:t>What is communication?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98B53A-4845-4A3E-958B-F5198A13B43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376" y="2614751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7A714F-0410-47A6-8B08-84B27585709F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23"/>
          <a:stretch/>
        </p:blipFill>
        <p:spPr bwMode="auto">
          <a:xfrm>
            <a:off x="4665980" y="2693987"/>
            <a:ext cx="2860040" cy="14700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2163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61B5-8313-4E26-9654-C02AAD8B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GB" dirty="0"/>
              <a:t>Colour in the telephone picture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B04428-C279-4D8A-8C62-33801F7DF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0609" y="2557463"/>
            <a:ext cx="445272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40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885E-C4D0-4995-ADC1-CEC2ABCE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Colour in the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D1E5D4-48AA-4A4D-A83D-8EDA84B55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2225" y="2557463"/>
            <a:ext cx="5075583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67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EE0BE-D7C6-4054-BDA9-3E8C35C3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GB" sz="3600" dirty="0"/>
              <a:t>Tick the correct form of communication that is used now</a:t>
            </a:r>
            <a:endParaRPr lang="en-ZA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6420F5-D21D-4481-8C3E-0E193659DEA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6" b="3755"/>
          <a:stretch/>
        </p:blipFill>
        <p:spPr bwMode="auto">
          <a:xfrm>
            <a:off x="3445565" y="2557463"/>
            <a:ext cx="4558748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0127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2286-BFE5-4433-B1D0-EBC18BC8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Colour in the mail communication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D84B38-6CB3-4EC8-918E-7E74648A4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6296" y="2557463"/>
            <a:ext cx="411517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72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F10F-0F0A-43F8-AE37-5371F7B4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GB" sz="3100" dirty="0"/>
              <a:t>Draw any technology gadget that is used for communication</a:t>
            </a:r>
            <a:endParaRPr lang="en-ZA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1725-F0B8-4AD0-A3B5-6E5256617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549603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ADE95-50C5-45E6-807C-FD1C23D6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Colour in the picture of verbal communication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9E9645-46E0-4706-944E-93814ECC6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061" y="2557463"/>
            <a:ext cx="4134323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13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BFB8-4531-435E-917F-4AACC14F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Circle the object that we use to communicate 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A74615-2BA4-4E8D-91CB-2FD21477574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02" b="9657"/>
          <a:stretch/>
        </p:blipFill>
        <p:spPr bwMode="auto">
          <a:xfrm>
            <a:off x="3405808" y="2557463"/>
            <a:ext cx="4505739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801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7B21-8D24-4BF0-B3B9-71A116A8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Draw lines to connect the pictures and matching communication tools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8E89FD-D006-430A-8519-6B3A01045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7758" y="2557463"/>
            <a:ext cx="44207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387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F74B-86FA-49E2-8A5B-933805EB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AT NIGHT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EE8725-297F-49A8-B07A-EB2328AD3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4348" y="2557463"/>
            <a:ext cx="4269758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9435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ED3E-2E97-4CE5-B36B-D27EFACD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GB" dirty="0"/>
              <a:t>Colour in the moon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5C8456-1D19-40C6-835B-91CB443D8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7357" y="2557463"/>
            <a:ext cx="3823971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272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AF21-E853-4499-8BC2-33DF58BA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in the star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E9C7F8-AB24-44C2-AE9D-DE7D84E97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6870" y="2557463"/>
            <a:ext cx="3936427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22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9F59-4149-4D06-9372-72A2E405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GB" dirty="0"/>
              <a:t>Colour in the moon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C7518C-AB1E-43C1-A446-D35BB53A9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322" y="2557463"/>
            <a:ext cx="465177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609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5A6D-DF4A-4DAF-81E1-ECEC0D68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Trace and colour in the moon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C3F74D-9FEE-41C7-BDC0-9AD4B1597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322" y="2557463"/>
            <a:ext cx="438646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010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EA37-BBB9-47E9-BF4B-B3C913429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Tick the correct box of what we see at night and during the day 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8C3C55-9E35-4CED-BBFF-F30C6E76E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3287" y="2557463"/>
            <a:ext cx="450491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705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8A52-741A-4966-965D-D8F8EBB78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GB" sz="3600" dirty="0"/>
              <a:t>Draw and colour in any image that represents the night</a:t>
            </a:r>
            <a:endParaRPr lang="en-ZA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3D148-0304-4688-91F7-49FF14B66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441631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3B5E-255B-4163-A64E-1E873978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the images that represent night life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4B7B09-6F15-41D2-877A-05AA0940E31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198" y="2689984"/>
            <a:ext cx="2803604" cy="331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The fantasy author J. R. R. Tolkien of Middle-earth fame included Earths sun and moon for the cosmology of his fictionalized version of existence.">
            <a:extLst>
              <a:ext uri="{FF2B5EF4-FFF2-40B4-BE49-F238E27FC236}">
                <a16:creationId xmlns:a16="http://schemas.microsoft.com/office/drawing/2014/main" id="{6B83AE4C-361D-4EF1-AB34-843DE07B309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706" y="2689984"/>
            <a:ext cx="2278587" cy="2678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8AC042-977F-46EE-8F7F-3B29158F0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548" y="3114054"/>
            <a:ext cx="2485253" cy="245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580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1567-5548-43E3-9E0C-36846F21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Tick√ the correct picture of night time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257C03-5528-449D-8090-7B9BD3C4A35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" t="-602" r="-128" b="4364"/>
          <a:stretch/>
        </p:blipFill>
        <p:spPr bwMode="auto">
          <a:xfrm>
            <a:off x="3101009" y="2557463"/>
            <a:ext cx="5485320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68288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4508B-45EB-4FA9-850B-C48B91ED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REFERENCE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A5FD9-4DDA-4339-892A-3B9BF5471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https://cdn4.vectorstock.com/i/1000x1000/81/78/transport-cartoons-vector-598178.jpg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th.bing.com/th/id/R.4bedde0a34a46c3f8476e8a9c3193ea9?rik=HzmXgDwWSMiEgg&amp;riu=http%3a%2f%2fcdn.turtlediary.com%2fworksheets%2fela%2fpreschool%2fmiscellaneous%2fland-transport-match-the-parts%2fquestion%2fland-transport-match-the-parts-1.png&amp;ehk=QmUIA1EFbE4f0svBv4Cz5sxyTCRyjPK21lGTtr58rpw%3d&amp;risl=&amp;pid=ImgRaw&amp;r=0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https://www.kids-pages.com/folders/worksheets/Transportation/TransportationFillIn.jpg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https://th.bing.com/th/id/OIP.fRSAqPJELZxVQ3CRL-bfpgAAAA?rs=1&amp;pid=ImgDetMain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https://th.bing.com/th/id/OIP.j1aGQgbLnwFPQ_I9JjVwygHaKe?w=178&amp;h=252&amp;c=7&amp;r=0&amp;o=5&amp;pid=1.7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https://th.bing.com/th/id/OIP.sfoXR83NPVP-oQz6Fw5fKgAAAA?w=178&amp;h=241&amp;c=7&amp;r=0&amp;o=5&amp;pid=1.7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https://th.bing.com/th/id/OIP.Nf6VTxle16YtwHqxzvj24QAAAA?rs=1&amp;pid=ImgDetMain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https://th.bing.com/th/id/OIP.G22CAwskSgcV--pN-tS4-gAAAA?rs=1&amp;pid=ImgDetMain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565229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206</TotalTime>
  <Words>885</Words>
  <Application>Microsoft Office PowerPoint</Application>
  <PresentationFormat>Widescreen</PresentationFormat>
  <Paragraphs>98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Garamond</vt:lpstr>
      <vt:lpstr>Organic</vt:lpstr>
      <vt:lpstr>TERM 4</vt:lpstr>
      <vt:lpstr>LESSON PLAN CONTENT</vt:lpstr>
      <vt:lpstr>Lesson objectives Learners will be able to… </vt:lpstr>
      <vt:lpstr>Lesson objectives cont…</vt:lpstr>
      <vt:lpstr>ASSESSMENT GOALS</vt:lpstr>
      <vt:lpstr>ASSESSMENT GOALS cont…</vt:lpstr>
      <vt:lpstr>WATER</vt:lpstr>
      <vt:lpstr>Introduction </vt:lpstr>
      <vt:lpstr>Group 1 Colour the rain cloud using pencil colours  </vt:lpstr>
      <vt:lpstr>Practical task HOW TO SAVE WATER</vt:lpstr>
      <vt:lpstr>Colour in the water bottle picture below</vt:lpstr>
      <vt:lpstr>Group 2 water cycle</vt:lpstr>
      <vt:lpstr>PowerPoint Presentation</vt:lpstr>
      <vt:lpstr>Where do we get water? Colour the picture below</vt:lpstr>
      <vt:lpstr>Group 3 Tick the images that shows the ways we use water</vt:lpstr>
      <vt:lpstr>What are the 3 ways you can save water</vt:lpstr>
      <vt:lpstr>PowerPoint Presentation</vt:lpstr>
      <vt:lpstr>GROUP 1 Colour the South African flag</vt:lpstr>
      <vt:lpstr>Point out 9 South African provinces</vt:lpstr>
      <vt:lpstr>Group 2 Colour the South African flag</vt:lpstr>
      <vt:lpstr>Colour 9 South African provinces</vt:lpstr>
      <vt:lpstr>Colour the national springbok</vt:lpstr>
      <vt:lpstr>GROUP 3 Colour the South African flag</vt:lpstr>
      <vt:lpstr>Colour in the protea national flower using different colours</vt:lpstr>
      <vt:lpstr>Practical work</vt:lpstr>
      <vt:lpstr>Complete and colour the map</vt:lpstr>
      <vt:lpstr>Communication in our world </vt:lpstr>
      <vt:lpstr>Introduction  What is communication?</vt:lpstr>
      <vt:lpstr>Group 1 Colour in the telephone picture</vt:lpstr>
      <vt:lpstr> Colour in the picture below</vt:lpstr>
      <vt:lpstr>Group 2 Tick the correct form of communication that is used now</vt:lpstr>
      <vt:lpstr>Colour in the mail communication picture below</vt:lpstr>
      <vt:lpstr>Group 3 Draw any technology gadget that is used for communication</vt:lpstr>
      <vt:lpstr>Colour in the picture of verbal communication</vt:lpstr>
      <vt:lpstr>Circle the object that we use to communicate </vt:lpstr>
      <vt:lpstr>Draw lines to connect the pictures and matching communication tools</vt:lpstr>
      <vt:lpstr>LIFE AT NIGHT</vt:lpstr>
      <vt:lpstr>GROUP 1 Colour in the moon below</vt:lpstr>
      <vt:lpstr>Colour in the star picture below</vt:lpstr>
      <vt:lpstr>GROUP 2 Colour in the moon picture below</vt:lpstr>
      <vt:lpstr>Trace and colour in the moon picture below</vt:lpstr>
      <vt:lpstr>Tick the correct box of what we see at night and during the day </vt:lpstr>
      <vt:lpstr>GROUP 3 Draw and colour in any image that represents the night</vt:lpstr>
      <vt:lpstr>Colour the images that represent night life</vt:lpstr>
      <vt:lpstr>Tick√ the correct picture of night time</vt:lpstr>
      <vt:lpstr>REFERENCE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4</dc:title>
  <dc:creator>Student_PC</dc:creator>
  <cp:lastModifiedBy>Student_PC</cp:lastModifiedBy>
  <cp:revision>20</cp:revision>
  <dcterms:created xsi:type="dcterms:W3CDTF">2024-06-13T06:02:28Z</dcterms:created>
  <dcterms:modified xsi:type="dcterms:W3CDTF">2024-07-12T06:13:50Z</dcterms:modified>
</cp:coreProperties>
</file>