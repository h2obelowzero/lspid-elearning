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80" r:id="rId15"/>
    <p:sldId id="274" r:id="rId16"/>
    <p:sldId id="272" r:id="rId17"/>
    <p:sldId id="275" r:id="rId18"/>
    <p:sldId id="276" r:id="rId19"/>
    <p:sldId id="277" r:id="rId20"/>
    <p:sldId id="278" r:id="rId21"/>
    <p:sldId id="279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91" r:id="rId31"/>
    <p:sldId id="289" r:id="rId32"/>
    <p:sldId id="290" r:id="rId33"/>
    <p:sldId id="292" r:id="rId34"/>
    <p:sldId id="293" r:id="rId35"/>
    <p:sldId id="294" r:id="rId36"/>
    <p:sldId id="295" r:id="rId37"/>
    <p:sldId id="296" r:id="rId38"/>
    <p:sldId id="297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0155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1526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46087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05040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31963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34046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41973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51528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24680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61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1395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1498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04994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229981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71488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863965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760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6AA7088-B216-45CE-9144-B068066D4925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25E92-66FC-4255-8C2B-6877120039F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569697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s://th.bing.com/th/id/OIP.Nf6VTxle16YtwHqxzvj24QAAAA?rs=1&amp;pid=ImgDetMain" TargetMode="External"/><Relationship Id="rId3" Type="http://schemas.openxmlformats.org/officeDocument/2006/relationships/hyperlink" Target="https://th.bing.com/th/id/R.4bedde0a34a46c3f8476e8a9c3193ea9?rik=HzmXgDwWSMiEgg&amp;riu=http%3a%2f%2fcdn.turtlediary.com%2fworksheets%2fela%2fpreschool%2fmiscellaneous%2fland-transport-match-the-parts%2fquestion%2fland-transport-match-the-parts-1.png&amp;ehk=QmUIA1EFbE4f0svBv4Cz5sxyTCRyjPK21lGTtr58rpw%3d&amp;risl=&amp;pid=ImgRaw&amp;r=0" TargetMode="External"/><Relationship Id="rId7" Type="http://schemas.openxmlformats.org/officeDocument/2006/relationships/hyperlink" Target="https://th.bing.com/th/id/OIP.sfoXR83NPVP-oQz6Fw5fKgAAAA?w=178&amp;h=241&amp;c=7&amp;r=0&amp;o=5&amp;pid=1.7" TargetMode="External"/><Relationship Id="rId2" Type="http://schemas.openxmlformats.org/officeDocument/2006/relationships/hyperlink" Target="https://cdn4.vectorstock.com/i/1000x1000/81/78/transport-cartoons-vector-598178.jp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h.bing.com/th/id/OIP.j1aGQgbLnwFPQ_I9JjVwygHaKe?w=178&amp;h=252&amp;c=7&amp;r=0&amp;o=5&amp;pid=1.7" TargetMode="External"/><Relationship Id="rId11" Type="http://schemas.openxmlformats.org/officeDocument/2006/relationships/hyperlink" Target="https://th.bing.com/th/id/OIP.4dLKYDU8JIlA6pehEYnW1wAAAA?w=178&amp;h=252&amp;c=7&amp;r=0&amp;o=5&amp;pid=1.7" TargetMode="External"/><Relationship Id="rId5" Type="http://schemas.openxmlformats.org/officeDocument/2006/relationships/hyperlink" Target="https://th.bing.com/th/id/OIP.fRSAqPJELZxVQ3CRL-bfpgAAAA?rs=1&amp;pid=ImgDetMain" TargetMode="External"/><Relationship Id="rId10" Type="http://schemas.openxmlformats.org/officeDocument/2006/relationships/hyperlink" Target="https://i.pinimg.com/474x/8c/e3/85/8ce385035bc3affdf3f880752a62d2b2--people-who-help-us-activities-people-who-help-us-eyfs.jpg" TargetMode="External"/><Relationship Id="rId4" Type="http://schemas.openxmlformats.org/officeDocument/2006/relationships/hyperlink" Target="https://www.kids-pages.com/folders/worksheets/Transportation/TransportationFillIn.jpg" TargetMode="External"/><Relationship Id="rId9" Type="http://schemas.openxmlformats.org/officeDocument/2006/relationships/hyperlink" Target="https://th.bing.com/th/id/OIP.G22CAwskSgcV--pN-tS4-gAAAA?rs=1&amp;pid=ImgDetMain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th.bing.com/th/id/OIP.VydevZbGqs48ggbXpXXr3QAAAA?rs=1&amp;pid=ImgDetMain" TargetMode="External"/><Relationship Id="rId2" Type="http://schemas.openxmlformats.org/officeDocument/2006/relationships/hyperlink" Target="https://th.bing.com/th/id/OIP.7a0179VL3C9kPRM2vedC4wHaKN?w=178&amp;h=246&amp;c=7&amp;r=0&amp;o=5&amp;pid=1.7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h.bing.com/th/id/OIP.rCuRyffpd2A5GWu-FpGZyQAAAA?w=178&amp;h=257&amp;c=7&amp;r=0&amp;o=5&amp;pid=1.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CACF1D1-CD20-42D5-B267-A8D5494C5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327443"/>
              </p:ext>
            </p:extLst>
          </p:nvPr>
        </p:nvGraphicFramePr>
        <p:xfrm>
          <a:off x="1272209" y="719665"/>
          <a:ext cx="8887791" cy="5310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5970">
                  <a:extLst>
                    <a:ext uri="{9D8B030D-6E8A-4147-A177-3AD203B41FA5}">
                      <a16:colId xmlns:a16="http://schemas.microsoft.com/office/drawing/2014/main" val="3650113161"/>
                    </a:ext>
                  </a:extLst>
                </a:gridCol>
                <a:gridCol w="5161821">
                  <a:extLst>
                    <a:ext uri="{9D8B030D-6E8A-4147-A177-3AD203B41FA5}">
                      <a16:colId xmlns:a16="http://schemas.microsoft.com/office/drawing/2014/main" val="2195754969"/>
                    </a:ext>
                  </a:extLst>
                </a:gridCol>
              </a:tblGrid>
              <a:tr h="1770024">
                <a:tc>
                  <a:txBody>
                    <a:bodyPr/>
                    <a:lstStyle/>
                    <a:p>
                      <a:r>
                        <a:rPr lang="en-ZA" sz="4800" dirty="0"/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4800" dirty="0"/>
                        <a:t>Life skills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444233"/>
                  </a:ext>
                </a:extLst>
              </a:tr>
              <a:tr h="1770024">
                <a:tc>
                  <a:txBody>
                    <a:bodyPr/>
                    <a:lstStyle/>
                    <a:p>
                      <a:r>
                        <a:rPr lang="en-ZA" sz="4800" dirty="0"/>
                        <a:t>Grade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4800" dirty="0"/>
                        <a:t>2 year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851948"/>
                  </a:ext>
                </a:extLst>
              </a:tr>
              <a:tr h="1770024">
                <a:tc>
                  <a:txBody>
                    <a:bodyPr/>
                    <a:lstStyle/>
                    <a:p>
                      <a:r>
                        <a:rPr lang="en-ZA" sz="4800" dirty="0"/>
                        <a:t>Term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4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622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2974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B17A4-2DA0-4508-AB92-00378BA28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sz="6000" b="1" dirty="0"/>
              <a:t>       LESSON PLAN CONTENT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2141332-7440-49C9-8C2B-839EF51D5A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8176313"/>
              </p:ext>
            </p:extLst>
          </p:nvPr>
        </p:nvGraphicFramePr>
        <p:xfrm>
          <a:off x="503583" y="1825625"/>
          <a:ext cx="10850217" cy="463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9976">
                  <a:extLst>
                    <a:ext uri="{9D8B030D-6E8A-4147-A177-3AD203B41FA5}">
                      <a16:colId xmlns:a16="http://schemas.microsoft.com/office/drawing/2014/main" val="2207677980"/>
                    </a:ext>
                  </a:extLst>
                </a:gridCol>
                <a:gridCol w="5430241">
                  <a:extLst>
                    <a:ext uri="{9D8B030D-6E8A-4147-A177-3AD203B41FA5}">
                      <a16:colId xmlns:a16="http://schemas.microsoft.com/office/drawing/2014/main" val="4232579930"/>
                    </a:ext>
                  </a:extLst>
                </a:gridCol>
              </a:tblGrid>
              <a:tr h="615566">
                <a:tc>
                  <a:txBody>
                    <a:bodyPr/>
                    <a:lstStyle/>
                    <a:p>
                      <a:r>
                        <a:rPr lang="en-ZA" sz="4000" b="1" dirty="0"/>
                        <a:t>Week 1 -3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4000" b="1" dirty="0"/>
                        <a:t>TRANSPORT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3533483"/>
                  </a:ext>
                </a:extLst>
              </a:tr>
              <a:tr h="1121087">
                <a:tc>
                  <a:txBody>
                    <a:bodyPr/>
                    <a:lstStyle/>
                    <a:p>
                      <a:r>
                        <a:rPr lang="en-ZA" sz="4000" b="1" dirty="0"/>
                        <a:t>Week 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4000" b="1" dirty="0"/>
                        <a:t>ROAD/TRAFFIC SAFETY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6379601"/>
                  </a:ext>
                </a:extLst>
              </a:tr>
              <a:tr h="1121087">
                <a:tc>
                  <a:txBody>
                    <a:bodyPr/>
                    <a:lstStyle/>
                    <a:p>
                      <a:r>
                        <a:rPr lang="en-ZA" sz="4000" b="1" dirty="0"/>
                        <a:t>Week 6-7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4000" b="1" dirty="0"/>
                        <a:t>PEOPLE WHO HELP US IN OUR COMMUNITY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67798"/>
                  </a:ext>
                </a:extLst>
              </a:tr>
              <a:tr h="1121087">
                <a:tc>
                  <a:txBody>
                    <a:bodyPr/>
                    <a:lstStyle/>
                    <a:p>
                      <a:r>
                        <a:rPr lang="en-ZA" sz="4000" b="1" dirty="0"/>
                        <a:t>Week 8-9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4000" b="1" dirty="0"/>
                        <a:t>FRUITS AND VEGETABLES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244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7264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D080E-39AF-42ED-A45B-561542F1F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6000" b="1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7C941-F883-4022-BE28-7614D1287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000" dirty="0"/>
              <a:t>Guide and support learners to achieve their full physical, intellectual, personal, emotional and social potential.</a:t>
            </a:r>
          </a:p>
          <a:p>
            <a:r>
              <a:rPr lang="en-GB" sz="2000" dirty="0"/>
              <a:t>Teach learners to exercise their constitutional rights and responsibilities and to respect the rights of others.</a:t>
            </a:r>
          </a:p>
          <a:p>
            <a:r>
              <a:rPr lang="en-GB" sz="2000" dirty="0"/>
              <a:t> Guide learners to make informed and responsible decisions (with support) about their health and environment.</a:t>
            </a:r>
          </a:p>
          <a:p>
            <a:r>
              <a:rPr lang="en-GB" sz="2000" dirty="0"/>
              <a:t>Develop skills such as self-awareness, problem-solving, interpersonal relations, leadership, decision-making, and communication to the individual potential of the learner.</a:t>
            </a:r>
          </a:p>
          <a:p>
            <a:r>
              <a:rPr lang="en-GB" sz="2000" dirty="0"/>
              <a:t> Develop learners’ skills to respond to real-life situations and play an active and functional role </a:t>
            </a:r>
          </a:p>
          <a:p>
            <a:pPr marL="0" indent="0">
              <a:buNone/>
            </a:pPr>
            <a:r>
              <a:rPr lang="en-GB" sz="2000" dirty="0"/>
              <a:t>    in the economy and society.</a:t>
            </a:r>
            <a:endParaRPr lang="en-ZA" sz="2000" dirty="0"/>
          </a:p>
        </p:txBody>
      </p:sp>
    </p:spTree>
    <p:extLst>
      <p:ext uri="{BB962C8B-B14F-4D97-AF65-F5344CB8AC3E}">
        <p14:creationId xmlns:p14="http://schemas.microsoft.com/office/powerpoint/2010/main" val="2843865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945EB-98A7-4673-95D0-7917EA740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83095"/>
          </a:xfrm>
        </p:spPr>
        <p:txBody>
          <a:bodyPr>
            <a:normAutofit fontScale="90000"/>
          </a:bodyPr>
          <a:lstStyle/>
          <a:p>
            <a:r>
              <a:rPr lang="en-ZA" sz="4800" b="1" dirty="0"/>
              <a:t>ASSESSMENT GOALS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4D25978-DD8B-41DF-8416-9FA5F243F8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5877567"/>
              </p:ext>
            </p:extLst>
          </p:nvPr>
        </p:nvGraphicFramePr>
        <p:xfrm>
          <a:off x="198782" y="583098"/>
          <a:ext cx="11873948" cy="5981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22011">
                  <a:extLst>
                    <a:ext uri="{9D8B030D-6E8A-4147-A177-3AD203B41FA5}">
                      <a16:colId xmlns:a16="http://schemas.microsoft.com/office/drawing/2014/main" val="3692379895"/>
                    </a:ext>
                  </a:extLst>
                </a:gridCol>
                <a:gridCol w="5951937">
                  <a:extLst>
                    <a:ext uri="{9D8B030D-6E8A-4147-A177-3AD203B41FA5}">
                      <a16:colId xmlns:a16="http://schemas.microsoft.com/office/drawing/2014/main" val="3412528075"/>
                    </a:ext>
                  </a:extLst>
                </a:gridCol>
              </a:tblGrid>
              <a:tr h="1906694">
                <a:tc>
                  <a:txBody>
                    <a:bodyPr/>
                    <a:lstStyle/>
                    <a:p>
                      <a:r>
                        <a:rPr lang="en-ZA" dirty="0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dirty="0"/>
                        <a:t>Identify rail transport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Identify and list types of air transport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Identify and list types of water transport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Compare and group the different types of transport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Describe and discuss transport of the past and today</a:t>
                      </a:r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2053"/>
                  </a:ext>
                </a:extLst>
              </a:tr>
              <a:tr h="866679">
                <a:tc>
                  <a:txBody>
                    <a:bodyPr/>
                    <a:lstStyle/>
                    <a:p>
                      <a:r>
                        <a:rPr lang="en-ZA" dirty="0"/>
                        <a:t>ROAD TRAFFIC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Identify, name and label basic Road signs like Stop, Pedestrian crossing, Robot - the colours and the meaning of it.</a:t>
                      </a:r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639857"/>
                  </a:ext>
                </a:extLst>
              </a:tr>
              <a:tr h="1646691">
                <a:tc>
                  <a:txBody>
                    <a:bodyPr/>
                    <a:lstStyle/>
                    <a:p>
                      <a:r>
                        <a:rPr lang="en-ZA" dirty="0"/>
                        <a:t>PEOPLE WHO HELP US IN OUR COMMUNITY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Identify, name and label the people in the community that help us.</a:t>
                      </a:r>
                      <a:endParaRPr lang="en-ZA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 Discuss and compare how different people help one another.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Know and practice who to contact when help is needed </a:t>
                      </a:r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514818"/>
                  </a:ext>
                </a:extLst>
              </a:tr>
              <a:tr h="1318125">
                <a:tc>
                  <a:txBody>
                    <a:bodyPr/>
                    <a:lstStyle/>
                    <a:p>
                      <a:r>
                        <a:rPr lang="en-ZA" dirty="0"/>
                        <a:t>FRUIT AND VEGETABLES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Indicate and sort fruit from vegetable</a:t>
                      </a:r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287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7201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5D3DA-4626-439A-BC69-7922EF2BD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/>
              <a:t>TRANSPORT</a:t>
            </a:r>
          </a:p>
        </p:txBody>
      </p:sp>
      <p:pic>
        <p:nvPicPr>
          <p:cNvPr id="1026" name="Picture 2" descr="Transport cartoons Royalty Free Vector Image - VectorStock">
            <a:extLst>
              <a:ext uri="{FF2B5EF4-FFF2-40B4-BE49-F238E27FC236}">
                <a16:creationId xmlns:a16="http://schemas.microsoft.com/office/drawing/2014/main" id="{11FDA2BB-E530-4C57-981C-C32F0C6B42E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270" y="1404730"/>
            <a:ext cx="8666921" cy="5088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56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FB332-ADD8-41C4-B7C6-B9D03217B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067352"/>
          </a:xfrm>
        </p:spPr>
        <p:txBody>
          <a:bodyPr/>
          <a:lstStyle/>
          <a:p>
            <a:r>
              <a:rPr lang="en-ZA" sz="9600" dirty="0"/>
              <a:t>     </a:t>
            </a:r>
            <a:br>
              <a:rPr lang="en-ZA" sz="9600" dirty="0"/>
            </a:br>
            <a:r>
              <a:rPr lang="en-ZA" sz="9600" dirty="0"/>
              <a:t>      GROUP 1</a:t>
            </a:r>
          </a:p>
        </p:txBody>
      </p:sp>
    </p:spTree>
    <p:extLst>
      <p:ext uri="{BB962C8B-B14F-4D97-AF65-F5344CB8AC3E}">
        <p14:creationId xmlns:p14="http://schemas.microsoft.com/office/powerpoint/2010/main" val="3163512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Land transport - match the parts - TurtleDiary.com">
            <a:extLst>
              <a:ext uri="{FF2B5EF4-FFF2-40B4-BE49-F238E27FC236}">
                <a16:creationId xmlns:a16="http://schemas.microsoft.com/office/drawing/2014/main" id="{6CCAE9AA-1EBB-4E37-8708-490861D1F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7183" y="0"/>
            <a:ext cx="681161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2119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C75E9-91C9-4930-B194-2D0A620B8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5391491"/>
          </a:xfrm>
        </p:spPr>
        <p:txBody>
          <a:bodyPr/>
          <a:lstStyle/>
          <a:p>
            <a:r>
              <a:rPr lang="en-ZA" sz="9600" dirty="0"/>
              <a:t>     </a:t>
            </a:r>
            <a:br>
              <a:rPr lang="en-ZA" sz="9600" dirty="0"/>
            </a:br>
            <a:r>
              <a:rPr lang="en-ZA" sz="9600" dirty="0"/>
              <a:t>       GROUP 2</a:t>
            </a:r>
          </a:p>
        </p:txBody>
      </p:sp>
    </p:spTree>
    <p:extLst>
      <p:ext uri="{BB962C8B-B14F-4D97-AF65-F5344CB8AC3E}">
        <p14:creationId xmlns:p14="http://schemas.microsoft.com/office/powerpoint/2010/main" val="3970460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a worksheet with pictures of different vehicles">
            <a:extLst>
              <a:ext uri="{FF2B5EF4-FFF2-40B4-BE49-F238E27FC236}">
                <a16:creationId xmlns:a16="http://schemas.microsoft.com/office/drawing/2014/main" id="{3C812CD3-137A-44A5-A94D-30F08632A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687" y="509588"/>
            <a:ext cx="9422296" cy="6169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8674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F2AC-6FA8-41D2-8994-DF37B37CB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9600" dirty="0"/>
              <a:t>     </a:t>
            </a:r>
            <a:br>
              <a:rPr lang="en-ZA" sz="9600" dirty="0"/>
            </a:br>
            <a:r>
              <a:rPr lang="en-ZA" sz="9600" dirty="0"/>
              <a:t>      GROUP 3</a:t>
            </a:r>
          </a:p>
        </p:txBody>
      </p:sp>
    </p:spTree>
    <p:extLst>
      <p:ext uri="{BB962C8B-B14F-4D97-AF65-F5344CB8AC3E}">
        <p14:creationId xmlns:p14="http://schemas.microsoft.com/office/powerpoint/2010/main" val="901101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Transportation Fill In worksheet">
            <a:extLst>
              <a:ext uri="{FF2B5EF4-FFF2-40B4-BE49-F238E27FC236}">
                <a16:creationId xmlns:a16="http://schemas.microsoft.com/office/drawing/2014/main" id="{AF938E5C-E600-48F4-80B3-E144B63CA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530" y="333375"/>
            <a:ext cx="8083827" cy="619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697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4F863-7957-421A-B6E6-138773F2D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86969"/>
          </a:xfrm>
        </p:spPr>
        <p:txBody>
          <a:bodyPr/>
          <a:lstStyle/>
          <a:p>
            <a:r>
              <a:rPr lang="en-ZA" dirty="0"/>
              <a:t>ROAD/ TRAFFIC SAFETY</a:t>
            </a:r>
          </a:p>
        </p:txBody>
      </p:sp>
      <p:pic>
        <p:nvPicPr>
          <p:cNvPr id="6146" name="Picture 2" descr="Image result for ROAD AD TRAFIC SAFETY CARTOON PICTURES">
            <a:extLst>
              <a:ext uri="{FF2B5EF4-FFF2-40B4-BE49-F238E27FC236}">
                <a16:creationId xmlns:a16="http://schemas.microsoft.com/office/drawing/2014/main" id="{455D0FB9-D048-47C9-A8EE-566E64682B7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1" y="1139687"/>
            <a:ext cx="10048393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6105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Image result for ROAD AD TRAFIC SAFETY CARTOON PICTURES">
            <a:extLst>
              <a:ext uri="{FF2B5EF4-FFF2-40B4-BE49-F238E27FC236}">
                <a16:creationId xmlns:a16="http://schemas.microsoft.com/office/drawing/2014/main" id="{9FAF4D19-1B47-455B-B96C-CC6B9BF90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365" y="294861"/>
            <a:ext cx="9316279" cy="6268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4138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Image result for ROAD AND TRAFIC SAFETY GRADE 1 ACTIVITIES">
            <a:extLst>
              <a:ext uri="{FF2B5EF4-FFF2-40B4-BE49-F238E27FC236}">
                <a16:creationId xmlns:a16="http://schemas.microsoft.com/office/drawing/2014/main" id="{895C4A96-9434-4CE7-850C-1F1E008A3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660" y="0"/>
            <a:ext cx="9263269" cy="670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1119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C3AA1-6987-4CB0-8541-DBB20F3F0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ZA" sz="9600" dirty="0"/>
            </a:br>
            <a:r>
              <a:rPr lang="en-ZA" sz="9600" dirty="0"/>
              <a:t>      GROUP 1</a:t>
            </a:r>
          </a:p>
        </p:txBody>
      </p:sp>
    </p:spTree>
    <p:extLst>
      <p:ext uri="{BB962C8B-B14F-4D97-AF65-F5344CB8AC3E}">
        <p14:creationId xmlns:p14="http://schemas.microsoft.com/office/powerpoint/2010/main" val="1215425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Road Safety Week Activity Ideas - Twinkl">
            <a:extLst>
              <a:ext uri="{FF2B5EF4-FFF2-40B4-BE49-F238E27FC236}">
                <a16:creationId xmlns:a16="http://schemas.microsoft.com/office/drawing/2014/main" id="{E7A8E39E-BEDD-4F4A-B722-3ED7D4F66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3475" y="0"/>
            <a:ext cx="48450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0558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11CDE-55BD-4C11-B068-7699817E1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9600" dirty="0"/>
              <a:t>  </a:t>
            </a:r>
            <a:br>
              <a:rPr lang="en-ZA" sz="9600" dirty="0"/>
            </a:br>
            <a:r>
              <a:rPr lang="en-ZA" sz="9600" dirty="0"/>
              <a:t>       GROUP 2</a:t>
            </a:r>
          </a:p>
        </p:txBody>
      </p:sp>
    </p:spTree>
    <p:extLst>
      <p:ext uri="{BB962C8B-B14F-4D97-AF65-F5344CB8AC3E}">
        <p14:creationId xmlns:p14="http://schemas.microsoft.com/office/powerpoint/2010/main" val="123720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Road Safety Worksheet Road Safety Signs, Road Traffic Safety, Road ...">
            <a:extLst>
              <a:ext uri="{FF2B5EF4-FFF2-40B4-BE49-F238E27FC236}">
                <a16:creationId xmlns:a16="http://schemas.microsoft.com/office/drawing/2014/main" id="{A6B3EBA8-B96F-4ACF-80F9-3B0B3F9CB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365" y="238124"/>
            <a:ext cx="6983896" cy="661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8890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9BEEA-84BC-4AE8-9374-0AF561D61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9600" dirty="0"/>
              <a:t>     </a:t>
            </a:r>
            <a:br>
              <a:rPr lang="en-ZA" sz="9600" dirty="0"/>
            </a:br>
            <a:r>
              <a:rPr lang="en-ZA" sz="9600" dirty="0"/>
              <a:t>       GROUP 3</a:t>
            </a:r>
          </a:p>
        </p:txBody>
      </p:sp>
    </p:spTree>
    <p:extLst>
      <p:ext uri="{BB962C8B-B14F-4D97-AF65-F5344CB8AC3E}">
        <p14:creationId xmlns:p14="http://schemas.microsoft.com/office/powerpoint/2010/main" val="12228189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Image result for ROAD AND TRAFIC SAFETY GRADE 1 ACTIVITIES">
            <a:extLst>
              <a:ext uri="{FF2B5EF4-FFF2-40B4-BE49-F238E27FC236}">
                <a16:creationId xmlns:a16="http://schemas.microsoft.com/office/drawing/2014/main" id="{652A6F91-C955-492C-9D4A-E4AC1DC0E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112" y="132522"/>
            <a:ext cx="7116417" cy="6520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88739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Kindergarten Science Traffic Light in 2024 | English lessons for kids ...">
            <a:extLst>
              <a:ext uri="{FF2B5EF4-FFF2-40B4-BE49-F238E27FC236}">
                <a16:creationId xmlns:a16="http://schemas.microsoft.com/office/drawing/2014/main" id="{9FF2815C-DB29-40F5-8D06-BAD91DCB9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096" y="198783"/>
            <a:ext cx="7792278" cy="6546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34438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34C54-CCC8-4C64-982A-BA661AB5C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12256"/>
          </a:xfrm>
        </p:spPr>
        <p:txBody>
          <a:bodyPr/>
          <a:lstStyle/>
          <a:p>
            <a:r>
              <a:rPr lang="en-ZA" dirty="0"/>
              <a:t>PEOPLE WHO HELP US</a:t>
            </a:r>
          </a:p>
        </p:txBody>
      </p:sp>
      <p:pic>
        <p:nvPicPr>
          <p:cNvPr id="14338" name="Picture 2" descr="People who help us collection | Tes">
            <a:extLst>
              <a:ext uri="{FF2B5EF4-FFF2-40B4-BE49-F238E27FC236}">
                <a16:creationId xmlns:a16="http://schemas.microsoft.com/office/drawing/2014/main" id="{468AB8B4-F935-4556-9588-377B0AEA0E7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1" y="1232452"/>
            <a:ext cx="10525472" cy="5327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09282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95D43-8C18-4AEF-8B05-066A9DB39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9600" dirty="0"/>
              <a:t>     </a:t>
            </a:r>
            <a:br>
              <a:rPr lang="en-ZA" sz="9600" dirty="0"/>
            </a:br>
            <a:r>
              <a:rPr lang="en-ZA" sz="9600" dirty="0"/>
              <a:t>       GROUP 1</a:t>
            </a:r>
          </a:p>
        </p:txBody>
      </p:sp>
    </p:spTree>
    <p:extLst>
      <p:ext uri="{BB962C8B-B14F-4D97-AF65-F5344CB8AC3E}">
        <p14:creationId xmlns:p14="http://schemas.microsoft.com/office/powerpoint/2010/main" val="374024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People Who Help Us Word Mat">
            <a:extLst>
              <a:ext uri="{FF2B5EF4-FFF2-40B4-BE49-F238E27FC236}">
                <a16:creationId xmlns:a16="http://schemas.microsoft.com/office/drawing/2014/main" id="{98162170-DAB1-4FFC-9943-3D491DC41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896" y="228600"/>
            <a:ext cx="6983895" cy="662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27730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255FF-B0E3-4A5B-A325-05C4B6796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9600" dirty="0"/>
              <a:t>   </a:t>
            </a:r>
            <a:br>
              <a:rPr lang="en-ZA" sz="9600" dirty="0"/>
            </a:br>
            <a:r>
              <a:rPr lang="en-ZA" sz="9600" dirty="0"/>
              <a:t>       Group 2</a:t>
            </a:r>
          </a:p>
        </p:txBody>
      </p:sp>
    </p:spTree>
    <p:extLst>
      <p:ext uri="{BB962C8B-B14F-4D97-AF65-F5344CB8AC3E}">
        <p14:creationId xmlns:p14="http://schemas.microsoft.com/office/powerpoint/2010/main" val="3405772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Strangers and Community Helpers Social Situation - Twinkl">
            <a:extLst>
              <a:ext uri="{FF2B5EF4-FFF2-40B4-BE49-F238E27FC236}">
                <a16:creationId xmlns:a16="http://schemas.microsoft.com/office/drawing/2014/main" id="{C9BFAE9D-CEF6-4DF3-BB82-F0AA6C693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878" y="0"/>
            <a:ext cx="7858539" cy="675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20884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9ED45-2D37-4786-A776-04B8A04FB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9600" dirty="0"/>
              <a:t>     </a:t>
            </a:r>
            <a:br>
              <a:rPr lang="en-ZA" sz="9600" dirty="0"/>
            </a:br>
            <a:r>
              <a:rPr lang="en-ZA" sz="9600" dirty="0"/>
              <a:t>        Group 3</a:t>
            </a:r>
          </a:p>
        </p:txBody>
      </p:sp>
    </p:spTree>
    <p:extLst>
      <p:ext uri="{BB962C8B-B14F-4D97-AF65-F5344CB8AC3E}">
        <p14:creationId xmlns:p14="http://schemas.microsoft.com/office/powerpoint/2010/main" val="24998923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See related image detail. Community Helpers Worksheets by Catherine S | TPT">
            <a:extLst>
              <a:ext uri="{FF2B5EF4-FFF2-40B4-BE49-F238E27FC236}">
                <a16:creationId xmlns:a16="http://schemas.microsoft.com/office/drawing/2014/main" id="{1955E20B-C23B-43CF-823C-32627F780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843" y="212035"/>
            <a:ext cx="7686261" cy="6533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52459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361A2-5A29-42D6-BDB8-D02748EC6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6000" b="1" dirty="0"/>
              <a:t>FRUIT AND VEGETABLES</a:t>
            </a:r>
          </a:p>
        </p:txBody>
      </p:sp>
      <p:pic>
        <p:nvPicPr>
          <p:cNvPr id="19458" name="Picture 2" descr="Image result for FRUIT AN VEGETABLES CARTOON">
            <a:extLst>
              <a:ext uri="{FF2B5EF4-FFF2-40B4-BE49-F238E27FC236}">
                <a16:creationId xmlns:a16="http://schemas.microsoft.com/office/drawing/2014/main" id="{9FA792FB-8E2F-43E8-9F1A-42FC5976FF6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2" y="1444486"/>
            <a:ext cx="9064487" cy="512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11058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Image result for fruits and vegetables activities for grade 1">
            <a:extLst>
              <a:ext uri="{FF2B5EF4-FFF2-40B4-BE49-F238E27FC236}">
                <a16:creationId xmlns:a16="http://schemas.microsoft.com/office/drawing/2014/main" id="{4F072C31-B52D-4491-B938-96862AC7F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052" y="291548"/>
            <a:ext cx="10164418" cy="6414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13042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FA64-81EE-4ECD-BC6D-DFBEFB8BF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39466"/>
            <a:ext cx="9404723" cy="1400530"/>
          </a:xfrm>
        </p:spPr>
        <p:txBody>
          <a:bodyPr/>
          <a:lstStyle/>
          <a:p>
            <a:br>
              <a:rPr lang="en-ZA" sz="9600" b="1" dirty="0"/>
            </a:br>
            <a:r>
              <a:rPr lang="en-ZA" sz="9600" b="1" dirty="0"/>
              <a:t>       GROUP 1</a:t>
            </a:r>
          </a:p>
        </p:txBody>
      </p:sp>
    </p:spTree>
    <p:extLst>
      <p:ext uri="{BB962C8B-B14F-4D97-AF65-F5344CB8AC3E}">
        <p14:creationId xmlns:p14="http://schemas.microsoft.com/office/powerpoint/2010/main" val="31004458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Image result for fruits and vegetables activities for grade 1">
            <a:extLst>
              <a:ext uri="{FF2B5EF4-FFF2-40B4-BE49-F238E27FC236}">
                <a16:creationId xmlns:a16="http://schemas.microsoft.com/office/drawing/2014/main" id="{EB0BDC02-EB7C-46E1-9BBE-5C25E2B19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166" y="159026"/>
            <a:ext cx="9157251" cy="6698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50422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96DAD-FF39-443D-B59A-02F567692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ZA" sz="9600" dirty="0"/>
            </a:br>
            <a:r>
              <a:rPr lang="en-ZA" sz="9600" dirty="0"/>
              <a:t>       GROUP 2</a:t>
            </a:r>
          </a:p>
        </p:txBody>
      </p:sp>
    </p:spTree>
    <p:extLst>
      <p:ext uri="{BB962C8B-B14F-4D97-AF65-F5344CB8AC3E}">
        <p14:creationId xmlns:p14="http://schemas.microsoft.com/office/powerpoint/2010/main" val="2762813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Fruits and vegetables classify worksheet | Fruits for kids, Food ...">
            <a:extLst>
              <a:ext uri="{FF2B5EF4-FFF2-40B4-BE49-F238E27FC236}">
                <a16:creationId xmlns:a16="http://schemas.microsoft.com/office/drawing/2014/main" id="{237CFB5A-2C14-4D81-8667-A8266876F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826" y="238124"/>
            <a:ext cx="7487478" cy="6493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3630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99804-0FEE-4101-A5CA-B692DF7E2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3138621"/>
          </a:xfrm>
        </p:spPr>
        <p:txBody>
          <a:bodyPr/>
          <a:lstStyle/>
          <a:p>
            <a:r>
              <a:rPr lang="en-ZA" sz="9600" dirty="0"/>
              <a:t>   </a:t>
            </a:r>
            <a:br>
              <a:rPr lang="en-ZA" sz="9600" dirty="0"/>
            </a:br>
            <a:r>
              <a:rPr lang="en-ZA" sz="9600" dirty="0"/>
              <a:t>      GROUP 3</a:t>
            </a:r>
            <a:br>
              <a:rPr lang="en-ZA" sz="9600" dirty="0"/>
            </a:br>
            <a:endParaRPr lang="en-ZA" sz="9600" dirty="0"/>
          </a:p>
        </p:txBody>
      </p:sp>
    </p:spTree>
    <p:extLst>
      <p:ext uri="{BB962C8B-B14F-4D97-AF65-F5344CB8AC3E}">
        <p14:creationId xmlns:p14="http://schemas.microsoft.com/office/powerpoint/2010/main" val="33949266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Fruits And Vegetables Liveworksheets - Vegetable">
            <a:extLst>
              <a:ext uri="{FF2B5EF4-FFF2-40B4-BE49-F238E27FC236}">
                <a16:creationId xmlns:a16="http://schemas.microsoft.com/office/drawing/2014/main" id="{270AA5BD-769A-4B46-95FC-4D63A932F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1565" y="176212"/>
            <a:ext cx="7054712" cy="6681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90343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32BD7-2050-432B-B35D-7AF46B137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39466"/>
            <a:ext cx="9404723" cy="1400530"/>
          </a:xfrm>
        </p:spPr>
        <p:txBody>
          <a:bodyPr/>
          <a:lstStyle/>
          <a:p>
            <a:r>
              <a:rPr lang="en-ZA" dirty="0"/>
              <a:t>               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5916A-9894-4D28-95D7-6CDE0CC8F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2" y="1152939"/>
            <a:ext cx="11701670" cy="560566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ZA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https://cdn4.vectorstock.com/i/1000x1000/81/78/transport-cartoons-vector-598178.jpg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ZA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th.bing.com/th/id/R.4bedde0a34a46c3f8476e8a9c3193ea9?rik=HzmXgDwWSMiEgg&amp;riu=http%3a%2f%2fcdn.turtlediary.com%2fworksheets%2fela%2fpreschool%2fmiscellaneous%2fland-transport-match-the-parts%2fquestion%2fland-transport-match-the-parts-1.png&amp;ehk=QmUIA1EFbE4f0svBv4Cz5sxyTCRyjPK21lGTtr58rpw%3d&amp;risl=&amp;pid=ImgRaw&amp;r=0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ZA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https://www.kids-pages.com/folders/worksheets/Transportation/TransportationFillIn.jpg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ZA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https://th.bing.com/th/id/OIP.fRSAqPJELZxVQ3CRL-bfpgAAAA?rs=1&amp;pid=ImgDetMain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ZA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https://th.bing.com/th/id/OIP.j1aGQgbLnwFPQ_I9JjVwygHaKe?w=178&amp;h=252&amp;c=7&amp;r=0&amp;o=5&amp;pid=1.7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ZA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7"/>
              </a:rPr>
              <a:t>https://th.bing.com/th/id/OIP.sfoXR83NPVP-oQz6Fw5fKgAAAA?w=178&amp;h=241&amp;c=7&amp;r=0&amp;o=5&amp;pid=1.7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ZA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8"/>
              </a:rPr>
              <a:t>https://th.bing.com/th/id/OIP.Nf6VTxle16YtwHqxzvj24QAAAA?rs=1&amp;pid=ImgDetMain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ZA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9"/>
              </a:rPr>
              <a:t>https://th.bing.com/th/id/OIP.G22CAwskSgcV--pN-tS4-gAAAA?rs=1&amp;pid=ImgDetMain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ZA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https://i.pinimg.com/474x/8c/e3/85/8ce385035bc3affdf3f880752a62d2b2--people-who-help-us-activities-people-who-help-us-eyfs.jpg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ZA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https://th.bing.com/th/id/OIP.4dLKYDU8JIlA6pehEYnW1wAAAA?w=178&amp;h=252&amp;c=7&amp;r=0&amp;o=5&amp;pid=1.7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889790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49C63-81D4-4981-8595-DFDD0B967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72499"/>
          </a:xfrm>
        </p:spPr>
        <p:txBody>
          <a:bodyPr/>
          <a:lstStyle/>
          <a:p>
            <a:r>
              <a:rPr lang="en-ZA" dirty="0"/>
              <a:t>               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763AB-FB27-44E5-906D-3DD343A3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288" y="1325218"/>
            <a:ext cx="11489634" cy="492318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ZA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https://th.bing.com/th/id/OIP.7a0179VL3C9kPRM2vedC4wHaKN?w=178&amp;h=246&amp;c=7&amp;r=0&amp;o=5&amp;pid=1.7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ZA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https://th.bing.com/th/id/OIP.VydevZbGqs48ggbXpXXr3QAAAA?rs=1&amp;pid=ImgDetMain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ZA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https://th.bing.com/th/id/OIP.rCuRyffpd2A5GWu-FpGZyQAAAA?w=178&amp;h=257&amp;c=7&amp;r=0&amp;o=5&amp;pid=1.7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201064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300</TotalTime>
  <Words>738</Words>
  <Application>Microsoft Office PowerPoint</Application>
  <PresentationFormat>Widescreen</PresentationFormat>
  <Paragraphs>68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Century Gothic</vt:lpstr>
      <vt:lpstr>Wingdings 3</vt:lpstr>
      <vt:lpstr>Ion</vt:lpstr>
      <vt:lpstr>PowerPoint Presentation</vt:lpstr>
      <vt:lpstr>       LESSON PLAN CONTENT</vt:lpstr>
      <vt:lpstr>LESSON OBJECTIVES</vt:lpstr>
      <vt:lpstr>ASSESSMENT GOALS</vt:lpstr>
      <vt:lpstr>TRANSPORT</vt:lpstr>
      <vt:lpstr>            GROUP 1</vt:lpstr>
      <vt:lpstr>PowerPoint Presentation</vt:lpstr>
      <vt:lpstr>             GROUP 2</vt:lpstr>
      <vt:lpstr>PowerPoint Presentation</vt:lpstr>
      <vt:lpstr>            GROUP 3</vt:lpstr>
      <vt:lpstr>PowerPoint Presentation</vt:lpstr>
      <vt:lpstr>ROAD/ TRAFFIC SAFETY</vt:lpstr>
      <vt:lpstr>PowerPoint Presentation</vt:lpstr>
      <vt:lpstr>PowerPoint Presentation</vt:lpstr>
      <vt:lpstr>       GROUP 1</vt:lpstr>
      <vt:lpstr>PowerPoint Presentation</vt:lpstr>
      <vt:lpstr>          GROUP 2</vt:lpstr>
      <vt:lpstr>PowerPoint Presentation</vt:lpstr>
      <vt:lpstr>             GROUP 3</vt:lpstr>
      <vt:lpstr>PowerPoint Presentation</vt:lpstr>
      <vt:lpstr>PowerPoint Presentation</vt:lpstr>
      <vt:lpstr>PEOPLE WHO HELP US</vt:lpstr>
      <vt:lpstr>             GROUP 1</vt:lpstr>
      <vt:lpstr>PowerPoint Presentation</vt:lpstr>
      <vt:lpstr>           Group 2</vt:lpstr>
      <vt:lpstr>PowerPoint Presentation</vt:lpstr>
      <vt:lpstr>              Group 3</vt:lpstr>
      <vt:lpstr>PowerPoint Presentation</vt:lpstr>
      <vt:lpstr>FRUIT AND VEGETABLES</vt:lpstr>
      <vt:lpstr>PowerPoint Presentation</vt:lpstr>
      <vt:lpstr>        GROUP 1</vt:lpstr>
      <vt:lpstr>PowerPoint Presentation</vt:lpstr>
      <vt:lpstr>        GROUP 2</vt:lpstr>
      <vt:lpstr>PowerPoint Presentation</vt:lpstr>
      <vt:lpstr>          GROUP 3 </vt:lpstr>
      <vt:lpstr>PowerPoint Presentation</vt:lpstr>
      <vt:lpstr>                REFERENCES</vt:lpstr>
      <vt:lpstr>               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Student_PC</dc:creator>
  <cp:lastModifiedBy>Student_PC</cp:lastModifiedBy>
  <cp:revision>23</cp:revision>
  <dcterms:created xsi:type="dcterms:W3CDTF">2024-06-13T05:54:20Z</dcterms:created>
  <dcterms:modified xsi:type="dcterms:W3CDTF">2024-06-13T10:54:43Z</dcterms:modified>
</cp:coreProperties>
</file>