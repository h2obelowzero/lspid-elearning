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60" r:id="rId4"/>
    <p:sldId id="274" r:id="rId5"/>
    <p:sldId id="258" r:id="rId6"/>
    <p:sldId id="259" r:id="rId7"/>
    <p:sldId id="302" r:id="rId8"/>
    <p:sldId id="262" r:id="rId9"/>
    <p:sldId id="264" r:id="rId10"/>
    <p:sldId id="261" r:id="rId11"/>
    <p:sldId id="303" r:id="rId12"/>
    <p:sldId id="263" r:id="rId13"/>
    <p:sldId id="265" r:id="rId14"/>
    <p:sldId id="319" r:id="rId15"/>
    <p:sldId id="266" r:id="rId16"/>
    <p:sldId id="268" r:id="rId17"/>
    <p:sldId id="271" r:id="rId18"/>
    <p:sldId id="269" r:id="rId19"/>
    <p:sldId id="321" r:id="rId20"/>
    <p:sldId id="270" r:id="rId21"/>
    <p:sldId id="281" r:id="rId22"/>
    <p:sldId id="282" r:id="rId23"/>
    <p:sldId id="305" r:id="rId24"/>
    <p:sldId id="284" r:id="rId25"/>
    <p:sldId id="286" r:id="rId26"/>
    <p:sldId id="307" r:id="rId27"/>
    <p:sldId id="310" r:id="rId28"/>
    <p:sldId id="332" r:id="rId29"/>
    <p:sldId id="275" r:id="rId30"/>
    <p:sldId id="322" r:id="rId31"/>
    <p:sldId id="330" r:id="rId32"/>
    <p:sldId id="323" r:id="rId33"/>
    <p:sldId id="324" r:id="rId34"/>
    <p:sldId id="325" r:id="rId35"/>
    <p:sldId id="326" r:id="rId36"/>
    <p:sldId id="333" r:id="rId37"/>
    <p:sldId id="334" r:id="rId38"/>
    <p:sldId id="335" r:id="rId39"/>
    <p:sldId id="336" r:id="rId40"/>
    <p:sldId id="337" r:id="rId41"/>
    <p:sldId id="338" r:id="rId42"/>
    <p:sldId id="339" r:id="rId43"/>
    <p:sldId id="287" r:id="rId44"/>
    <p:sldId id="291" r:id="rId45"/>
    <p:sldId id="312" r:id="rId46"/>
    <p:sldId id="288" r:id="rId47"/>
    <p:sldId id="289" r:id="rId48"/>
    <p:sldId id="313" r:id="rId49"/>
    <p:sldId id="314" r:id="rId50"/>
    <p:sldId id="315" r:id="rId51"/>
    <p:sldId id="285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38" autoAdjust="0"/>
    <p:restoredTop sz="79221" autoAdjust="0"/>
  </p:normalViewPr>
  <p:slideViewPr>
    <p:cSldViewPr snapToGrid="0">
      <p:cViewPr varScale="1">
        <p:scale>
          <a:sx n="57" d="100"/>
          <a:sy n="57" d="100"/>
        </p:scale>
        <p:origin x="118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15B54C-C41F-4074-BBD5-B3F10C0D8CA1}" type="datetimeFigureOut">
              <a:rPr lang="en-ZA" smtClean="0"/>
              <a:t>2024/07/18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9C32F-CDE3-47E4-8B24-744C15757A9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10566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9C32F-CDE3-47E4-8B24-744C15757A9C}" type="slidenum">
              <a:rPr lang="en-ZA" smtClean="0"/>
              <a:t>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82948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9C32F-CDE3-47E4-8B24-744C15757A9C}" type="slidenum">
              <a:rPr lang="en-ZA" smtClean="0"/>
              <a:t>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307692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9C32F-CDE3-47E4-8B24-744C15757A9C}" type="slidenum">
              <a:rPr lang="en-ZA" smtClean="0"/>
              <a:t>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23353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0CF1D-86F1-422B-B7AB-5BF8C5F22A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DFB946-0E69-45D8-A978-B207D97B33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15D28-C89D-40D2-B27A-11384F4EB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66C22-E024-47CC-9456-DAEA9FA125B6}" type="datetime1">
              <a:rPr lang="en-ZA" smtClean="0"/>
              <a:t>2024/07/18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A795E-2FD1-4F5D-A309-CCC944EB9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EF24C-5917-446C-A6A3-6006A06A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2293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6DFA9-08BD-4208-8C11-E1D8B1966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6D100-CA05-4F9A-9153-A1955CCE3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362CC-BF23-499E-8824-4F07AA300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11B4C-70E6-4B02-802A-1D1BAAD914F5}" type="datetime1">
              <a:rPr lang="en-ZA" smtClean="0"/>
              <a:t>2024/07/18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912C3-5292-4E19-BE03-3786F5FCF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C8AB5-59A2-4A00-A1A8-DBC91CF03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32426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37236-1AD0-4BF8-B71A-D8D7FC9D9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89B976-CB0B-4422-A558-15527BAF3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FE7C5-8F8E-493A-966C-4214B6C04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B21CE-AA09-470C-A60E-88DB4848377D}" type="datetime1">
              <a:rPr lang="en-ZA" smtClean="0"/>
              <a:t>2024/07/18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1DAB9-2F93-4414-A533-B33090519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CF017-E368-4AB8-B069-9D0E8BA9E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60275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80B5E-14B7-4042-B4CD-550C9AC17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9FA4F-40D1-482D-9709-3BF2398466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65399B-D72D-4542-BDA6-E6B6786AEE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6FA9AB-E3C8-4AA3-AA9C-81FCAABBC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983CC-B15C-431D-9430-0F7EC02FA5D3}" type="datetime1">
              <a:rPr lang="en-ZA" smtClean="0"/>
              <a:t>2024/07/18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9DD872-6795-4673-9498-0B4B6E1B3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B4CA9-4B78-4809-A124-4C0009A7D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18843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AAAD9-6050-45C0-A250-34CFEE1B1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174741-86DE-40B7-9FEB-F2349B1E7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2098B-DAFC-4144-9649-8485E7082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2D2347-A66B-4CA2-976A-88ED3847A4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411F04-C93D-4E2B-A926-2C871C2FAA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C43176-C0CB-4EB0-BF0F-30BF9BECC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E4EA3-F207-4F92-9D0C-2086238A9231}" type="datetime1">
              <a:rPr lang="en-ZA" smtClean="0"/>
              <a:t>2024/07/18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641841-51AC-4DD4-AC93-84A2332DA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152B74-F226-48ED-BF8B-1AB80D1AC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53550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6300D-F60C-4E49-9871-A29F99DC3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9371E4-7E73-4937-94B4-3DC9337BE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48823-313B-43A5-A4F3-01C8E7BEB51B}" type="datetime1">
              <a:rPr lang="en-ZA" smtClean="0"/>
              <a:t>2024/07/18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CECA04-5671-4C59-BF05-D70BF63F7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145877-C08A-4BC4-86B8-5BA5281E9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62749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6A2E10-1428-43D4-9F0A-5F8498D38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1BD82-8AC3-4846-BFDC-FDD620499ACF}" type="datetime1">
              <a:rPr lang="en-ZA" smtClean="0"/>
              <a:t>2024/07/18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8FE40D-0686-44FF-8468-7129157E5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877473-04D8-412F-924D-9B2694A4B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89255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C451D-2C7A-4B97-B5FE-8CD362F99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94925-C629-4195-A88E-8F04764AD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BBBACE-7FF5-4AC7-BB05-46BC6B5D83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8A576B-8D8A-4E19-A88C-4D717D1B1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AC5F9-C295-4DB6-8F23-946C54A76EB5}" type="datetime1">
              <a:rPr lang="en-ZA" smtClean="0"/>
              <a:t>2024/07/18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BF2D8-1480-4DC5-B047-1A1125C11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C79BCE-1049-4A6B-8B1B-F0AA4D834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59941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AAD9D-D65F-4025-A312-BB6CCE6DC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638695-924B-4E22-A09F-DEC2AC4801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FE1D12-6E02-40EA-B8DF-BFBD4DA52F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C65D81-723D-4AAE-A664-46A06B6A0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BEA82-FA1D-4D66-B429-2112ED018133}" type="datetime1">
              <a:rPr lang="en-ZA" smtClean="0"/>
              <a:t>2024/07/18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096A00-AEA5-4894-A614-0FC0BD87B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48942-24D5-4894-A235-29CC8AAB7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01104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866AD-04D2-4545-BBA1-1D03CCA5D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ACC51F-9F35-45FC-AFC1-D58D37259D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229D1-4FB2-4D84-9AE3-4F589BC67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96384-DD36-481B-9082-88EB77272D85}" type="datetime1">
              <a:rPr lang="en-ZA" smtClean="0"/>
              <a:t>2024/07/18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8E474-D23A-4CFD-94EB-25FBE4C39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A8833-63C0-45DD-BCF7-541D03AC8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39335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711633-A422-41E2-BB41-52E35147EA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9728A-7F0D-4051-89D7-D8406C48A4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3F4F5D-244E-43CC-B889-92A09F37E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4F9D1-6C96-4017-B0AF-AFFA8B5F518B}" type="datetime1">
              <a:rPr lang="en-ZA" smtClean="0"/>
              <a:t>2024/07/18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9C064-9D3F-4DA5-9A9A-A570399E2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128E0-E81D-4EB8-97C3-232752291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69115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EA255D-E155-4097-BCEE-D54E07781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3382CF-FE64-4DE8-B3B6-9404FA7FA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453CB-8A17-45EB-B27D-A293F9E1A8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066507-EADD-43D1-BD60-23CC440F4D56}" type="datetime1">
              <a:rPr lang="en-ZA" smtClean="0"/>
              <a:t>2024/07/18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7F22B9-CA78-4AA5-B199-0411F58FBE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4E0F1-F2BB-4D01-9BF9-C1EA360817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33042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lGC0zxgRNJQ?feature=oembed" TargetMode="External"/><Relationship Id="rId5" Type="http://schemas.openxmlformats.org/officeDocument/2006/relationships/image" Target="../media/image5.jpe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iBjXKVvkDN8?feature=oembed" TargetMode="External"/><Relationship Id="rId5" Type="http://schemas.openxmlformats.org/officeDocument/2006/relationships/image" Target="../media/image15.jpeg"/><Relationship Id="rId4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xHwNIw6nHPg?feature=oembed" TargetMode="Externa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e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e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gi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winkl.co.za/" TargetMode="External"/><Relationship Id="rId2" Type="http://schemas.openxmlformats.org/officeDocument/2006/relationships/hyperlink" Target="http://www.k5learning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hyperlink" Target="http://www.pinterest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CED64-549E-49ED-9CCF-A388422178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919" y="97472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ZA" dirty="0">
                <a:latin typeface="Algerian" panose="04020705040A02060702" pitchFamily="82" charset="0"/>
              </a:rPr>
              <a:t>Life skill</a:t>
            </a:r>
            <a:br>
              <a:rPr lang="en-ZA" dirty="0">
                <a:latin typeface="Algerian" panose="04020705040A02060702" pitchFamily="82" charset="0"/>
              </a:rPr>
            </a:br>
            <a:r>
              <a:rPr lang="en-ZA" dirty="0">
                <a:latin typeface="Algerian" panose="04020705040A02060702" pitchFamily="82" charset="0"/>
              </a:rPr>
              <a:t>GRADE 2</a:t>
            </a:r>
            <a:br>
              <a:rPr lang="en-ZA" dirty="0">
                <a:latin typeface="Algerian" panose="04020705040A02060702" pitchFamily="82" charset="0"/>
              </a:rPr>
            </a:br>
            <a:r>
              <a:rPr lang="en-ZA" dirty="0">
                <a:latin typeface="Algerian" panose="04020705040A02060702" pitchFamily="82" charset="0"/>
              </a:rPr>
              <a:t>YEAR 2</a:t>
            </a:r>
            <a:br>
              <a:rPr lang="en-ZA" dirty="0">
                <a:latin typeface="Algerian" panose="04020705040A02060702" pitchFamily="82" charset="0"/>
              </a:rPr>
            </a:br>
            <a:endParaRPr lang="en-ZA" dirty="0">
              <a:latin typeface="Algerian" panose="04020705040A02060702" pitchFamily="8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63D674-BA24-4A63-B632-814405E6C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4201" y="5807076"/>
            <a:ext cx="11056256" cy="914399"/>
          </a:xfrm>
        </p:spPr>
        <p:txBody>
          <a:bodyPr/>
          <a:lstStyle/>
          <a:p>
            <a:fld id="{18D86AF0-743D-4A14-AF96-E81FDEFCDC7E}" type="slidenum">
              <a:rPr lang="en-ZA" smtClean="0"/>
              <a:t>1</a:t>
            </a:fld>
            <a:endParaRPr lang="en-ZA" dirty="0"/>
          </a:p>
        </p:txBody>
      </p:sp>
      <p:pic>
        <p:nvPicPr>
          <p:cNvPr id="12" name="Picture 11" descr="Nokuthula logo Freehand">
            <a:extLst>
              <a:ext uri="{FF2B5EF4-FFF2-40B4-BE49-F238E27FC236}">
                <a16:creationId xmlns:a16="http://schemas.microsoft.com/office/drawing/2014/main" id="{ED0E4C80-036B-4C9C-B377-38205E3C524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0807" y="5897562"/>
            <a:ext cx="1009650" cy="733425"/>
          </a:xfrm>
          <a:prstGeom prst="rect">
            <a:avLst/>
          </a:prstGeom>
          <a:noFill/>
        </p:spPr>
      </p:pic>
      <p:pic>
        <p:nvPicPr>
          <p:cNvPr id="13" name="Picture 12" descr="New GDE logo">
            <a:extLst>
              <a:ext uri="{FF2B5EF4-FFF2-40B4-BE49-F238E27FC236}">
                <a16:creationId xmlns:a16="http://schemas.microsoft.com/office/drawing/2014/main" id="{18261055-4F60-443B-81EB-2B0EDCFB422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906" y="5807076"/>
            <a:ext cx="1152525" cy="823911"/>
          </a:xfrm>
          <a:prstGeom prst="rect">
            <a:avLst/>
          </a:prstGeom>
          <a:noFill/>
        </p:spPr>
      </p:pic>
      <p:pic>
        <p:nvPicPr>
          <p:cNvPr id="1026" name="Picture 2" descr="Image result for life skills clip art">
            <a:extLst>
              <a:ext uri="{FF2B5EF4-FFF2-40B4-BE49-F238E27FC236}">
                <a16:creationId xmlns:a16="http://schemas.microsoft.com/office/drawing/2014/main" id="{79D16E49-BFC0-4F69-A90E-A09C0DF1B6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4501" y="2854325"/>
            <a:ext cx="2975656" cy="3409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9508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E7403-B05F-474C-9E87-A313894BC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8A23955B-D9B1-41D5-A325-478A7E2A03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9612814"/>
              </p:ext>
            </p:extLst>
          </p:nvPr>
        </p:nvGraphicFramePr>
        <p:xfrm>
          <a:off x="838200" y="1843313"/>
          <a:ext cx="10515600" cy="40542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74028702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8503175"/>
                    </a:ext>
                  </a:extLst>
                </a:gridCol>
              </a:tblGrid>
              <a:tr h="638900">
                <a:tc>
                  <a:txBody>
                    <a:bodyPr/>
                    <a:lstStyle/>
                    <a:p>
                      <a:r>
                        <a:rPr lang="en-ZA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DURATION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AREA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246272"/>
                  </a:ext>
                </a:extLst>
              </a:tr>
              <a:tr h="1263097">
                <a:tc>
                  <a:txBody>
                    <a:bodyPr/>
                    <a:lstStyle/>
                    <a:p>
                      <a:r>
                        <a:rPr lang="en-ZA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 1 - 3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24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Me and my community (places and people)</a:t>
                      </a:r>
                      <a:endParaRPr lang="en-GB" sz="2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ZA" sz="2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1441389"/>
                  </a:ext>
                </a:extLst>
              </a:tr>
              <a:tr h="874452">
                <a:tc>
                  <a:txBody>
                    <a:bodyPr/>
                    <a:lstStyle/>
                    <a:p>
                      <a:r>
                        <a:rPr lang="en-ZA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 4 - 5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24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What do I need to live</a:t>
                      </a:r>
                      <a:endParaRPr lang="en-GB" sz="2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ZA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8642619"/>
                  </a:ext>
                </a:extLst>
              </a:tr>
              <a:tr h="638900">
                <a:tc>
                  <a:txBody>
                    <a:bodyPr/>
                    <a:lstStyle/>
                    <a:p>
                      <a:r>
                        <a:rPr lang="en-ZA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 6 - 7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 and other people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507636"/>
                  </a:ext>
                </a:extLst>
              </a:tr>
              <a:tr h="638900">
                <a:tc>
                  <a:txBody>
                    <a:bodyPr/>
                    <a:lstStyle/>
                    <a:p>
                      <a:r>
                        <a:rPr lang="en-ZA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 8 - 9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Senses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842269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CE174B-8E33-48A6-A48A-33A025F03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2171" y="5791200"/>
            <a:ext cx="10943771" cy="930275"/>
          </a:xfrm>
        </p:spPr>
        <p:txBody>
          <a:bodyPr/>
          <a:lstStyle/>
          <a:p>
            <a:fld id="{9DC6C3C8-958B-4510-B0FB-87EFE345857F}" type="slidenum">
              <a:rPr lang="en-ZA" smtClean="0"/>
              <a:t>2</a:t>
            </a:fld>
            <a:endParaRPr lang="en-ZA" dirty="0"/>
          </a:p>
        </p:txBody>
      </p:sp>
      <p:pic>
        <p:nvPicPr>
          <p:cNvPr id="10" name="Picture 9" descr="Nokuthula logo Freehand">
            <a:extLst>
              <a:ext uri="{FF2B5EF4-FFF2-40B4-BE49-F238E27FC236}">
                <a16:creationId xmlns:a16="http://schemas.microsoft.com/office/drawing/2014/main" id="{F7A3DF08-2A60-4F00-A406-CA910135E5B4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6292" y="5897562"/>
            <a:ext cx="1009650" cy="733425"/>
          </a:xfrm>
          <a:prstGeom prst="rect">
            <a:avLst/>
          </a:prstGeom>
          <a:noFill/>
        </p:spPr>
      </p:pic>
      <p:pic>
        <p:nvPicPr>
          <p:cNvPr id="11" name="Picture 10" descr="New GDE logo">
            <a:extLst>
              <a:ext uri="{FF2B5EF4-FFF2-40B4-BE49-F238E27FC236}">
                <a16:creationId xmlns:a16="http://schemas.microsoft.com/office/drawing/2014/main" id="{B81C5DD3-0C23-480A-9348-5E5A64A28840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807076"/>
            <a:ext cx="1152525" cy="82391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02143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31964-A01F-4249-9B39-6EDD429BA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897533" cy="523876"/>
          </a:xfrm>
        </p:spPr>
        <p:txBody>
          <a:bodyPr>
            <a:normAutofit fontScale="90000"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ASSEESSMENT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6B119-9167-4945-8FF3-C68B54A31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025"/>
            <a:ext cx="10515600" cy="48339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endParaRPr lang="en-ZA" sz="1800" b="0" i="0" u="none" strike="noStrike" baseline="0" dirty="0">
              <a:solidFill>
                <a:srgbClr val="000000"/>
              </a:solidFill>
              <a:latin typeface="Symbol" panose="05050102010706020507" pitchFamily="18" charset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37F75A-3CFC-4B31-8A6C-E843E1E10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718630"/>
            <a:ext cx="10515600" cy="1002846"/>
          </a:xfrm>
        </p:spPr>
        <p:txBody>
          <a:bodyPr/>
          <a:lstStyle/>
          <a:p>
            <a:fld id="{7287D671-00AA-406A-9B09-33F8B0666A01}" type="slidenum">
              <a:rPr lang="en-ZA" smtClean="0"/>
              <a:t>3</a:t>
            </a:fld>
            <a:endParaRPr lang="en-ZA" dirty="0"/>
          </a:p>
        </p:txBody>
      </p:sp>
      <p:pic>
        <p:nvPicPr>
          <p:cNvPr id="5" name="Picture 4" descr="New GDE logo">
            <a:extLst>
              <a:ext uri="{FF2B5EF4-FFF2-40B4-BE49-F238E27FC236}">
                <a16:creationId xmlns:a16="http://schemas.microsoft.com/office/drawing/2014/main" id="{FCBB9787-3675-4D2E-A16D-2ED9163C771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807076"/>
            <a:ext cx="1152525" cy="823911"/>
          </a:xfrm>
          <a:prstGeom prst="rect">
            <a:avLst/>
          </a:prstGeom>
          <a:noFill/>
        </p:spPr>
      </p:pic>
      <p:pic>
        <p:nvPicPr>
          <p:cNvPr id="6" name="Picture 5" descr="Nokuthula logo Freehand">
            <a:extLst>
              <a:ext uri="{FF2B5EF4-FFF2-40B4-BE49-F238E27FC236}">
                <a16:creationId xmlns:a16="http://schemas.microsoft.com/office/drawing/2014/main" id="{16F50F86-2DA2-4B91-AB3A-9FF2A1B8376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945187"/>
            <a:ext cx="1009650" cy="733425"/>
          </a:xfrm>
          <a:prstGeom prst="rect">
            <a:avLst/>
          </a:prstGeom>
          <a:noFill/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F1E9BAA-6906-49E2-A54C-4FBEB7743C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4119000"/>
              </p:ext>
            </p:extLst>
          </p:nvPr>
        </p:nvGraphicFramePr>
        <p:xfrm>
          <a:off x="2726266" y="889002"/>
          <a:ext cx="7447853" cy="61926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447853">
                  <a:extLst>
                    <a:ext uri="{9D8B030D-6E8A-4147-A177-3AD203B41FA5}">
                      <a16:colId xmlns:a16="http://schemas.microsoft.com/office/drawing/2014/main" val="520711895"/>
                    </a:ext>
                  </a:extLst>
                </a:gridCol>
              </a:tblGrid>
              <a:tr h="144770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 AND MY COMMUNITY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</a:t>
                      </a:r>
                      <a:r>
                        <a:rPr lang="en-Z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Discuss and explain how communities can work together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ZA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0342" marR="60342" marT="0" marB="0"/>
                </a:tc>
                <a:extLst>
                  <a:ext uri="{0D108BD9-81ED-4DB2-BD59-A6C34878D82A}">
                    <a16:rowId xmlns:a16="http://schemas.microsoft.com/office/drawing/2014/main" val="862691005"/>
                  </a:ext>
                </a:extLst>
              </a:tr>
              <a:tr h="144770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WHAT DO I NEED TO LIVE 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</a:t>
                      </a:r>
                      <a:r>
                        <a:rPr lang="en-Z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Understand why we have needs to live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ZA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0342" marR="60342" marT="0" marB="0"/>
                </a:tc>
                <a:extLst>
                  <a:ext uri="{0D108BD9-81ED-4DB2-BD59-A6C34878D82A}">
                    <a16:rowId xmlns:a16="http://schemas.microsoft.com/office/drawing/2014/main" val="2542906821"/>
                  </a:ext>
                </a:extLst>
              </a:tr>
              <a:tr h="184953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 AND OTHER PEOPLE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</a:t>
                      </a:r>
                      <a:r>
                        <a:rPr lang="en-Z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Understand and list own role and roles of others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</a:t>
                      </a:r>
                      <a:r>
                        <a:rPr lang="en-Z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Understand how to deal with conflict in a positive way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ZA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0342" marR="60342" marT="0" marB="0"/>
                </a:tc>
                <a:extLst>
                  <a:ext uri="{0D108BD9-81ED-4DB2-BD59-A6C34878D82A}">
                    <a16:rowId xmlns:a16="http://schemas.microsoft.com/office/drawing/2014/main" val="3972211278"/>
                  </a:ext>
                </a:extLst>
              </a:tr>
              <a:tr h="144770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SENSES 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</a:t>
                      </a:r>
                      <a:r>
                        <a:rPr lang="en-Z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Explain and discuss how to care for eyes/ears/nose/mouth/skin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ZA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0342" marR="60342" marT="0" marB="0"/>
                </a:tc>
                <a:extLst>
                  <a:ext uri="{0D108BD9-81ED-4DB2-BD59-A6C34878D82A}">
                    <a16:rowId xmlns:a16="http://schemas.microsoft.com/office/drawing/2014/main" val="11714952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3013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FDFA6-441E-4427-B26E-270E6E6565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WEEK 1 &amp; 2 </a:t>
            </a:r>
            <a:b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Z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615095-E291-4069-A22A-C00C0DC333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 b="1" dirty="0"/>
          </a:p>
          <a:p>
            <a:endParaRPr lang="en-ZA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F5FBB-8E18-453B-BBA0-08CFFFE15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9315" y="5573486"/>
            <a:ext cx="11335656" cy="1147989"/>
          </a:xfrm>
        </p:spPr>
        <p:txBody>
          <a:bodyPr/>
          <a:lstStyle/>
          <a:p>
            <a:fld id="{D84E4103-5636-4989-BD21-38036635CA93}" type="slidenum">
              <a:rPr lang="en-ZA" smtClean="0"/>
              <a:t>4</a:t>
            </a:fld>
            <a:endParaRPr lang="en-ZA" dirty="0"/>
          </a:p>
        </p:txBody>
      </p:sp>
      <p:pic>
        <p:nvPicPr>
          <p:cNvPr id="5" name="Picture 4" descr="New GDE logo">
            <a:extLst>
              <a:ext uri="{FF2B5EF4-FFF2-40B4-BE49-F238E27FC236}">
                <a16:creationId xmlns:a16="http://schemas.microsoft.com/office/drawing/2014/main" id="{D95CD89D-A908-4096-9901-D590316843E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5735637"/>
            <a:ext cx="1152525" cy="823911"/>
          </a:xfrm>
          <a:prstGeom prst="rect">
            <a:avLst/>
          </a:prstGeom>
          <a:noFill/>
        </p:spPr>
      </p:pic>
      <p:pic>
        <p:nvPicPr>
          <p:cNvPr id="6" name="Picture 5" descr="Nokuthula logo Freehand">
            <a:extLst>
              <a:ext uri="{FF2B5EF4-FFF2-40B4-BE49-F238E27FC236}">
                <a16:creationId xmlns:a16="http://schemas.microsoft.com/office/drawing/2014/main" id="{77CB91E2-6954-4FB0-B27D-8C21BAC8AF33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780767"/>
            <a:ext cx="1009650" cy="733425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1C673C2-38E7-4B1D-8CFD-C77A531B5E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1925" y="3129153"/>
            <a:ext cx="4601606" cy="69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426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7ADB2-F410-41E7-A78E-FCD2E51B5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5675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ME AND MY COMMUNITY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54A688-E324-4871-BD09-1F2D4EA1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629" y="5762171"/>
            <a:ext cx="10715171" cy="1095829"/>
          </a:xfrm>
        </p:spPr>
        <p:txBody>
          <a:bodyPr/>
          <a:lstStyle/>
          <a:p>
            <a:fld id="{40C24BD2-1B75-4659-9115-783B024422F5}" type="slidenum">
              <a:rPr lang="en-ZA" smtClean="0"/>
              <a:t>5</a:t>
            </a:fld>
            <a:endParaRPr lang="en-ZA" dirty="0"/>
          </a:p>
        </p:txBody>
      </p:sp>
      <p:pic>
        <p:nvPicPr>
          <p:cNvPr id="23" name="Picture 22" descr="Nokuthula logo Freehand">
            <a:extLst>
              <a:ext uri="{FF2B5EF4-FFF2-40B4-BE49-F238E27FC236}">
                <a16:creationId xmlns:a16="http://schemas.microsoft.com/office/drawing/2014/main" id="{044E67F2-4D05-4A3D-B2BD-6805E3297D70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897562"/>
            <a:ext cx="1009650" cy="733425"/>
          </a:xfrm>
          <a:prstGeom prst="rect">
            <a:avLst/>
          </a:prstGeom>
          <a:noFill/>
        </p:spPr>
      </p:pic>
      <p:pic>
        <p:nvPicPr>
          <p:cNvPr id="24" name="Picture 23" descr="New GDE logo">
            <a:extLst>
              <a:ext uri="{FF2B5EF4-FFF2-40B4-BE49-F238E27FC236}">
                <a16:creationId xmlns:a16="http://schemas.microsoft.com/office/drawing/2014/main" id="{75DB53FF-FA87-4439-8CBD-7A30DF02CD86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807076"/>
            <a:ext cx="1152525" cy="823911"/>
          </a:xfrm>
          <a:prstGeom prst="rect">
            <a:avLst/>
          </a:prstGeom>
          <a:noFill/>
        </p:spPr>
      </p:pic>
      <p:pic>
        <p:nvPicPr>
          <p:cNvPr id="7" name="Online Media 6" title="Communities for Kids - Types of Communities | Social Studies for Kids | Kids Academy">
            <a:hlinkClick r:id="" action="ppaction://media"/>
            <a:extLst>
              <a:ext uri="{FF2B5EF4-FFF2-40B4-BE49-F238E27FC236}">
                <a16:creationId xmlns:a16="http://schemas.microsoft.com/office/drawing/2014/main" id="{8A90573B-59CA-4392-AA5C-10A1792FC7A7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2246313" y="1825625"/>
            <a:ext cx="770096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807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67F65-2285-4620-BA7F-C38CEC268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1583"/>
            <a:ext cx="10515600" cy="1013732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LESSON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A3AA0-6C8D-476B-A8BC-F8F2A5397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The learner must be able to:</a:t>
            </a:r>
          </a:p>
          <a:p>
            <a:pPr marL="0" indent="0">
              <a:buNone/>
            </a:pPr>
            <a:r>
              <a:rPr lang="en-GB" dirty="0"/>
              <a:t>• Acknowledge that he/she is part of a community </a:t>
            </a:r>
          </a:p>
          <a:p>
            <a:pPr marL="0" indent="0">
              <a:buNone/>
            </a:pPr>
            <a:r>
              <a:rPr lang="en-GB" dirty="0"/>
              <a:t>• Identify places in their community like hospital, clinic, police, taxi rank, post office etc.</a:t>
            </a:r>
          </a:p>
          <a:p>
            <a:pPr marL="0" indent="0">
              <a:buNone/>
            </a:pPr>
            <a:r>
              <a:rPr lang="en-GB" dirty="0"/>
              <a:t> • Discuss ways how the community can work together to make it a nice place to live in</a:t>
            </a:r>
          </a:p>
          <a:p>
            <a:pPr marL="0" indent="0">
              <a:buNone/>
            </a:pP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400102-1E64-4517-BE5E-6DB4144F5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892800"/>
            <a:ext cx="10947400" cy="828675"/>
          </a:xfrm>
        </p:spPr>
        <p:txBody>
          <a:bodyPr/>
          <a:lstStyle/>
          <a:p>
            <a:fld id="{61777DBD-C39A-44EC-8ED1-0FEAAFC39734}" type="slidenum">
              <a:rPr lang="en-ZA" smtClean="0"/>
              <a:t>6</a:t>
            </a:fld>
            <a:endParaRPr lang="en-ZA" dirty="0"/>
          </a:p>
        </p:txBody>
      </p:sp>
      <p:pic>
        <p:nvPicPr>
          <p:cNvPr id="5" name="Picture 4" descr="Nokuthula logo Freehand">
            <a:extLst>
              <a:ext uri="{FF2B5EF4-FFF2-40B4-BE49-F238E27FC236}">
                <a16:creationId xmlns:a16="http://schemas.microsoft.com/office/drawing/2014/main" id="{0007D398-7514-44B6-A718-9B50029B7BF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6292" y="5897562"/>
            <a:ext cx="1009650" cy="733425"/>
          </a:xfrm>
          <a:prstGeom prst="rect">
            <a:avLst/>
          </a:prstGeom>
          <a:noFill/>
        </p:spPr>
      </p:pic>
      <p:pic>
        <p:nvPicPr>
          <p:cNvPr id="6" name="Picture 5" descr="New GDE logo">
            <a:extLst>
              <a:ext uri="{FF2B5EF4-FFF2-40B4-BE49-F238E27FC236}">
                <a16:creationId xmlns:a16="http://schemas.microsoft.com/office/drawing/2014/main" id="{06A77572-704E-4BB5-A9EC-8A089AF18AF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807076"/>
            <a:ext cx="1152525" cy="82391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7897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1B625-4F06-44A3-82D2-60743536F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                              </a:t>
            </a:r>
            <a:r>
              <a:rPr lang="en-ZA" b="1" dirty="0"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GROUP 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BA2D8B-94AF-440F-8CF9-BA5C6D23E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3074" name="Picture 2" descr="Image result for Writing Skills Clip Art">
            <a:extLst>
              <a:ext uri="{FF2B5EF4-FFF2-40B4-BE49-F238E27FC236}">
                <a16:creationId xmlns:a16="http://schemas.microsoft.com/office/drawing/2014/main" id="{BA4FE569-24D4-4372-B9DB-991FFF9FE1A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1690688"/>
            <a:ext cx="4614333" cy="4032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7949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9113E-CF33-459F-BE8B-E6F58BD13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5389"/>
          </a:xfrm>
        </p:spPr>
        <p:txBody>
          <a:bodyPr>
            <a:normAutofit fontScale="90000"/>
          </a:bodyPr>
          <a:lstStyle/>
          <a:p>
            <a:pPr algn="ctr"/>
            <a:r>
              <a:rPr lang="en-ZA" b="1" dirty="0">
                <a:latin typeface="Arial" panose="020B0604020202020204" pitchFamily="34" charset="0"/>
                <a:cs typeface="Arial" panose="020B0604020202020204" pitchFamily="34" charset="0"/>
              </a:rPr>
              <a:t>  		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B595C-1116-4F4B-9495-A841A0125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3492"/>
            <a:ext cx="10515600" cy="5813471"/>
          </a:xfrm>
        </p:spPr>
        <p:txBody>
          <a:bodyPr/>
          <a:lstStyle/>
          <a:p>
            <a:pPr marL="0" indent="0">
              <a:buNone/>
            </a:pPr>
            <a:r>
              <a:rPr lang="en-ZA" dirty="0"/>
              <a:t>Task 1: </a:t>
            </a:r>
            <a:r>
              <a:rPr lang="en-ZA" sz="2400" kern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Colour the picture below</a:t>
            </a:r>
          </a:p>
          <a:p>
            <a:pPr marL="0" indent="0">
              <a:buNone/>
            </a:pPr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9564E-FBBC-48AA-897C-7CF5D637A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44562" y="5986418"/>
            <a:ext cx="10739437" cy="735058"/>
          </a:xfrm>
        </p:spPr>
        <p:txBody>
          <a:bodyPr/>
          <a:lstStyle/>
          <a:p>
            <a:fld id="{0B0641A7-CE6A-4E71-8BCD-5AD6C2D1182A}" type="slidenum">
              <a:rPr lang="en-ZA" smtClean="0"/>
              <a:t>8</a:t>
            </a:fld>
            <a:endParaRPr lang="en-ZA" dirty="0"/>
          </a:p>
        </p:txBody>
      </p:sp>
      <p:pic>
        <p:nvPicPr>
          <p:cNvPr id="22" name="Picture 21" descr="New GDE logo">
            <a:extLst>
              <a:ext uri="{FF2B5EF4-FFF2-40B4-BE49-F238E27FC236}">
                <a16:creationId xmlns:a16="http://schemas.microsoft.com/office/drawing/2014/main" id="{A5578CBF-7503-4DA0-9F6E-335F3A7C081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562" y="5941991"/>
            <a:ext cx="1152525" cy="823911"/>
          </a:xfrm>
          <a:prstGeom prst="rect">
            <a:avLst/>
          </a:prstGeom>
          <a:noFill/>
        </p:spPr>
      </p:pic>
      <p:pic>
        <p:nvPicPr>
          <p:cNvPr id="23" name="Picture 22" descr="Nokuthula logo Freehand">
            <a:extLst>
              <a:ext uri="{FF2B5EF4-FFF2-40B4-BE49-F238E27FC236}">
                <a16:creationId xmlns:a16="http://schemas.microsoft.com/office/drawing/2014/main" id="{D12F8AE5-B255-40EA-AB3C-6094EDCDB765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4349" y="5986418"/>
            <a:ext cx="1009650" cy="733425"/>
          </a:xfrm>
          <a:prstGeom prst="rect">
            <a:avLst/>
          </a:prstGeom>
          <a:noFill/>
        </p:spPr>
      </p:pic>
      <p:pic>
        <p:nvPicPr>
          <p:cNvPr id="4100" name="Picture 4" descr="See related image detail. Community Helpers Match Worksheet - Printable Worksheets">
            <a:extLst>
              <a:ext uri="{FF2B5EF4-FFF2-40B4-BE49-F238E27FC236}">
                <a16:creationId xmlns:a16="http://schemas.microsoft.com/office/drawing/2014/main" id="{9F9E768F-9E02-45F6-B83B-C916ACFAB4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19"/>
          <a:stretch/>
        </p:blipFill>
        <p:spPr bwMode="auto">
          <a:xfrm>
            <a:off x="3556001" y="1822427"/>
            <a:ext cx="4809066" cy="4163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8918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452391-6418-42F3-887F-9C6CFA4C2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727064"/>
            <a:ext cx="10686144" cy="994411"/>
          </a:xfrm>
        </p:spPr>
        <p:txBody>
          <a:bodyPr/>
          <a:lstStyle/>
          <a:p>
            <a:fld id="{D2F4EE7F-D334-47E2-AD56-9E45F746ED39}" type="slidenum">
              <a:rPr lang="en-ZA" smtClean="0"/>
              <a:t>9</a:t>
            </a:fld>
            <a:endParaRPr lang="en-ZA" dirty="0"/>
          </a:p>
        </p:txBody>
      </p:sp>
      <p:pic>
        <p:nvPicPr>
          <p:cNvPr id="11" name="Picture 10" descr="New GDE logo">
            <a:extLst>
              <a:ext uri="{FF2B5EF4-FFF2-40B4-BE49-F238E27FC236}">
                <a16:creationId xmlns:a16="http://schemas.microsoft.com/office/drawing/2014/main" id="{2CADA526-E748-4ED3-AC4D-26E02959CD4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807076"/>
            <a:ext cx="1152525" cy="823911"/>
          </a:xfrm>
          <a:prstGeom prst="rect">
            <a:avLst/>
          </a:prstGeom>
          <a:noFill/>
        </p:spPr>
      </p:pic>
      <p:pic>
        <p:nvPicPr>
          <p:cNvPr id="12" name="Picture 11" descr="Nokuthula logo Freehand">
            <a:extLst>
              <a:ext uri="{FF2B5EF4-FFF2-40B4-BE49-F238E27FC236}">
                <a16:creationId xmlns:a16="http://schemas.microsoft.com/office/drawing/2014/main" id="{63D8FAFD-4F71-4CF0-8FB8-C35B810D0897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897562"/>
            <a:ext cx="1009650" cy="733425"/>
          </a:xfrm>
          <a:prstGeom prst="rect">
            <a:avLst/>
          </a:prstGeom>
          <a:noFill/>
        </p:spPr>
      </p:pic>
      <p:pic>
        <p:nvPicPr>
          <p:cNvPr id="5122" name="Picture 2" descr="Communities We Belong to Worksheet: Free Printable PDF for Children">
            <a:extLst>
              <a:ext uri="{FF2B5EF4-FFF2-40B4-BE49-F238E27FC236}">
                <a16:creationId xmlns:a16="http://schemas.microsoft.com/office/drawing/2014/main" id="{48EDE32E-D655-4DC9-810C-3150499BFB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71"/>
          <a:stretch/>
        </p:blipFill>
        <p:spPr bwMode="auto">
          <a:xfrm>
            <a:off x="3076010" y="355600"/>
            <a:ext cx="5689071" cy="614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1907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4821A-37C5-47DA-8E87-588712002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940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ZA" sz="3200" b="1" dirty="0">
                <a:latin typeface="Arial" panose="020B0604020202020204" pitchFamily="34" charset="0"/>
                <a:cs typeface="Arial" panose="020B0604020202020204" pitchFamily="34" charset="0"/>
              </a:rPr>
              <a:t>					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576E00-E7AA-44C0-9570-C89B5E1B0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747658"/>
            <a:ext cx="10515600" cy="973818"/>
          </a:xfrm>
        </p:spPr>
        <p:txBody>
          <a:bodyPr/>
          <a:lstStyle/>
          <a:p>
            <a:fld id="{A48A9EB8-31C7-43A4-A567-E063F0A09927}" type="slidenum">
              <a:rPr lang="en-ZA" smtClean="0"/>
              <a:t>10</a:t>
            </a:fld>
            <a:endParaRPr lang="en-ZA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D272064-09CC-435C-8143-1B4F2F411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7712" y="365125"/>
            <a:ext cx="10515600" cy="61277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400" b="1" kern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Task 2: </a:t>
            </a:r>
            <a:r>
              <a:rPr lang="en-ZA" sz="2400" b="1" kern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Colour in the picture</a:t>
            </a:r>
          </a:p>
          <a:p>
            <a:pPr marL="0" indent="0">
              <a:buNone/>
            </a:pPr>
            <a:endParaRPr lang="en-ZA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 descr="New GDE logo">
            <a:extLst>
              <a:ext uri="{FF2B5EF4-FFF2-40B4-BE49-F238E27FC236}">
                <a16:creationId xmlns:a16="http://schemas.microsoft.com/office/drawing/2014/main" id="{382CA0AE-8FF2-44B1-9309-BE589CBBE9E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807076"/>
            <a:ext cx="1152525" cy="823911"/>
          </a:xfrm>
          <a:prstGeom prst="rect">
            <a:avLst/>
          </a:prstGeom>
          <a:noFill/>
        </p:spPr>
      </p:pic>
      <p:pic>
        <p:nvPicPr>
          <p:cNvPr id="19" name="Picture 18" descr="Nokuthula logo Freehand">
            <a:extLst>
              <a:ext uri="{FF2B5EF4-FFF2-40B4-BE49-F238E27FC236}">
                <a16:creationId xmlns:a16="http://schemas.microsoft.com/office/drawing/2014/main" id="{E751A8B1-7B37-4270-9263-E5085FCD02C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897562"/>
            <a:ext cx="1009650" cy="733425"/>
          </a:xfrm>
          <a:prstGeom prst="rect">
            <a:avLst/>
          </a:prstGeom>
          <a:noFill/>
        </p:spPr>
      </p:pic>
      <p:pic>
        <p:nvPicPr>
          <p:cNvPr id="6146" name="Picture 2" descr="Our Community Worksheet for Pre-K - Kindergarten | Lesson Planet">
            <a:extLst>
              <a:ext uri="{FF2B5EF4-FFF2-40B4-BE49-F238E27FC236}">
                <a16:creationId xmlns:a16="http://schemas.microsoft.com/office/drawing/2014/main" id="{DADE036D-3E9D-417E-980C-14719A8118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54" t="14291" r="9939" b="20100"/>
          <a:stretch/>
        </p:blipFill>
        <p:spPr bwMode="auto">
          <a:xfrm>
            <a:off x="2929465" y="1023257"/>
            <a:ext cx="6908802" cy="524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9953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DE06F-2BF9-42EC-AB79-6C7577E25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b="1" dirty="0"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                    GROUP 2</a:t>
            </a: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F07C43-80A9-4C5D-A765-B1D8BADE3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1F4DD206-A29F-44BF-BC22-CD5C56F4C5E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189" y="1825625"/>
            <a:ext cx="434362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5500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D7301-9EB6-4B2E-86EC-3D3EFAD6C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791"/>
            <a:ext cx="10515600" cy="810532"/>
          </a:xfrm>
        </p:spPr>
        <p:txBody>
          <a:bodyPr>
            <a:normAutofit fontScale="90000"/>
          </a:bodyPr>
          <a:lstStyle/>
          <a:p>
            <a:pPr algn="ctr"/>
            <a:r>
              <a:rPr lang="en-ZA" sz="2400" dirty="0"/>
              <a:t>Task 1: Find a way to each destination</a:t>
            </a:r>
            <a:br>
              <a:rPr lang="en-ZA" sz="2400" dirty="0"/>
            </a:br>
            <a:endParaRPr lang="en-ZA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E11CC4-9F70-494C-AABA-D2140FF1C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5086" y="5682342"/>
            <a:ext cx="11190514" cy="1039133"/>
          </a:xfrm>
        </p:spPr>
        <p:txBody>
          <a:bodyPr/>
          <a:lstStyle/>
          <a:p>
            <a:fld id="{73FD08A1-CC3A-4331-86E7-66C4B503BA30}" type="slidenum">
              <a:rPr lang="en-ZA" smtClean="0"/>
              <a:t>12</a:t>
            </a:fld>
            <a:endParaRPr lang="en-ZA" dirty="0"/>
          </a:p>
        </p:txBody>
      </p:sp>
      <p:pic>
        <p:nvPicPr>
          <p:cNvPr id="33" name="Picture 32" descr="New GDE logo">
            <a:extLst>
              <a:ext uri="{FF2B5EF4-FFF2-40B4-BE49-F238E27FC236}">
                <a16:creationId xmlns:a16="http://schemas.microsoft.com/office/drawing/2014/main" id="{1A0E8022-83B7-42A4-AD38-C3FA31CCB57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807076"/>
            <a:ext cx="1152525" cy="823911"/>
          </a:xfrm>
          <a:prstGeom prst="rect">
            <a:avLst/>
          </a:prstGeom>
          <a:noFill/>
        </p:spPr>
      </p:pic>
      <p:pic>
        <p:nvPicPr>
          <p:cNvPr id="34" name="Picture 33" descr="Nokuthula logo Freehand">
            <a:extLst>
              <a:ext uri="{FF2B5EF4-FFF2-40B4-BE49-F238E27FC236}">
                <a16:creationId xmlns:a16="http://schemas.microsoft.com/office/drawing/2014/main" id="{8BFEC68C-4BB3-4BB1-88BD-02E4CA6CF1ED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897562"/>
            <a:ext cx="1009650" cy="733425"/>
          </a:xfrm>
          <a:prstGeom prst="rect">
            <a:avLst/>
          </a:prstGeom>
          <a:noFill/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3D037DC-45F1-4ED9-81FE-46733EF4DB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99" b="6571"/>
          <a:stretch/>
        </p:blipFill>
        <p:spPr bwMode="auto">
          <a:xfrm>
            <a:off x="2556934" y="524932"/>
            <a:ext cx="7787216" cy="5372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6991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1B978-3762-498C-AB90-522816411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515030"/>
          </a:xfrm>
        </p:spPr>
        <p:txBody>
          <a:bodyPr>
            <a:no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				</a:t>
            </a:r>
            <a:endParaRPr lang="en-ZA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5C351-3746-4D15-8F61-243D8F589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0157"/>
            <a:ext cx="10515600" cy="5296806"/>
          </a:xfrm>
        </p:spPr>
        <p:txBody>
          <a:bodyPr/>
          <a:lstStyle/>
          <a:p>
            <a:pPr marL="0" indent="0">
              <a:buNone/>
            </a:pPr>
            <a:r>
              <a:rPr lang="en-ZA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Task 3: </a:t>
            </a:r>
            <a:r>
              <a:rPr lang="en-GB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Match the following pictures with the correct place and write 1 sentence</a:t>
            </a:r>
            <a:r>
              <a:rPr lang="en-ZA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A1E7C5-1291-42EB-8A3C-A7A420FF0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1200" y="5977843"/>
            <a:ext cx="10642600" cy="743633"/>
          </a:xfrm>
        </p:spPr>
        <p:txBody>
          <a:bodyPr/>
          <a:lstStyle/>
          <a:p>
            <a:fld id="{5F8A2FD7-9076-4565-A02F-4FFBC1377DBE}" type="slidenum">
              <a:rPr lang="en-ZA" smtClean="0"/>
              <a:t>13</a:t>
            </a:fld>
            <a:endParaRPr lang="en-ZA" dirty="0"/>
          </a:p>
        </p:txBody>
      </p:sp>
      <p:pic>
        <p:nvPicPr>
          <p:cNvPr id="6" name="Picture 5" descr="New GDE logo">
            <a:extLst>
              <a:ext uri="{FF2B5EF4-FFF2-40B4-BE49-F238E27FC236}">
                <a16:creationId xmlns:a16="http://schemas.microsoft.com/office/drawing/2014/main" id="{524EB61F-F951-4D33-8AAC-9E572CABC71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15078"/>
            <a:ext cx="1152525" cy="823911"/>
          </a:xfrm>
          <a:prstGeom prst="rect">
            <a:avLst/>
          </a:prstGeom>
          <a:noFill/>
        </p:spPr>
      </p:pic>
      <p:pic>
        <p:nvPicPr>
          <p:cNvPr id="7" name="Picture 6" descr="Nokuthula logo Freehand">
            <a:extLst>
              <a:ext uri="{FF2B5EF4-FFF2-40B4-BE49-F238E27FC236}">
                <a16:creationId xmlns:a16="http://schemas.microsoft.com/office/drawing/2014/main" id="{09522211-6EB8-482B-8084-AF10B63C9A08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971609"/>
            <a:ext cx="1009650" cy="733425"/>
          </a:xfrm>
          <a:prstGeom prst="rect">
            <a:avLst/>
          </a:prstGeom>
          <a:noFill/>
        </p:spPr>
      </p:pic>
      <p:pic>
        <p:nvPicPr>
          <p:cNvPr id="3074" name="Picture 2" descr="This may contain: an english worksheet with pictures and words to describe the places that are located in this">
            <a:extLst>
              <a:ext uri="{FF2B5EF4-FFF2-40B4-BE49-F238E27FC236}">
                <a16:creationId xmlns:a16="http://schemas.microsoft.com/office/drawing/2014/main" id="{33F6A2C1-BAA5-4111-B59C-86F1F04645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09"/>
          <a:stretch/>
        </p:blipFill>
        <p:spPr bwMode="auto">
          <a:xfrm>
            <a:off x="3400426" y="1395188"/>
            <a:ext cx="5886450" cy="4781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33773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ED855-3511-4E7C-BECF-D01C21376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4800" dirty="0"/>
              <a:t>                            GROUP 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78BD8B-5E5F-46AF-98B8-C93B26D68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22A91A7A-83AC-42E7-88F8-A6822D6ADED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189" y="1825625"/>
            <a:ext cx="434362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45445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F508B-8B9E-4BAF-9D2B-31C0D7B4F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2265"/>
            <a:ext cx="105156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ZA" sz="2700" dirty="0">
                <a:latin typeface="Arial" panose="020B0604020202020204" pitchFamily="34" charset="0"/>
                <a:cs typeface="Arial" panose="020B0604020202020204" pitchFamily="34" charset="0"/>
              </a:rPr>
              <a:t>Task 1: Draw pictures of </a:t>
            </a:r>
            <a:r>
              <a:rPr lang="en-ZA" sz="2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2700" dirty="0">
                <a:latin typeface="Arial" panose="020B0604020202020204" pitchFamily="34" charset="0"/>
                <a:cs typeface="Arial" panose="020B0604020202020204" pitchFamily="34" charset="0"/>
              </a:rPr>
              <a:t>each community</a:t>
            </a:r>
            <a:r>
              <a:rPr lang="en-ZA" sz="2700" b="1" dirty="0">
                <a:latin typeface="Arial" panose="020B0604020202020204" pitchFamily="34" charset="0"/>
                <a:cs typeface="Arial" panose="020B0604020202020204" pitchFamily="34" charset="0"/>
              </a:rPr>
              <a:t>      	</a:t>
            </a:r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					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3DF1CF-8AD8-4B8F-A661-ED7705E68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937367"/>
            <a:ext cx="10642600" cy="919502"/>
          </a:xfrm>
        </p:spPr>
        <p:txBody>
          <a:bodyPr/>
          <a:lstStyle/>
          <a:p>
            <a:fld id="{7BAB846A-8439-433E-BDC7-87DEE9A84108}" type="slidenum">
              <a:rPr lang="en-ZA" smtClean="0"/>
              <a:t>15</a:t>
            </a:fld>
            <a:endParaRPr lang="en-ZA" dirty="0"/>
          </a:p>
        </p:txBody>
      </p:sp>
      <p:pic>
        <p:nvPicPr>
          <p:cNvPr id="5" name="Picture 4" descr="New GDE logo">
            <a:extLst>
              <a:ext uri="{FF2B5EF4-FFF2-40B4-BE49-F238E27FC236}">
                <a16:creationId xmlns:a16="http://schemas.microsoft.com/office/drawing/2014/main" id="{38C5A17F-8BD0-43B9-ADDD-9FF101CA904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37367"/>
            <a:ext cx="1152525" cy="830651"/>
          </a:xfrm>
          <a:prstGeom prst="rect">
            <a:avLst/>
          </a:prstGeom>
          <a:noFill/>
        </p:spPr>
      </p:pic>
      <p:pic>
        <p:nvPicPr>
          <p:cNvPr id="6" name="Picture 5" descr="Nokuthula logo Freehand">
            <a:extLst>
              <a:ext uri="{FF2B5EF4-FFF2-40B4-BE49-F238E27FC236}">
                <a16:creationId xmlns:a16="http://schemas.microsoft.com/office/drawing/2014/main" id="{5F557A9E-02E5-4258-ABA1-15193B054BD0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6057499"/>
            <a:ext cx="1009650" cy="733425"/>
          </a:xfrm>
          <a:prstGeom prst="rect">
            <a:avLst/>
          </a:prstGeom>
          <a:noFill/>
        </p:spPr>
      </p:pic>
      <p:pic>
        <p:nvPicPr>
          <p:cNvPr id="2050" name="Picture 2" descr="My Community Worksheet by Kiana Archibald | TPT">
            <a:extLst>
              <a:ext uri="{FF2B5EF4-FFF2-40B4-BE49-F238E27FC236}">
                <a16:creationId xmlns:a16="http://schemas.microsoft.com/office/drawing/2014/main" id="{AF368D31-1AA8-4D2F-A361-200BCEF33DE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200" y="1168400"/>
            <a:ext cx="8870950" cy="4547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3972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B58E8-6C94-4751-816B-8F7A62FB1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5046"/>
          </a:xfrm>
        </p:spPr>
        <p:txBody>
          <a:bodyPr>
            <a:normAutofit/>
          </a:bodyPr>
          <a:lstStyle/>
          <a:p>
            <a:pPr algn="ctr"/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Task 2: Draw your own community map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B191FF-FAFE-45E8-A8F7-0A02EBFCC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8188" y="6036008"/>
            <a:ext cx="10615612" cy="747910"/>
          </a:xfrm>
        </p:spPr>
        <p:txBody>
          <a:bodyPr/>
          <a:lstStyle/>
          <a:p>
            <a:fld id="{D1505E39-761D-4DEC-B6AF-668791C0DBCB}" type="slidenum">
              <a:rPr lang="en-ZA" smtClean="0"/>
              <a:t>16</a:t>
            </a:fld>
            <a:endParaRPr lang="en-ZA" dirty="0"/>
          </a:p>
        </p:txBody>
      </p:sp>
      <p:pic>
        <p:nvPicPr>
          <p:cNvPr id="14" name="Picture 13" descr="New GDE logo">
            <a:extLst>
              <a:ext uri="{FF2B5EF4-FFF2-40B4-BE49-F238E27FC236}">
                <a16:creationId xmlns:a16="http://schemas.microsoft.com/office/drawing/2014/main" id="{5C5658C4-BBF1-46E5-95C1-42CCD3D8516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188" y="5960461"/>
            <a:ext cx="1152525" cy="830651"/>
          </a:xfrm>
          <a:prstGeom prst="rect">
            <a:avLst/>
          </a:prstGeom>
          <a:noFill/>
        </p:spPr>
      </p:pic>
      <p:pic>
        <p:nvPicPr>
          <p:cNvPr id="15" name="Picture 14" descr="Nokuthula logo Freehand">
            <a:extLst>
              <a:ext uri="{FF2B5EF4-FFF2-40B4-BE49-F238E27FC236}">
                <a16:creationId xmlns:a16="http://schemas.microsoft.com/office/drawing/2014/main" id="{11C14C97-15F9-4571-955D-262AF6AF3AE3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6057499"/>
            <a:ext cx="1009650" cy="733425"/>
          </a:xfrm>
          <a:prstGeom prst="rect">
            <a:avLst/>
          </a:prstGeom>
          <a:noFill/>
        </p:spPr>
      </p:pic>
      <p:pic>
        <p:nvPicPr>
          <p:cNvPr id="3074" name="Picture 2" descr="Community Helper Puppets by Kindergarten Cafe | Teachers Pay Teachers">
            <a:extLst>
              <a:ext uri="{FF2B5EF4-FFF2-40B4-BE49-F238E27FC236}">
                <a16:creationId xmlns:a16="http://schemas.microsoft.com/office/drawing/2014/main" id="{08D6EE4E-700B-44C8-8057-A50AF8DA99F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5" t="7253" r="3775" b="3333"/>
          <a:stretch/>
        </p:blipFill>
        <p:spPr bwMode="auto">
          <a:xfrm>
            <a:off x="2955660" y="1242423"/>
            <a:ext cx="6180667" cy="4741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10202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531AE-AA32-4355-86B9-49F785D97F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WEEK 3 &amp; 4</a:t>
            </a:r>
            <a:b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what do l need to live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02FA0B-A3A5-48E4-8AE4-293415F76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3771" y="5735638"/>
            <a:ext cx="10537371" cy="985838"/>
          </a:xfrm>
        </p:spPr>
        <p:txBody>
          <a:bodyPr/>
          <a:lstStyle/>
          <a:p>
            <a:fld id="{BB747520-444E-42E4-AC52-8C6410DEDE35}" type="slidenum">
              <a:rPr lang="en-ZA" smtClean="0"/>
              <a:t>17</a:t>
            </a:fld>
            <a:endParaRPr lang="en-ZA" dirty="0"/>
          </a:p>
        </p:txBody>
      </p:sp>
      <p:pic>
        <p:nvPicPr>
          <p:cNvPr id="5" name="Picture 4" descr="New GDE logo">
            <a:extLst>
              <a:ext uri="{FF2B5EF4-FFF2-40B4-BE49-F238E27FC236}">
                <a16:creationId xmlns:a16="http://schemas.microsoft.com/office/drawing/2014/main" id="{180924DA-FD28-446B-9FE4-AA955AC97CF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771" y="5813231"/>
            <a:ext cx="1152525" cy="830651"/>
          </a:xfrm>
          <a:prstGeom prst="rect">
            <a:avLst/>
          </a:prstGeom>
          <a:noFill/>
        </p:spPr>
      </p:pic>
      <p:pic>
        <p:nvPicPr>
          <p:cNvPr id="6" name="Picture 5" descr="Nokuthula logo Freehand">
            <a:extLst>
              <a:ext uri="{FF2B5EF4-FFF2-40B4-BE49-F238E27FC236}">
                <a16:creationId xmlns:a16="http://schemas.microsoft.com/office/drawing/2014/main" id="{82BA9061-93CF-4887-B3E9-EAD45932E9A6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1492" y="5813231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337455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F0B2D-1364-491A-BEC1-FAD1A27C8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004888"/>
          </a:xfrm>
        </p:spPr>
        <p:txBody>
          <a:bodyPr>
            <a:normAutofit fontScale="90000"/>
          </a:bodyPr>
          <a:lstStyle/>
          <a:p>
            <a:br>
              <a:rPr lang="en-ZA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ZA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ZA" sz="3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ZA" sz="36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WHAT DO I NEED TO LIVE</a:t>
            </a:r>
            <a:br>
              <a:rPr lang="en-ZA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ZA" sz="4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C5F2F5-F106-47D0-9AD6-616078CB9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1" y="6072642"/>
            <a:ext cx="10395856" cy="648834"/>
          </a:xfrm>
        </p:spPr>
        <p:txBody>
          <a:bodyPr/>
          <a:lstStyle/>
          <a:p>
            <a:fld id="{8235136C-AF8F-444E-9D22-AC52AD20D29D}" type="slidenum">
              <a:rPr lang="en-ZA" smtClean="0"/>
              <a:t>18</a:t>
            </a:fld>
            <a:endParaRPr lang="en-ZA" dirty="0"/>
          </a:p>
        </p:txBody>
      </p:sp>
      <p:pic>
        <p:nvPicPr>
          <p:cNvPr id="6" name="Picture 5" descr="New GDE logo">
            <a:extLst>
              <a:ext uri="{FF2B5EF4-FFF2-40B4-BE49-F238E27FC236}">
                <a16:creationId xmlns:a16="http://schemas.microsoft.com/office/drawing/2014/main" id="{A3F15F97-2F04-4EA6-92A2-8B1C7FD1BFB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5960273"/>
            <a:ext cx="1152525" cy="830651"/>
          </a:xfrm>
          <a:prstGeom prst="rect">
            <a:avLst/>
          </a:prstGeom>
          <a:noFill/>
        </p:spPr>
      </p:pic>
      <p:pic>
        <p:nvPicPr>
          <p:cNvPr id="7" name="Picture 6" descr="Nokuthula logo Freehand">
            <a:extLst>
              <a:ext uri="{FF2B5EF4-FFF2-40B4-BE49-F238E27FC236}">
                <a16:creationId xmlns:a16="http://schemas.microsoft.com/office/drawing/2014/main" id="{D91D236D-AB71-4505-AFBC-355F38E9DCE2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6057499"/>
            <a:ext cx="1009650" cy="733425"/>
          </a:xfrm>
          <a:prstGeom prst="rect">
            <a:avLst/>
          </a:prstGeom>
          <a:noFill/>
        </p:spPr>
      </p:pic>
      <p:pic>
        <p:nvPicPr>
          <p:cNvPr id="8" name="Online Media 7" title="Basic Human Needs | What do we need to live? | Human Needs | Science for Kids">
            <a:hlinkClick r:id="" action="ppaction://media"/>
            <a:extLst>
              <a:ext uri="{FF2B5EF4-FFF2-40B4-BE49-F238E27FC236}">
                <a16:creationId xmlns:a16="http://schemas.microsoft.com/office/drawing/2014/main" id="{D3225CFD-8840-416D-BE22-71F3259937D6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2246313" y="1825625"/>
            <a:ext cx="770096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939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60FF9-DF29-4486-9C9A-BC8592DEC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675"/>
            <a:ext cx="10515600" cy="1325563"/>
          </a:xfrm>
        </p:spPr>
        <p:txBody>
          <a:bodyPr/>
          <a:lstStyle/>
          <a:p>
            <a:r>
              <a:rPr lang="en-ZA" sz="4400" b="1" dirty="0">
                <a:latin typeface="Arial" panose="020B0604020202020204" pitchFamily="34" charset="0"/>
                <a:cs typeface="Arial" panose="020B0604020202020204" pitchFamily="34" charset="0"/>
              </a:rPr>
              <a:t>LESSON OBJECTIVES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0EFD1-2A2A-4679-B432-27EF0FA77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dirty="0"/>
              <a:t>Recognise that we need the following to live:  </a:t>
            </a:r>
          </a:p>
          <a:p>
            <a:pPr marL="0" lvl="0" indent="0">
              <a:lnSpc>
                <a:spcPct val="107000"/>
              </a:lnSpc>
              <a:buNone/>
            </a:pPr>
            <a:r>
              <a:rPr lang="en-GB" dirty="0"/>
              <a:t>• Different types of food</a:t>
            </a:r>
          </a:p>
          <a:p>
            <a:pPr marL="0" lvl="0" indent="0">
              <a:lnSpc>
                <a:spcPct val="107000"/>
              </a:lnSpc>
              <a:buNone/>
            </a:pPr>
            <a:r>
              <a:rPr lang="en-GB" dirty="0"/>
              <a:t>• Water</a:t>
            </a:r>
          </a:p>
          <a:p>
            <a:pPr marL="0" lvl="0" indent="0">
              <a:lnSpc>
                <a:spcPct val="107000"/>
              </a:lnSpc>
              <a:buNone/>
            </a:pPr>
            <a:r>
              <a:rPr lang="en-GB" dirty="0"/>
              <a:t>• Air</a:t>
            </a:r>
          </a:p>
          <a:p>
            <a:pPr marL="0" lvl="0" indent="0">
              <a:lnSpc>
                <a:spcPct val="107000"/>
              </a:lnSpc>
              <a:buNone/>
            </a:pPr>
            <a:r>
              <a:rPr lang="en-GB" dirty="0"/>
              <a:t>• Sunlight (include protection from the sun) </a:t>
            </a:r>
          </a:p>
          <a:p>
            <a:pPr marL="0" lvl="0" indent="0">
              <a:lnSpc>
                <a:spcPct val="107000"/>
              </a:lnSpc>
              <a:buNone/>
            </a:pPr>
            <a:r>
              <a:rPr lang="en-GB" dirty="0"/>
              <a:t>• Shelter</a:t>
            </a:r>
          </a:p>
          <a:p>
            <a:pPr marL="0" lvl="0" indent="0">
              <a:lnSpc>
                <a:spcPct val="107000"/>
              </a:lnSpc>
              <a:buNone/>
            </a:pPr>
            <a:r>
              <a:rPr lang="en-GB" dirty="0"/>
              <a:t>• Friends </a:t>
            </a:r>
          </a:p>
          <a:p>
            <a:pPr marL="0" lvl="0" indent="0">
              <a:lnSpc>
                <a:spcPct val="107000"/>
              </a:lnSpc>
              <a:buNone/>
            </a:pPr>
            <a:r>
              <a:rPr lang="en-GB" dirty="0"/>
              <a:t>• People at school and at home include sharing, helping, showing respect.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C9693C-FF09-4C86-B922-DE2B2FFF0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485651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0829C-1F3E-47E5-A5AA-5E6FE83BE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5389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GROUP 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FE8761-8073-4A7F-A1A6-46324997F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7657" y="5849258"/>
            <a:ext cx="10686143" cy="872218"/>
          </a:xfrm>
        </p:spPr>
        <p:txBody>
          <a:bodyPr/>
          <a:lstStyle/>
          <a:p>
            <a:fld id="{E7694E06-7945-4B3F-8665-AD0128BEE64D}" type="slidenum">
              <a:rPr lang="en-ZA" smtClean="0"/>
              <a:t>20</a:t>
            </a:fld>
            <a:endParaRPr lang="en-ZA" dirty="0"/>
          </a:p>
        </p:txBody>
      </p:sp>
      <p:pic>
        <p:nvPicPr>
          <p:cNvPr id="5" name="Picture 4" descr="New GDE logo">
            <a:extLst>
              <a:ext uri="{FF2B5EF4-FFF2-40B4-BE49-F238E27FC236}">
                <a16:creationId xmlns:a16="http://schemas.microsoft.com/office/drawing/2014/main" id="{1E3D08E0-72FE-4E91-87A8-FE0C5DF568C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60273"/>
            <a:ext cx="1152525" cy="830651"/>
          </a:xfrm>
          <a:prstGeom prst="rect">
            <a:avLst/>
          </a:prstGeom>
          <a:noFill/>
        </p:spPr>
      </p:pic>
      <p:pic>
        <p:nvPicPr>
          <p:cNvPr id="6" name="Picture 5" descr="Nokuthula logo Freehand">
            <a:extLst>
              <a:ext uri="{FF2B5EF4-FFF2-40B4-BE49-F238E27FC236}">
                <a16:creationId xmlns:a16="http://schemas.microsoft.com/office/drawing/2014/main" id="{B2CEF4B0-F289-412F-8574-367679BB103F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960273"/>
            <a:ext cx="1009650" cy="733425"/>
          </a:xfrm>
          <a:prstGeom prst="rect">
            <a:avLst/>
          </a:prstGeom>
          <a:noFill/>
        </p:spPr>
      </p:pic>
      <p:pic>
        <p:nvPicPr>
          <p:cNvPr id="16386" name="Picture 2">
            <a:extLst>
              <a:ext uri="{FF2B5EF4-FFF2-40B4-BE49-F238E27FC236}">
                <a16:creationId xmlns:a16="http://schemas.microsoft.com/office/drawing/2014/main" id="{CE4683B4-BE78-42FF-8EC9-7009318A871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7935" y="1131888"/>
            <a:ext cx="5036129" cy="504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36436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2569A-8B14-49B2-AA01-FB989DDF2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5388"/>
          </a:xfrm>
        </p:spPr>
        <p:txBody>
          <a:bodyPr>
            <a:normAutofit/>
          </a:bodyPr>
          <a:lstStyle/>
          <a:p>
            <a:pPr algn="ctr"/>
            <a:r>
              <a:rPr lang="en-ZA" sz="2400" dirty="0"/>
              <a:t>Task 1: Colour only and trace things that we need to live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D1155-6ADB-430E-90D8-52F0E8124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375398" y="1392612"/>
            <a:ext cx="13532097" cy="5978393"/>
          </a:xfrm>
        </p:spPr>
        <p:txBody>
          <a:bodyPr/>
          <a:lstStyle/>
          <a:p>
            <a:pPr marL="0" indent="0">
              <a:buNone/>
            </a:pPr>
            <a:endParaRPr lang="en-ZA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ZA" dirty="0"/>
          </a:p>
          <a:p>
            <a:pPr marL="0" indent="0">
              <a:buNone/>
            </a:pP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D99C2C-5384-46DB-907E-18394273E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937350"/>
            <a:ext cx="10496298" cy="784126"/>
          </a:xfrm>
        </p:spPr>
        <p:txBody>
          <a:bodyPr/>
          <a:lstStyle/>
          <a:p>
            <a:fld id="{FF85F0C0-9731-46D2-B2A7-3D188241C94C}" type="slidenum">
              <a:rPr lang="en-ZA" smtClean="0"/>
              <a:t>21</a:t>
            </a:fld>
            <a:endParaRPr lang="en-ZA" dirty="0"/>
          </a:p>
        </p:txBody>
      </p:sp>
      <p:pic>
        <p:nvPicPr>
          <p:cNvPr id="6" name="Picture 5" descr="New GDE logo">
            <a:extLst>
              <a:ext uri="{FF2B5EF4-FFF2-40B4-BE49-F238E27FC236}">
                <a16:creationId xmlns:a16="http://schemas.microsoft.com/office/drawing/2014/main" id="{549D682B-316A-4B99-9651-72389F4A726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60273"/>
            <a:ext cx="1152525" cy="830651"/>
          </a:xfrm>
          <a:prstGeom prst="rect">
            <a:avLst/>
          </a:prstGeom>
          <a:noFill/>
        </p:spPr>
      </p:pic>
      <p:pic>
        <p:nvPicPr>
          <p:cNvPr id="7" name="Picture 6" descr="Nokuthula logo Freehand">
            <a:extLst>
              <a:ext uri="{FF2B5EF4-FFF2-40B4-BE49-F238E27FC236}">
                <a16:creationId xmlns:a16="http://schemas.microsoft.com/office/drawing/2014/main" id="{D3426CD3-6ADC-460F-B546-4A2EC7471D57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960273"/>
            <a:ext cx="1009650" cy="733425"/>
          </a:xfrm>
          <a:prstGeom prst="rect">
            <a:avLst/>
          </a:prstGeom>
          <a:noFill/>
        </p:spPr>
      </p:pic>
      <p:pic>
        <p:nvPicPr>
          <p:cNvPr id="32770" name="Picture 2" descr="See related image detail. Needs of Living Things Science Worksheet | worksheets | Momsheets.net">
            <a:extLst>
              <a:ext uri="{FF2B5EF4-FFF2-40B4-BE49-F238E27FC236}">
                <a16:creationId xmlns:a16="http://schemas.microsoft.com/office/drawing/2014/main" id="{14B3639F-B1CE-4E39-9C36-DA46835ED3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0" t="32412" r="9188" b="6702"/>
          <a:stretch/>
        </p:blipFill>
        <p:spPr bwMode="auto">
          <a:xfrm>
            <a:off x="3529013" y="1171576"/>
            <a:ext cx="5772150" cy="491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72216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F8E69D-7BE9-4F6B-91EF-04E8560FA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357D5C-0D88-4640-84DB-D60ECE45E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7175"/>
            <a:ext cx="10515600" cy="5963331"/>
          </a:xfrm>
        </p:spPr>
        <p:txBody>
          <a:bodyPr/>
          <a:lstStyle/>
          <a:p>
            <a:pPr marL="0" indent="0">
              <a:buNone/>
            </a:pPr>
            <a:r>
              <a:rPr lang="en-ZA" dirty="0"/>
              <a:t>            Task 2: </a:t>
            </a:r>
            <a:r>
              <a:rPr lang="en-ZA" sz="2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Colour </a:t>
            </a:r>
            <a:r>
              <a:rPr lang="en-ZA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all the things that we need to live</a:t>
            </a:r>
            <a:r>
              <a:rPr lang="en-ZA" sz="2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n-ZA" dirty="0"/>
          </a:p>
        </p:txBody>
      </p:sp>
      <p:pic>
        <p:nvPicPr>
          <p:cNvPr id="7170" name="Picture 2" descr="Story pin image">
            <a:extLst>
              <a:ext uri="{FF2B5EF4-FFF2-40B4-BE49-F238E27FC236}">
                <a16:creationId xmlns:a16="http://schemas.microsoft.com/office/drawing/2014/main" id="{BF50093B-E8E8-44D1-82A6-2006D5194B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572"/>
          <a:stretch/>
        </p:blipFill>
        <p:spPr bwMode="auto">
          <a:xfrm>
            <a:off x="3024187" y="1183141"/>
            <a:ext cx="5772149" cy="5037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52287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74020-FE33-4806-A9F8-C8A2C587F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                             GROUP 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D9C476-275C-4EBA-A449-46D936CA2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26776937-DB3B-40E3-AB05-561B9435901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189" y="1825625"/>
            <a:ext cx="434362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25062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BEA6E-0651-48A7-9C88-1B1181528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269"/>
            <a:ext cx="10515600" cy="737961"/>
          </a:xfrm>
        </p:spPr>
        <p:txBody>
          <a:bodyPr>
            <a:normAutofit fontScale="90000"/>
          </a:bodyPr>
          <a:lstStyle/>
          <a:p>
            <a:r>
              <a:rPr lang="en-ZA" sz="2800" dirty="0">
                <a:latin typeface="Arial" panose="020B0604020202020204" pitchFamily="34" charset="0"/>
                <a:cs typeface="Arial" panose="020B0604020202020204" pitchFamily="34" charset="0"/>
              </a:rPr>
              <a:t>Task 1: what do people need to live? Colour the items that we need to live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11342A-3D15-45F2-B581-02EBD5FC9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9714" y="5892800"/>
            <a:ext cx="10515600" cy="828675"/>
          </a:xfrm>
        </p:spPr>
        <p:txBody>
          <a:bodyPr/>
          <a:lstStyle/>
          <a:p>
            <a:fld id="{0840B9F2-6879-403E-836D-8F158F3A229B}" type="slidenum">
              <a:rPr lang="en-ZA" smtClean="0"/>
              <a:t>24</a:t>
            </a:fld>
            <a:endParaRPr lang="en-ZA" dirty="0"/>
          </a:p>
        </p:txBody>
      </p:sp>
      <p:pic>
        <p:nvPicPr>
          <p:cNvPr id="10" name="Picture 9" descr="New GDE logo">
            <a:extLst>
              <a:ext uri="{FF2B5EF4-FFF2-40B4-BE49-F238E27FC236}">
                <a16:creationId xmlns:a16="http://schemas.microsoft.com/office/drawing/2014/main" id="{4C9C24D4-6FBA-4F90-BB91-3085AFAA7C9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60273"/>
            <a:ext cx="1152525" cy="830651"/>
          </a:xfrm>
          <a:prstGeom prst="rect">
            <a:avLst/>
          </a:prstGeom>
          <a:noFill/>
        </p:spPr>
      </p:pic>
      <p:pic>
        <p:nvPicPr>
          <p:cNvPr id="11" name="Picture 10" descr="Nokuthula logo Freehand">
            <a:extLst>
              <a:ext uri="{FF2B5EF4-FFF2-40B4-BE49-F238E27FC236}">
                <a16:creationId xmlns:a16="http://schemas.microsoft.com/office/drawing/2014/main" id="{001B37E0-0A41-46C2-A45C-6A10E7A0E603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960273"/>
            <a:ext cx="1009650" cy="733425"/>
          </a:xfrm>
          <a:prstGeom prst="rect">
            <a:avLst/>
          </a:prstGeom>
          <a:noFill/>
        </p:spPr>
      </p:pic>
      <p:pic>
        <p:nvPicPr>
          <p:cNvPr id="7170" name="Picture 2" descr="See related image detail. Kindergarten Emergency Sub Plan Activity Set *NO PREP* by The First ...">
            <a:extLst>
              <a:ext uri="{FF2B5EF4-FFF2-40B4-BE49-F238E27FC236}">
                <a16:creationId xmlns:a16="http://schemas.microsoft.com/office/drawing/2014/main" id="{10C5A53F-A69F-435B-8DAC-2A20110595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7" t="17879" r="4916" b="3940"/>
          <a:stretch/>
        </p:blipFill>
        <p:spPr bwMode="auto">
          <a:xfrm>
            <a:off x="2556932" y="964612"/>
            <a:ext cx="6790268" cy="5062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92761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36CD1-4B66-4EBF-AC65-F3210B642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9561"/>
          </a:xfrm>
        </p:spPr>
        <p:txBody>
          <a:bodyPr>
            <a:normAutofit/>
          </a:bodyPr>
          <a:lstStyle/>
          <a:p>
            <a:pPr algn="ctr"/>
            <a:r>
              <a:rPr lang="en-ZA" sz="2000" dirty="0">
                <a:latin typeface="Arial" panose="020B0604020202020204" pitchFamily="34" charset="0"/>
                <a:cs typeface="Arial" panose="020B0604020202020204" pitchFamily="34" charset="0"/>
              </a:rPr>
              <a:t>Task 2: Colour the pictures  that we need to live.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6340A-9C87-4BE2-B901-E7654D3C6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3371"/>
            <a:ext cx="10515600" cy="47835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6D490-B2D6-44D4-8E88-D6CB3F1F1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1200" y="5834744"/>
            <a:ext cx="10160000" cy="886732"/>
          </a:xfrm>
        </p:spPr>
        <p:txBody>
          <a:bodyPr/>
          <a:lstStyle/>
          <a:p>
            <a:fld id="{D3DFC495-2FCF-456C-8511-EA77886F0F89}" type="slidenum">
              <a:rPr lang="en-ZA" smtClean="0"/>
              <a:t>25</a:t>
            </a:fld>
            <a:endParaRPr lang="en-ZA" dirty="0"/>
          </a:p>
        </p:txBody>
      </p:sp>
      <p:pic>
        <p:nvPicPr>
          <p:cNvPr id="6" name="Picture 5" descr="New GDE logo">
            <a:extLst>
              <a:ext uri="{FF2B5EF4-FFF2-40B4-BE49-F238E27FC236}">
                <a16:creationId xmlns:a16="http://schemas.microsoft.com/office/drawing/2014/main" id="{1E7E38A6-CD94-46DF-B372-7F67C8486FF5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60273"/>
            <a:ext cx="1152525" cy="830651"/>
          </a:xfrm>
          <a:prstGeom prst="rect">
            <a:avLst/>
          </a:prstGeom>
          <a:noFill/>
        </p:spPr>
      </p:pic>
      <p:pic>
        <p:nvPicPr>
          <p:cNvPr id="7" name="Picture 6" descr="Nokuthula logo Freehand">
            <a:extLst>
              <a:ext uri="{FF2B5EF4-FFF2-40B4-BE49-F238E27FC236}">
                <a16:creationId xmlns:a16="http://schemas.microsoft.com/office/drawing/2014/main" id="{F2E1B58F-9786-4094-B55F-DCFCE807C808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960273"/>
            <a:ext cx="1009650" cy="733425"/>
          </a:xfrm>
          <a:prstGeom prst="rect">
            <a:avLst/>
          </a:prstGeom>
          <a:noFill/>
        </p:spPr>
      </p:pic>
      <p:pic>
        <p:nvPicPr>
          <p:cNvPr id="10242" name="Picture 2">
            <a:extLst>
              <a:ext uri="{FF2B5EF4-FFF2-40B4-BE49-F238E27FC236}">
                <a16:creationId xmlns:a16="http://schemas.microsoft.com/office/drawing/2014/main" id="{64A539FE-A515-4307-898E-7B9ED1A7E4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09" b="6875"/>
          <a:stretch/>
        </p:blipFill>
        <p:spPr bwMode="auto">
          <a:xfrm>
            <a:off x="3408363" y="1032073"/>
            <a:ext cx="5835650" cy="534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53583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BDFDE-86D5-4DEF-BC1B-B91B77847A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71475"/>
            <a:ext cx="9144000" cy="900113"/>
          </a:xfrm>
        </p:spPr>
        <p:txBody>
          <a:bodyPr>
            <a:normAutofit fontScale="90000"/>
          </a:bodyPr>
          <a:lstStyle/>
          <a:p>
            <a:r>
              <a:rPr lang="en-ZA" dirty="0"/>
              <a:t>GROUP 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7BA913-0F0C-48B4-8E93-ADC3FFF03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87900E91-180E-4740-87E5-0E7CFC6EB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4238" y="1271588"/>
            <a:ext cx="5362575" cy="537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83254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4EDB-9C25-4F21-AC68-1A27B2BAD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77913"/>
          </a:xfrm>
        </p:spPr>
        <p:txBody>
          <a:bodyPr>
            <a:normAutofit/>
          </a:bodyPr>
          <a:lstStyle/>
          <a:p>
            <a:r>
              <a:rPr lang="en-ZA" sz="2000" dirty="0">
                <a:latin typeface="Arial" panose="020B0604020202020204" pitchFamily="34" charset="0"/>
                <a:cs typeface="Arial" panose="020B0604020202020204" pitchFamily="34" charset="0"/>
              </a:rPr>
              <a:t>Task 3:Colour only the items we need to live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51DE28-E7A4-4AD3-AB07-90A71C7C1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8194" name="Picture 2" descr="Is it alive coloring sheet by mom-sanity | TPT">
            <a:extLst>
              <a:ext uri="{FF2B5EF4-FFF2-40B4-BE49-F238E27FC236}">
                <a16:creationId xmlns:a16="http://schemas.microsoft.com/office/drawing/2014/main" id="{4944D75F-32BD-4D81-AD45-927C9276475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92" t="30038" r="15192" b="18984"/>
          <a:stretch/>
        </p:blipFill>
        <p:spPr bwMode="auto">
          <a:xfrm>
            <a:off x="2201334" y="1222904"/>
            <a:ext cx="6925733" cy="4940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41891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4EFB3-3121-4E5A-AF2B-4ABE2FCEF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3600" dirty="0"/>
              <a:t>Task 2:Color the items that we need to live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7A303C-3999-4B53-A932-248D0A8C3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9218" name="Picture 2" descr="Needs and Wants Worksheet by Mrs Holderman's Happy Humans | TPT">
            <a:extLst>
              <a:ext uri="{FF2B5EF4-FFF2-40B4-BE49-F238E27FC236}">
                <a16:creationId xmlns:a16="http://schemas.microsoft.com/office/drawing/2014/main" id="{2FEB1F61-C3E7-4A24-B159-25077831B76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74" b="5752"/>
          <a:stretch/>
        </p:blipFill>
        <p:spPr bwMode="auto">
          <a:xfrm>
            <a:off x="2461827" y="1557867"/>
            <a:ext cx="6716040" cy="436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51058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23C6D-944F-41E9-ABE7-7C9CB59AFB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14338"/>
            <a:ext cx="9144000" cy="1680365"/>
          </a:xfrm>
        </p:spPr>
        <p:txBody>
          <a:bodyPr/>
          <a:lstStyle/>
          <a:p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WEEK 6 &amp; 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E4187-DCA1-4272-9EE0-342557FA2B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43164"/>
            <a:ext cx="9144000" cy="1414462"/>
          </a:xfrm>
        </p:spPr>
        <p:txBody>
          <a:bodyPr>
            <a:normAutofit/>
          </a:bodyPr>
          <a:lstStyle/>
          <a:p>
            <a:r>
              <a:rPr lang="en-ZA" sz="3200" dirty="0">
                <a:latin typeface="Arial" panose="020B0604020202020204" pitchFamily="34" charset="0"/>
                <a:cs typeface="Arial" panose="020B0604020202020204" pitchFamily="34" charset="0"/>
              </a:rPr>
              <a:t>ME AND OTHER PEOPLE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FCAD51-82E9-40E8-B397-81E935D8A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229" y="5892800"/>
            <a:ext cx="11524341" cy="828675"/>
          </a:xfrm>
        </p:spPr>
        <p:txBody>
          <a:bodyPr/>
          <a:lstStyle/>
          <a:p>
            <a:fld id="{7E6060D1-5484-49BE-8C92-A013EA2974FE}" type="slidenum">
              <a:rPr lang="en-ZA" smtClean="0"/>
              <a:t>29</a:t>
            </a:fld>
            <a:endParaRPr lang="en-ZA" dirty="0"/>
          </a:p>
        </p:txBody>
      </p:sp>
      <p:pic>
        <p:nvPicPr>
          <p:cNvPr id="5" name="Picture 4" descr="Nokuthula logo Freehand">
            <a:extLst>
              <a:ext uri="{FF2B5EF4-FFF2-40B4-BE49-F238E27FC236}">
                <a16:creationId xmlns:a16="http://schemas.microsoft.com/office/drawing/2014/main" id="{583E4412-480A-4962-9394-2ACF42E067D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960273"/>
            <a:ext cx="1009650" cy="733425"/>
          </a:xfrm>
          <a:prstGeom prst="rect">
            <a:avLst/>
          </a:prstGeom>
          <a:noFill/>
        </p:spPr>
      </p:pic>
      <p:pic>
        <p:nvPicPr>
          <p:cNvPr id="6" name="Picture 5" descr="New GDE logo">
            <a:extLst>
              <a:ext uri="{FF2B5EF4-FFF2-40B4-BE49-F238E27FC236}">
                <a16:creationId xmlns:a16="http://schemas.microsoft.com/office/drawing/2014/main" id="{887D74E8-E479-4D77-96C7-85083160C05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5863047"/>
            <a:ext cx="1152525" cy="8306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759614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AC72F-DE66-4C4F-B3D9-4392C9AD9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675"/>
            <a:ext cx="10515600" cy="1325563"/>
          </a:xfrm>
        </p:spPr>
        <p:txBody>
          <a:bodyPr/>
          <a:lstStyle/>
          <a:p>
            <a:r>
              <a:rPr lang="en-ZA" sz="4400" b="1" dirty="0">
                <a:latin typeface="Arial" panose="020B0604020202020204" pitchFamily="34" charset="0"/>
                <a:cs typeface="Arial" panose="020B0604020202020204" pitchFamily="34" charset="0"/>
              </a:rPr>
              <a:t>LESSON OBJECTIVES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732F8-6524-4562-A477-0DC6CCBB9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ZA" sz="3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Recognise own role as a child </a:t>
            </a:r>
            <a:endParaRPr lang="en-ZA" sz="36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ZA" sz="3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Recognise roles of other people, at home, at school, in the community and in the environment.</a:t>
            </a:r>
            <a:endParaRPr lang="en-ZA" sz="36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ZA" sz="3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Deal positively with conflict - include self- esteem and bullying.</a:t>
            </a:r>
            <a:endParaRPr lang="en-ZA" sz="36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SzPts val="1100"/>
              <a:buNone/>
            </a:pPr>
            <a:endParaRPr lang="en-ZA" sz="3600" dirty="0">
              <a:effectLst/>
              <a:latin typeface="Arial MT"/>
              <a:ea typeface="Arial MT"/>
              <a:cs typeface="Arial MT"/>
            </a:endParaRPr>
          </a:p>
          <a:p>
            <a:pPr marL="0" indent="0">
              <a:buNone/>
            </a:pP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8D77FE-A956-4636-8FBD-97FBA1D98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632996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EDF1B-FACA-4868-BB59-49C64AEF9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4800" dirty="0"/>
              <a:t>                           GROUP 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413858-ECAF-4B66-96AE-FC1346C68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7E4DB15-47B2-4C46-BBBF-87DAAE5AC6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189" y="1185333"/>
            <a:ext cx="4343622" cy="4991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77352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FFA5E-F68E-4FDD-ACDB-66D60543A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713"/>
          </a:xfrm>
        </p:spPr>
        <p:txBody>
          <a:bodyPr>
            <a:normAutofit fontScale="90000"/>
          </a:bodyPr>
          <a:lstStyle/>
          <a:p>
            <a:r>
              <a:rPr lang="en-ZA" dirty="0"/>
              <a:t>Task 1: Me: Order the picture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38C1E-7378-4E30-A151-ADE48121E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33794" name="Picture 2" descr="Introducing Other People - ESL worksheet by hypocondriacc">
            <a:extLst>
              <a:ext uri="{FF2B5EF4-FFF2-40B4-BE49-F238E27FC236}">
                <a16:creationId xmlns:a16="http://schemas.microsoft.com/office/drawing/2014/main" id="{7F2A3C89-3E66-4853-8023-23AF0B2A37E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3" t="18461" r="3570" b="3393"/>
          <a:stretch/>
        </p:blipFill>
        <p:spPr bwMode="auto">
          <a:xfrm>
            <a:off x="2455333" y="985838"/>
            <a:ext cx="6574367" cy="5413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29921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F92A8-F05F-4CCE-BD5F-931A31CDF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3600" dirty="0"/>
              <a:t>Task 1: Gather as a class and sing the song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C78A13-DCAE-46FD-A538-B71BE98F7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10244" name="Picture 4" descr="Image result for me and other people preschool">
            <a:extLst>
              <a:ext uri="{FF2B5EF4-FFF2-40B4-BE49-F238E27FC236}">
                <a16:creationId xmlns:a16="http://schemas.microsoft.com/office/drawing/2014/main" id="{A05A8889-F571-4AEC-93C7-DE83FBCB59F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399" y="1828800"/>
            <a:ext cx="7230533" cy="4527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06203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41D70-B4AF-465C-93DB-7D5D43105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                             GROUP 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E7E9F9-D074-470D-BDBA-AE77AF5FB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CE2B7C6-F56B-477A-BA8D-8A7C68E4684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189" y="1825625"/>
            <a:ext cx="434362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86716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88020-54BA-4F2A-9AEC-E99234C9D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0710333" cy="684742"/>
          </a:xfrm>
        </p:spPr>
        <p:txBody>
          <a:bodyPr>
            <a:normAutofit/>
          </a:bodyPr>
          <a:lstStyle/>
          <a:p>
            <a:r>
              <a:rPr lang="en-ZA" sz="3200" dirty="0"/>
              <a:t>Task 1: Design a poster of the differences of you and your friend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5FC45-ED7F-4594-9E05-26F3EC369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64E3F-C637-4A9A-90A2-33E6DB082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660067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C3641-3992-4B6B-8B19-7CB52D776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4742"/>
          </a:xfrm>
        </p:spPr>
        <p:txBody>
          <a:bodyPr>
            <a:normAutofit/>
          </a:bodyPr>
          <a:lstStyle/>
          <a:p>
            <a:r>
              <a:rPr lang="en-ZA" sz="3200" dirty="0"/>
              <a:t>Task 2: Me and other people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AD1F7A-2F96-4F16-BC38-DB8302FC0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11266" name="Picture 2" descr="Meet Someone Who? Worksheet for Kindergarten - 2nd Grade | Lesson Planet">
            <a:extLst>
              <a:ext uri="{FF2B5EF4-FFF2-40B4-BE49-F238E27FC236}">
                <a16:creationId xmlns:a16="http://schemas.microsoft.com/office/drawing/2014/main" id="{0BB9DB7B-33D5-42F2-BE2B-C6ADAB929C7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8353" y="955674"/>
            <a:ext cx="6118225" cy="5448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29245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86E77-FCF6-4756-A048-BC639C9F9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5400" dirty="0"/>
              <a:t>                    GROUP 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E2DA7C-553C-44F9-B64C-793616128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6E85981-4EB2-49D7-87E6-0C28C492971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7867" y="1337733"/>
            <a:ext cx="5439944" cy="4839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2643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CA8CF-5EFF-4DF7-9144-319C20197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295274"/>
          </a:xfrm>
        </p:spPr>
        <p:txBody>
          <a:bodyPr>
            <a:normAutofit fontScale="90000"/>
          </a:bodyPr>
          <a:lstStyle/>
          <a:p>
            <a:r>
              <a:rPr lang="en-ZA" dirty="0"/>
              <a:t>Task 1:Me and other people.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3A0E85-5ADC-40A3-9163-7113F02F0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1026" name="Picture 2" descr="Printable Friendship Worksheets For Kindergarten">
            <a:extLst>
              <a:ext uri="{FF2B5EF4-FFF2-40B4-BE49-F238E27FC236}">
                <a16:creationId xmlns:a16="http://schemas.microsoft.com/office/drawing/2014/main" id="{87BF907B-C081-49AE-B3AD-5D2149E7B49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96" t="18363" r="4858" b="4974"/>
          <a:stretch/>
        </p:blipFill>
        <p:spPr bwMode="auto">
          <a:xfrm>
            <a:off x="2810932" y="1134533"/>
            <a:ext cx="6553201" cy="5221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76566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DC334-B527-45E8-B51D-1FE369B50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1325"/>
          </a:xfrm>
        </p:spPr>
        <p:txBody>
          <a:bodyPr>
            <a:noAutofit/>
          </a:bodyPr>
          <a:lstStyle/>
          <a:p>
            <a:r>
              <a:rPr lang="en-ZA" sz="2800" dirty="0"/>
              <a:t>Task 2: Me and other people Draw a picture of yourself and other people.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4D4244-1A64-4981-BCB2-A12C2AEB3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2050" name="Picture 2" descr="10 Best Images of My Best Friend Worksheet - All About My Friend ...">
            <a:extLst>
              <a:ext uri="{FF2B5EF4-FFF2-40B4-BE49-F238E27FC236}">
                <a16:creationId xmlns:a16="http://schemas.microsoft.com/office/drawing/2014/main" id="{377484AF-129D-4461-934F-C6D2B664D2E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0" t="9023" r="4726" b="31436"/>
          <a:stretch/>
        </p:blipFill>
        <p:spPr bwMode="auto">
          <a:xfrm>
            <a:off x="2463800" y="965200"/>
            <a:ext cx="7264400" cy="523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45674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2888B-4A1B-44B4-80A9-AFF64246F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8742"/>
          </a:xfrm>
        </p:spPr>
        <p:txBody>
          <a:bodyPr/>
          <a:lstStyle/>
          <a:p>
            <a:r>
              <a:rPr lang="en-ZA" dirty="0"/>
              <a:t>                                   SENSES</a:t>
            </a:r>
          </a:p>
        </p:txBody>
      </p:sp>
      <p:pic>
        <p:nvPicPr>
          <p:cNvPr id="5" name="Online Media 4" title="How Your Senses Work? | The Five Senses | The Dr Binocs Show | Peekaboo Kidz">
            <a:hlinkClick r:id="" action="ppaction://media"/>
            <a:extLst>
              <a:ext uri="{FF2B5EF4-FFF2-40B4-BE49-F238E27FC236}">
                <a16:creationId xmlns:a16="http://schemas.microsoft.com/office/drawing/2014/main" id="{C80FAF22-DA98-4A4D-9AED-DAC14F1BE974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6313" y="1825625"/>
            <a:ext cx="7700962" cy="435133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9AF5FB-9352-4046-8D69-E0AD3CFC7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2864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A9A47-84E6-439A-9BBC-6A766D433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4400" b="1" dirty="0">
                <a:latin typeface="Arial" panose="020B0604020202020204" pitchFamily="34" charset="0"/>
                <a:cs typeface="Arial" panose="020B0604020202020204" pitchFamily="34" charset="0"/>
              </a:rPr>
              <a:t>LESSON OBJECTIVES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E5460-0205-491C-94E5-737FE42E3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ZA" sz="18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  <a:sym typeface="Symbol" panose="05050102010706020507" pitchFamily="18" charset="2"/>
              </a:rPr>
              <a:t>.</a:t>
            </a:r>
            <a:r>
              <a:rPr lang="en-ZA" sz="4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Understand each of the five senses </a:t>
            </a:r>
            <a:endParaRPr lang="en-ZA" sz="4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ZA" sz="40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  <a:sym typeface="Symbol" panose="05050102010706020507" pitchFamily="18" charset="2"/>
              </a:rPr>
              <a:t>.</a:t>
            </a:r>
            <a:r>
              <a:rPr lang="en-ZA" sz="4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Compare the means by which the senses gather information about the world</a:t>
            </a:r>
            <a:endParaRPr lang="en-ZA" sz="4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ZA" sz="40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  <a:sym typeface="Symbol" panose="05050102010706020507" pitchFamily="18" charset="2"/>
              </a:rPr>
              <a:t>.</a:t>
            </a:r>
            <a:r>
              <a:rPr lang="en-ZA" sz="4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Explain how he/she cares for eyes, ears, nose, mouth and skin?</a:t>
            </a:r>
            <a:endParaRPr lang="en-ZA" sz="4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9E3AA5-CF53-4E97-8155-FE14668F0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877478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4E731-6C41-4BB3-8680-5A05266CF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                               GROUP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CFF2B-B1D4-4956-8E52-27882562D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90262A-6220-4E2B-9124-F5874C816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148132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F2432-C2EE-4609-99EF-E39B2FF3A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1500"/>
            <a:ext cx="10515600" cy="5605463"/>
          </a:xfrm>
        </p:spPr>
        <p:txBody>
          <a:bodyPr/>
          <a:lstStyle/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Task 2: Colour and match the five senses</a:t>
            </a:r>
          </a:p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35130F-ED17-44B6-AE50-3E2B8DF5D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902778"/>
            <a:ext cx="10628085" cy="818698"/>
          </a:xfrm>
        </p:spPr>
        <p:txBody>
          <a:bodyPr/>
          <a:lstStyle/>
          <a:p>
            <a:fld id="{CDC4391E-E57C-4434-A149-18FD16FA7F4B}" type="slidenum">
              <a:rPr lang="en-ZA" smtClean="0"/>
              <a:t>43</a:t>
            </a:fld>
            <a:endParaRPr lang="en-ZA" dirty="0"/>
          </a:p>
        </p:txBody>
      </p:sp>
      <p:pic>
        <p:nvPicPr>
          <p:cNvPr id="6" name="Picture 5" descr="Nokuthula logo Freehand">
            <a:extLst>
              <a:ext uri="{FF2B5EF4-FFF2-40B4-BE49-F238E27FC236}">
                <a16:creationId xmlns:a16="http://schemas.microsoft.com/office/drawing/2014/main" id="{1A13692C-50D2-4233-9323-723F4D52065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6014879"/>
            <a:ext cx="1009650" cy="733425"/>
          </a:xfrm>
          <a:prstGeom prst="rect">
            <a:avLst/>
          </a:prstGeom>
          <a:noFill/>
        </p:spPr>
      </p:pic>
      <p:pic>
        <p:nvPicPr>
          <p:cNvPr id="7" name="Picture 6" descr="New GDE logo">
            <a:extLst>
              <a:ext uri="{FF2B5EF4-FFF2-40B4-BE49-F238E27FC236}">
                <a16:creationId xmlns:a16="http://schemas.microsoft.com/office/drawing/2014/main" id="{11250BCE-4414-4C8A-8CE7-941D7D8C5B6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05114"/>
            <a:ext cx="1152525" cy="830651"/>
          </a:xfrm>
          <a:prstGeom prst="rect">
            <a:avLst/>
          </a:prstGeom>
          <a:noFill/>
        </p:spPr>
      </p:pic>
      <p:pic>
        <p:nvPicPr>
          <p:cNvPr id="4100" name="Picture 4" descr="This may contain: a coloring page with the words i taste with my tongue and pictures of food on it">
            <a:extLst>
              <a:ext uri="{FF2B5EF4-FFF2-40B4-BE49-F238E27FC236}">
                <a16:creationId xmlns:a16="http://schemas.microsoft.com/office/drawing/2014/main" id="{AF55DFB4-7DFF-4532-9CDF-B16231443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1368" y="1076325"/>
            <a:ext cx="5529263" cy="5100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37959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3316D7-5831-4B6F-A085-4963986C5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961834"/>
            <a:ext cx="10849430" cy="759642"/>
          </a:xfrm>
        </p:spPr>
        <p:txBody>
          <a:bodyPr/>
          <a:lstStyle/>
          <a:p>
            <a:endParaRPr lang="en-ZA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0380194-679C-4C56-8D1F-FB96991EC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2938"/>
            <a:ext cx="10515600" cy="5534025"/>
          </a:xfrm>
        </p:spPr>
        <p:txBody>
          <a:bodyPr/>
          <a:lstStyle/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Task 2: Colour in the picture below</a:t>
            </a:r>
          </a:p>
          <a:p>
            <a:pPr marL="0" indent="0">
              <a:buNone/>
            </a:pPr>
            <a:endParaRPr lang="en-ZA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C0FF69-E49E-4E4A-8E9A-93B2E8402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1777" y="5989893"/>
            <a:ext cx="1012024" cy="731583"/>
          </a:xfrm>
          <a:prstGeom prst="rect">
            <a:avLst/>
          </a:prstGeom>
        </p:spPr>
      </p:pic>
      <p:pic>
        <p:nvPicPr>
          <p:cNvPr id="13" name="Picture 12" descr="New GDE logo">
            <a:extLst>
              <a:ext uri="{FF2B5EF4-FFF2-40B4-BE49-F238E27FC236}">
                <a16:creationId xmlns:a16="http://schemas.microsoft.com/office/drawing/2014/main" id="{56F7FA21-F500-44D5-92F3-C4C0352D54F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162" y="5890825"/>
            <a:ext cx="1152525" cy="830651"/>
          </a:xfrm>
          <a:prstGeom prst="rect">
            <a:avLst/>
          </a:prstGeom>
          <a:noFill/>
        </p:spPr>
      </p:pic>
      <p:pic>
        <p:nvPicPr>
          <p:cNvPr id="6148" name="Picture 4" descr="This may contain: the 5 senses sense of taste coloring page with food and drinks for kids to color">
            <a:extLst>
              <a:ext uri="{FF2B5EF4-FFF2-40B4-BE49-F238E27FC236}">
                <a16:creationId xmlns:a16="http://schemas.microsoft.com/office/drawing/2014/main" id="{F73617CB-FC15-4861-BC7C-99D37F23FE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7588" y="971550"/>
            <a:ext cx="5543550" cy="4729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68997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D70DF-2A40-41C4-82A7-FEB5B4B9D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4800" dirty="0"/>
              <a:t>                            GROUP 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8B0837-E0AC-4FD1-9006-893889575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20482" name="Picture 2">
            <a:extLst>
              <a:ext uri="{FF2B5EF4-FFF2-40B4-BE49-F238E27FC236}">
                <a16:creationId xmlns:a16="http://schemas.microsoft.com/office/drawing/2014/main" id="{E71902C7-7C0B-4AD7-A1C4-E83DFF91FA7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189" y="1825625"/>
            <a:ext cx="434362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849928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D528C-B273-466A-BD11-B0205651F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8054"/>
            <a:ext cx="10515600" cy="576262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907F34-8700-429F-AF17-5318D1744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430" y="5979886"/>
            <a:ext cx="10614056" cy="741589"/>
          </a:xfrm>
        </p:spPr>
        <p:txBody>
          <a:bodyPr/>
          <a:lstStyle/>
          <a:p>
            <a:fld id="{92E21127-EA37-4C7C-97C5-55206C3EFCB6}" type="slidenum">
              <a:rPr lang="en-ZA" smtClean="0"/>
              <a:t>46</a:t>
            </a:fld>
            <a:endParaRPr lang="en-ZA" dirty="0"/>
          </a:p>
        </p:txBody>
      </p:sp>
      <p:pic>
        <p:nvPicPr>
          <p:cNvPr id="7" name="Picture 6" descr="New GDE logo">
            <a:extLst>
              <a:ext uri="{FF2B5EF4-FFF2-40B4-BE49-F238E27FC236}">
                <a16:creationId xmlns:a16="http://schemas.microsoft.com/office/drawing/2014/main" id="{9366C6E0-A03A-49B3-8462-BEE4AB6433F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430" y="5890824"/>
            <a:ext cx="1152525" cy="830651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D8A033-A4AC-43F1-BB84-438984DA7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1776" y="5989893"/>
            <a:ext cx="1037423" cy="731583"/>
          </a:xfrm>
          <a:prstGeom prst="rect">
            <a:avLst/>
          </a:prstGeom>
        </p:spPr>
      </p:pic>
      <p:pic>
        <p:nvPicPr>
          <p:cNvPr id="3074" name="Picture 2" descr="Five Senses Worksheet | Math printable worksheets|">
            <a:extLst>
              <a:ext uri="{FF2B5EF4-FFF2-40B4-BE49-F238E27FC236}">
                <a16:creationId xmlns:a16="http://schemas.microsoft.com/office/drawing/2014/main" id="{B4B633E5-EB8B-4A4A-9CC6-AA8C66997C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92" b="6595"/>
          <a:stretch/>
        </p:blipFill>
        <p:spPr bwMode="auto">
          <a:xfrm>
            <a:off x="2636308" y="445100"/>
            <a:ext cx="6135158" cy="5762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03156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B1718-88BC-44EE-8BF8-65638B28D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3862"/>
            <a:ext cx="10515600" cy="5753101"/>
          </a:xfrm>
        </p:spPr>
        <p:txBody>
          <a:bodyPr/>
          <a:lstStyle/>
          <a:p>
            <a:pPr marL="0" indent="0" algn="ctr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Task 2: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Taste sense. Look at the picture below </a:t>
            </a:r>
            <a:endParaRPr lang="en-GB" dirty="0"/>
          </a:p>
          <a:p>
            <a:pPr marL="0" indent="0" algn="ctr">
              <a:buNone/>
            </a:pPr>
            <a:r>
              <a:rPr lang="en-ZA" dirty="0"/>
              <a:t>     and circle the correct sense.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1C8C04-2D4B-45CB-A808-35D8C01B4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430" y="5950858"/>
            <a:ext cx="10806371" cy="770618"/>
          </a:xfrm>
        </p:spPr>
        <p:txBody>
          <a:bodyPr/>
          <a:lstStyle/>
          <a:p>
            <a:fld id="{7D9AF13F-449C-4A3A-8DBB-A47A50A56E3D}" type="slidenum">
              <a:rPr lang="en-ZA" smtClean="0"/>
              <a:t>47</a:t>
            </a:fld>
            <a:endParaRPr lang="en-ZA" dirty="0"/>
          </a:p>
        </p:txBody>
      </p:sp>
      <p:pic>
        <p:nvPicPr>
          <p:cNvPr id="9" name="Picture 8" descr="New GDE logo">
            <a:extLst>
              <a:ext uri="{FF2B5EF4-FFF2-40B4-BE49-F238E27FC236}">
                <a16:creationId xmlns:a16="http://schemas.microsoft.com/office/drawing/2014/main" id="{3A53091B-DDD6-4284-AF28-B2A30C3AF0C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430" y="5859164"/>
            <a:ext cx="1152525" cy="830651"/>
          </a:xfrm>
          <a:prstGeom prst="rect">
            <a:avLst/>
          </a:prstGeom>
          <a:noFill/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F477F24-3F59-4CFE-837F-39406092D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1777" y="5989893"/>
            <a:ext cx="1012024" cy="731583"/>
          </a:xfrm>
          <a:prstGeom prst="rect">
            <a:avLst/>
          </a:prstGeom>
        </p:spPr>
      </p:pic>
      <p:pic>
        <p:nvPicPr>
          <p:cNvPr id="4098" name="Picture 2" descr="The Five Senses Worksheets">
            <a:extLst>
              <a:ext uri="{FF2B5EF4-FFF2-40B4-BE49-F238E27FC236}">
                <a16:creationId xmlns:a16="http://schemas.microsoft.com/office/drawing/2014/main" id="{9B33E17B-3CF9-4996-AB32-5248B6F85E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2" t="14321" r="6221" b="6181"/>
          <a:stretch/>
        </p:blipFill>
        <p:spPr bwMode="auto">
          <a:xfrm>
            <a:off x="3725333" y="1490132"/>
            <a:ext cx="5740399" cy="5011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91146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476A8-CB39-419E-A02F-3E1D458E3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4800" dirty="0"/>
              <a:t>                            </a:t>
            </a:r>
            <a:r>
              <a:rPr lang="en-ZA" sz="5400" b="1" dirty="0">
                <a:latin typeface="Algerian" panose="04020705040A02060702" pitchFamily="82" charset="0"/>
              </a:rPr>
              <a:t>GROUP 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5DD3F2-7F4D-4615-BD9D-DA99A5BCB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21506" name="Picture 2">
            <a:extLst>
              <a:ext uri="{FF2B5EF4-FFF2-40B4-BE49-F238E27FC236}">
                <a16:creationId xmlns:a16="http://schemas.microsoft.com/office/drawing/2014/main" id="{123265BF-3F9C-4880-92C6-8381B79F285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189" y="1825625"/>
            <a:ext cx="434362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035364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7B35-4888-4226-B194-29D8D7B10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650" y="440928"/>
            <a:ext cx="10515600" cy="365125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Task 1 Match and color</a:t>
            </a:r>
            <a:r>
              <a:rPr lang="en-US" sz="32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.</a:t>
            </a:r>
            <a:br>
              <a:rPr lang="en-US" sz="32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</a:br>
            <a:endParaRPr lang="en-ZA" sz="3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2230E6-9A94-492F-BF88-00AFB819E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122" name="Picture 2" descr="Printable five senses worksheet – Preschoolplanet">
            <a:extLst>
              <a:ext uri="{FF2B5EF4-FFF2-40B4-BE49-F238E27FC236}">
                <a16:creationId xmlns:a16="http://schemas.microsoft.com/office/drawing/2014/main" id="{E9391DD0-AD22-4EC2-A8D6-21B6F187820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59" t="2798" r="8485" b="11978"/>
          <a:stretch/>
        </p:blipFill>
        <p:spPr bwMode="auto">
          <a:xfrm>
            <a:off x="3291416" y="767093"/>
            <a:ext cx="5952067" cy="5323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38205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4DB9D-F4BA-4DF3-A463-1AF6AB5E5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6463"/>
          </a:xfrm>
        </p:spPr>
        <p:txBody>
          <a:bodyPr>
            <a:normAutofit fontScale="90000"/>
          </a:bodyPr>
          <a:lstStyle/>
          <a:p>
            <a:pPr marL="0" indent="0"/>
            <a:r>
              <a:rPr lang="en-US" sz="2800" dirty="0"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Task 2: </a:t>
            </a:r>
            <a:r>
              <a:rPr lang="en-US" sz="28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.Complete the task below by placing an x to the correct block. </a:t>
            </a:r>
            <a:br>
              <a:rPr lang="en-US" sz="28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</a:br>
            <a:br>
              <a:rPr lang="en-ZA" sz="28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</a:br>
            <a:endParaRPr lang="en-ZA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76880E-217F-47B2-BA7C-DF1A25D75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6146" name="Picture 2" descr="Crafts,Actvities and Worksheets for Preschool,Toddler and Kindergarten">
            <a:extLst>
              <a:ext uri="{FF2B5EF4-FFF2-40B4-BE49-F238E27FC236}">
                <a16:creationId xmlns:a16="http://schemas.microsoft.com/office/drawing/2014/main" id="{B3A3261F-CC4A-4785-9EC3-CE1C796B48E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17" t="24122" r="3664" b="3886"/>
          <a:stretch/>
        </p:blipFill>
        <p:spPr bwMode="auto">
          <a:xfrm>
            <a:off x="2683934" y="818356"/>
            <a:ext cx="6256867" cy="5209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564423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534BA-3624-408F-B4EA-B632281AF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3446"/>
          </a:xfrm>
        </p:spPr>
        <p:txBody>
          <a:bodyPr>
            <a:normAutofit/>
          </a:bodyPr>
          <a:lstStyle/>
          <a:p>
            <a:pPr algn="ctr"/>
            <a:r>
              <a:rPr lang="en-ZA" sz="4000" dirty="0">
                <a:latin typeface="Arial" panose="020B0604020202020204" pitchFamily="34" charset="0"/>
                <a:cs typeface="Arial" panose="020B0604020202020204" pitchFamily="34" charset="0"/>
              </a:rPr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FDEB0-B097-4F1D-8B09-F0BA9CF6C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3714"/>
            <a:ext cx="10515600" cy="4943249"/>
          </a:xfrm>
        </p:spPr>
        <p:txBody>
          <a:bodyPr/>
          <a:lstStyle/>
          <a:p>
            <a:pPr marL="0" indent="0">
              <a:buNone/>
            </a:pPr>
            <a:r>
              <a:rPr lang="en-ZA" dirty="0">
                <a:hlinkClick r:id="rId2"/>
              </a:rPr>
              <a:t>www.k5learning.com</a:t>
            </a:r>
            <a:r>
              <a:rPr lang="en-ZA" dirty="0"/>
              <a:t> </a:t>
            </a:r>
          </a:p>
          <a:p>
            <a:pPr marL="0" indent="0">
              <a:buNone/>
            </a:pPr>
            <a:r>
              <a:rPr lang="en-ZA" dirty="0"/>
              <a:t>www. sparklebox.co.uk </a:t>
            </a:r>
          </a:p>
          <a:p>
            <a:pPr marL="0" indent="0">
              <a:buNone/>
            </a:pPr>
            <a:r>
              <a:rPr lang="en-ZA" dirty="0">
                <a:hlinkClick r:id="rId3"/>
              </a:rPr>
              <a:t>www.twinkl.co.za</a:t>
            </a:r>
            <a:endParaRPr lang="en-ZA" dirty="0"/>
          </a:p>
          <a:p>
            <a:pPr marL="0" indent="0">
              <a:buNone/>
            </a:pPr>
            <a:r>
              <a:rPr lang="en-ZA" dirty="0">
                <a:hlinkClick r:id="rId4"/>
              </a:rPr>
              <a:t>www.Pinterest.com</a:t>
            </a:r>
            <a:r>
              <a:rPr lang="en-ZA" dirty="0"/>
              <a:t>  </a:t>
            </a:r>
          </a:p>
          <a:p>
            <a:pPr marL="0" indent="0">
              <a:buNone/>
            </a:pPr>
            <a:endParaRPr lang="en-ZA" dirty="0"/>
          </a:p>
          <a:p>
            <a:pPr marL="0" indent="0">
              <a:buNone/>
            </a:pPr>
            <a:r>
              <a:rPr lang="en-ZA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B2B40-83C5-49DC-A039-EE0A965BD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878286"/>
            <a:ext cx="10515600" cy="843189"/>
          </a:xfrm>
        </p:spPr>
        <p:txBody>
          <a:bodyPr/>
          <a:lstStyle/>
          <a:p>
            <a:fld id="{96012891-1781-4E36-B81C-40A0E53B2317}" type="slidenum">
              <a:rPr lang="en-ZA" smtClean="0"/>
              <a:t>51</a:t>
            </a:fld>
            <a:endParaRPr lang="en-ZA" dirty="0"/>
          </a:p>
        </p:txBody>
      </p:sp>
      <p:pic>
        <p:nvPicPr>
          <p:cNvPr id="5" name="Picture 4" descr="Nokuthula logo Freehand">
            <a:extLst>
              <a:ext uri="{FF2B5EF4-FFF2-40B4-BE49-F238E27FC236}">
                <a16:creationId xmlns:a16="http://schemas.microsoft.com/office/drawing/2014/main" id="{BE48170E-9268-49CC-B408-6BD4A193CBC9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960273"/>
            <a:ext cx="1009650" cy="733425"/>
          </a:xfrm>
          <a:prstGeom prst="rect">
            <a:avLst/>
          </a:prstGeom>
          <a:noFill/>
        </p:spPr>
      </p:pic>
      <p:pic>
        <p:nvPicPr>
          <p:cNvPr id="6" name="Picture 5" descr="New GDE logo">
            <a:extLst>
              <a:ext uri="{FF2B5EF4-FFF2-40B4-BE49-F238E27FC236}">
                <a16:creationId xmlns:a16="http://schemas.microsoft.com/office/drawing/2014/main" id="{9964AD4E-A185-4CF9-ABEC-06ADAA94EADC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829" y="5890825"/>
            <a:ext cx="1152525" cy="8306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06508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1998</TotalTime>
  <Words>728</Words>
  <Application>Microsoft Office PowerPoint</Application>
  <PresentationFormat>Widescreen</PresentationFormat>
  <Paragraphs>137</Paragraphs>
  <Slides>51</Slides>
  <Notes>3</Notes>
  <HiddenSlides>0</HiddenSlides>
  <MMClips>3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9" baseType="lpstr">
      <vt:lpstr>Algerian</vt:lpstr>
      <vt:lpstr>Amiri</vt:lpstr>
      <vt:lpstr>Arial</vt:lpstr>
      <vt:lpstr>Arial MT</vt:lpstr>
      <vt:lpstr>Calibri</vt:lpstr>
      <vt:lpstr>Calibri Light</vt:lpstr>
      <vt:lpstr>Symbol</vt:lpstr>
      <vt:lpstr>Office Theme</vt:lpstr>
      <vt:lpstr>Life skill GRADE 2 YEAR 2 </vt:lpstr>
      <vt:lpstr>OUTLINE</vt:lpstr>
      <vt:lpstr>ASSEESSMENT GOALS</vt:lpstr>
      <vt:lpstr>WEEK 1 &amp; 2  </vt:lpstr>
      <vt:lpstr>ME AND MY COMMUNITY</vt:lpstr>
      <vt:lpstr>LESSON OBJECTIVES</vt:lpstr>
      <vt:lpstr>                              GROUP 1</vt:lpstr>
      <vt:lpstr>      </vt:lpstr>
      <vt:lpstr>PowerPoint Presentation</vt:lpstr>
      <vt:lpstr>     </vt:lpstr>
      <vt:lpstr>                    GROUP 2</vt:lpstr>
      <vt:lpstr>Task 1: Find a way to each destination </vt:lpstr>
      <vt:lpstr>    </vt:lpstr>
      <vt:lpstr>                            GROUP 3</vt:lpstr>
      <vt:lpstr>Task 1: Draw pictures of  each community            </vt:lpstr>
      <vt:lpstr>Task 2: Draw your own community map </vt:lpstr>
      <vt:lpstr>WEEK 3 &amp; 4 what do l need to live</vt:lpstr>
      <vt:lpstr>                     WHAT DO I NEED TO LIVE  </vt:lpstr>
      <vt:lpstr>LESSON OBJECTIVES</vt:lpstr>
      <vt:lpstr>GROUP 1</vt:lpstr>
      <vt:lpstr>Task 1: Colour only and trace things that we need to live</vt:lpstr>
      <vt:lpstr>PowerPoint Presentation</vt:lpstr>
      <vt:lpstr>                             GROUP 2</vt:lpstr>
      <vt:lpstr>Task 1: what do people need to live? Colour the items that we need to live</vt:lpstr>
      <vt:lpstr>Task 2: Colour the pictures  that we need to live.</vt:lpstr>
      <vt:lpstr>GROUP 3</vt:lpstr>
      <vt:lpstr>Task 3:Colour only the items we need to live </vt:lpstr>
      <vt:lpstr>Task 2:Color the items that we need to live</vt:lpstr>
      <vt:lpstr>WEEK 6 &amp; 7</vt:lpstr>
      <vt:lpstr>LESSON OBJECTIVES</vt:lpstr>
      <vt:lpstr>                           GROUP 1</vt:lpstr>
      <vt:lpstr>Task 1: Me: Order the picture</vt:lpstr>
      <vt:lpstr>Task 1: Gather as a class and sing the song</vt:lpstr>
      <vt:lpstr>                             GROUP 2</vt:lpstr>
      <vt:lpstr>Task 1: Design a poster of the differences of you and your friend </vt:lpstr>
      <vt:lpstr>Task 2: Me and other people</vt:lpstr>
      <vt:lpstr>                    GROUP 3</vt:lpstr>
      <vt:lpstr>Task 1:Me and other people. </vt:lpstr>
      <vt:lpstr>Task 2: Me and other people Draw a picture of yourself and other people.</vt:lpstr>
      <vt:lpstr>                                   SENSES</vt:lpstr>
      <vt:lpstr>LESSON OBJECTIVES</vt:lpstr>
      <vt:lpstr>                               GROUP 1</vt:lpstr>
      <vt:lpstr>PowerPoint Presentation</vt:lpstr>
      <vt:lpstr>PowerPoint Presentation</vt:lpstr>
      <vt:lpstr>                            GROUP 2</vt:lpstr>
      <vt:lpstr>PowerPoint Presentation</vt:lpstr>
      <vt:lpstr>PowerPoint Presentation</vt:lpstr>
      <vt:lpstr>                            GROUP 3</vt:lpstr>
      <vt:lpstr>Task 1 Match and color. </vt:lpstr>
      <vt:lpstr>Task 2: .Complete the task below by placing an x to the correct block.   </vt:lpstr>
      <vt:lpstr>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 Skills Grade 2 Year 2</dc:title>
  <dc:creator>Khumbudzo Zelda Sigidi</dc:creator>
  <cp:lastModifiedBy>Student_PC</cp:lastModifiedBy>
  <cp:revision>168</cp:revision>
  <dcterms:created xsi:type="dcterms:W3CDTF">2024-06-12T11:42:00Z</dcterms:created>
  <dcterms:modified xsi:type="dcterms:W3CDTF">2024-07-18T07:25:45Z</dcterms:modified>
</cp:coreProperties>
</file>