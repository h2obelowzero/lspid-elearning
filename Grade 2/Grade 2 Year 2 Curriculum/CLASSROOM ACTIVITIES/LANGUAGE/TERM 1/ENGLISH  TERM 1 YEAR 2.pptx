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60" r:id="rId4"/>
    <p:sldId id="317" r:id="rId5"/>
    <p:sldId id="318" r:id="rId6"/>
    <p:sldId id="274" r:id="rId7"/>
    <p:sldId id="258" r:id="rId8"/>
    <p:sldId id="259" r:id="rId9"/>
    <p:sldId id="302" r:id="rId10"/>
    <p:sldId id="262" r:id="rId11"/>
    <p:sldId id="264" r:id="rId12"/>
    <p:sldId id="261" r:id="rId13"/>
    <p:sldId id="303" r:id="rId14"/>
    <p:sldId id="263" r:id="rId15"/>
    <p:sldId id="267" r:id="rId16"/>
    <p:sldId id="265" r:id="rId17"/>
    <p:sldId id="319" r:id="rId18"/>
    <p:sldId id="266" r:id="rId19"/>
    <p:sldId id="268" r:id="rId20"/>
    <p:sldId id="320" r:id="rId21"/>
    <p:sldId id="271" r:id="rId22"/>
    <p:sldId id="269" r:id="rId23"/>
    <p:sldId id="321" r:id="rId24"/>
    <p:sldId id="270" r:id="rId25"/>
    <p:sldId id="281" r:id="rId26"/>
    <p:sldId id="282" r:id="rId27"/>
    <p:sldId id="283" r:id="rId28"/>
    <p:sldId id="305" r:id="rId29"/>
    <p:sldId id="284" r:id="rId30"/>
    <p:sldId id="286" r:id="rId31"/>
    <p:sldId id="306" r:id="rId32"/>
    <p:sldId id="307" r:id="rId33"/>
    <p:sldId id="308" r:id="rId34"/>
    <p:sldId id="309" r:id="rId35"/>
    <p:sldId id="310" r:id="rId36"/>
    <p:sldId id="275" r:id="rId37"/>
    <p:sldId id="334" r:id="rId38"/>
    <p:sldId id="322" r:id="rId39"/>
    <p:sldId id="331" r:id="rId40"/>
    <p:sldId id="332" r:id="rId41"/>
    <p:sldId id="333" r:id="rId42"/>
    <p:sldId id="330" r:id="rId43"/>
    <p:sldId id="323" r:id="rId44"/>
    <p:sldId id="335" r:id="rId45"/>
    <p:sldId id="324" r:id="rId46"/>
    <p:sldId id="325" r:id="rId47"/>
    <p:sldId id="326" r:id="rId48"/>
    <p:sldId id="290" r:id="rId49"/>
    <p:sldId id="329" r:id="rId50"/>
    <p:sldId id="311" r:id="rId51"/>
    <p:sldId id="300" r:id="rId52"/>
    <p:sldId id="287" r:id="rId53"/>
    <p:sldId id="291" r:id="rId54"/>
    <p:sldId id="312" r:id="rId55"/>
    <p:sldId id="288" r:id="rId56"/>
    <p:sldId id="289" r:id="rId57"/>
    <p:sldId id="292" r:id="rId58"/>
    <p:sldId id="313" r:id="rId59"/>
    <p:sldId id="314" r:id="rId60"/>
    <p:sldId id="315" r:id="rId61"/>
    <p:sldId id="316" r:id="rId62"/>
    <p:sldId id="285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3131" autoAdjust="0"/>
  </p:normalViewPr>
  <p:slideViewPr>
    <p:cSldViewPr snapToGrid="0">
      <p:cViewPr varScale="1">
        <p:scale>
          <a:sx n="63" d="100"/>
          <a:sy n="63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5B54C-C41F-4074-BBD5-B3F10C0D8CA1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9C32F-CDE3-47E4-8B24-744C15757A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056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9C32F-CDE3-47E4-8B24-744C15757A9C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294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CF1D-86F1-422B-B7AB-5BF8C5F22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FB946-0E69-45D8-A978-B207D97B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5D28-C89D-40D2-B27A-11384F4E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66C22-E024-47CC-9456-DAEA9FA125B6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A795E-2FD1-4F5D-A309-CCC944EB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F24C-5917-446C-A6A3-6006A06A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93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DFA9-08BD-4208-8C11-E1D8B196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D100-CA05-4F9A-9153-A1955CCE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62CC-BF23-499E-8824-4F07AA30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1B4C-70E6-4B02-802A-1D1BAAD914F5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12C3-5292-4E19-BE03-3786F5FC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8AB5-59A2-4A00-A1A8-DBC91CF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242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7236-1AD0-4BF8-B71A-D8D7FC9D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B976-CB0B-4422-A558-15527BAF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E7C5-8F8E-493A-966C-4214B6C0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21CE-AA09-470C-A60E-88DB4848377D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DAB9-2F93-4414-A533-B330905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F017-E368-4AB8-B069-9D0E8BA9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02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0B5E-14B7-4042-B4CD-550C9AC1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FA4F-40D1-482D-9709-3BF239846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5399B-D72D-4542-BDA6-E6B6786AE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FA9AB-E3C8-4AA3-AA9C-81FCAABB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83CC-B15C-431D-9430-0F7EC02FA5D3}" type="datetime1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DD872-6795-4673-9498-0B4B6E1B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B4CA9-4B78-4809-A124-4C0009A7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884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AAD9-6050-45C0-A250-34CFEE1B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74741-86DE-40B7-9FEB-F2349B1E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098B-DAFC-4144-9649-8485E708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D2347-A66B-4CA2-976A-88ED3847A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11F04-C93D-4E2B-A926-2C871C2FA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43176-C0CB-4EB0-BF0F-30BF9BEC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E4EA3-F207-4F92-9D0C-2086238A9231}" type="datetime1">
              <a:rPr lang="en-ZA" smtClean="0"/>
              <a:t>2024/07/16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41841-51AC-4DD4-AC93-84A2332D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52B74-F226-48ED-BF8B-1AB80D1A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355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300D-F60C-4E49-9871-A29F99DC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371E4-7E73-4937-94B4-3DC9337B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8823-313B-43A5-A4F3-01C8E7BEB51B}" type="datetime1">
              <a:rPr lang="en-ZA" smtClean="0"/>
              <a:t>2024/07/16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CA04-5671-4C59-BF05-D70BF63F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45877-C08A-4BC4-86B8-5BA5281E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274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A2E10-1428-43D4-9F0A-5F8498D3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BD82-8AC3-4846-BFDC-FDD620499ACF}" type="datetime1">
              <a:rPr lang="en-ZA" smtClean="0"/>
              <a:t>2024/07/16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FE40D-0686-44FF-8468-7129157E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7473-04D8-412F-924D-9B2694A4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925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451D-2C7A-4B97-B5FE-8CD362F9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4925-C629-4195-A88E-8F04764A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BBACE-7FF5-4AC7-BB05-46BC6B5D8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A576B-8D8A-4E19-A88C-4D717D1B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C5F9-C295-4DB6-8F23-946C54A76EB5}" type="datetime1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F2D8-1480-4DC5-B047-1A1125C1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9BCE-1049-4A6B-8B1B-F0AA4D83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94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AD9D-D65F-4025-A312-BB6CCE6D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38695-924B-4E22-A09F-DEC2AC480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E1D12-6E02-40EA-B8DF-BFBD4DA52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65D81-723D-4AAE-A664-46A06B6A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EA82-FA1D-4D66-B429-2112ED018133}" type="datetime1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6A00-AEA5-4894-A614-0FC0BD87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48942-24D5-4894-A235-29CC8AAB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110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66AD-04D2-4545-BBA1-1D03CCA5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CC51F-9F35-45FC-AFC1-D58D3725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29D1-4FB2-4D84-9AE3-4F589BC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6384-DD36-481B-9082-88EB77272D85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E474-D23A-4CFD-94EB-25FBE4C3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8833-63C0-45DD-BCF7-541D03AC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33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11633-A422-41E2-BB41-52E35147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9728A-7F0D-4051-89D7-D8406C48A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F4F5D-244E-43CC-B889-92A09F37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F9D1-6C96-4017-B0AF-AFFA8B5F518B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9C064-9D3F-4DA5-9A9A-A570399E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28E0-E81D-4EB8-97C3-2327522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911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A255D-E155-4097-BCEE-D54E0778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82CF-FE64-4DE8-B3B6-9404FA7FA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53CB-8A17-45EB-B27D-A293F9E1A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66507-EADD-43D1-BD60-23CC440F4D56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F22B9-CA78-4AA5-B199-0411F58FB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4E0F1-F2BB-4D01-9BF9-C1EA36081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304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P_IbZSxhEs?list=PLVnXz38A6fR6Dqy-bFw61_i8lcUAJAnFr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HLbNvoX9pA?feature=oembed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2kQkc9UARc?feature=oembed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HwNIw6nHPg?feature=oembed" TargetMode="External"/><Relationship Id="rId5" Type="http://schemas.openxmlformats.org/officeDocument/2006/relationships/image" Target="../media/image30.jpeg"/><Relationship Id="rId4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nkl.co.za/" TargetMode="External"/><Relationship Id="rId2" Type="http://schemas.openxmlformats.org/officeDocument/2006/relationships/hyperlink" Target="http://www.k5learnin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http://www.pintere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ED64-549E-49ED-9CCF-A38842217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6807" y="167957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ZA" dirty="0">
                <a:latin typeface="Algerian" panose="04020705040A02060702" pitchFamily="82" charset="0"/>
              </a:rPr>
              <a:t>LANGUAGE</a:t>
            </a:r>
            <a:br>
              <a:rPr lang="en-ZA" dirty="0">
                <a:latin typeface="Algerian" panose="04020705040A02060702" pitchFamily="82" charset="0"/>
              </a:rPr>
            </a:br>
            <a:r>
              <a:rPr lang="en-ZA" dirty="0">
                <a:latin typeface="Algerian" panose="04020705040A02060702" pitchFamily="82" charset="0"/>
              </a:rPr>
              <a:t>GRADE 2</a:t>
            </a:r>
            <a:br>
              <a:rPr lang="en-ZA" dirty="0">
                <a:latin typeface="Algerian" panose="04020705040A02060702" pitchFamily="82" charset="0"/>
              </a:rPr>
            </a:br>
            <a:r>
              <a:rPr lang="en-ZA" dirty="0">
                <a:latin typeface="Algerian" panose="04020705040A02060702" pitchFamily="82" charset="0"/>
              </a:rPr>
              <a:t>YEAR 2</a:t>
            </a:r>
            <a:br>
              <a:rPr lang="en-ZA" dirty="0">
                <a:latin typeface="Algerian" panose="04020705040A02060702" pitchFamily="82" charset="0"/>
              </a:rPr>
            </a:br>
            <a:endParaRPr lang="en-ZA" dirty="0">
              <a:latin typeface="Algerian" panose="04020705040A02060702" pitchFamily="8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3D674-BA24-4A63-B632-814405E6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1" y="5807076"/>
            <a:ext cx="11056256" cy="914399"/>
          </a:xfrm>
        </p:spPr>
        <p:txBody>
          <a:bodyPr/>
          <a:lstStyle/>
          <a:p>
            <a:fld id="{18D86AF0-743D-4A14-AF96-E81FDEFCDC7E}" type="slidenum">
              <a:rPr lang="en-ZA" smtClean="0"/>
              <a:t>1</a:t>
            </a:fld>
            <a:endParaRPr lang="en-ZA" dirty="0"/>
          </a:p>
        </p:txBody>
      </p:sp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ED0E4C80-036B-4C9C-B377-38205E3C524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807" y="5897562"/>
            <a:ext cx="1009650" cy="733425"/>
          </a:xfrm>
          <a:prstGeom prst="rect">
            <a:avLst/>
          </a:prstGeom>
          <a:noFill/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8261055-4F60-443B-81EB-2B0EDCFB42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6" y="5807076"/>
            <a:ext cx="1152525" cy="823911"/>
          </a:xfrm>
          <a:prstGeom prst="rect">
            <a:avLst/>
          </a:prstGeom>
          <a:noFill/>
        </p:spPr>
      </p:pic>
      <p:pic>
        <p:nvPicPr>
          <p:cNvPr id="22532" name="Picture 4" descr="This may contain: three books stacked on top of each other with the words reading, spelling and writing">
            <a:extLst>
              <a:ext uri="{FF2B5EF4-FFF2-40B4-BE49-F238E27FC236}">
                <a16:creationId xmlns:a16="http://schemas.microsoft.com/office/drawing/2014/main" id="{2DB3F22C-EF82-4DFF-B7F9-091E18EC1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857" y="3429000"/>
            <a:ext cx="3151868" cy="281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50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7403-B05F-474C-9E87-A313894B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A23955B-D9B1-41D5-A325-478A7E2A0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612814"/>
              </p:ext>
            </p:extLst>
          </p:nvPr>
        </p:nvGraphicFramePr>
        <p:xfrm>
          <a:off x="838200" y="1843313"/>
          <a:ext cx="10515600" cy="405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402870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503175"/>
                    </a:ext>
                  </a:extLst>
                </a:gridCol>
              </a:tblGrid>
              <a:tr h="63890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246272"/>
                  </a:ext>
                </a:extLst>
              </a:tr>
              <a:tr h="1263097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1 - 3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 and my community (places and people)</a:t>
                      </a:r>
                      <a:endParaRPr lang="en-GB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441389"/>
                  </a:ext>
                </a:extLst>
              </a:tr>
              <a:tr h="874452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4 - 5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What do I need to live</a:t>
                      </a:r>
                      <a:endParaRPr lang="en-GB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42619"/>
                  </a:ext>
                </a:extLst>
              </a:tr>
              <a:tr h="63890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6 - 7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 and other people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507636"/>
                  </a:ext>
                </a:extLst>
              </a:tr>
              <a:tr h="63890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8 - 9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4226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E174B-8E33-48A6-A48A-33A025F0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171" y="5791200"/>
            <a:ext cx="10943771" cy="930275"/>
          </a:xfrm>
        </p:spPr>
        <p:txBody>
          <a:bodyPr/>
          <a:lstStyle/>
          <a:p>
            <a:fld id="{9DC6C3C8-958B-4510-B0FB-87EFE345857F}" type="slidenum">
              <a:rPr lang="en-ZA" smtClean="0"/>
              <a:t>2</a:t>
            </a:fld>
            <a:endParaRPr lang="en-ZA" dirty="0"/>
          </a:p>
        </p:txBody>
      </p:sp>
      <p:pic>
        <p:nvPicPr>
          <p:cNvPr id="10" name="Picture 9" descr="Nokuthula logo Freehand">
            <a:extLst>
              <a:ext uri="{FF2B5EF4-FFF2-40B4-BE49-F238E27FC236}">
                <a16:creationId xmlns:a16="http://schemas.microsoft.com/office/drawing/2014/main" id="{F7A3DF08-2A60-4F00-A406-CA910135E5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B81C5DD3-0C23-480A-9348-5E5A64A2884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214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1964-A01F-4249-9B39-6EDD429B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B119-9167-4945-8FF3-C68B54A31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1905" indent="0" algn="l">
              <a:lnSpc>
                <a:spcPct val="107000"/>
              </a:lnSpc>
              <a:spcAft>
                <a:spcPts val="570"/>
              </a:spcAft>
              <a:buNone/>
            </a:pPr>
            <a:r>
              <a:rPr lang="en-ZA" sz="1800" dirty="0">
                <a:solidFill>
                  <a:srgbClr val="000000"/>
                </a:solidFill>
                <a:effectLst/>
                <a:latin typeface="Symbol" panose="05050102010706020507" pitchFamily="18" charset="2"/>
                <a:ea typeface="Arial" panose="020B0604020202020204" pitchFamily="34" charset="0"/>
              </a:rPr>
              <a:t>    </a:t>
            </a: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LISTENING AND SPEAKING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Listen to short stories, simple songs and action rhymes 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visual and pictorial cues to make meaning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Follow more complex instructions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Compare and classify information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language for communication </a:t>
            </a:r>
          </a:p>
          <a:p>
            <a:pPr marL="0" indent="0">
              <a:buNone/>
            </a:pPr>
            <a:endParaRPr lang="en-ZA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7F75A-3CFC-4B31-8A6C-E843E1E1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18630"/>
            <a:ext cx="10515600" cy="1002846"/>
          </a:xfrm>
        </p:spPr>
        <p:txBody>
          <a:bodyPr/>
          <a:lstStyle/>
          <a:p>
            <a:fld id="{7287D671-00AA-406A-9B09-33F8B0666A01}" type="slidenum">
              <a:rPr lang="en-ZA" smtClean="0"/>
              <a:t>3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FCBB9787-3675-4D2E-A16D-2ED9163C771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6F50F86-2DA2-4B91-AB3A-9FF2A1B837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4518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301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EFA3-091D-449C-A67F-9069B528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8638"/>
            <a:ext cx="10515600" cy="5648325"/>
          </a:xfrm>
        </p:spPr>
        <p:txBody>
          <a:bodyPr/>
          <a:lstStyle/>
          <a:p>
            <a:pPr marL="0" marR="1905" indent="0" algn="l">
              <a:lnSpc>
                <a:spcPct val="107000"/>
              </a:lnSpc>
              <a:spcAft>
                <a:spcPts val="570"/>
              </a:spcAft>
              <a:buNone/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PHONOLOGICAL AWARENESS AND PHONICS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 auditory sequence and memory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auditory perception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auditory closure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auditory elimination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Recognise and use sight words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1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Identify the sounds that have been taught 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A71D6-B18C-41C9-A92A-CAD1E4BD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3672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E8F1-D342-45B9-8935-BBBA441F2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764"/>
            <a:ext cx="10515600" cy="5791200"/>
          </a:xfrm>
        </p:spPr>
        <p:txBody>
          <a:bodyPr/>
          <a:lstStyle/>
          <a:p>
            <a:pPr marL="6350" marR="1905" indent="-6350" algn="l">
              <a:lnSpc>
                <a:spcPct val="107000"/>
              </a:lnSpc>
              <a:spcAft>
                <a:spcPts val="575"/>
              </a:spcAft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EMERGENT READING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Sequence  pictures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53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 basic concepts of print 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“Read”  aloud </a:t>
            </a:r>
          </a:p>
          <a:p>
            <a:pPr marL="6350" marR="1905" indent="-6350" algn="l">
              <a:lnSpc>
                <a:spcPct val="107000"/>
              </a:lnSpc>
              <a:spcAft>
                <a:spcPts val="680"/>
              </a:spcAft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SHARED READING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“Read”  picture books, rhymes, big books, posters with the teacher</a:t>
            </a:r>
            <a:r>
              <a:rPr lang="en-ZA" sz="18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ZA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Respond creatively to stories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Draw pictures capturing main idea of the stories </a:t>
            </a:r>
          </a:p>
          <a:p>
            <a:pPr marL="6350" marR="1905" indent="-6350" algn="l">
              <a:lnSpc>
                <a:spcPct val="107000"/>
              </a:lnSpc>
              <a:spcAft>
                <a:spcPts val="730"/>
              </a:spcAft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INDEPENDENT READING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130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“Read”  independently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endParaRPr lang="en-ZA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2B7E0-7A74-45C8-BF68-80087049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196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DFA6-441E-4427-B26E-270E6E656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1 &amp; 2 </a:t>
            </a:r>
            <a:b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15095-E291-4069-A22A-C00C0DC33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b="1" dirty="0"/>
          </a:p>
          <a:p>
            <a:endParaRPr lang="en-Z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F5FBB-8E18-453B-BBA0-08CFFFE1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315" y="5573486"/>
            <a:ext cx="11335656" cy="1147989"/>
          </a:xfrm>
        </p:spPr>
        <p:txBody>
          <a:bodyPr/>
          <a:lstStyle/>
          <a:p>
            <a:fld id="{D84E4103-5636-4989-BD21-38036635CA93}" type="slidenum">
              <a:rPr lang="en-ZA" smtClean="0"/>
              <a:t>6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D95CD89D-A908-4096-9901-D590316843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735637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77CB91E2-6954-4FB0-B27D-8C21BAC8AF3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780767"/>
            <a:ext cx="1009650" cy="73342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C673C2-38E7-4B1D-8CFD-C77A531B5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5" y="3129153"/>
            <a:ext cx="4601606" cy="69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2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DB2-F410-41E7-A78E-FCD2E51B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ME AND MY COMMUNITY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4A688-E324-4871-BD09-1F2D4EA1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29" y="5762171"/>
            <a:ext cx="10715171" cy="1095829"/>
          </a:xfrm>
        </p:spPr>
        <p:txBody>
          <a:bodyPr/>
          <a:lstStyle/>
          <a:p>
            <a:fld id="{40C24BD2-1B75-4659-9115-783B024422F5}" type="slidenum">
              <a:rPr lang="en-ZA" smtClean="0"/>
              <a:t>7</a:t>
            </a:fld>
            <a:endParaRPr lang="en-ZA" dirty="0"/>
          </a:p>
        </p:txBody>
      </p:sp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044E67F2-4D05-4A3D-B2BD-6805E3297D7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4" name="Picture 23" descr="New GDE logo">
            <a:extLst>
              <a:ext uri="{FF2B5EF4-FFF2-40B4-BE49-F238E27FC236}">
                <a16:creationId xmlns:a16="http://schemas.microsoft.com/office/drawing/2014/main" id="{75DB53FF-FA87-4439-8CBD-7A30DF02CD8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Online Media 5" title="What is a Community? - Community for Kindergarten | Social Studies for Kindergarten | Kids Academy">
            <a:hlinkClick r:id="" action="ppaction://media"/>
            <a:extLst>
              <a:ext uri="{FF2B5EF4-FFF2-40B4-BE49-F238E27FC236}">
                <a16:creationId xmlns:a16="http://schemas.microsoft.com/office/drawing/2014/main" id="{190173A1-55DF-4897-A590-3CEBB22E3DA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7F65-2285-4620-BA7F-C38CEC26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83"/>
            <a:ext cx="10515600" cy="1013732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A3AA0-6C8D-476B-A8BC-F8F2A5397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learner must be able to: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Acknowledge that he/she is part of a community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 the roles, rules and responsibilities in the community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Discuss ways how the community can work together to make it a nice place to live 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 how to assist people in the community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their name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00102-1E64-4517-BE5E-6DB4144F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92800"/>
            <a:ext cx="10947400" cy="828675"/>
          </a:xfrm>
        </p:spPr>
        <p:txBody>
          <a:bodyPr/>
          <a:lstStyle/>
          <a:p>
            <a:fld id="{61777DBD-C39A-44EC-8ED1-0FEAAFC39734}" type="slidenum">
              <a:rPr lang="en-ZA" smtClean="0"/>
              <a:t>8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0007D398-7514-44B6-A718-9B50029B7B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06A77572-704E-4BB5-A9EC-8A089AF18AF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897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B625-4F06-44A3-82D2-60743536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 </a:t>
            </a:r>
            <a:r>
              <a:rPr lang="en-ZA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A2D8B-94AF-440F-8CF9-BA5C6D23E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C5480AE-2F88-45D9-B317-A950E8C04C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949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113E-CF33-459F-BE8B-E6F58BD1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  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595C-1116-4F4B-9495-A841A012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492"/>
            <a:ext cx="10515600" cy="5813471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</a:t>
            </a:r>
            <a:r>
              <a:rPr lang="en-ZA" sz="24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Colour the picture below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9564E-FBBC-48AA-897C-7CF5D637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4562" y="5986418"/>
            <a:ext cx="10739437" cy="735058"/>
          </a:xfrm>
        </p:spPr>
        <p:txBody>
          <a:bodyPr/>
          <a:lstStyle/>
          <a:p>
            <a:fld id="{0B0641A7-CE6A-4E71-8BCD-5AD6C2D1182A}" type="slidenum">
              <a:rPr lang="en-ZA" smtClean="0"/>
              <a:t>10</a:t>
            </a:fld>
            <a:endParaRPr lang="en-ZA" dirty="0"/>
          </a:p>
        </p:txBody>
      </p:sp>
      <p:pic>
        <p:nvPicPr>
          <p:cNvPr id="22" name="Picture 21" descr="New GDE logo">
            <a:extLst>
              <a:ext uri="{FF2B5EF4-FFF2-40B4-BE49-F238E27FC236}">
                <a16:creationId xmlns:a16="http://schemas.microsoft.com/office/drawing/2014/main" id="{A5578CBF-7503-4DA0-9F6E-335F3A7C08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2" y="5941991"/>
            <a:ext cx="1152525" cy="823911"/>
          </a:xfrm>
          <a:prstGeom prst="rect">
            <a:avLst/>
          </a:prstGeom>
          <a:noFill/>
        </p:spPr>
      </p:pic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D12F8AE5-B255-40EA-AB3C-6094EDCDB76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349" y="5986418"/>
            <a:ext cx="1009650" cy="733425"/>
          </a:xfrm>
          <a:prstGeom prst="rect">
            <a:avLst/>
          </a:prstGeom>
          <a:noFill/>
        </p:spPr>
      </p:pic>
      <p:pic>
        <p:nvPicPr>
          <p:cNvPr id="23554" name="Picture 2" descr="This may contain: the community helpers coloring page is shown in black and white, with four children wearing uniforms">
            <a:extLst>
              <a:ext uri="{FF2B5EF4-FFF2-40B4-BE49-F238E27FC236}">
                <a16:creationId xmlns:a16="http://schemas.microsoft.com/office/drawing/2014/main" id="{F403DE4D-7E85-4DC0-839E-B5E0B7414A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" t="2978" r="5932" b="10031"/>
          <a:stretch/>
        </p:blipFill>
        <p:spPr bwMode="auto">
          <a:xfrm>
            <a:off x="3943350" y="1030513"/>
            <a:ext cx="5057775" cy="478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91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E6B0-243F-4344-BC84-35C801FF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225978" cy="737961"/>
          </a:xfrm>
        </p:spPr>
        <p:txBody>
          <a:bodyPr>
            <a:normAutofit fontScale="90000"/>
          </a:bodyPr>
          <a:lstStyle/>
          <a:p>
            <a:pPr algn="ctr"/>
            <a:r>
              <a:rPr lang="en-ZA" sz="2800" dirty="0">
                <a:latin typeface="Arial" panose="020B0604020202020204" pitchFamily="34" charset="0"/>
                <a:cs typeface="Arial" panose="020B0604020202020204" pitchFamily="34" charset="0"/>
              </a:rPr>
              <a:t>Task 2:Colour in the picture</a:t>
            </a:r>
            <a:br>
              <a:rPr lang="en-ZA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52391-6418-42F3-887F-9C6CFA4C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27064"/>
            <a:ext cx="10686144" cy="994411"/>
          </a:xfrm>
        </p:spPr>
        <p:txBody>
          <a:bodyPr/>
          <a:lstStyle/>
          <a:p>
            <a:fld id="{D2F4EE7F-D334-47E2-AD56-9E45F746ED39}" type="slidenum">
              <a:rPr lang="en-ZA" smtClean="0"/>
              <a:t>11</a:t>
            </a:fld>
            <a:endParaRPr lang="en-ZA" dirty="0"/>
          </a:p>
        </p:txBody>
      </p:sp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2CADA526-E748-4ED3-AC4D-26E02959CD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63D8FAFD-4F71-4CF0-8FB8-C35B810D08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4578" name="Picture 2" descr="This may contain: the doctor coloring page for children with an image of a cartoon character in black and white">
            <a:extLst>
              <a:ext uri="{FF2B5EF4-FFF2-40B4-BE49-F238E27FC236}">
                <a16:creationId xmlns:a16="http://schemas.microsoft.com/office/drawing/2014/main" id="{7B2842B4-1AFB-4549-8A29-B2B2BC39E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9910" r="12418" b="12162"/>
          <a:stretch/>
        </p:blipFill>
        <p:spPr bwMode="auto">
          <a:xfrm>
            <a:off x="3986213" y="1023073"/>
            <a:ext cx="4857750" cy="470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90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821A-37C5-47DA-8E87-58871200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ZA" sz="3200" b="1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76E00-E7AA-44C0-9570-C89B5E1B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47658"/>
            <a:ext cx="10515600" cy="973818"/>
          </a:xfrm>
        </p:spPr>
        <p:txBody>
          <a:bodyPr/>
          <a:lstStyle/>
          <a:p>
            <a:fld id="{A48A9EB8-31C7-43A4-A567-E063F0A09927}" type="slidenum">
              <a:rPr lang="en-ZA" smtClean="0"/>
              <a:t>12</a:t>
            </a:fld>
            <a:endParaRPr lang="en-Z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272064-09CC-435C-8143-1B4F2F411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365125"/>
            <a:ext cx="10515600" cy="612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000" b="1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 2: Colour in the community vehicles </a:t>
            </a:r>
            <a:endParaRPr lang="en-ZA" sz="2000" b="1" kern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New GDE logo">
            <a:extLst>
              <a:ext uri="{FF2B5EF4-FFF2-40B4-BE49-F238E27FC236}">
                <a16:creationId xmlns:a16="http://schemas.microsoft.com/office/drawing/2014/main" id="{382CA0AE-8FF2-44B1-9309-BE589CBBE9E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9" name="Picture 18" descr="Nokuthula logo Freehand">
            <a:extLst>
              <a:ext uri="{FF2B5EF4-FFF2-40B4-BE49-F238E27FC236}">
                <a16:creationId xmlns:a16="http://schemas.microsoft.com/office/drawing/2014/main" id="{E751A8B1-7B37-4270-9263-E5085FCD02C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5602" name="Picture 2">
            <a:extLst>
              <a:ext uri="{FF2B5EF4-FFF2-40B4-BE49-F238E27FC236}">
                <a16:creationId xmlns:a16="http://schemas.microsoft.com/office/drawing/2014/main" id="{6FC26E87-0AE9-403B-A3C5-8106DE6E8F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" t="27654" r="5813" b="3222"/>
          <a:stretch/>
        </p:blipFill>
        <p:spPr bwMode="auto">
          <a:xfrm>
            <a:off x="3100387" y="1042988"/>
            <a:ext cx="5672137" cy="485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95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E06F-2BF9-42EC-AB79-6C7577E2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                   GROUP 2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07C43-80A9-4C5D-A765-B1D8BADE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F4DD206-A29F-44BF-BC22-CD5C56F4C5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500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301-9EB6-4B2E-86EC-3D3EFAD6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0532"/>
          </a:xfrm>
        </p:spPr>
        <p:txBody>
          <a:bodyPr>
            <a:normAutofit fontScale="90000"/>
          </a:bodyPr>
          <a:lstStyle/>
          <a:p>
            <a:pPr algn="ctr"/>
            <a:r>
              <a:rPr lang="en-ZA" sz="2400" dirty="0"/>
              <a:t>Task 1: Write down the names of each community helper </a:t>
            </a:r>
            <a:br>
              <a:rPr lang="en-ZA" sz="2400" dirty="0"/>
            </a:b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11CC4-9F70-494C-AABA-D2140FF1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086" y="5682342"/>
            <a:ext cx="11190514" cy="1039133"/>
          </a:xfrm>
        </p:spPr>
        <p:txBody>
          <a:bodyPr/>
          <a:lstStyle/>
          <a:p>
            <a:fld id="{73FD08A1-CC3A-4331-86E7-66C4B503BA30}" type="slidenum">
              <a:rPr lang="en-ZA" smtClean="0"/>
              <a:t>14</a:t>
            </a:fld>
            <a:endParaRPr lang="en-ZA" dirty="0"/>
          </a:p>
        </p:txBody>
      </p:sp>
      <p:pic>
        <p:nvPicPr>
          <p:cNvPr id="33" name="Picture 32" descr="New GDE logo">
            <a:extLst>
              <a:ext uri="{FF2B5EF4-FFF2-40B4-BE49-F238E27FC236}">
                <a16:creationId xmlns:a16="http://schemas.microsoft.com/office/drawing/2014/main" id="{1A0E8022-83B7-42A4-AD38-C3FA31CCB5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34" name="Picture 33" descr="Nokuthula logo Freehand">
            <a:extLst>
              <a:ext uri="{FF2B5EF4-FFF2-40B4-BE49-F238E27FC236}">
                <a16:creationId xmlns:a16="http://schemas.microsoft.com/office/drawing/2014/main" id="{8BFEC68C-4BB3-4BB1-88BD-02E4CA6CF1E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6991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EC91-46BD-483A-9A38-6BB558EA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263"/>
            <a:ext cx="10515600" cy="636360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5EF1-096B-47E9-9EDF-934B0B0BE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87"/>
            <a:ext cx="10515600" cy="6034715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2: </a:t>
            </a:r>
            <a:r>
              <a:rPr lang="en-ZA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Cut and paste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community helpers</a:t>
            </a:r>
            <a:r>
              <a:rPr lang="en-ZA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order</a:t>
            </a: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9143A-CB19-4547-81A2-122AFF30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602" y="5799930"/>
            <a:ext cx="10109198" cy="846561"/>
          </a:xfrm>
        </p:spPr>
        <p:txBody>
          <a:bodyPr/>
          <a:lstStyle/>
          <a:p>
            <a:fld id="{C4732FE8-2667-496B-BD48-20AF2C2785DE}" type="slidenum">
              <a:rPr lang="en-ZA" smtClean="0"/>
              <a:t>15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E8C5E1BC-71F5-447E-A5A2-27DB18EF3F8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33055E6E-C1E1-4233-949B-9E8FAA0E754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13067"/>
            <a:ext cx="1009650" cy="733425"/>
          </a:xfrm>
          <a:prstGeom prst="rect">
            <a:avLst/>
          </a:prstGeom>
          <a:noFill/>
        </p:spPr>
      </p:pic>
      <p:pic>
        <p:nvPicPr>
          <p:cNvPr id="27656" name="Picture 8" descr="Set of Community Helper worksheets by Porta'sProducts | TpT">
            <a:extLst>
              <a:ext uri="{FF2B5EF4-FFF2-40B4-BE49-F238E27FC236}">
                <a16:creationId xmlns:a16="http://schemas.microsoft.com/office/drawing/2014/main" id="{807C2F3C-ADEA-4AA9-AA7F-B6999AA1D4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8" b="8476"/>
          <a:stretch/>
        </p:blipFill>
        <p:spPr bwMode="auto">
          <a:xfrm>
            <a:off x="3028951" y="723898"/>
            <a:ext cx="6543674" cy="507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13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B978-3762-498C-AB90-52281641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15030"/>
          </a:xfrm>
        </p:spPr>
        <p:txBody>
          <a:bodyPr>
            <a:no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C351-3746-4D15-8F61-243D8F58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57"/>
            <a:ext cx="10515600" cy="529680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3: </a:t>
            </a: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following pictures with the correct place and write 1 sentence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E7C5-1291-42EB-8A3C-A7A420F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977843"/>
            <a:ext cx="10642600" cy="743633"/>
          </a:xfrm>
        </p:spPr>
        <p:txBody>
          <a:bodyPr/>
          <a:lstStyle/>
          <a:p>
            <a:fld id="{5F8A2FD7-9076-4565-A02F-4FFBC1377DBE}" type="slidenum">
              <a:rPr lang="en-ZA" smtClean="0"/>
              <a:t>16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24EB61F-F951-4D33-8AAC-9E572CABC7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09522211-6EB8-482B-8084-AF10B63C9A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71609"/>
            <a:ext cx="1009650" cy="733425"/>
          </a:xfrm>
          <a:prstGeom prst="rect">
            <a:avLst/>
          </a:prstGeom>
          <a:noFill/>
        </p:spPr>
      </p:pic>
      <p:pic>
        <p:nvPicPr>
          <p:cNvPr id="3074" name="Picture 2" descr="This may contain: an english worksheet with pictures and words to describe the places that are located in this">
            <a:extLst>
              <a:ext uri="{FF2B5EF4-FFF2-40B4-BE49-F238E27FC236}">
                <a16:creationId xmlns:a16="http://schemas.microsoft.com/office/drawing/2014/main" id="{33F6A2C1-BAA5-4111-B59C-86F1F0464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9"/>
          <a:stretch/>
        </p:blipFill>
        <p:spPr bwMode="auto">
          <a:xfrm>
            <a:off x="3400426" y="1395188"/>
            <a:ext cx="5886450" cy="478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377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D855-3511-4E7C-BECF-D01C2137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</a:t>
            </a:r>
            <a:r>
              <a:rPr lang="en-ZA" sz="4800" dirty="0">
                <a:latin typeface="Algerian" panose="04020705040A02060702" pitchFamily="82" charset="0"/>
              </a:rPr>
              <a:t>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8BD8B-5E5F-46AF-98B8-C93B26D6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2A91A7A-83AC-42E7-88F8-A6822D6ADE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544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508B-8B9E-4BAF-9D2B-31C0D7B4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265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ZA" sz="2700" dirty="0">
                <a:latin typeface="Arial" panose="020B0604020202020204" pitchFamily="34" charset="0"/>
                <a:cs typeface="Arial" panose="020B0604020202020204" pitchFamily="34" charset="0"/>
              </a:rPr>
              <a:t>Task 1: Trace the name of each community helper .</a:t>
            </a:r>
            <a:r>
              <a:rPr lang="en-ZA" sz="27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	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DF1CF-8AD8-4B8F-A661-ED7705E6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67"/>
            <a:ext cx="10642600" cy="919502"/>
          </a:xfrm>
        </p:spPr>
        <p:txBody>
          <a:bodyPr/>
          <a:lstStyle/>
          <a:p>
            <a:fld id="{7BAB846A-8439-433E-BDC7-87DEE9A84108}" type="slidenum">
              <a:rPr lang="en-ZA" smtClean="0"/>
              <a:t>18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38C5A17F-8BD0-43B9-ADDD-9FF101CA90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37367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F557A9E-02E5-4258-ABA1-15193B054B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28676" name="Picture 4">
            <a:extLst>
              <a:ext uri="{FF2B5EF4-FFF2-40B4-BE49-F238E27FC236}">
                <a16:creationId xmlns:a16="http://schemas.microsoft.com/office/drawing/2014/main" id="{EEE6FC52-30EA-41CD-A811-F7D7D72C53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0" t="15505" r="5302" b="2746"/>
          <a:stretch/>
        </p:blipFill>
        <p:spPr bwMode="auto">
          <a:xfrm>
            <a:off x="3330575" y="1002169"/>
            <a:ext cx="5657850" cy="505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972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58E8-6C94-4751-816B-8F7A62FB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2: Match each community helper with the correct picture.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191FF-FAFE-45E8-A8F7-0A02EBFC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8188" y="6036008"/>
            <a:ext cx="10615612" cy="747910"/>
          </a:xfrm>
        </p:spPr>
        <p:txBody>
          <a:bodyPr/>
          <a:lstStyle/>
          <a:p>
            <a:fld id="{D1505E39-761D-4DEC-B6AF-668791C0DBCB}" type="slidenum">
              <a:rPr lang="en-ZA" smtClean="0"/>
              <a:t>19</a:t>
            </a:fld>
            <a:endParaRPr lang="en-ZA" dirty="0"/>
          </a:p>
        </p:txBody>
      </p:sp>
      <p:pic>
        <p:nvPicPr>
          <p:cNvPr id="14" name="Picture 13" descr="New GDE logo">
            <a:extLst>
              <a:ext uri="{FF2B5EF4-FFF2-40B4-BE49-F238E27FC236}">
                <a16:creationId xmlns:a16="http://schemas.microsoft.com/office/drawing/2014/main" id="{5C5658C4-BBF1-46E5-95C1-42CCD3D851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960461"/>
            <a:ext cx="1152525" cy="830651"/>
          </a:xfrm>
          <a:prstGeom prst="rect">
            <a:avLst/>
          </a:prstGeom>
          <a:noFill/>
        </p:spPr>
      </p:pic>
      <p:pic>
        <p:nvPicPr>
          <p:cNvPr id="15" name="Picture 14" descr="Nokuthula logo Freehand">
            <a:extLst>
              <a:ext uri="{FF2B5EF4-FFF2-40B4-BE49-F238E27FC236}">
                <a16:creationId xmlns:a16="http://schemas.microsoft.com/office/drawing/2014/main" id="{11C14C97-15F9-4571-955D-262AF6AF3AE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29700" name="Picture 4" descr="Community Helper Lesson, Community Helpers Kindergarten, Community ...">
            <a:extLst>
              <a:ext uri="{FF2B5EF4-FFF2-40B4-BE49-F238E27FC236}">
                <a16:creationId xmlns:a16="http://schemas.microsoft.com/office/drawing/2014/main" id="{72101388-6078-44C7-8B5A-B5FBD83D95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41" b="6167"/>
          <a:stretch/>
        </p:blipFill>
        <p:spPr bwMode="auto">
          <a:xfrm>
            <a:off x="3200400" y="1265720"/>
            <a:ext cx="5972175" cy="469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020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A1D8-564E-4FD5-80FC-0D78DD2B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ZA" sz="2800" dirty="0"/>
              <a:t>Task 3: Write a sentence using the following words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27F25-00C8-4AAC-AF1A-CA3617B1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30722" name="Picture 2" descr="Image result for me and my community helpers work activity">
            <a:extLst>
              <a:ext uri="{FF2B5EF4-FFF2-40B4-BE49-F238E27FC236}">
                <a16:creationId xmlns:a16="http://schemas.microsoft.com/office/drawing/2014/main" id="{EC4E3FC9-9D15-4B63-A9AF-D22F243988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1007268"/>
            <a:ext cx="5572126" cy="48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38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1AE-AA32-4355-86B9-49F785D97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3 &amp; 4</a:t>
            </a:r>
            <a:b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what do l need to live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2FA0B-A3A5-48E4-8AE4-293415F7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771" y="5735638"/>
            <a:ext cx="10537371" cy="985838"/>
          </a:xfrm>
        </p:spPr>
        <p:txBody>
          <a:bodyPr/>
          <a:lstStyle/>
          <a:p>
            <a:fld id="{BB747520-444E-42E4-AC52-8C6410DEDE35}" type="slidenum">
              <a:rPr lang="en-ZA" smtClean="0"/>
              <a:t>21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80924DA-FD28-446B-9FE4-AA955AC97C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" y="5813231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82BA9061-93CF-4887-B3E9-EAD45932E9A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492" y="5813231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745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0B2D-1364-491A-BEC1-FAD1A27C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04888"/>
          </a:xfrm>
        </p:spPr>
        <p:txBody>
          <a:bodyPr>
            <a:normAutofit fontScale="90000"/>
          </a:bodyPr>
          <a:lstStyle/>
          <a:p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WHAT DO I NEED TO LIVE</a:t>
            </a: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F2F5-F106-47D0-9AD6-616078CB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072642"/>
            <a:ext cx="10395856" cy="648834"/>
          </a:xfrm>
        </p:spPr>
        <p:txBody>
          <a:bodyPr/>
          <a:lstStyle/>
          <a:p>
            <a:fld id="{8235136C-AF8F-444E-9D22-AC52AD20D29D}" type="slidenum">
              <a:rPr lang="en-ZA" smtClean="0"/>
              <a:t>22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A3F15F97-2F04-4EA6-92A2-8B1C7FD1BF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91D236D-AB71-4505-AFBC-355F38E9DCE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9" name="Online Media 8" title="Needs of Living Things | Basic Needs of Living Things | What do Living Things Need?">
            <a:hlinkClick r:id="" action="ppaction://media"/>
            <a:extLst>
              <a:ext uri="{FF2B5EF4-FFF2-40B4-BE49-F238E27FC236}">
                <a16:creationId xmlns:a16="http://schemas.microsoft.com/office/drawing/2014/main" id="{72A90560-58C8-4ABA-B712-2A35A681E1D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28850" y="1825625"/>
            <a:ext cx="77358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3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0FF9-DF29-4486-9C9A-BC8592DE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0EFD1-2A2A-4679-B432-27EF0FA77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 the importance of keeping the body healthy in order to live.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Eating healthy and the importance of exercising to keep the body healthy and fit.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Water, why we need water, sources of water. 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Air, Clean air. Sunlight- include protection from the sun. 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Vocabulary words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9693C-FF09-4C86-B922-DE2B2FFF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8565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29C-1F3E-47E5-A5AA-5E6FE83B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Autofit/>
          </a:bodyPr>
          <a:lstStyle/>
          <a:p>
            <a:pPr algn="ctr"/>
            <a:r>
              <a:rPr lang="en-ZA" sz="5400" b="1" dirty="0">
                <a:latin typeface="Algerian" panose="04020705040A02060702" pitchFamily="82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E8761-8073-4A7F-A1A6-46324997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657" y="5849258"/>
            <a:ext cx="10686143" cy="872218"/>
          </a:xfrm>
        </p:spPr>
        <p:txBody>
          <a:bodyPr/>
          <a:lstStyle/>
          <a:p>
            <a:fld id="{E7694E06-7945-4B3F-8665-AD0128BEE64D}" type="slidenum">
              <a:rPr lang="en-ZA" smtClean="0"/>
              <a:t>24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E3D08E0-72FE-4E91-87A8-FE0C5DF568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B2CEF4B0-F289-412F-8574-367679BB1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CE4683B4-BE78-42FF-8EC9-7009318A87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935" y="1131888"/>
            <a:ext cx="5036129" cy="504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643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569A-8B14-49B2-AA01-FB989DDF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388"/>
          </a:xfrm>
        </p:spPr>
        <p:txBody>
          <a:bodyPr>
            <a:normAutofit/>
          </a:bodyPr>
          <a:lstStyle/>
          <a:p>
            <a:pPr algn="ctr"/>
            <a:r>
              <a:rPr lang="en-ZA" sz="2400" dirty="0"/>
              <a:t>Task 1: Colour only and trace things that we need to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1155-6ADB-430E-90D8-52F0E812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75398" y="1392612"/>
            <a:ext cx="13532097" cy="5978393"/>
          </a:xfrm>
        </p:spPr>
        <p:txBody>
          <a:bodyPr/>
          <a:lstStyle/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99C2C-5384-46DB-907E-18394273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50"/>
            <a:ext cx="10496298" cy="784126"/>
          </a:xfrm>
        </p:spPr>
        <p:txBody>
          <a:bodyPr/>
          <a:lstStyle/>
          <a:p>
            <a:fld id="{FF85F0C0-9731-46D2-B2A7-3D188241C94C}" type="slidenum">
              <a:rPr lang="en-ZA" smtClean="0"/>
              <a:t>25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49D682B-316A-4B99-9651-72389F4A72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3426CD3-6ADC-460F-B546-4A2EC7471D5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32770" name="Picture 2" descr="See related image detail. Needs of Living Things Science Worksheet | worksheets | Momsheets.net">
            <a:extLst>
              <a:ext uri="{FF2B5EF4-FFF2-40B4-BE49-F238E27FC236}">
                <a16:creationId xmlns:a16="http://schemas.microsoft.com/office/drawing/2014/main" id="{14B3639F-B1CE-4E39-9C36-DA46835ED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0" t="32412" r="9188" b="6702"/>
          <a:stretch/>
        </p:blipFill>
        <p:spPr bwMode="auto">
          <a:xfrm>
            <a:off x="3529013" y="1171576"/>
            <a:ext cx="577215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221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8E69D-7BE9-4F6B-91EF-04E8560F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57D5C-0D88-4640-84DB-D60ECE45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175"/>
            <a:ext cx="10515600" cy="5963331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            Task 2: 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Colour </a:t>
            </a:r>
            <a:r>
              <a:rPr lang="en-ZA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 the things that we need to live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7170" name="Picture 2" descr="Story pin image">
            <a:extLst>
              <a:ext uri="{FF2B5EF4-FFF2-40B4-BE49-F238E27FC236}">
                <a16:creationId xmlns:a16="http://schemas.microsoft.com/office/drawing/2014/main" id="{BF50093B-E8E8-44D1-82A6-2006D5194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72"/>
          <a:stretch/>
        </p:blipFill>
        <p:spPr bwMode="auto">
          <a:xfrm>
            <a:off x="3024187" y="1183141"/>
            <a:ext cx="5772149" cy="503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228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9E76B-414D-46DF-BF76-FEB606B6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02"/>
            <a:ext cx="10515600" cy="5876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          Task 3:</a:t>
            </a:r>
            <a:r>
              <a:rPr lang="en-ZA" sz="2400" kern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Study the picture below, and say what we need to live.</a:t>
            </a:r>
            <a:endParaRPr lang="en-ZA" sz="2400" kern="1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C0D35-2EF9-43AD-9FA9-E03A389D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7943" y="5959085"/>
            <a:ext cx="10395857" cy="762391"/>
          </a:xfrm>
        </p:spPr>
        <p:txBody>
          <a:bodyPr/>
          <a:lstStyle/>
          <a:p>
            <a:fld id="{0B7AFEAE-B949-4D6E-B42B-C9BB4A9BCF60}" type="slidenum">
              <a:rPr lang="en-ZA" smtClean="0"/>
              <a:t>27</a:t>
            </a:fld>
            <a:endParaRPr lang="en-ZA" dirty="0"/>
          </a:p>
        </p:txBody>
      </p:sp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F8DDBC0-1AF7-4128-9C63-062189B8181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4" name="Picture 13" descr="Nokuthula logo Freehand">
            <a:extLst>
              <a:ext uri="{FF2B5EF4-FFF2-40B4-BE49-F238E27FC236}">
                <a16:creationId xmlns:a16="http://schemas.microsoft.com/office/drawing/2014/main" id="{1ED528D2-DD0F-45A2-9E62-FF85A5085D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8194" name="Picture 2" descr="This may contain: what is the living thing's needs? worksheet for kids and adults">
            <a:extLst>
              <a:ext uri="{FF2B5EF4-FFF2-40B4-BE49-F238E27FC236}">
                <a16:creationId xmlns:a16="http://schemas.microsoft.com/office/drawing/2014/main" id="{91773394-CAAD-4618-A819-FE67CDD40D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4" t="13686" r="3045" b="3989"/>
          <a:stretch/>
        </p:blipFill>
        <p:spPr bwMode="auto">
          <a:xfrm>
            <a:off x="3157538" y="819749"/>
            <a:ext cx="5829300" cy="506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510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4020-FE33-4806-A9F8-C8A2C587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</a:t>
            </a:r>
            <a:r>
              <a:rPr lang="en-ZA" dirty="0">
                <a:latin typeface="Algerian" panose="04020705040A02060702" pitchFamily="82" charset="0"/>
              </a:rPr>
              <a:t>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9C476-275C-4EBA-A449-46D936CA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6776937-DB3B-40E3-AB05-561B943590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506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EA6E-0651-48A7-9C88-1B118152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69"/>
            <a:ext cx="10515600" cy="737961"/>
          </a:xfrm>
        </p:spPr>
        <p:txBody>
          <a:bodyPr>
            <a:normAutofit fontScale="90000"/>
          </a:bodyPr>
          <a:lstStyle/>
          <a:p>
            <a:r>
              <a:rPr lang="en-ZA" sz="2800" dirty="0">
                <a:latin typeface="Arial" panose="020B0604020202020204" pitchFamily="34" charset="0"/>
                <a:cs typeface="Arial" panose="020B0604020202020204" pitchFamily="34" charset="0"/>
              </a:rPr>
              <a:t>Task 1: Choose the correct answer to tell the objects we need to live and the ones we don’t need.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1342A-3D15-45F2-B581-02EBD5FC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714" y="5892800"/>
            <a:ext cx="10515600" cy="828675"/>
          </a:xfrm>
        </p:spPr>
        <p:txBody>
          <a:bodyPr/>
          <a:lstStyle/>
          <a:p>
            <a:fld id="{0840B9F2-6879-403E-836D-8F158F3A229B}" type="slidenum">
              <a:rPr lang="en-ZA" smtClean="0"/>
              <a:t>29</a:t>
            </a:fld>
            <a:endParaRPr lang="en-ZA" dirty="0"/>
          </a:p>
        </p:txBody>
      </p:sp>
      <p:pic>
        <p:nvPicPr>
          <p:cNvPr id="10" name="Picture 9" descr="New GDE logo">
            <a:extLst>
              <a:ext uri="{FF2B5EF4-FFF2-40B4-BE49-F238E27FC236}">
                <a16:creationId xmlns:a16="http://schemas.microsoft.com/office/drawing/2014/main" id="{4C9C24D4-6FBA-4F90-BB91-3085AFAA7C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1" name="Picture 10" descr="Nokuthula logo Freehand">
            <a:extLst>
              <a:ext uri="{FF2B5EF4-FFF2-40B4-BE49-F238E27FC236}">
                <a16:creationId xmlns:a16="http://schemas.microsoft.com/office/drawing/2014/main" id="{001B37E0-0A41-46C2-A45C-6A10E7A0E60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9218" name="Picture 2" descr="This may contain: basic needs of living things worksheet with pictures to help students understand what they are doing">
            <a:extLst>
              <a:ext uri="{FF2B5EF4-FFF2-40B4-BE49-F238E27FC236}">
                <a16:creationId xmlns:a16="http://schemas.microsoft.com/office/drawing/2014/main" id="{CB5D6774-5A79-4D6F-909D-7D4A7D1C5C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4" b="19249"/>
          <a:stretch/>
        </p:blipFill>
        <p:spPr bwMode="auto">
          <a:xfrm>
            <a:off x="2471738" y="1500189"/>
            <a:ext cx="7315200" cy="432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276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CD1-4B66-4EBF-AC65-F3210B64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561"/>
          </a:xfrm>
        </p:spPr>
        <p:txBody>
          <a:bodyPr>
            <a:normAutofit/>
          </a:bodyPr>
          <a:lstStyle/>
          <a:p>
            <a:pPr algn="ctr"/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2: Colour the pictures  that we need to live.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340A-9C87-4BE2-B901-E7654D3C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6D490-B2D6-44D4-8E88-D6CB3F1F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834744"/>
            <a:ext cx="10160000" cy="886732"/>
          </a:xfrm>
        </p:spPr>
        <p:txBody>
          <a:bodyPr/>
          <a:lstStyle/>
          <a:p>
            <a:fld id="{D3DFC495-2FCF-456C-8511-EA77886F0F89}" type="slidenum">
              <a:rPr lang="en-ZA" smtClean="0"/>
              <a:t>30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1E7E38A6-CD94-46DF-B372-7F67C8486FF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F2E1B58F-9786-4094-B55F-DCFCE807C8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64A539FE-A515-4307-898E-7B9ED1A7E4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9" b="6875"/>
          <a:stretch/>
        </p:blipFill>
        <p:spPr bwMode="auto">
          <a:xfrm>
            <a:off x="3408363" y="1032073"/>
            <a:ext cx="5835650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358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56A3-19C3-4CFE-92BE-7BC26B00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800" dirty="0"/>
              <a:t>Task 3: Match the pictures to the words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08ECF-36B2-426B-B4BD-3567AE48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1266" name="Picture 2" descr="This may contain: a printable worksheet for the living things need">
            <a:extLst>
              <a:ext uri="{FF2B5EF4-FFF2-40B4-BE49-F238E27FC236}">
                <a16:creationId xmlns:a16="http://schemas.microsoft.com/office/drawing/2014/main" id="{A5454570-0B47-48D3-A6FF-35FB5D86BD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5" t="22265" r="12405" b="22163"/>
          <a:stretch/>
        </p:blipFill>
        <p:spPr bwMode="auto">
          <a:xfrm>
            <a:off x="2386013" y="1371599"/>
            <a:ext cx="6143625" cy="461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905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DFDE-86D5-4DEF-BC1B-B91B77847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1475"/>
            <a:ext cx="9144000" cy="900113"/>
          </a:xfrm>
        </p:spPr>
        <p:txBody>
          <a:bodyPr>
            <a:normAutofit fontScale="90000"/>
          </a:bodyPr>
          <a:lstStyle/>
          <a:p>
            <a:r>
              <a:rPr lang="en-ZA" dirty="0">
                <a:latin typeface="Algerian" panose="04020705040A02060702" pitchFamily="82" charset="0"/>
              </a:rPr>
              <a:t>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BA913-0F0C-48B4-8E93-ADC3FFF0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7900E91-180E-4740-87E5-0E7CFC6EB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8" y="1271588"/>
            <a:ext cx="5362575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325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B160-AB79-4CFD-85F2-E1CAFE81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9338"/>
          </a:xfrm>
        </p:spPr>
        <p:txBody>
          <a:bodyPr>
            <a:normAutofit/>
          </a:bodyPr>
          <a:lstStyle/>
          <a:p>
            <a:r>
              <a:rPr lang="en-ZA" sz="2400" dirty="0"/>
              <a:t>Task 1: fill in the blank spaces according to what we need to live</a:t>
            </a:r>
            <a:br>
              <a:rPr lang="en-ZA" sz="2400" dirty="0"/>
            </a:br>
            <a:endParaRPr lang="en-ZA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1DE24-C818-4D38-A286-DFDD9AB4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CF6EA6-46D5-49DE-AB27-82102925B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464"/>
            <a:ext cx="10515600" cy="4762499"/>
          </a:xfrm>
        </p:spPr>
        <p:txBody>
          <a:bodyPr/>
          <a:lstStyle/>
          <a:p>
            <a:r>
              <a:rPr lang="en-ZA" dirty="0"/>
              <a:t>Food            Water          Air        Sunlight        Shelter</a:t>
            </a:r>
          </a:p>
          <a:p>
            <a:r>
              <a:rPr lang="en-ZA" dirty="0"/>
              <a:t>We need  ___________to survive</a:t>
            </a:r>
          </a:p>
          <a:p>
            <a:r>
              <a:rPr lang="en-ZA" dirty="0"/>
              <a:t>We need fresh _______________to live</a:t>
            </a:r>
          </a:p>
          <a:p>
            <a:r>
              <a:rPr lang="en-ZA" dirty="0"/>
              <a:t>We need to eat _____________in order to live</a:t>
            </a:r>
          </a:p>
          <a:p>
            <a:r>
              <a:rPr lang="en-ZA" dirty="0"/>
              <a:t>We need ______________to keep warm</a:t>
            </a:r>
          </a:p>
          <a:p>
            <a:r>
              <a:rPr lang="en-ZA" dirty="0"/>
              <a:t>We need  ______________ to live</a:t>
            </a:r>
          </a:p>
        </p:txBody>
      </p:sp>
    </p:spTree>
    <p:extLst>
      <p:ext uri="{BB962C8B-B14F-4D97-AF65-F5344CB8AC3E}">
        <p14:creationId xmlns:p14="http://schemas.microsoft.com/office/powerpoint/2010/main" val="2591554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7ACC-A5DF-49EF-8AA1-B5E245A0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400" dirty="0"/>
              <a:t>Task 2:  circle the correct answer with true or false.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D9808-1C82-4067-8257-72C7EDD33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13"/>
            <a:ext cx="10515600" cy="4705350"/>
          </a:xfrm>
        </p:spPr>
        <p:txBody>
          <a:bodyPr/>
          <a:lstStyle/>
          <a:p>
            <a:r>
              <a:rPr lang="en-ZA" dirty="0"/>
              <a:t>All living things need sunlight to live. True/false</a:t>
            </a:r>
          </a:p>
          <a:p>
            <a:r>
              <a:rPr lang="en-ZA" dirty="0"/>
              <a:t>We need shelter to live comfortably and keep warm during winter. True/false.</a:t>
            </a:r>
          </a:p>
          <a:p>
            <a:r>
              <a:rPr lang="en-ZA" dirty="0"/>
              <a:t>We need food in order to live. True/false</a:t>
            </a:r>
          </a:p>
          <a:p>
            <a:r>
              <a:rPr lang="en-ZA" dirty="0"/>
              <a:t>The air that we breath is important. True/false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BAFDF-C00A-40D5-BEEA-9E0CDB38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2103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4EDB-9C25-4F21-AC68-1A27B2BA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7913"/>
          </a:xfrm>
        </p:spPr>
        <p:txBody>
          <a:bodyPr>
            <a:normAutofit/>
          </a:bodyPr>
          <a:lstStyle/>
          <a:p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3:Colour and trace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1DE28-E7A4-4AD3-AB07-90A71C7C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54" name="Picture 6" descr="This may contain: the worksheet for basic needs of living things">
            <a:extLst>
              <a:ext uri="{FF2B5EF4-FFF2-40B4-BE49-F238E27FC236}">
                <a16:creationId xmlns:a16="http://schemas.microsoft.com/office/drawing/2014/main" id="{3714C026-FE7D-4025-84B6-8724D7EFFE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9" t="22751" r="6462" b="4518"/>
          <a:stretch/>
        </p:blipFill>
        <p:spPr bwMode="auto">
          <a:xfrm>
            <a:off x="3514725" y="1443038"/>
            <a:ext cx="4857749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189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3C6D-944F-41E9-ABE7-7C9CB59AF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338"/>
            <a:ext cx="9144000" cy="1680365"/>
          </a:xfrm>
        </p:spPr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6 &amp;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4187-DCA1-4272-9EE0-342557FA2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3164"/>
            <a:ext cx="9144000" cy="1414462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Arial" panose="020B0604020202020204" pitchFamily="34" charset="0"/>
                <a:cs typeface="Arial" panose="020B0604020202020204" pitchFamily="34" charset="0"/>
              </a:rPr>
              <a:t>ME AND OTHER PEOPLE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CAD51-82E9-40E8-B397-81E935D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229" y="5892800"/>
            <a:ext cx="11524341" cy="828675"/>
          </a:xfrm>
        </p:spPr>
        <p:txBody>
          <a:bodyPr/>
          <a:lstStyle/>
          <a:p>
            <a:fld id="{7E6060D1-5484-49BE-8C92-A013EA2974FE}" type="slidenum">
              <a:rPr lang="en-ZA" smtClean="0"/>
              <a:t>36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583E4412-480A-4962-9394-2ACF42E067D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887D74E8-E479-4D77-96C7-85083160C0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863047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9614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25FF-320D-4FD9-A3B7-AB616948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 and other people</a:t>
            </a:r>
          </a:p>
        </p:txBody>
      </p:sp>
      <p:pic>
        <p:nvPicPr>
          <p:cNvPr id="5" name="Online Media 4" title="Demo Lesson About Family | English Lessons | ESL Japan">
            <a:hlinkClick r:id="" action="ppaction://media"/>
            <a:extLst>
              <a:ext uri="{FF2B5EF4-FFF2-40B4-BE49-F238E27FC236}">
                <a16:creationId xmlns:a16="http://schemas.microsoft.com/office/drawing/2014/main" id="{09BAFA53-2CDF-44F4-B7AD-C3AF98680AE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1D151-3154-48EC-8188-3DD34612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471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C72F-DE66-4C4F-B3D9-4392C9AD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32F8-6524-4562-A477-0DC6CCBB9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100"/>
              <a:buFont typeface="Arial MT"/>
              <a:buChar char="●"/>
            </a:pPr>
            <a:r>
              <a:rPr lang="en-US" sz="36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Identify different people around them, boys and girls</a:t>
            </a:r>
            <a:endParaRPr lang="en-ZA" sz="36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6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The learner should be able to differentiate between elders and his/her peers.</a:t>
            </a:r>
            <a:endParaRPr lang="en-ZA" sz="36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6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Know the importance of friendship and how to make friends.</a:t>
            </a:r>
            <a:endParaRPr lang="en-ZA" sz="3600" dirty="0">
              <a:effectLst/>
              <a:latin typeface="Arial MT"/>
              <a:ea typeface="Arial MT"/>
              <a:cs typeface="Arial MT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D77FE-A956-4636-8FBD-97FBA1D9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3299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EBFC-3FEA-46B8-A044-1326421C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5400" dirty="0"/>
              <a:t>                      </a:t>
            </a:r>
            <a:r>
              <a:rPr lang="en-ZA" sz="5400" dirty="0">
                <a:latin typeface="Algerian" panose="04020705040A02060702" pitchFamily="82" charset="0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6A530-425F-46BE-8393-5F6F6312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C01732B-875E-454F-8216-7FB31F941C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79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BAC2-73C2-4B41-BA96-8D95E28F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46050"/>
            <a:ext cx="10515600" cy="477837"/>
          </a:xfrm>
        </p:spPr>
        <p:txBody>
          <a:bodyPr>
            <a:normAutofit/>
          </a:bodyPr>
          <a:lstStyle/>
          <a:p>
            <a:r>
              <a:rPr lang="en-ZA" sz="2800" dirty="0"/>
              <a:t>Task 1: Me and other people: colour in the worksheet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99104-1E11-43A0-8FD0-53D7D705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3074" name="Picture 2" descr="Image result for me and other people kindergarten worksheets">
            <a:extLst>
              <a:ext uri="{FF2B5EF4-FFF2-40B4-BE49-F238E27FC236}">
                <a16:creationId xmlns:a16="http://schemas.microsoft.com/office/drawing/2014/main" id="{7CBAB132-6E6E-4C72-A15D-68E7C6523A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7" t="9391" r="6865" b="7315"/>
          <a:stretch/>
        </p:blipFill>
        <p:spPr bwMode="auto">
          <a:xfrm>
            <a:off x="3067050" y="807244"/>
            <a:ext cx="6057900" cy="524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783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3E4A7-3BF7-4E10-8093-9653497F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849"/>
          </a:xfrm>
        </p:spPr>
        <p:txBody>
          <a:bodyPr>
            <a:normAutofit/>
          </a:bodyPr>
          <a:lstStyle/>
          <a:p>
            <a:r>
              <a:rPr lang="en-ZA" sz="2800" dirty="0"/>
              <a:t>Task 2: Me and other people: colour in the worksheet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F8795-92FC-41FA-83DD-4077A46A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098" name="Picture 2" descr="See related image detail. All About Me Workbook by Kid's Corner | Teachers Pay Teachers">
            <a:extLst>
              <a:ext uri="{FF2B5EF4-FFF2-40B4-BE49-F238E27FC236}">
                <a16:creationId xmlns:a16="http://schemas.microsoft.com/office/drawing/2014/main" id="{2D44DEA2-EA5A-4163-940F-714A3DF51E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6680" r="6506" b="7719"/>
          <a:stretch/>
        </p:blipFill>
        <p:spPr bwMode="auto">
          <a:xfrm>
            <a:off x="3843338" y="1957387"/>
            <a:ext cx="4014787" cy="360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093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DF1B-FACA-4868-BB59-49C64AEF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</a:t>
            </a:r>
            <a:r>
              <a:rPr lang="en-ZA" sz="4800" dirty="0">
                <a:latin typeface="Algerian" panose="04020705040A02060702" pitchFamily="82" charset="0"/>
              </a:rPr>
              <a:t>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13858-ECAF-4B66-96AE-FC1346C6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C6609C2-3457-4D61-AF32-DFB6705C91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735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FA5E-F68E-4FDD-ACDB-66D60543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/>
          </a:bodyPr>
          <a:lstStyle/>
          <a:p>
            <a:r>
              <a:rPr lang="en-ZA" sz="2400" dirty="0"/>
              <a:t>Task 1: Me and other people: Match the picture correctly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38C1E-7378-4E30-A151-ADE48121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6148" name="Picture 4" descr="Image result for me and other people kindergarten worksheets">
            <a:extLst>
              <a:ext uri="{FF2B5EF4-FFF2-40B4-BE49-F238E27FC236}">
                <a16:creationId xmlns:a16="http://schemas.microsoft.com/office/drawing/2014/main" id="{4ACC8F36-679C-423B-BDE7-A986720C40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5" t="26620" r="11222" b="8339"/>
          <a:stretch/>
        </p:blipFill>
        <p:spPr bwMode="auto">
          <a:xfrm>
            <a:off x="3643313" y="1213644"/>
            <a:ext cx="440055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992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870A-8387-4AA8-9E52-FBA5C6B6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3"/>
          </a:xfrm>
        </p:spPr>
        <p:txBody>
          <a:bodyPr>
            <a:normAutofit/>
          </a:bodyPr>
          <a:lstStyle/>
          <a:p>
            <a:r>
              <a:rPr lang="en-ZA" sz="3200" dirty="0"/>
              <a:t>Task 1: Me and other people: colour in the worksheet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D52BB-B9C0-4359-AB22-0C170AEC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 descr="Image result for me and other people kindergarten worksheets">
            <a:extLst>
              <a:ext uri="{FF2B5EF4-FFF2-40B4-BE49-F238E27FC236}">
                <a16:creationId xmlns:a16="http://schemas.microsoft.com/office/drawing/2014/main" id="{11CB1FFE-00AF-4B16-B4E5-98CDF190EB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6" b="14207"/>
          <a:stretch/>
        </p:blipFill>
        <p:spPr bwMode="auto">
          <a:xfrm>
            <a:off x="2986087" y="1185864"/>
            <a:ext cx="5815013" cy="498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148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92A8-F05F-4CCE-BD5F-931A31CD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5400" dirty="0">
                <a:latin typeface="Algerian" panose="04020705040A02060702" pitchFamily="82" charset="0"/>
              </a:rPr>
              <a:t>                      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78A13-DCAE-46FD-A538-B71BE98F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6ADE3FF-25AC-4093-9E10-56DCB62556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6203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1D70-B4AF-465C-93DB-7D5D4310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pPr algn="ctr"/>
            <a:r>
              <a:rPr lang="en-ZA" sz="3200" dirty="0"/>
              <a:t>Task 1: Me and other people </a:t>
            </a:r>
            <a:br>
              <a:rPr lang="en-ZA" sz="3200" dirty="0"/>
            </a:br>
            <a:r>
              <a:rPr lang="en-ZA" sz="3200" dirty="0"/>
              <a:t>fill in the correct answers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7E9F9-D074-470D-BDBA-AE77AF5F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6" name="Picture 2" descr="All About Me Worksheet - Wordworksheet.com">
            <a:extLst>
              <a:ext uri="{FF2B5EF4-FFF2-40B4-BE49-F238E27FC236}">
                <a16:creationId xmlns:a16="http://schemas.microsoft.com/office/drawing/2014/main" id="{73793151-EE81-4A4B-B3E7-C66B5C4F68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5" t="14849" r="7767" b="5363"/>
          <a:stretch/>
        </p:blipFill>
        <p:spPr bwMode="auto">
          <a:xfrm>
            <a:off x="1800225" y="1185862"/>
            <a:ext cx="8572500" cy="517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716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8020-54BA-4F2A-9AEC-E99234C9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>
            <a:noAutofit/>
          </a:bodyPr>
          <a:lstStyle/>
          <a:p>
            <a:pPr algn="ctr"/>
            <a:r>
              <a:rPr lang="en-ZA" sz="3200" dirty="0"/>
              <a:t>Task 1: Me and other people </a:t>
            </a:r>
            <a:br>
              <a:rPr lang="en-ZA" sz="3200" dirty="0"/>
            </a:br>
            <a:r>
              <a:rPr lang="en-ZA" sz="3200" dirty="0"/>
              <a:t>fill in the correct answers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64E3F-C637-4A9A-90A2-33E6DB08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50" name="Picture 2" descr="All About Me Worksheet - Have Fun Teaching">
            <a:extLst>
              <a:ext uri="{FF2B5EF4-FFF2-40B4-BE49-F238E27FC236}">
                <a16:creationId xmlns:a16="http://schemas.microsoft.com/office/drawing/2014/main" id="{F758A4DA-5662-4F52-90E7-298B4DF71F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48"/>
          <a:stretch/>
        </p:blipFill>
        <p:spPr bwMode="auto">
          <a:xfrm>
            <a:off x="2600325" y="1300164"/>
            <a:ext cx="7329487" cy="50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0067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AC22-69AE-4DCC-B4A2-94751C36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SENSES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ADE67-02A6-44BE-9FD0-8B25C160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" y="5890825"/>
            <a:ext cx="10515600" cy="830651"/>
          </a:xfrm>
        </p:spPr>
        <p:txBody>
          <a:bodyPr/>
          <a:lstStyle/>
          <a:p>
            <a:fld id="{DDD7C4A6-E027-4273-BCC8-004378214456}" type="slidenum">
              <a:rPr lang="en-ZA" smtClean="0"/>
              <a:t>48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39395FB-9030-45E3-8FDC-7DBBAC3E30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85E6F676-A76B-4F2F-8B10-A387D3486BB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864" y="5939437"/>
            <a:ext cx="1009650" cy="733425"/>
          </a:xfrm>
          <a:prstGeom prst="rect">
            <a:avLst/>
          </a:prstGeom>
          <a:noFill/>
        </p:spPr>
      </p:pic>
      <p:pic>
        <p:nvPicPr>
          <p:cNvPr id="9" name="Online Media 8" title="How Your Senses Work? | The Five Senses | The Dr Binocs Show | Peekaboo Kidz">
            <a:hlinkClick r:id="" action="ppaction://media"/>
            <a:extLst>
              <a:ext uri="{FF2B5EF4-FFF2-40B4-BE49-F238E27FC236}">
                <a16:creationId xmlns:a16="http://schemas.microsoft.com/office/drawing/2014/main" id="{4D75DE6D-E46C-4DED-95D6-7CEB03CCA5A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45519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5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345F-50CA-484E-ABDC-78A9EE1A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2A03-42DB-4D99-A439-453A0BA9F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100"/>
              <a:buFont typeface="Arial MT"/>
              <a:buChar char="●"/>
            </a:pPr>
            <a:r>
              <a:rPr lang="en-US" sz="32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Name different fruits that they know.</a:t>
            </a:r>
            <a:endParaRPr lang="en-ZA" sz="32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2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Name different vegetables that they know.</a:t>
            </a:r>
            <a:endParaRPr lang="en-ZA" sz="32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2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Explain the importance of fruits and vegetables in our bodies</a:t>
            </a:r>
            <a:r>
              <a:rPr lang="en-US" sz="3200" b="1" dirty="0">
                <a:effectLst/>
                <a:latin typeface="Arial MT"/>
                <a:ea typeface="Arial MT"/>
                <a:cs typeface="Calibri" panose="020F0502020204030204" pitchFamily="34" charset="0"/>
              </a:rPr>
              <a:t>.</a:t>
            </a:r>
            <a:endParaRPr lang="en-ZA" sz="3200" dirty="0">
              <a:effectLst/>
              <a:latin typeface="Arial MT"/>
              <a:ea typeface="Arial MT"/>
              <a:cs typeface="Arial MT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9EEA8-43A1-45E6-8D0C-8EFFD3E3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62971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38B9-CE81-4E14-A035-F1D2CF17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</a:t>
            </a:r>
            <a:r>
              <a:rPr lang="en-ZA" sz="4800" dirty="0">
                <a:latin typeface="Algerian" panose="04020705040A02060702" pitchFamily="82" charset="0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657C8-F470-4358-906C-A426DE79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A9BB26DE-B1B6-4777-A77B-63EA9CE2A7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182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82411-FC15-41D2-8C3E-15CD8A76D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"/>
            <a:ext cx="10515600" cy="6083982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Colour the smell sense below.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B9BE9-78EE-49FF-977D-E2F1F54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3203" y="6220505"/>
            <a:ext cx="10518444" cy="593384"/>
          </a:xfrm>
        </p:spPr>
        <p:txBody>
          <a:bodyPr/>
          <a:lstStyle/>
          <a:p>
            <a:fld id="{8C1AEF06-7241-4103-97E9-73F686DCBE48}" type="slidenum">
              <a:rPr lang="en-ZA" smtClean="0"/>
              <a:t>51</a:t>
            </a:fld>
            <a:endParaRPr lang="en-ZA" dirty="0"/>
          </a:p>
        </p:txBody>
      </p:sp>
      <p:pic>
        <p:nvPicPr>
          <p:cNvPr id="12" name="Picture 11" descr="New GDE logo">
            <a:extLst>
              <a:ext uri="{FF2B5EF4-FFF2-40B4-BE49-F238E27FC236}">
                <a16:creationId xmlns:a16="http://schemas.microsoft.com/office/drawing/2014/main" id="{8F706324-2F7C-47DA-A16A-B65E917E513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  <p:pic>
        <p:nvPicPr>
          <p:cNvPr id="13" name="Picture 12" descr="Nokuthula logo Freehand">
            <a:extLst>
              <a:ext uri="{FF2B5EF4-FFF2-40B4-BE49-F238E27FC236}">
                <a16:creationId xmlns:a16="http://schemas.microsoft.com/office/drawing/2014/main" id="{D7AB1F93-7EE4-44F7-AAB7-915D83DC59C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3076" name="Picture 4" descr="This may contain: a poster with the words sense of smell and pictures of animals, birds, and other things">
            <a:extLst>
              <a:ext uri="{FF2B5EF4-FFF2-40B4-BE49-F238E27FC236}">
                <a16:creationId xmlns:a16="http://schemas.microsoft.com/office/drawing/2014/main" id="{D6053298-9208-4B41-81E5-37F8E3257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4" t="21755" r="3389" b="12214"/>
          <a:stretch/>
        </p:blipFill>
        <p:spPr bwMode="auto">
          <a:xfrm>
            <a:off x="3352800" y="871697"/>
            <a:ext cx="5486400" cy="48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3637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2432-C2EE-4609-99EF-E39B2FF3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46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and match the five senses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5130F-ED17-44B6-AE50-3E2B8DF5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02778"/>
            <a:ext cx="10628085" cy="818698"/>
          </a:xfrm>
        </p:spPr>
        <p:txBody>
          <a:bodyPr/>
          <a:lstStyle/>
          <a:p>
            <a:fld id="{CDC4391E-E57C-4434-A149-18FD16FA7F4B}" type="slidenum">
              <a:rPr lang="en-ZA" smtClean="0"/>
              <a:t>52</a:t>
            </a:fld>
            <a:endParaRPr lang="en-ZA" dirty="0"/>
          </a:p>
        </p:txBody>
      </p:sp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A13692C-50D2-4233-9323-723F4D52065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11250BCE-4414-4C8A-8CE7-941D7D8C5B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4100" name="Picture 4" descr="This may contain: a coloring page with the words i taste with my tongue and pictures of food on it">
            <a:extLst>
              <a:ext uri="{FF2B5EF4-FFF2-40B4-BE49-F238E27FC236}">
                <a16:creationId xmlns:a16="http://schemas.microsoft.com/office/drawing/2014/main" id="{AF55DFB4-7DFF-4532-9CDF-B16231443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368" y="1076325"/>
            <a:ext cx="5529263" cy="510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7959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316D7-5831-4B6F-A085-4963986C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1834"/>
            <a:ext cx="10849430" cy="75964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380194-679C-4C56-8D1F-FB96991EC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938"/>
            <a:ext cx="10515600" cy="5534025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in the picture below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0FF69-E49E-4E4A-8E9A-93B2E840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56F7FA21-F500-44D5-92F3-C4C0352D54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  <p:pic>
        <p:nvPicPr>
          <p:cNvPr id="6148" name="Picture 4" descr="This may contain: the 5 senses sense of taste coloring page with food and drinks for kids to color">
            <a:extLst>
              <a:ext uri="{FF2B5EF4-FFF2-40B4-BE49-F238E27FC236}">
                <a16:creationId xmlns:a16="http://schemas.microsoft.com/office/drawing/2014/main" id="{F73617CB-FC15-4861-BC7C-99D37F23F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971550"/>
            <a:ext cx="5543550" cy="472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8997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70DF-2A40-41C4-82A7-FEB5B4B9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>
                <a:latin typeface="Algerian" panose="04020705040A02060702" pitchFamily="82" charset="0"/>
              </a:rPr>
              <a:t>                            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B0837-E0AC-4FD1-9006-89388957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E71902C7-7C0B-4AD7-A1C4-E83DFF91FA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4992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528C-B273-466A-BD11-B0205651F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1"/>
            <a:ext cx="10515600" cy="5762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1:Use the words below to label the picture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touch    sight     smell       hear     taste .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07F34-8700-429F-AF17-5318D174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79886"/>
            <a:ext cx="10614056" cy="741589"/>
          </a:xfrm>
        </p:spPr>
        <p:txBody>
          <a:bodyPr/>
          <a:lstStyle/>
          <a:p>
            <a:fld id="{92E21127-EA37-4C7C-97C5-55206C3EFCB6}" type="slidenum">
              <a:rPr lang="en-ZA" smtClean="0"/>
              <a:t>55</a:t>
            </a:fld>
            <a:endParaRPr lang="en-ZA" dirty="0"/>
          </a:p>
        </p:txBody>
      </p:sp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9366C6E0-A03A-49B3-8462-BEE4AB6433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9082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8A033-A4AC-43F1-BB84-438984DA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6" y="5989893"/>
            <a:ext cx="1037423" cy="731583"/>
          </a:xfrm>
          <a:prstGeom prst="rect">
            <a:avLst/>
          </a:prstGeom>
        </p:spPr>
      </p:pic>
      <p:pic>
        <p:nvPicPr>
          <p:cNvPr id="7174" name="Picture 6" descr="This may contain: a worksheet with the words sense labeling">
            <a:extLst>
              <a:ext uri="{FF2B5EF4-FFF2-40B4-BE49-F238E27FC236}">
                <a16:creationId xmlns:a16="http://schemas.microsoft.com/office/drawing/2014/main" id="{8642CE9D-B433-440A-9D32-168F346E25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" t="21171" r="3390" b="17568"/>
          <a:stretch/>
        </p:blipFill>
        <p:spPr bwMode="auto">
          <a:xfrm>
            <a:off x="3357563" y="1500188"/>
            <a:ext cx="5472112" cy="439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3156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1718-88BC-44EE-8BF8-65638B28D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3862"/>
            <a:ext cx="10515600" cy="5753101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Taste sense. Look at the picture below and choose the correct taste</a:t>
            </a:r>
            <a:endParaRPr lang="en-GB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C8C04-2D4B-45CB-A808-35D8C01B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50858"/>
            <a:ext cx="10806371" cy="770618"/>
          </a:xfrm>
        </p:spPr>
        <p:txBody>
          <a:bodyPr/>
          <a:lstStyle/>
          <a:p>
            <a:fld id="{7D9AF13F-449C-4A3A-8DBB-A47A50A56E3D}" type="slidenum">
              <a:rPr lang="en-ZA" smtClean="0"/>
              <a:t>56</a:t>
            </a:fld>
            <a:endParaRPr lang="en-ZA" dirty="0"/>
          </a:p>
        </p:txBody>
      </p:sp>
      <p:pic>
        <p:nvPicPr>
          <p:cNvPr id="9" name="Picture 8" descr="New GDE logo">
            <a:extLst>
              <a:ext uri="{FF2B5EF4-FFF2-40B4-BE49-F238E27FC236}">
                <a16:creationId xmlns:a16="http://schemas.microsoft.com/office/drawing/2014/main" id="{3A53091B-DDD6-4284-AF28-B2A30C3AF0C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477F24-3F59-4CFE-837F-39406092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5124" name="Picture 4" descr="This may contain: fruit taste test worksheet for students to practice their language and writing skills in the classroom">
            <a:extLst>
              <a:ext uri="{FF2B5EF4-FFF2-40B4-BE49-F238E27FC236}">
                <a16:creationId xmlns:a16="http://schemas.microsoft.com/office/drawing/2014/main" id="{3A611F30-6E5C-4052-81F4-24567434C7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" t="20091" r="3390" b="5574"/>
          <a:stretch/>
        </p:blipFill>
        <p:spPr bwMode="auto">
          <a:xfrm>
            <a:off x="2257425" y="1343025"/>
            <a:ext cx="7329487" cy="464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114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4CFB-D5EA-4681-902E-A733B553D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294" y="450977"/>
            <a:ext cx="10515600" cy="573473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2: Cut and paste the correct words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1800" dirty="0">
              <a:effectLst/>
              <a:latin typeface="Arial MT"/>
              <a:ea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357981-EB51-45D0-AD2E-86777968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876" y="5750758"/>
            <a:ext cx="1012024" cy="7315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8C098-5DF4-41C7-945C-44904BBD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660" y="5700349"/>
            <a:ext cx="11354284" cy="970717"/>
          </a:xfrm>
        </p:spPr>
        <p:txBody>
          <a:bodyPr/>
          <a:lstStyle/>
          <a:p>
            <a:fld id="{B5662D53-E624-473E-A300-722F9D1D713E}" type="slidenum">
              <a:rPr lang="en-ZA" smtClean="0"/>
              <a:t>57</a:t>
            </a:fld>
            <a:endParaRPr lang="en-ZA" dirty="0"/>
          </a:p>
        </p:txBody>
      </p:sp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95E84B89-205F-4EE9-A97D-359F560A36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  <p:pic>
        <p:nvPicPr>
          <p:cNvPr id="8196" name="Picture 4" descr="This may contain: the five sensess worksheet for kids with pictures and words to help them learn">
            <a:extLst>
              <a:ext uri="{FF2B5EF4-FFF2-40B4-BE49-F238E27FC236}">
                <a16:creationId xmlns:a16="http://schemas.microsoft.com/office/drawing/2014/main" id="{9FF49B04-57B7-4F1F-856A-A79988E19A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21470" r="2597" b="5596"/>
          <a:stretch/>
        </p:blipFill>
        <p:spPr bwMode="auto">
          <a:xfrm>
            <a:off x="2700339" y="1128712"/>
            <a:ext cx="6657974" cy="48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8283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76A8-CB39-419E-A02F-3E1D458E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</a:t>
            </a:r>
            <a:r>
              <a:rPr lang="en-ZA" sz="5400" b="1" dirty="0">
                <a:latin typeface="Algerian" panose="04020705040A02060702" pitchFamily="82" charset="0"/>
              </a:rPr>
              <a:t>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DD3F2-7F4D-4615-BD9D-DA99A5BC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123265BF-3F9C-4880-92C6-8381B79F28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3536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7B35-4888-4226-B194-29D8D7B1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440928"/>
            <a:ext cx="10515600" cy="13255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1:Copy the words and write them accordingly</a:t>
            </a:r>
            <a:r>
              <a:rPr lang="en-US" sz="4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  <a:br>
              <a:rPr lang="en-US" sz="4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230E6-9A94-492F-BF88-00AFB819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9220" name="Picture 4" descr="This may contain: the 5 - sense chart for children to use">
            <a:extLst>
              <a:ext uri="{FF2B5EF4-FFF2-40B4-BE49-F238E27FC236}">
                <a16:creationId xmlns:a16="http://schemas.microsoft.com/office/drawing/2014/main" id="{2F43C1A6-6827-42E0-B905-8F1D4AAEE3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1" t="20479" r="6992" b="5791"/>
          <a:stretch/>
        </p:blipFill>
        <p:spPr bwMode="auto">
          <a:xfrm>
            <a:off x="3400424" y="1171574"/>
            <a:ext cx="5800725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8205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DB9D-F4BA-4DF3-A463-1AF6AB5E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463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sz="28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2: </a:t>
            </a:r>
            <a:r>
              <a:rPr lang="en-US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.Complete the task below </a:t>
            </a:r>
            <a:br>
              <a:rPr lang="en-US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br>
              <a:rPr lang="en-ZA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endParaRPr lang="en-Z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6880E-217F-47B2-BA7C-DF1A25D7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44" name="Picture 4" descr="This may contain: a printable worksheet with words and pictures to help students learn how to use the">
            <a:extLst>
              <a:ext uri="{FF2B5EF4-FFF2-40B4-BE49-F238E27FC236}">
                <a16:creationId xmlns:a16="http://schemas.microsoft.com/office/drawing/2014/main" id="{2BE0BF3B-8E75-4EB5-9785-0EF4B65755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61"/>
          <a:stretch/>
        </p:blipFill>
        <p:spPr bwMode="auto">
          <a:xfrm>
            <a:off x="2035175" y="818356"/>
            <a:ext cx="8121650" cy="552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644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6D9F-0A50-443E-A1EE-C4A3C6B4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3: fill in the correct words using the below words to form a sentence.</a:t>
            </a:r>
            <a:endParaRPr lang="en-ZA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2BE8D-E56C-4AA0-A4E2-96857EB5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EEBA887C-66AC-4F2E-A654-39559B3042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77" b="3722"/>
          <a:stretch/>
        </p:blipFill>
        <p:spPr bwMode="auto">
          <a:xfrm>
            <a:off x="2700338" y="1028700"/>
            <a:ext cx="6872287" cy="537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850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34BA-3624-408F-B4EA-B632281A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DEB0-B097-4F1D-8B09-F0BA9CF6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4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>
                <a:hlinkClick r:id="rId2"/>
              </a:rPr>
              <a:t>www.k5learning.com</a:t>
            </a:r>
            <a:r>
              <a:rPr lang="en-ZA" dirty="0"/>
              <a:t> </a:t>
            </a:r>
          </a:p>
          <a:p>
            <a:pPr marL="0" indent="0">
              <a:buNone/>
            </a:pPr>
            <a:r>
              <a:rPr lang="en-ZA" dirty="0"/>
              <a:t>www. sparklebox.co.uk </a:t>
            </a:r>
          </a:p>
          <a:p>
            <a:pPr marL="0" indent="0">
              <a:buNone/>
            </a:pPr>
            <a:r>
              <a:rPr lang="en-ZA" dirty="0">
                <a:hlinkClick r:id="rId3"/>
              </a:rPr>
              <a:t>www.twinkl.co.za</a:t>
            </a:r>
            <a:endParaRPr lang="en-ZA" dirty="0"/>
          </a:p>
          <a:p>
            <a:pPr marL="0" indent="0">
              <a:buNone/>
            </a:pPr>
            <a:r>
              <a:rPr lang="en-ZA" dirty="0">
                <a:hlinkClick r:id="rId4"/>
              </a:rPr>
              <a:t>www.Pinterest.com</a:t>
            </a:r>
            <a:r>
              <a:rPr lang="en-ZA" dirty="0"/>
              <a:t>  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B2B40-83C5-49DC-A039-EE0A965B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78286"/>
            <a:ext cx="10515600" cy="843189"/>
          </a:xfrm>
        </p:spPr>
        <p:txBody>
          <a:bodyPr/>
          <a:lstStyle/>
          <a:p>
            <a:fld id="{96012891-1781-4E36-B81C-40A0E53B2317}" type="slidenum">
              <a:rPr lang="en-ZA" smtClean="0"/>
              <a:t>62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BE48170E-9268-49CC-B408-6BD4A193CB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964AD4E-A185-4CF9-ABEC-06ADAA94EAD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650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986</Words>
  <Application>Microsoft Office PowerPoint</Application>
  <PresentationFormat>Widescreen</PresentationFormat>
  <Paragraphs>169</Paragraphs>
  <Slides>62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Algerian</vt:lpstr>
      <vt:lpstr>Amiri</vt:lpstr>
      <vt:lpstr>Arial</vt:lpstr>
      <vt:lpstr>Arial MT</vt:lpstr>
      <vt:lpstr>Calibri</vt:lpstr>
      <vt:lpstr>Calibri Light</vt:lpstr>
      <vt:lpstr>Symbol</vt:lpstr>
      <vt:lpstr>Wingdings</vt:lpstr>
      <vt:lpstr>Office Theme</vt:lpstr>
      <vt:lpstr>LANGUAGE GRADE 2 YEAR 2 </vt:lpstr>
      <vt:lpstr>OUTLINE</vt:lpstr>
      <vt:lpstr>ASSEESSMENT GOALS</vt:lpstr>
      <vt:lpstr>PowerPoint Presentation</vt:lpstr>
      <vt:lpstr>PowerPoint Presentation</vt:lpstr>
      <vt:lpstr>WEEK 1 &amp; 2  </vt:lpstr>
      <vt:lpstr>ME AND MY COMMUNITY</vt:lpstr>
      <vt:lpstr>LESSON OBJECTIVES</vt:lpstr>
      <vt:lpstr>                              GROUP 1</vt:lpstr>
      <vt:lpstr>      </vt:lpstr>
      <vt:lpstr>Task 2:Colour in the picture </vt:lpstr>
      <vt:lpstr>     </vt:lpstr>
      <vt:lpstr>                    GROUP 2</vt:lpstr>
      <vt:lpstr>Task 1: Write down the names of each community helper  </vt:lpstr>
      <vt:lpstr>     </vt:lpstr>
      <vt:lpstr>    </vt:lpstr>
      <vt:lpstr>                            GROUP 3</vt:lpstr>
      <vt:lpstr>Task 1: Trace the name of each community helper .                      </vt:lpstr>
      <vt:lpstr>Task 2: Match each community helper with the correct picture. </vt:lpstr>
      <vt:lpstr>Task 3: Write a sentence using the following words</vt:lpstr>
      <vt:lpstr>WEEK 3 &amp; 4 what do l need to live</vt:lpstr>
      <vt:lpstr>                     WHAT DO I NEED TO LIVE  </vt:lpstr>
      <vt:lpstr>LESSON OBJECTIVES</vt:lpstr>
      <vt:lpstr>GROUP 1</vt:lpstr>
      <vt:lpstr>Task 1: Colour only and trace things that we need to live</vt:lpstr>
      <vt:lpstr>PowerPoint Presentation</vt:lpstr>
      <vt:lpstr>PowerPoint Presentation</vt:lpstr>
      <vt:lpstr>                             GROUP 2</vt:lpstr>
      <vt:lpstr>Task 1: Choose the correct answer to tell the objects we need to live and the ones we don’t need.</vt:lpstr>
      <vt:lpstr>Task 2: Colour the pictures  that we need to live.</vt:lpstr>
      <vt:lpstr>Task 3: Match the pictures to the words</vt:lpstr>
      <vt:lpstr>GROUP 3</vt:lpstr>
      <vt:lpstr>Task 1: fill in the blank spaces according to what we need to live </vt:lpstr>
      <vt:lpstr>Task 2:  circle the correct answer with true or false.</vt:lpstr>
      <vt:lpstr>Task 3:Colour and trace </vt:lpstr>
      <vt:lpstr>WEEK 6 &amp; 7</vt:lpstr>
      <vt:lpstr>Me and other people</vt:lpstr>
      <vt:lpstr>LESSON OBJECTIVES</vt:lpstr>
      <vt:lpstr>                      GROUP 1</vt:lpstr>
      <vt:lpstr>Task 1: Me and other people: colour in the worksheet</vt:lpstr>
      <vt:lpstr>Task 2: Me and other people: colour in the worksheet</vt:lpstr>
      <vt:lpstr>                           GROUP 2</vt:lpstr>
      <vt:lpstr>Task 1: Me and other people: Match the picture correctly</vt:lpstr>
      <vt:lpstr>Task 1: Me and other people: colour in the worksheet</vt:lpstr>
      <vt:lpstr>                      GROUP 3</vt:lpstr>
      <vt:lpstr>Task 1: Me and other people  fill in the correct answers </vt:lpstr>
      <vt:lpstr>Task 1: Me and other people  fill in the correct answers </vt:lpstr>
      <vt:lpstr>SENSES</vt:lpstr>
      <vt:lpstr>LESSON OBJECTIVES</vt:lpstr>
      <vt:lpstr>                          GROUP 1</vt:lpstr>
      <vt:lpstr>PowerPoint Presentation</vt:lpstr>
      <vt:lpstr>PowerPoint Presentation</vt:lpstr>
      <vt:lpstr>PowerPoint Presentation</vt:lpstr>
      <vt:lpstr>                            GROUP 2</vt:lpstr>
      <vt:lpstr>PowerPoint Presentation</vt:lpstr>
      <vt:lpstr>PowerPoint Presentation</vt:lpstr>
      <vt:lpstr>PowerPoint Presentation</vt:lpstr>
      <vt:lpstr>                            GROUP 3</vt:lpstr>
      <vt:lpstr>Task 1:Copy the words and write them accordingly. </vt:lpstr>
      <vt:lpstr>Task 2: .Complete the task below   </vt:lpstr>
      <vt:lpstr>Task 3: fill in the correct words using the below words to form a sentence.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Skills Grade 2 Year 2</dc:title>
  <dc:creator>Khumbudzo Zelda Sigidi</dc:creator>
  <cp:lastModifiedBy>Student_PC</cp:lastModifiedBy>
  <cp:revision>143</cp:revision>
  <dcterms:created xsi:type="dcterms:W3CDTF">2024-06-12T11:42:00Z</dcterms:created>
  <dcterms:modified xsi:type="dcterms:W3CDTF">2024-07-16T07:53:51Z</dcterms:modified>
</cp:coreProperties>
</file>