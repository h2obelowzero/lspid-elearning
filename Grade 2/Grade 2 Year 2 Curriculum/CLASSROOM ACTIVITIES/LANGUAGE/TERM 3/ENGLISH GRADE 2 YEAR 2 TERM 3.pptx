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7" r:id="rId2"/>
    <p:sldId id="260" r:id="rId3"/>
    <p:sldId id="298" r:id="rId4"/>
    <p:sldId id="262" r:id="rId5"/>
    <p:sldId id="263" r:id="rId6"/>
    <p:sldId id="264" r:id="rId7"/>
    <p:sldId id="311" r:id="rId8"/>
    <p:sldId id="265" r:id="rId9"/>
    <p:sldId id="306" r:id="rId10"/>
    <p:sldId id="266" r:id="rId11"/>
    <p:sldId id="267" r:id="rId12"/>
    <p:sldId id="312" r:id="rId13"/>
    <p:sldId id="305" r:id="rId14"/>
    <p:sldId id="268" r:id="rId15"/>
    <p:sldId id="269" r:id="rId16"/>
    <p:sldId id="307" r:id="rId17"/>
    <p:sldId id="270" r:id="rId18"/>
    <p:sldId id="271" r:id="rId19"/>
    <p:sldId id="280" r:id="rId20"/>
    <p:sldId id="274" r:id="rId21"/>
    <p:sldId id="272" r:id="rId22"/>
    <p:sldId id="275" r:id="rId23"/>
    <p:sldId id="276" r:id="rId24"/>
    <p:sldId id="304" r:id="rId25"/>
    <p:sldId id="277" r:id="rId26"/>
    <p:sldId id="278" r:id="rId27"/>
    <p:sldId id="279" r:id="rId28"/>
    <p:sldId id="281" r:id="rId29"/>
    <p:sldId id="282" r:id="rId30"/>
    <p:sldId id="303" r:id="rId31"/>
    <p:sldId id="284" r:id="rId32"/>
    <p:sldId id="285" r:id="rId33"/>
    <p:sldId id="308" r:id="rId34"/>
    <p:sldId id="286" r:id="rId35"/>
    <p:sldId id="287" r:id="rId36"/>
    <p:sldId id="301" r:id="rId37"/>
    <p:sldId id="309" r:id="rId38"/>
    <p:sldId id="288" r:id="rId39"/>
    <p:sldId id="289" r:id="rId40"/>
    <p:sldId id="290" r:id="rId41"/>
    <p:sldId id="292" r:id="rId42"/>
    <p:sldId id="293" r:id="rId43"/>
    <p:sldId id="300" r:id="rId44"/>
    <p:sldId id="294" r:id="rId45"/>
    <p:sldId id="299" r:id="rId46"/>
    <p:sldId id="310" r:id="rId47"/>
    <p:sldId id="296" r:id="rId48"/>
    <p:sldId id="297"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5" d="100"/>
          <a:sy n="85" d="100"/>
        </p:scale>
        <p:origin x="18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458347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177688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605659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6AA7088-B216-45CE-9144-B068066D4925}" type="datetimeFigureOut">
              <a:rPr lang="en-ZA" smtClean="0"/>
              <a:t>2024/07/11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881602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6AA7088-B216-45CE-9144-B068066D4925}" type="datetimeFigureOut">
              <a:rPr lang="en-ZA" smtClean="0"/>
              <a:t>2024/07/11</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527672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6AA7088-B216-45CE-9144-B068066D4925}" type="datetimeFigureOut">
              <a:rPr lang="en-ZA" smtClean="0"/>
              <a:t>2024/07/11</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33406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AA7088-B216-45CE-9144-B068066D4925}" type="datetimeFigureOut">
              <a:rPr lang="en-ZA" smtClean="0"/>
              <a:t>2024/07/11</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656485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AA7088-B216-45CE-9144-B068066D4925}" type="datetimeFigureOut">
              <a:rPr lang="en-ZA" smtClean="0"/>
              <a:t>2024/07/11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414889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AA7088-B216-45CE-9144-B068066D4925}" type="datetimeFigureOut">
              <a:rPr lang="en-ZA" smtClean="0"/>
              <a:t>2024/07/11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888888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395993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095888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794062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591496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8999565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9018070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599796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6AA7088-B216-45CE-9144-B068066D4925}" type="datetimeFigureOut">
              <a:rPr lang="en-ZA" smtClean="0"/>
              <a:t>2024/07/11</a:t>
            </a:fld>
            <a:endParaRPr lang="en-ZA"/>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A825E92-66FC-4255-8C2B-6877120039F9}" type="slidenum">
              <a:rPr lang="en-ZA" smtClean="0"/>
              <a:t>‹#›</a:t>
            </a:fld>
            <a:endParaRPr lang="en-ZA"/>
          </a:p>
        </p:txBody>
      </p:sp>
    </p:spTree>
    <p:extLst>
      <p:ext uri="{BB962C8B-B14F-4D97-AF65-F5344CB8AC3E}">
        <p14:creationId xmlns:p14="http://schemas.microsoft.com/office/powerpoint/2010/main" val="222947012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hyperlink" Target="https://th.bing.com/th/id/OIP.Nf6VTxle16YtwHqxzvj24QAAAA?rs=1&amp;pid=ImgDetMain" TargetMode="External"/><Relationship Id="rId3" Type="http://schemas.openxmlformats.org/officeDocument/2006/relationships/hyperlink" Target="https://th.bing.com/th/id/R.4bedde0a34a46c3f8476e8a9c3193ea9?rik=HzmXgDwWSMiEgg&amp;riu=http%3a%2f%2fcdn.turtlediary.com%2fworksheets%2fela%2fpreschool%2fmiscellaneous%2fland-transport-match-the-parts%2fquestion%2fland-transport-match-the-parts-1.png&amp;ehk=QmUIA1EFbE4f0svBv4Cz5sxyTCRyjPK21lGTtr58rpw%3d&amp;risl=&amp;pid=ImgRaw&amp;r=0" TargetMode="External"/><Relationship Id="rId7" Type="http://schemas.openxmlformats.org/officeDocument/2006/relationships/hyperlink" Target="https://th.bing.com/th/id/OIP.sfoXR83NPVP-oQz6Fw5fKgAAAA?w=178&amp;h=241&amp;c=7&amp;r=0&amp;o=5&amp;pid=1.7" TargetMode="External"/><Relationship Id="rId2" Type="http://schemas.openxmlformats.org/officeDocument/2006/relationships/hyperlink" Target="https://cdn4.vectorstock.com/i/1000x1000/81/78/transport-cartoons-vector-598178.jpg" TargetMode="External"/><Relationship Id="rId1" Type="http://schemas.openxmlformats.org/officeDocument/2006/relationships/slideLayout" Target="../slideLayouts/slideLayout2.xml"/><Relationship Id="rId6" Type="http://schemas.openxmlformats.org/officeDocument/2006/relationships/hyperlink" Target="https://th.bing.com/th/id/OIP.j1aGQgbLnwFPQ_I9JjVwygHaKe?w=178&amp;h=252&amp;c=7&amp;r=0&amp;o=5&amp;pid=1.7" TargetMode="External"/><Relationship Id="rId11" Type="http://schemas.openxmlformats.org/officeDocument/2006/relationships/hyperlink" Target="https://th.bing.com/th/id/OIP.4dLKYDU8JIlA6pehEYnW1wAAAA?w=178&amp;h=252&amp;c=7&amp;r=0&amp;o=5&amp;pid=1.7" TargetMode="External"/><Relationship Id="rId5" Type="http://schemas.openxmlformats.org/officeDocument/2006/relationships/hyperlink" Target="https://th.bing.com/th/id/OIP.fRSAqPJELZxVQ3CRL-bfpgAAAA?rs=1&amp;pid=ImgDetMain" TargetMode="External"/><Relationship Id="rId10" Type="http://schemas.openxmlformats.org/officeDocument/2006/relationships/hyperlink" Target="https://i.pinimg.com/474x/8c/e3/85/8ce385035bc3affdf3f880752a62d2b2--people-who-help-us-activities-people-who-help-us-eyfs.jpg" TargetMode="External"/><Relationship Id="rId4" Type="http://schemas.openxmlformats.org/officeDocument/2006/relationships/hyperlink" Target="https://www.kids-pages.com/folders/worksheets/Transportation/TransportationFillIn.jpg" TargetMode="External"/><Relationship Id="rId9" Type="http://schemas.openxmlformats.org/officeDocument/2006/relationships/hyperlink" Target="https://th.bing.com/th/id/OIP.G22CAwskSgcV--pN-tS4-gAAAA?rs=1&amp;pid=ImgDetMain"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s://th.bing.com/th/id/OIP.VydevZbGqs48ggbXpXXr3QAAAA?rs=1&amp;pid=ImgDetMain" TargetMode="External"/><Relationship Id="rId2" Type="http://schemas.openxmlformats.org/officeDocument/2006/relationships/hyperlink" Target="https://th.bing.com/th/id/OIP.7a0179VL3C9kPRM2vedC4wHaKN?w=178&amp;h=246&amp;c=7&amp;r=0&amp;o=5&amp;pid=1.7" TargetMode="External"/><Relationship Id="rId1" Type="http://schemas.openxmlformats.org/officeDocument/2006/relationships/slideLayout" Target="../slideLayouts/slideLayout2.xml"/><Relationship Id="rId4" Type="http://schemas.openxmlformats.org/officeDocument/2006/relationships/hyperlink" Target="https://th.bing.com/th/id/OIP.rCuRyffpd2A5GWu-FpGZyQAAAA?w=178&amp;h=257&amp;c=7&amp;r=0&amp;o=5&amp;pid=1.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3CACF1D1-CD20-42D5-B267-A8D5494C5013}"/>
              </a:ext>
            </a:extLst>
          </p:cNvPr>
          <p:cNvGraphicFramePr>
            <a:graphicFrameLocks noGrp="1"/>
          </p:cNvGraphicFramePr>
          <p:nvPr>
            <p:extLst>
              <p:ext uri="{D42A27DB-BD31-4B8C-83A1-F6EECF244321}">
                <p14:modId xmlns:p14="http://schemas.microsoft.com/office/powerpoint/2010/main" val="3118141557"/>
              </p:ext>
            </p:extLst>
          </p:nvPr>
        </p:nvGraphicFramePr>
        <p:xfrm>
          <a:off x="1272209" y="719665"/>
          <a:ext cx="8887791" cy="5310072"/>
        </p:xfrm>
        <a:graphic>
          <a:graphicData uri="http://schemas.openxmlformats.org/drawingml/2006/table">
            <a:tbl>
              <a:tblPr firstRow="1" bandRow="1">
                <a:tableStyleId>{5C22544A-7EE6-4342-B048-85BDC9FD1C3A}</a:tableStyleId>
              </a:tblPr>
              <a:tblGrid>
                <a:gridCol w="3725970">
                  <a:extLst>
                    <a:ext uri="{9D8B030D-6E8A-4147-A177-3AD203B41FA5}">
                      <a16:colId xmlns:a16="http://schemas.microsoft.com/office/drawing/2014/main" val="3650113161"/>
                    </a:ext>
                  </a:extLst>
                </a:gridCol>
                <a:gridCol w="5161821">
                  <a:extLst>
                    <a:ext uri="{9D8B030D-6E8A-4147-A177-3AD203B41FA5}">
                      <a16:colId xmlns:a16="http://schemas.microsoft.com/office/drawing/2014/main" val="2195754969"/>
                    </a:ext>
                  </a:extLst>
                </a:gridCol>
              </a:tblGrid>
              <a:tr h="1770024">
                <a:tc>
                  <a:txBody>
                    <a:bodyPr/>
                    <a:lstStyle/>
                    <a:p>
                      <a:r>
                        <a:rPr lang="en-ZA" sz="4800" dirty="0"/>
                        <a:t>Subject</a:t>
                      </a:r>
                    </a:p>
                  </a:txBody>
                  <a:tcPr/>
                </a:tc>
                <a:tc>
                  <a:txBody>
                    <a:bodyPr/>
                    <a:lstStyle/>
                    <a:p>
                      <a:r>
                        <a:rPr lang="en-ZA" sz="4800" dirty="0"/>
                        <a:t>ENGLISH</a:t>
                      </a:r>
                    </a:p>
                  </a:txBody>
                  <a:tcPr/>
                </a:tc>
                <a:extLst>
                  <a:ext uri="{0D108BD9-81ED-4DB2-BD59-A6C34878D82A}">
                    <a16:rowId xmlns:a16="http://schemas.microsoft.com/office/drawing/2014/main" val="2538444233"/>
                  </a:ext>
                </a:extLst>
              </a:tr>
              <a:tr h="1770024">
                <a:tc>
                  <a:txBody>
                    <a:bodyPr/>
                    <a:lstStyle/>
                    <a:p>
                      <a:r>
                        <a:rPr lang="en-ZA" sz="4800" dirty="0"/>
                        <a:t>Grade </a:t>
                      </a:r>
                    </a:p>
                  </a:txBody>
                  <a:tcPr/>
                </a:tc>
                <a:tc>
                  <a:txBody>
                    <a:bodyPr/>
                    <a:lstStyle/>
                    <a:p>
                      <a:r>
                        <a:rPr lang="en-ZA" sz="4800"/>
                        <a:t>2 year </a:t>
                      </a:r>
                      <a:r>
                        <a:rPr lang="en-ZA" sz="4800" dirty="0"/>
                        <a:t>2</a:t>
                      </a:r>
                    </a:p>
                  </a:txBody>
                  <a:tcPr/>
                </a:tc>
                <a:extLst>
                  <a:ext uri="{0D108BD9-81ED-4DB2-BD59-A6C34878D82A}">
                    <a16:rowId xmlns:a16="http://schemas.microsoft.com/office/drawing/2014/main" val="1930851948"/>
                  </a:ext>
                </a:extLst>
              </a:tr>
              <a:tr h="1770024">
                <a:tc>
                  <a:txBody>
                    <a:bodyPr/>
                    <a:lstStyle/>
                    <a:p>
                      <a:r>
                        <a:rPr lang="en-ZA" sz="4800" dirty="0"/>
                        <a:t>Term </a:t>
                      </a:r>
                    </a:p>
                  </a:txBody>
                  <a:tcPr/>
                </a:tc>
                <a:tc>
                  <a:txBody>
                    <a:bodyPr/>
                    <a:lstStyle/>
                    <a:p>
                      <a:r>
                        <a:rPr lang="en-ZA" sz="4800" dirty="0"/>
                        <a:t>3</a:t>
                      </a:r>
                    </a:p>
                  </a:txBody>
                  <a:tcPr/>
                </a:tc>
                <a:extLst>
                  <a:ext uri="{0D108BD9-81ED-4DB2-BD59-A6C34878D82A}">
                    <a16:rowId xmlns:a16="http://schemas.microsoft.com/office/drawing/2014/main" val="1332622935"/>
                  </a:ext>
                </a:extLst>
              </a:tr>
            </a:tbl>
          </a:graphicData>
        </a:graphic>
      </p:graphicFrame>
    </p:spTree>
    <p:extLst>
      <p:ext uri="{BB962C8B-B14F-4D97-AF65-F5344CB8AC3E}">
        <p14:creationId xmlns:p14="http://schemas.microsoft.com/office/powerpoint/2010/main" val="2332974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17A4-2DA0-4508-AB92-00378BA28FCC}"/>
              </a:ext>
            </a:extLst>
          </p:cNvPr>
          <p:cNvSpPr>
            <a:spLocks noGrp="1"/>
          </p:cNvSpPr>
          <p:nvPr>
            <p:ph type="title"/>
          </p:nvPr>
        </p:nvSpPr>
        <p:spPr>
          <a:xfrm>
            <a:off x="677334" y="609600"/>
            <a:ext cx="8596668" cy="1216025"/>
          </a:xfrm>
        </p:spPr>
        <p:txBody>
          <a:bodyPr>
            <a:normAutofit/>
          </a:bodyPr>
          <a:lstStyle/>
          <a:p>
            <a:r>
              <a:rPr lang="en-ZA" sz="6000" b="1" dirty="0"/>
              <a:t>       </a:t>
            </a:r>
            <a:r>
              <a:rPr lang="en-ZA" sz="4000" b="1" dirty="0"/>
              <a:t>LESSON PLAN CONTENT</a:t>
            </a:r>
          </a:p>
        </p:txBody>
      </p:sp>
      <p:graphicFrame>
        <p:nvGraphicFramePr>
          <p:cNvPr id="4" name="Table 4">
            <a:extLst>
              <a:ext uri="{FF2B5EF4-FFF2-40B4-BE49-F238E27FC236}">
                <a16:creationId xmlns:a16="http://schemas.microsoft.com/office/drawing/2014/main" id="{22141332-7440-49C9-8C2B-839EF51D5A12}"/>
              </a:ext>
            </a:extLst>
          </p:cNvPr>
          <p:cNvGraphicFramePr>
            <a:graphicFrameLocks noGrp="1"/>
          </p:cNvGraphicFramePr>
          <p:nvPr>
            <p:ph idx="1"/>
            <p:extLst>
              <p:ext uri="{D42A27DB-BD31-4B8C-83A1-F6EECF244321}">
                <p14:modId xmlns:p14="http://schemas.microsoft.com/office/powerpoint/2010/main" val="2978176313"/>
              </p:ext>
            </p:extLst>
          </p:nvPr>
        </p:nvGraphicFramePr>
        <p:xfrm>
          <a:off x="503583" y="1825625"/>
          <a:ext cx="10850217" cy="4632960"/>
        </p:xfrm>
        <a:graphic>
          <a:graphicData uri="http://schemas.openxmlformats.org/drawingml/2006/table">
            <a:tbl>
              <a:tblPr firstRow="1" bandRow="1">
                <a:tableStyleId>{5C22544A-7EE6-4342-B048-85BDC9FD1C3A}</a:tableStyleId>
              </a:tblPr>
              <a:tblGrid>
                <a:gridCol w="5419976">
                  <a:extLst>
                    <a:ext uri="{9D8B030D-6E8A-4147-A177-3AD203B41FA5}">
                      <a16:colId xmlns:a16="http://schemas.microsoft.com/office/drawing/2014/main" val="2207677980"/>
                    </a:ext>
                  </a:extLst>
                </a:gridCol>
                <a:gridCol w="5430241">
                  <a:extLst>
                    <a:ext uri="{9D8B030D-6E8A-4147-A177-3AD203B41FA5}">
                      <a16:colId xmlns:a16="http://schemas.microsoft.com/office/drawing/2014/main" val="4232579930"/>
                    </a:ext>
                  </a:extLst>
                </a:gridCol>
              </a:tblGrid>
              <a:tr h="615566">
                <a:tc>
                  <a:txBody>
                    <a:bodyPr/>
                    <a:lstStyle/>
                    <a:p>
                      <a:r>
                        <a:rPr lang="en-ZA" sz="4000" b="1" dirty="0"/>
                        <a:t>Week 1 -3 </a:t>
                      </a:r>
                    </a:p>
                  </a:txBody>
                  <a:tcPr/>
                </a:tc>
                <a:tc>
                  <a:txBody>
                    <a:bodyPr/>
                    <a:lstStyle/>
                    <a:p>
                      <a:r>
                        <a:rPr lang="en-ZA" sz="4000" b="1" dirty="0"/>
                        <a:t>TRANSPORT</a:t>
                      </a:r>
                    </a:p>
                  </a:txBody>
                  <a:tcPr/>
                </a:tc>
                <a:extLst>
                  <a:ext uri="{0D108BD9-81ED-4DB2-BD59-A6C34878D82A}">
                    <a16:rowId xmlns:a16="http://schemas.microsoft.com/office/drawing/2014/main" val="1043533483"/>
                  </a:ext>
                </a:extLst>
              </a:tr>
              <a:tr h="1121087">
                <a:tc>
                  <a:txBody>
                    <a:bodyPr/>
                    <a:lstStyle/>
                    <a:p>
                      <a:r>
                        <a:rPr lang="en-ZA" sz="4000" b="1" dirty="0"/>
                        <a:t>Week 4-5</a:t>
                      </a:r>
                    </a:p>
                  </a:txBody>
                  <a:tcPr/>
                </a:tc>
                <a:tc>
                  <a:txBody>
                    <a:bodyPr/>
                    <a:lstStyle/>
                    <a:p>
                      <a:r>
                        <a:rPr lang="en-ZA" sz="4000" b="1" dirty="0"/>
                        <a:t>ROAD/TRAFFIC SAFETY</a:t>
                      </a:r>
                    </a:p>
                  </a:txBody>
                  <a:tcPr/>
                </a:tc>
                <a:extLst>
                  <a:ext uri="{0D108BD9-81ED-4DB2-BD59-A6C34878D82A}">
                    <a16:rowId xmlns:a16="http://schemas.microsoft.com/office/drawing/2014/main" val="456379601"/>
                  </a:ext>
                </a:extLst>
              </a:tr>
              <a:tr h="1121087">
                <a:tc>
                  <a:txBody>
                    <a:bodyPr/>
                    <a:lstStyle/>
                    <a:p>
                      <a:r>
                        <a:rPr lang="en-ZA" sz="4000" b="1" dirty="0"/>
                        <a:t>Week 6-7</a:t>
                      </a:r>
                    </a:p>
                  </a:txBody>
                  <a:tcPr/>
                </a:tc>
                <a:tc>
                  <a:txBody>
                    <a:bodyPr/>
                    <a:lstStyle/>
                    <a:p>
                      <a:r>
                        <a:rPr lang="en-ZA" sz="4000" b="1" dirty="0"/>
                        <a:t>PEOPLE WHO HELP US IN OUR COMMUNITY</a:t>
                      </a:r>
                    </a:p>
                  </a:txBody>
                  <a:tcPr/>
                </a:tc>
                <a:extLst>
                  <a:ext uri="{0D108BD9-81ED-4DB2-BD59-A6C34878D82A}">
                    <a16:rowId xmlns:a16="http://schemas.microsoft.com/office/drawing/2014/main" val="13967798"/>
                  </a:ext>
                </a:extLst>
              </a:tr>
              <a:tr h="1121087">
                <a:tc>
                  <a:txBody>
                    <a:bodyPr/>
                    <a:lstStyle/>
                    <a:p>
                      <a:r>
                        <a:rPr lang="en-ZA" sz="4000" b="1" dirty="0"/>
                        <a:t>Week 8-9</a:t>
                      </a:r>
                    </a:p>
                  </a:txBody>
                  <a:tcPr/>
                </a:tc>
                <a:tc>
                  <a:txBody>
                    <a:bodyPr/>
                    <a:lstStyle/>
                    <a:p>
                      <a:r>
                        <a:rPr lang="en-ZA" sz="4000" b="1" dirty="0"/>
                        <a:t>FRUITS AND VEGETABLES</a:t>
                      </a:r>
                    </a:p>
                  </a:txBody>
                  <a:tcPr/>
                </a:tc>
                <a:extLst>
                  <a:ext uri="{0D108BD9-81ED-4DB2-BD59-A6C34878D82A}">
                    <a16:rowId xmlns:a16="http://schemas.microsoft.com/office/drawing/2014/main" val="1662244875"/>
                  </a:ext>
                </a:extLst>
              </a:tr>
            </a:tbl>
          </a:graphicData>
        </a:graphic>
      </p:graphicFrame>
    </p:spTree>
    <p:extLst>
      <p:ext uri="{BB962C8B-B14F-4D97-AF65-F5344CB8AC3E}">
        <p14:creationId xmlns:p14="http://schemas.microsoft.com/office/powerpoint/2010/main" val="1547264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734B4-3AA9-4FFC-AEC6-E0DB7B1B1080}"/>
              </a:ext>
            </a:extLst>
          </p:cNvPr>
          <p:cNvSpPr>
            <a:spLocks noGrp="1"/>
          </p:cNvSpPr>
          <p:nvPr>
            <p:ph type="title"/>
          </p:nvPr>
        </p:nvSpPr>
        <p:spPr/>
        <p:txBody>
          <a:bodyPr>
            <a:normAutofit/>
          </a:bodyPr>
          <a:lstStyle/>
          <a:p>
            <a:r>
              <a:rPr kumimoji="0" lang="en-ZA" sz="4400" b="1" i="0" u="none" strike="noStrike" kern="1200" cap="none" spc="0" normalizeH="0" baseline="0" noProof="0" dirty="0">
                <a:ln>
                  <a:noFill/>
                </a:ln>
                <a:solidFill>
                  <a:srgbClr val="90C226"/>
                </a:solidFill>
                <a:effectLst/>
                <a:uLnTx/>
                <a:uFillTx/>
                <a:latin typeface="Trebuchet MS" panose="020B0603020202020204"/>
                <a:ea typeface="+mj-ea"/>
                <a:cs typeface="+mj-cs"/>
              </a:rPr>
              <a:t>LESSON OBJECTIVES</a:t>
            </a:r>
            <a:br>
              <a:rPr kumimoji="0" lang="en-ZA" sz="4400" b="1" i="0" u="none" strike="noStrike" kern="1200" cap="none" spc="0" normalizeH="0" baseline="0" noProof="0" dirty="0">
                <a:ln>
                  <a:noFill/>
                </a:ln>
                <a:solidFill>
                  <a:srgbClr val="90C226"/>
                </a:solidFill>
                <a:effectLst/>
                <a:uLnTx/>
                <a:uFillTx/>
                <a:latin typeface="Trebuchet MS" panose="020B0603020202020204"/>
                <a:ea typeface="+mj-ea"/>
                <a:cs typeface="+mj-cs"/>
              </a:rPr>
            </a:br>
            <a:r>
              <a:rPr lang="en-ZA" sz="3200" i="1" dirty="0">
                <a:solidFill>
                  <a:srgbClr val="90C226"/>
                </a:solidFill>
                <a:latin typeface="Trebuchet MS" panose="020B0603020202020204"/>
              </a:rPr>
              <a:t>L</a:t>
            </a:r>
            <a:r>
              <a:rPr kumimoji="0" lang="en-ZA" sz="3200" i="1" u="none" strike="noStrike" kern="1200" cap="none" spc="0" normalizeH="0" baseline="0" noProof="0" dirty="0">
                <a:ln>
                  <a:noFill/>
                </a:ln>
                <a:solidFill>
                  <a:srgbClr val="90C226"/>
                </a:solidFill>
                <a:effectLst/>
                <a:uLnTx/>
                <a:uFillTx/>
                <a:latin typeface="Trebuchet MS" panose="020B0603020202020204"/>
                <a:ea typeface="+mj-ea"/>
                <a:cs typeface="+mj-cs"/>
              </a:rPr>
              <a:t>earners will be able to:</a:t>
            </a:r>
            <a:endParaRPr lang="en-ZA" sz="3200" i="1" dirty="0"/>
          </a:p>
        </p:txBody>
      </p:sp>
      <p:sp>
        <p:nvSpPr>
          <p:cNvPr id="3" name="Content Placeholder 2">
            <a:extLst>
              <a:ext uri="{FF2B5EF4-FFF2-40B4-BE49-F238E27FC236}">
                <a16:creationId xmlns:a16="http://schemas.microsoft.com/office/drawing/2014/main" id="{6481751E-C064-4921-9780-931A40480464}"/>
              </a:ext>
            </a:extLst>
          </p:cNvPr>
          <p:cNvSpPr>
            <a:spLocks noGrp="1"/>
          </p:cNvSpPr>
          <p:nvPr>
            <p:ph sz="half" idx="1"/>
          </p:nvPr>
        </p:nvSpPr>
        <p:spPr/>
        <p:txBody>
          <a:bodyPr>
            <a:normAutofit fontScale="85000" lnSpcReduction="10000"/>
          </a:bodyPr>
          <a:lstStyle/>
          <a:p>
            <a:r>
              <a:rPr lang="en-GB" dirty="0"/>
              <a:t>Use language to perform</a:t>
            </a:r>
          </a:p>
          <a:p>
            <a:r>
              <a:rPr lang="en-GB" dirty="0"/>
              <a:t> Use auditory, visual and pictorial cues to </a:t>
            </a:r>
          </a:p>
          <a:p>
            <a:r>
              <a:rPr lang="en-GB" dirty="0"/>
              <a:t>make meaning</a:t>
            </a:r>
          </a:p>
          <a:p>
            <a:r>
              <a:rPr lang="en-GB" dirty="0"/>
              <a:t> Use language for communication</a:t>
            </a:r>
          </a:p>
          <a:p>
            <a:r>
              <a:rPr lang="en-GB" dirty="0"/>
              <a:t> Follow simple classroom instructions</a:t>
            </a:r>
          </a:p>
          <a:p>
            <a:r>
              <a:rPr lang="en-GB" dirty="0"/>
              <a:t> Participate in discussions</a:t>
            </a:r>
          </a:p>
          <a:p>
            <a:r>
              <a:rPr lang="en-GB" dirty="0"/>
              <a:t> Build oral vocabulary</a:t>
            </a:r>
          </a:p>
          <a:p>
            <a:r>
              <a:rPr lang="en-GB" dirty="0"/>
              <a:t>Identify letter-sound relationship of single </a:t>
            </a:r>
          </a:p>
          <a:p>
            <a:r>
              <a:rPr lang="en-GB" dirty="0"/>
              <a:t>letters</a:t>
            </a:r>
          </a:p>
          <a:p>
            <a:r>
              <a:rPr lang="en-GB" dirty="0"/>
              <a:t> Blend three-letter words with the taught word families</a:t>
            </a:r>
            <a:endParaRPr lang="en-ZA" dirty="0"/>
          </a:p>
        </p:txBody>
      </p:sp>
      <p:sp>
        <p:nvSpPr>
          <p:cNvPr id="4" name="Content Placeholder 3">
            <a:extLst>
              <a:ext uri="{FF2B5EF4-FFF2-40B4-BE49-F238E27FC236}">
                <a16:creationId xmlns:a16="http://schemas.microsoft.com/office/drawing/2014/main" id="{87291E4F-B91E-4D96-8F83-EE20E7BB13F0}"/>
              </a:ext>
            </a:extLst>
          </p:cNvPr>
          <p:cNvSpPr>
            <a:spLocks noGrp="1"/>
          </p:cNvSpPr>
          <p:nvPr>
            <p:ph sz="half" idx="2"/>
          </p:nvPr>
        </p:nvSpPr>
        <p:spPr/>
        <p:txBody>
          <a:bodyPr>
            <a:normAutofit fontScale="85000" lnSpcReduction="10000"/>
          </a:bodyPr>
          <a:lstStyle/>
          <a:p>
            <a:r>
              <a:rPr lang="en-GB" dirty="0"/>
              <a:t>Practice eye movements: use a toy car (or any other object), place the car on the table to the left. Push the car across the table to the right and learner follows the car with his/her eyes trying to keep the head still. </a:t>
            </a:r>
          </a:p>
          <a:p>
            <a:r>
              <a:rPr lang="en-GB" dirty="0"/>
              <a:t>Do activities to develop foreground/background: Learners identify an image in a busy picture.</a:t>
            </a:r>
          </a:p>
          <a:p>
            <a:r>
              <a:rPr lang="en-GB" dirty="0"/>
              <a:t>Use pictures to understand simple phrases and sentences in a book </a:t>
            </a:r>
          </a:p>
          <a:p>
            <a:r>
              <a:rPr lang="en-GB" dirty="0"/>
              <a:t>Match words to objects: match labels to </a:t>
            </a:r>
            <a:r>
              <a:rPr lang="en-GB" dirty="0" err="1"/>
              <a:t>labeled</a:t>
            </a:r>
            <a:r>
              <a:rPr lang="en-GB" dirty="0"/>
              <a:t> items on an interest table</a:t>
            </a:r>
            <a:endParaRPr lang="en-ZA" dirty="0"/>
          </a:p>
        </p:txBody>
      </p:sp>
    </p:spTree>
    <p:extLst>
      <p:ext uri="{BB962C8B-B14F-4D97-AF65-F5344CB8AC3E}">
        <p14:creationId xmlns:p14="http://schemas.microsoft.com/office/powerpoint/2010/main" val="3237263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945EB-98A7-4673-95D0-7917EA740783}"/>
              </a:ext>
            </a:extLst>
          </p:cNvPr>
          <p:cNvSpPr>
            <a:spLocks noGrp="1"/>
          </p:cNvSpPr>
          <p:nvPr>
            <p:ph type="title"/>
          </p:nvPr>
        </p:nvSpPr>
        <p:spPr>
          <a:xfrm>
            <a:off x="838200" y="1"/>
            <a:ext cx="10515600" cy="583095"/>
          </a:xfrm>
        </p:spPr>
        <p:txBody>
          <a:bodyPr>
            <a:normAutofit fontScale="90000"/>
          </a:bodyPr>
          <a:lstStyle/>
          <a:p>
            <a:r>
              <a:rPr lang="en-ZA" sz="4800" b="1" dirty="0"/>
              <a:t>ASSESSMENT GOALS</a:t>
            </a:r>
          </a:p>
        </p:txBody>
      </p:sp>
      <p:graphicFrame>
        <p:nvGraphicFramePr>
          <p:cNvPr id="4" name="Table 4">
            <a:extLst>
              <a:ext uri="{FF2B5EF4-FFF2-40B4-BE49-F238E27FC236}">
                <a16:creationId xmlns:a16="http://schemas.microsoft.com/office/drawing/2014/main" id="{C4D25978-DD8B-41DF-8416-9FA5F243F8ED}"/>
              </a:ext>
            </a:extLst>
          </p:cNvPr>
          <p:cNvGraphicFramePr>
            <a:graphicFrameLocks noGrp="1"/>
          </p:cNvGraphicFramePr>
          <p:nvPr>
            <p:ph idx="1"/>
            <p:extLst>
              <p:ext uri="{D42A27DB-BD31-4B8C-83A1-F6EECF244321}">
                <p14:modId xmlns:p14="http://schemas.microsoft.com/office/powerpoint/2010/main" val="3236166269"/>
              </p:ext>
            </p:extLst>
          </p:nvPr>
        </p:nvGraphicFramePr>
        <p:xfrm>
          <a:off x="259644" y="583096"/>
          <a:ext cx="11733572" cy="6217920"/>
        </p:xfrm>
        <a:graphic>
          <a:graphicData uri="http://schemas.openxmlformats.org/drawingml/2006/table">
            <a:tbl>
              <a:tblPr firstRow="1" bandRow="1">
                <a:tableStyleId>{5C22544A-7EE6-4342-B048-85BDC9FD1C3A}</a:tableStyleId>
              </a:tblPr>
              <a:tblGrid>
                <a:gridCol w="5852000">
                  <a:extLst>
                    <a:ext uri="{9D8B030D-6E8A-4147-A177-3AD203B41FA5}">
                      <a16:colId xmlns:a16="http://schemas.microsoft.com/office/drawing/2014/main" val="3692379895"/>
                    </a:ext>
                  </a:extLst>
                </a:gridCol>
                <a:gridCol w="5881572">
                  <a:extLst>
                    <a:ext uri="{9D8B030D-6E8A-4147-A177-3AD203B41FA5}">
                      <a16:colId xmlns:a16="http://schemas.microsoft.com/office/drawing/2014/main" val="3412528075"/>
                    </a:ext>
                  </a:extLst>
                </a:gridCol>
              </a:tblGrid>
              <a:tr h="4206240">
                <a:tc>
                  <a:txBody>
                    <a:bodyPr/>
                    <a:lstStyle/>
                    <a:p>
                      <a:r>
                        <a:rPr lang="en-GB" dirty="0"/>
                        <a:t>Listen to stories and respond to questions</a:t>
                      </a:r>
                    </a:p>
                    <a:p>
                      <a:r>
                        <a:rPr lang="en-GB" dirty="0"/>
                        <a:t> Use visual and pictorial cues to make meaning</a:t>
                      </a:r>
                    </a:p>
                    <a:p>
                      <a:r>
                        <a:rPr lang="en-GB" dirty="0"/>
                        <a:t> Process information</a:t>
                      </a:r>
                    </a:p>
                    <a:p>
                      <a:r>
                        <a:rPr lang="en-GB" dirty="0"/>
                        <a:t> Compare and classify information</a:t>
                      </a:r>
                    </a:p>
                    <a:p>
                      <a:r>
                        <a:rPr lang="en-GB" dirty="0"/>
                        <a:t> Use language for communication</a:t>
                      </a:r>
                    </a:p>
                    <a:p>
                      <a:r>
                        <a:rPr lang="en-GB" dirty="0"/>
                        <a:t> Solve and complete ten or more piece jig-saw puzzles</a:t>
                      </a:r>
                    </a:p>
                    <a:p>
                      <a:r>
                        <a:rPr lang="en-GB" dirty="0"/>
                        <a:t> Match things that go together and compare things that are different</a:t>
                      </a:r>
                    </a:p>
                    <a:p>
                      <a:endParaRPr lang="en-ZA" dirty="0"/>
                    </a:p>
                  </a:txBody>
                  <a:tcPr/>
                </a:tc>
                <a:tc>
                  <a:txBody>
                    <a:bodyPr/>
                    <a:lstStyle/>
                    <a:p>
                      <a:pPr marL="285750" indent="-285750">
                        <a:buFont typeface="Arial" panose="020B0604020202020204" pitchFamily="34" charset="0"/>
                        <a:buChar char="•"/>
                      </a:pPr>
                      <a:r>
                        <a:rPr lang="en-GB" dirty="0"/>
                        <a:t>EMERGENT READING</a:t>
                      </a:r>
                    </a:p>
                    <a:p>
                      <a:pPr marL="285750" indent="-285750">
                        <a:buFont typeface="Arial" panose="020B0604020202020204" pitchFamily="34" charset="0"/>
                        <a:buChar char="•"/>
                      </a:pPr>
                      <a:r>
                        <a:rPr lang="en-GB" dirty="0"/>
                        <a:t> Use pictures to understand simple phrases and sentences in a book </a:t>
                      </a:r>
                    </a:p>
                    <a:p>
                      <a:pPr marL="285750" indent="-285750">
                        <a:buFont typeface="Arial" panose="020B0604020202020204" pitchFamily="34" charset="0"/>
                        <a:buChar char="•"/>
                      </a:pPr>
                      <a:r>
                        <a:rPr lang="en-GB" dirty="0"/>
                        <a:t> Match words to objects</a:t>
                      </a:r>
                    </a:p>
                    <a:p>
                      <a:pPr marL="285750" indent="-285750">
                        <a:buFont typeface="Arial" panose="020B0604020202020204" pitchFamily="34" charset="0"/>
                        <a:buChar char="•"/>
                      </a:pPr>
                      <a:r>
                        <a:rPr lang="en-GB" dirty="0"/>
                        <a:t> Use the picture on the front cover to predict what the story is about</a:t>
                      </a:r>
                    </a:p>
                    <a:p>
                      <a:pPr marL="285750" indent="-285750">
                        <a:buFont typeface="Arial" panose="020B0604020202020204" pitchFamily="34" charset="0"/>
                        <a:buChar char="•"/>
                      </a:pPr>
                      <a:r>
                        <a:rPr lang="en-GB" dirty="0"/>
                        <a:t> Use pictures to understand simple phrases and sentences in a book. </a:t>
                      </a:r>
                    </a:p>
                    <a:p>
                      <a:pPr marL="285750" indent="-285750">
                        <a:buFont typeface="Arial" panose="020B0604020202020204" pitchFamily="34" charset="0"/>
                        <a:buChar char="•"/>
                      </a:pPr>
                      <a:r>
                        <a:rPr lang="en-GB" dirty="0"/>
                        <a:t> Distinguish pictures from print: points to a word and ask what the word is </a:t>
                      </a:r>
                    </a:p>
                    <a:p>
                      <a:pPr marL="285750" indent="-285750">
                        <a:buFont typeface="Arial" panose="020B0604020202020204" pitchFamily="34" charset="0"/>
                        <a:buChar char="•"/>
                      </a:pPr>
                      <a:r>
                        <a:rPr lang="en-GB" dirty="0"/>
                        <a:t> Discuss the title of the book/story</a:t>
                      </a:r>
                    </a:p>
                    <a:p>
                      <a:pPr marL="285750" indent="-285750">
                        <a:buFont typeface="Arial" panose="020B0604020202020204" pitchFamily="34" charset="0"/>
                        <a:buChar char="•"/>
                      </a:pPr>
                      <a:r>
                        <a:rPr lang="en-GB" dirty="0"/>
                        <a:t> “Read” and recognise high frequency words and sight words</a:t>
                      </a:r>
                    </a:p>
                    <a:p>
                      <a:pPr marL="285750" indent="-285750">
                        <a:buFont typeface="Arial" panose="020B0604020202020204" pitchFamily="34" charset="0"/>
                        <a:buChar char="•"/>
                      </a:pPr>
                      <a:r>
                        <a:rPr lang="en-GB" dirty="0"/>
                        <a:t> Recognise phonic sounds that have been taught</a:t>
                      </a:r>
                    </a:p>
                    <a:p>
                      <a:pPr marL="285750" indent="-285750">
                        <a:buFont typeface="Arial" panose="020B0604020202020204" pitchFamily="34" charset="0"/>
                        <a:buChar char="•"/>
                      </a:pPr>
                      <a:r>
                        <a:rPr lang="en-GB" dirty="0"/>
                        <a:t> Recall details and states main idea from a story</a:t>
                      </a:r>
                      <a:endParaRPr lang="en-ZA" dirty="0"/>
                    </a:p>
                  </a:txBody>
                  <a:tcPr/>
                </a:tc>
                <a:extLst>
                  <a:ext uri="{0D108BD9-81ED-4DB2-BD59-A6C34878D82A}">
                    <a16:rowId xmlns:a16="http://schemas.microsoft.com/office/drawing/2014/main" val="179782053"/>
                  </a:ext>
                </a:extLst>
              </a:tr>
              <a:tr h="2011680">
                <a:tc>
                  <a:txBody>
                    <a:bodyPr/>
                    <a:lstStyle/>
                    <a:p>
                      <a:r>
                        <a:rPr lang="en-GB" dirty="0"/>
                        <a:t>PHONOLOGICAL AWARENESS AND PHONICS</a:t>
                      </a:r>
                    </a:p>
                    <a:p>
                      <a:r>
                        <a:rPr lang="en-GB" dirty="0"/>
                        <a:t> Identify letter-sound relationship of single letters</a:t>
                      </a:r>
                    </a:p>
                    <a:p>
                      <a:r>
                        <a:rPr lang="en-GB" dirty="0"/>
                        <a:t> Distinguish between different medial letter sounds in three-letter words</a:t>
                      </a:r>
                    </a:p>
                    <a:p>
                      <a:r>
                        <a:rPr lang="en-GB" dirty="0"/>
                        <a:t>Build and blend words with the word families that were taught.</a:t>
                      </a:r>
                    </a:p>
                    <a:p>
                      <a:r>
                        <a:rPr lang="en-GB" dirty="0"/>
                        <a:t> Recognise and names some letters of the alphabet</a:t>
                      </a:r>
                      <a:endParaRPr lang="en-ZA" dirty="0"/>
                    </a:p>
                  </a:txBody>
                  <a:tcPr/>
                </a:tc>
                <a:tc>
                  <a:txBody>
                    <a:bodyPr/>
                    <a:lstStyle/>
                    <a:p>
                      <a:pPr marL="285750" indent="-285750">
                        <a:buFont typeface="Arial" panose="020B0604020202020204" pitchFamily="34" charset="0"/>
                        <a:buChar char="•"/>
                      </a:pPr>
                      <a:r>
                        <a:rPr lang="en-GB" dirty="0"/>
                        <a:t>HANDWRITING</a:t>
                      </a:r>
                    </a:p>
                    <a:p>
                      <a:pPr marL="285750" indent="-285750">
                        <a:buFont typeface="Arial" panose="020B0604020202020204" pitchFamily="34" charset="0"/>
                        <a:buChar char="•"/>
                      </a:pPr>
                      <a:r>
                        <a:rPr lang="en-GB" dirty="0"/>
                        <a:t> Make patterns with finger paint </a:t>
                      </a:r>
                    </a:p>
                    <a:p>
                      <a:pPr marL="285750" indent="-285750">
                        <a:buFont typeface="Arial" panose="020B0604020202020204" pitchFamily="34" charset="0"/>
                        <a:buChar char="•"/>
                      </a:pPr>
                      <a:r>
                        <a:rPr lang="en-GB" dirty="0"/>
                        <a:t> Trace simple outlines of pictures, patterns and own name</a:t>
                      </a:r>
                    </a:p>
                    <a:p>
                      <a:pPr marL="285750" indent="-285750">
                        <a:buFont typeface="Arial" panose="020B0604020202020204" pitchFamily="34" charset="0"/>
                        <a:buChar char="•"/>
                      </a:pPr>
                      <a:r>
                        <a:rPr lang="en-GB" dirty="0"/>
                        <a:t> Start to write letters in own name</a:t>
                      </a:r>
                      <a:endParaRPr lang="en-ZA" dirty="0"/>
                    </a:p>
                  </a:txBody>
                  <a:tcPr/>
                </a:tc>
                <a:extLst>
                  <a:ext uri="{0D108BD9-81ED-4DB2-BD59-A6C34878D82A}">
                    <a16:rowId xmlns:a16="http://schemas.microsoft.com/office/drawing/2014/main" val="852639857"/>
                  </a:ext>
                </a:extLst>
              </a:tr>
            </a:tbl>
          </a:graphicData>
        </a:graphic>
      </p:graphicFrame>
    </p:spTree>
    <p:extLst>
      <p:ext uri="{BB962C8B-B14F-4D97-AF65-F5344CB8AC3E}">
        <p14:creationId xmlns:p14="http://schemas.microsoft.com/office/powerpoint/2010/main" val="3367201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5D3DA-4626-439A-BC69-7922EF2BDF3E}"/>
              </a:ext>
            </a:extLst>
          </p:cNvPr>
          <p:cNvSpPr>
            <a:spLocks noGrp="1"/>
          </p:cNvSpPr>
          <p:nvPr>
            <p:ph type="title"/>
          </p:nvPr>
        </p:nvSpPr>
        <p:spPr/>
        <p:txBody>
          <a:bodyPr/>
          <a:lstStyle/>
          <a:p>
            <a:r>
              <a:rPr lang="en-ZA" b="1" dirty="0"/>
              <a:t>TRANSPORT</a:t>
            </a:r>
          </a:p>
        </p:txBody>
      </p:sp>
      <p:pic>
        <p:nvPicPr>
          <p:cNvPr id="4" name="Content Placeholder 3">
            <a:extLst>
              <a:ext uri="{FF2B5EF4-FFF2-40B4-BE49-F238E27FC236}">
                <a16:creationId xmlns:a16="http://schemas.microsoft.com/office/drawing/2014/main" id="{10D4CD49-A37E-4C72-BA51-056FAE578670}"/>
              </a:ext>
            </a:extLst>
          </p:cNvPr>
          <p:cNvPicPr>
            <a:picLocks noGrp="1" noChangeAspect="1"/>
          </p:cNvPicPr>
          <p:nvPr>
            <p:ph idx="1"/>
          </p:nvPr>
        </p:nvPicPr>
        <p:blipFill>
          <a:blip r:embed="rId2"/>
          <a:stretch>
            <a:fillRect/>
          </a:stretch>
        </p:blipFill>
        <p:spPr>
          <a:xfrm>
            <a:off x="1004712" y="1478844"/>
            <a:ext cx="6784622" cy="4303625"/>
          </a:xfrm>
          <a:prstGeom prst="rect">
            <a:avLst/>
          </a:prstGeom>
        </p:spPr>
      </p:pic>
    </p:spTree>
    <p:extLst>
      <p:ext uri="{BB962C8B-B14F-4D97-AF65-F5344CB8AC3E}">
        <p14:creationId xmlns:p14="http://schemas.microsoft.com/office/powerpoint/2010/main" val="17856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FB332-ADD8-41C4-B7C6-B9D03217BDC3}"/>
              </a:ext>
            </a:extLst>
          </p:cNvPr>
          <p:cNvSpPr>
            <a:spLocks noGrp="1"/>
          </p:cNvSpPr>
          <p:nvPr>
            <p:ph type="title"/>
          </p:nvPr>
        </p:nvSpPr>
        <p:spPr>
          <a:xfrm>
            <a:off x="646111" y="452718"/>
            <a:ext cx="9404723" cy="6067352"/>
          </a:xfrm>
        </p:spPr>
        <p:txBody>
          <a:bodyPr/>
          <a:lstStyle/>
          <a:p>
            <a:r>
              <a:rPr lang="en-ZA" sz="9600" dirty="0"/>
              <a:t>     </a:t>
            </a:r>
            <a:br>
              <a:rPr lang="en-ZA" sz="9600" dirty="0"/>
            </a:br>
            <a:r>
              <a:rPr lang="en-ZA" sz="9600" dirty="0"/>
              <a:t>      GROUP 1</a:t>
            </a:r>
          </a:p>
        </p:txBody>
      </p:sp>
    </p:spTree>
    <p:extLst>
      <p:ext uri="{BB962C8B-B14F-4D97-AF65-F5344CB8AC3E}">
        <p14:creationId xmlns:p14="http://schemas.microsoft.com/office/powerpoint/2010/main" val="3163512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0ED5D-A49B-4CB9-A8BE-CA006B7D45D7}"/>
              </a:ext>
            </a:extLst>
          </p:cNvPr>
          <p:cNvSpPr>
            <a:spLocks noGrp="1"/>
          </p:cNvSpPr>
          <p:nvPr>
            <p:ph type="title"/>
          </p:nvPr>
        </p:nvSpPr>
        <p:spPr/>
        <p:txBody>
          <a:bodyPr/>
          <a:lstStyle/>
          <a:p>
            <a:r>
              <a:rPr lang="en-ZA" dirty="0"/>
              <a:t>Draw the line to match each picture with the right word</a:t>
            </a:r>
          </a:p>
        </p:txBody>
      </p:sp>
      <p:sp>
        <p:nvSpPr>
          <p:cNvPr id="3" name="Content Placeholder 2">
            <a:extLst>
              <a:ext uri="{FF2B5EF4-FFF2-40B4-BE49-F238E27FC236}">
                <a16:creationId xmlns:a16="http://schemas.microsoft.com/office/drawing/2014/main" id="{7D73548D-411D-45BC-A8CA-0E146E4C2812}"/>
              </a:ext>
            </a:extLst>
          </p:cNvPr>
          <p:cNvSpPr>
            <a:spLocks noGrp="1"/>
          </p:cNvSpPr>
          <p:nvPr>
            <p:ph idx="1"/>
          </p:nvPr>
        </p:nvSpPr>
        <p:spPr/>
        <p:txBody>
          <a:bodyPr/>
          <a:lstStyle/>
          <a:p>
            <a:pPr marL="0" indent="0">
              <a:buNone/>
            </a:pPr>
            <a:endParaRPr lang="en-ZA" dirty="0"/>
          </a:p>
          <a:p>
            <a:endParaRPr lang="en-ZA" dirty="0"/>
          </a:p>
        </p:txBody>
      </p:sp>
      <p:pic>
        <p:nvPicPr>
          <p:cNvPr id="7" name="Picture 6">
            <a:extLst>
              <a:ext uri="{FF2B5EF4-FFF2-40B4-BE49-F238E27FC236}">
                <a16:creationId xmlns:a16="http://schemas.microsoft.com/office/drawing/2014/main" id="{9D28A464-251D-4AD5-BD7E-0D8842B371C0}"/>
              </a:ext>
            </a:extLst>
          </p:cNvPr>
          <p:cNvPicPr>
            <a:picLocks noChangeAspect="1"/>
          </p:cNvPicPr>
          <p:nvPr/>
        </p:nvPicPr>
        <p:blipFill>
          <a:blip r:embed="rId2"/>
          <a:stretch>
            <a:fillRect/>
          </a:stretch>
        </p:blipFill>
        <p:spPr>
          <a:xfrm>
            <a:off x="2686579" y="2160589"/>
            <a:ext cx="5396265" cy="3731506"/>
          </a:xfrm>
          <a:prstGeom prst="rect">
            <a:avLst/>
          </a:prstGeom>
        </p:spPr>
      </p:pic>
    </p:spTree>
    <p:extLst>
      <p:ext uri="{BB962C8B-B14F-4D97-AF65-F5344CB8AC3E}">
        <p14:creationId xmlns:p14="http://schemas.microsoft.com/office/powerpoint/2010/main" val="3351180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and transport - match the parts - TurtleDiary.com">
            <a:extLst>
              <a:ext uri="{FF2B5EF4-FFF2-40B4-BE49-F238E27FC236}">
                <a16:creationId xmlns:a16="http://schemas.microsoft.com/office/drawing/2014/main" id="{6CCAE9AA-1EBB-4E37-8708-490861D1F7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7183" y="0"/>
            <a:ext cx="681161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2119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548A989-6442-4980-A54C-769F9FCBD830}"/>
              </a:ext>
            </a:extLst>
          </p:cNvPr>
          <p:cNvPicPr>
            <a:picLocks noChangeAspect="1"/>
          </p:cNvPicPr>
          <p:nvPr/>
        </p:nvPicPr>
        <p:blipFill>
          <a:blip r:embed="rId2"/>
          <a:stretch>
            <a:fillRect/>
          </a:stretch>
        </p:blipFill>
        <p:spPr>
          <a:xfrm>
            <a:off x="1095022" y="688622"/>
            <a:ext cx="7642578" cy="5791200"/>
          </a:xfrm>
          <a:prstGeom prst="rect">
            <a:avLst/>
          </a:prstGeom>
        </p:spPr>
      </p:pic>
    </p:spTree>
    <p:extLst>
      <p:ext uri="{BB962C8B-B14F-4D97-AF65-F5344CB8AC3E}">
        <p14:creationId xmlns:p14="http://schemas.microsoft.com/office/powerpoint/2010/main" val="2744691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C75E9-91C9-4930-B194-2D0A620B89A3}"/>
              </a:ext>
            </a:extLst>
          </p:cNvPr>
          <p:cNvSpPr>
            <a:spLocks noGrp="1"/>
          </p:cNvSpPr>
          <p:nvPr>
            <p:ph type="title"/>
          </p:nvPr>
        </p:nvSpPr>
        <p:spPr>
          <a:xfrm>
            <a:off x="646111" y="452717"/>
            <a:ext cx="9404723" cy="5391491"/>
          </a:xfrm>
        </p:spPr>
        <p:txBody>
          <a:bodyPr/>
          <a:lstStyle/>
          <a:p>
            <a:r>
              <a:rPr lang="en-ZA" sz="9600" dirty="0"/>
              <a:t>     </a:t>
            </a:r>
            <a:br>
              <a:rPr lang="en-ZA" sz="9600" dirty="0"/>
            </a:br>
            <a:r>
              <a:rPr lang="en-ZA" sz="9600" dirty="0"/>
              <a:t>       GROUP 2</a:t>
            </a:r>
          </a:p>
        </p:txBody>
      </p:sp>
    </p:spTree>
    <p:extLst>
      <p:ext uri="{BB962C8B-B14F-4D97-AF65-F5344CB8AC3E}">
        <p14:creationId xmlns:p14="http://schemas.microsoft.com/office/powerpoint/2010/main" val="3970460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a worksheet with pictures of different vehicles">
            <a:extLst>
              <a:ext uri="{FF2B5EF4-FFF2-40B4-BE49-F238E27FC236}">
                <a16:creationId xmlns:a16="http://schemas.microsoft.com/office/drawing/2014/main" id="{3C812CD3-137A-44A5-A94D-30F08632A2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687" y="509588"/>
            <a:ext cx="9422296" cy="6169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8674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F48BD-2669-4598-AB66-C84302EEDE27}"/>
              </a:ext>
            </a:extLst>
          </p:cNvPr>
          <p:cNvSpPr>
            <a:spLocks noGrp="1"/>
          </p:cNvSpPr>
          <p:nvPr>
            <p:ph type="title"/>
          </p:nvPr>
        </p:nvSpPr>
        <p:spPr/>
        <p:txBody>
          <a:bodyPr>
            <a:normAutofit/>
          </a:bodyPr>
          <a:lstStyle/>
          <a:p>
            <a:r>
              <a:rPr lang="en-GB" sz="3200" dirty="0"/>
              <a:t>Draw a line to match each picture with the right word</a:t>
            </a:r>
            <a:endParaRPr lang="en-ZA" sz="3200" dirty="0"/>
          </a:p>
        </p:txBody>
      </p:sp>
      <p:pic>
        <p:nvPicPr>
          <p:cNvPr id="9" name="Content Placeholder 8">
            <a:extLst>
              <a:ext uri="{FF2B5EF4-FFF2-40B4-BE49-F238E27FC236}">
                <a16:creationId xmlns:a16="http://schemas.microsoft.com/office/drawing/2014/main" id="{17AEB9E6-FD0F-4114-8569-69D62B437C3D}"/>
              </a:ext>
            </a:extLst>
          </p:cNvPr>
          <p:cNvPicPr>
            <a:picLocks noGrp="1" noChangeAspect="1"/>
          </p:cNvPicPr>
          <p:nvPr>
            <p:ph idx="1"/>
          </p:nvPr>
        </p:nvPicPr>
        <p:blipFill>
          <a:blip r:embed="rId2"/>
          <a:stretch>
            <a:fillRect/>
          </a:stretch>
        </p:blipFill>
        <p:spPr>
          <a:xfrm>
            <a:off x="2122311" y="2372519"/>
            <a:ext cx="5734756" cy="3457575"/>
          </a:xfrm>
        </p:spPr>
      </p:pic>
    </p:spTree>
    <p:extLst>
      <p:ext uri="{BB962C8B-B14F-4D97-AF65-F5344CB8AC3E}">
        <p14:creationId xmlns:p14="http://schemas.microsoft.com/office/powerpoint/2010/main" val="1337043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E0D416-6700-4488-B027-B04DA19D0400}"/>
              </a:ext>
            </a:extLst>
          </p:cNvPr>
          <p:cNvPicPr>
            <a:picLocks noChangeAspect="1"/>
          </p:cNvPicPr>
          <p:nvPr/>
        </p:nvPicPr>
        <p:blipFill>
          <a:blip r:embed="rId2"/>
          <a:stretch>
            <a:fillRect/>
          </a:stretch>
        </p:blipFill>
        <p:spPr>
          <a:xfrm>
            <a:off x="1580445" y="0"/>
            <a:ext cx="6925766" cy="6858000"/>
          </a:xfrm>
          <a:prstGeom prst="rect">
            <a:avLst/>
          </a:prstGeom>
        </p:spPr>
      </p:pic>
    </p:spTree>
    <p:extLst>
      <p:ext uri="{BB962C8B-B14F-4D97-AF65-F5344CB8AC3E}">
        <p14:creationId xmlns:p14="http://schemas.microsoft.com/office/powerpoint/2010/main" val="238403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9F2AC-6FA8-41D2-8994-DF37B37CB6C4}"/>
              </a:ext>
            </a:extLst>
          </p:cNvPr>
          <p:cNvSpPr>
            <a:spLocks noGrp="1"/>
          </p:cNvSpPr>
          <p:nvPr>
            <p:ph type="title"/>
          </p:nvPr>
        </p:nvSpPr>
        <p:spPr/>
        <p:txBody>
          <a:bodyPr>
            <a:normAutofit fontScale="90000"/>
          </a:bodyPr>
          <a:lstStyle/>
          <a:p>
            <a:r>
              <a:rPr lang="en-ZA" sz="9600" dirty="0"/>
              <a:t>     </a:t>
            </a:r>
            <a:br>
              <a:rPr lang="en-ZA" sz="9600" dirty="0"/>
            </a:br>
            <a:r>
              <a:rPr lang="en-ZA" sz="9600" dirty="0"/>
              <a:t>      GROUP 3</a:t>
            </a:r>
          </a:p>
        </p:txBody>
      </p:sp>
    </p:spTree>
    <p:extLst>
      <p:ext uri="{BB962C8B-B14F-4D97-AF65-F5344CB8AC3E}">
        <p14:creationId xmlns:p14="http://schemas.microsoft.com/office/powerpoint/2010/main" val="901101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Transportation Fill In worksheet">
            <a:extLst>
              <a:ext uri="{FF2B5EF4-FFF2-40B4-BE49-F238E27FC236}">
                <a16:creationId xmlns:a16="http://schemas.microsoft.com/office/drawing/2014/main" id="{AF938E5C-E600-48F4-80B3-E144B63CAD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9530" y="333375"/>
            <a:ext cx="8083827" cy="619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8697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883F298-2AD6-459F-AD1B-8009B79737D6}"/>
              </a:ext>
            </a:extLst>
          </p:cNvPr>
          <p:cNvPicPr>
            <a:picLocks noChangeAspect="1"/>
          </p:cNvPicPr>
          <p:nvPr/>
        </p:nvPicPr>
        <p:blipFill>
          <a:blip r:embed="rId2"/>
          <a:stretch>
            <a:fillRect/>
          </a:stretch>
        </p:blipFill>
        <p:spPr>
          <a:xfrm>
            <a:off x="733778" y="0"/>
            <a:ext cx="8613422" cy="6858000"/>
          </a:xfrm>
          <a:prstGeom prst="rect">
            <a:avLst/>
          </a:prstGeom>
        </p:spPr>
      </p:pic>
    </p:spTree>
    <p:extLst>
      <p:ext uri="{BB962C8B-B14F-4D97-AF65-F5344CB8AC3E}">
        <p14:creationId xmlns:p14="http://schemas.microsoft.com/office/powerpoint/2010/main" val="3925588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4F863-7957-421A-B6E6-138773F2D017}"/>
              </a:ext>
            </a:extLst>
          </p:cNvPr>
          <p:cNvSpPr>
            <a:spLocks noGrp="1"/>
          </p:cNvSpPr>
          <p:nvPr>
            <p:ph type="title"/>
          </p:nvPr>
        </p:nvSpPr>
        <p:spPr>
          <a:xfrm>
            <a:off x="646111" y="452718"/>
            <a:ext cx="9404723" cy="686969"/>
          </a:xfrm>
        </p:spPr>
        <p:txBody>
          <a:bodyPr/>
          <a:lstStyle/>
          <a:p>
            <a:r>
              <a:rPr lang="en-ZA" dirty="0"/>
              <a:t>ROAD/ TRAFFIC SAFETY</a:t>
            </a:r>
          </a:p>
        </p:txBody>
      </p:sp>
      <p:pic>
        <p:nvPicPr>
          <p:cNvPr id="6146" name="Picture 2" descr="Image result for ROAD AD TRAFIC SAFETY CARTOON PICTURES">
            <a:extLst>
              <a:ext uri="{FF2B5EF4-FFF2-40B4-BE49-F238E27FC236}">
                <a16:creationId xmlns:a16="http://schemas.microsoft.com/office/drawing/2014/main" id="{455D0FB9-D048-47C9-A8EE-566E64682B7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6111" y="1139687"/>
            <a:ext cx="10048393"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6105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Image result for ROAD AD TRAFIC SAFETY CARTOON PICTURES">
            <a:extLst>
              <a:ext uri="{FF2B5EF4-FFF2-40B4-BE49-F238E27FC236}">
                <a16:creationId xmlns:a16="http://schemas.microsoft.com/office/drawing/2014/main" id="{9FAF4D19-1B47-455B-B96C-CC6B9BF907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365" y="294861"/>
            <a:ext cx="9316279" cy="6268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413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Image result for ROAD AND TRAFIC SAFETY GRADE 1 ACTIVITIES">
            <a:extLst>
              <a:ext uri="{FF2B5EF4-FFF2-40B4-BE49-F238E27FC236}">
                <a16:creationId xmlns:a16="http://schemas.microsoft.com/office/drawing/2014/main" id="{895C4A96-9434-4CE7-850C-1F1E008A34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1023" y="-22578"/>
            <a:ext cx="7258756" cy="670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1119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C3AA1-6987-4CB0-8541-DBB20F3F01F7}"/>
              </a:ext>
            </a:extLst>
          </p:cNvPr>
          <p:cNvSpPr>
            <a:spLocks noGrp="1"/>
          </p:cNvSpPr>
          <p:nvPr>
            <p:ph type="title"/>
          </p:nvPr>
        </p:nvSpPr>
        <p:spPr/>
        <p:txBody>
          <a:bodyPr>
            <a:normAutofit fontScale="90000"/>
          </a:bodyPr>
          <a:lstStyle/>
          <a:p>
            <a:br>
              <a:rPr lang="en-ZA" sz="9600" dirty="0"/>
            </a:br>
            <a:r>
              <a:rPr lang="en-ZA" sz="9600" dirty="0"/>
              <a:t>      GROUP 1</a:t>
            </a:r>
          </a:p>
        </p:txBody>
      </p:sp>
    </p:spTree>
    <p:extLst>
      <p:ext uri="{BB962C8B-B14F-4D97-AF65-F5344CB8AC3E}">
        <p14:creationId xmlns:p14="http://schemas.microsoft.com/office/powerpoint/2010/main" val="1215425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4A61F96-127B-4433-946A-54F1800D0BF8}"/>
              </a:ext>
            </a:extLst>
          </p:cNvPr>
          <p:cNvPicPr>
            <a:picLocks noChangeAspect="1"/>
          </p:cNvPicPr>
          <p:nvPr/>
        </p:nvPicPr>
        <p:blipFill>
          <a:blip r:embed="rId2"/>
          <a:stretch>
            <a:fillRect/>
          </a:stretch>
        </p:blipFill>
        <p:spPr>
          <a:xfrm>
            <a:off x="1806222" y="0"/>
            <a:ext cx="6822952" cy="6858000"/>
          </a:xfrm>
          <a:prstGeom prst="rect">
            <a:avLst/>
          </a:prstGeom>
        </p:spPr>
      </p:pic>
    </p:spTree>
    <p:extLst>
      <p:ext uri="{BB962C8B-B14F-4D97-AF65-F5344CB8AC3E}">
        <p14:creationId xmlns:p14="http://schemas.microsoft.com/office/powerpoint/2010/main" val="3220558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11CDE-55BD-4C11-B068-7699817E19B8}"/>
              </a:ext>
            </a:extLst>
          </p:cNvPr>
          <p:cNvSpPr>
            <a:spLocks noGrp="1"/>
          </p:cNvSpPr>
          <p:nvPr>
            <p:ph type="title"/>
          </p:nvPr>
        </p:nvSpPr>
        <p:spPr/>
        <p:txBody>
          <a:bodyPr>
            <a:normAutofit fontScale="90000"/>
          </a:bodyPr>
          <a:lstStyle/>
          <a:p>
            <a:r>
              <a:rPr lang="en-ZA" sz="9600" dirty="0"/>
              <a:t>  </a:t>
            </a:r>
            <a:br>
              <a:rPr lang="en-ZA" sz="9600" dirty="0"/>
            </a:br>
            <a:r>
              <a:rPr lang="en-ZA" sz="9600" dirty="0"/>
              <a:t>       GROUP 2</a:t>
            </a:r>
          </a:p>
        </p:txBody>
      </p:sp>
    </p:spTree>
    <p:extLst>
      <p:ext uri="{BB962C8B-B14F-4D97-AF65-F5344CB8AC3E}">
        <p14:creationId xmlns:p14="http://schemas.microsoft.com/office/powerpoint/2010/main" val="1237200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Road Safety Worksheet Road Safety Signs, Road Traffic Safety, Road ...">
            <a:extLst>
              <a:ext uri="{FF2B5EF4-FFF2-40B4-BE49-F238E27FC236}">
                <a16:creationId xmlns:a16="http://schemas.microsoft.com/office/drawing/2014/main" id="{A6B3EBA8-B96F-4ACF-80F9-3B0B3F9CBE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6365" y="238124"/>
            <a:ext cx="6983896" cy="6619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8890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6FE095-A4AF-440B-9EA3-00BFFB90173D}"/>
              </a:ext>
            </a:extLst>
          </p:cNvPr>
          <p:cNvPicPr>
            <a:picLocks noChangeAspect="1"/>
          </p:cNvPicPr>
          <p:nvPr/>
        </p:nvPicPr>
        <p:blipFill>
          <a:blip r:embed="rId2"/>
          <a:stretch>
            <a:fillRect/>
          </a:stretch>
        </p:blipFill>
        <p:spPr>
          <a:xfrm>
            <a:off x="2381956" y="638175"/>
            <a:ext cx="6276622" cy="5581650"/>
          </a:xfrm>
          <a:prstGeom prst="rect">
            <a:avLst/>
          </a:prstGeom>
        </p:spPr>
      </p:pic>
    </p:spTree>
    <p:extLst>
      <p:ext uri="{BB962C8B-B14F-4D97-AF65-F5344CB8AC3E}">
        <p14:creationId xmlns:p14="http://schemas.microsoft.com/office/powerpoint/2010/main" val="38036104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9BEEA-84BC-4AE8-9374-0AF561D61D25}"/>
              </a:ext>
            </a:extLst>
          </p:cNvPr>
          <p:cNvSpPr>
            <a:spLocks noGrp="1"/>
          </p:cNvSpPr>
          <p:nvPr>
            <p:ph type="title"/>
          </p:nvPr>
        </p:nvSpPr>
        <p:spPr/>
        <p:txBody>
          <a:bodyPr>
            <a:normAutofit fontScale="90000"/>
          </a:bodyPr>
          <a:lstStyle/>
          <a:p>
            <a:r>
              <a:rPr lang="en-ZA" sz="9600" dirty="0"/>
              <a:t>     </a:t>
            </a:r>
            <a:br>
              <a:rPr lang="en-ZA" sz="9600" dirty="0"/>
            </a:br>
            <a:r>
              <a:rPr lang="en-ZA" sz="9600" dirty="0"/>
              <a:t>       GROUP 3</a:t>
            </a:r>
          </a:p>
        </p:txBody>
      </p:sp>
    </p:spTree>
    <p:extLst>
      <p:ext uri="{BB962C8B-B14F-4D97-AF65-F5344CB8AC3E}">
        <p14:creationId xmlns:p14="http://schemas.microsoft.com/office/powerpoint/2010/main" val="1222818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Image result for ROAD AND TRAFIC SAFETY GRADE 1 ACTIVITIES">
            <a:extLst>
              <a:ext uri="{FF2B5EF4-FFF2-40B4-BE49-F238E27FC236}">
                <a16:creationId xmlns:a16="http://schemas.microsoft.com/office/drawing/2014/main" id="{652A6F91-C955-492C-9D4A-E4AC1DC0EA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3112" y="132522"/>
            <a:ext cx="7116417" cy="6520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8873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Kindergarten Science Traffic Light in 2024 | English lessons for kids ...">
            <a:extLst>
              <a:ext uri="{FF2B5EF4-FFF2-40B4-BE49-F238E27FC236}">
                <a16:creationId xmlns:a16="http://schemas.microsoft.com/office/drawing/2014/main" id="{9FF2815C-DB29-40F5-8D06-BAD91DCB97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7096" y="198783"/>
            <a:ext cx="7792278" cy="6546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34438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34C54-CCC8-4C64-982A-BA661AB5CB36}"/>
              </a:ext>
            </a:extLst>
          </p:cNvPr>
          <p:cNvSpPr>
            <a:spLocks noGrp="1"/>
          </p:cNvSpPr>
          <p:nvPr>
            <p:ph type="title"/>
          </p:nvPr>
        </p:nvSpPr>
        <p:spPr>
          <a:xfrm>
            <a:off x="646111" y="452718"/>
            <a:ext cx="9404723" cy="912256"/>
          </a:xfrm>
        </p:spPr>
        <p:txBody>
          <a:bodyPr/>
          <a:lstStyle/>
          <a:p>
            <a:r>
              <a:rPr lang="en-ZA" dirty="0"/>
              <a:t>PEOPLE WHO HELP US</a:t>
            </a:r>
          </a:p>
        </p:txBody>
      </p:sp>
      <p:pic>
        <p:nvPicPr>
          <p:cNvPr id="14338" name="Picture 2" descr="People who help us collection | Tes">
            <a:extLst>
              <a:ext uri="{FF2B5EF4-FFF2-40B4-BE49-F238E27FC236}">
                <a16:creationId xmlns:a16="http://schemas.microsoft.com/office/drawing/2014/main" id="{468AB8B4-F935-4556-9588-377B0AEA0E7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6111" y="1243741"/>
            <a:ext cx="10525472" cy="5327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09282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95D43-8C18-4AEF-8B05-066A9DB39503}"/>
              </a:ext>
            </a:extLst>
          </p:cNvPr>
          <p:cNvSpPr>
            <a:spLocks noGrp="1"/>
          </p:cNvSpPr>
          <p:nvPr>
            <p:ph type="title"/>
          </p:nvPr>
        </p:nvSpPr>
        <p:spPr/>
        <p:txBody>
          <a:bodyPr>
            <a:normAutofit fontScale="90000"/>
          </a:bodyPr>
          <a:lstStyle/>
          <a:p>
            <a:r>
              <a:rPr lang="en-ZA" sz="9600" dirty="0"/>
              <a:t>     </a:t>
            </a:r>
            <a:br>
              <a:rPr lang="en-ZA" sz="9600" dirty="0"/>
            </a:br>
            <a:r>
              <a:rPr lang="en-ZA" sz="9600" dirty="0"/>
              <a:t>       GROUP 1</a:t>
            </a:r>
          </a:p>
        </p:txBody>
      </p:sp>
    </p:spTree>
    <p:extLst>
      <p:ext uri="{BB962C8B-B14F-4D97-AF65-F5344CB8AC3E}">
        <p14:creationId xmlns:p14="http://schemas.microsoft.com/office/powerpoint/2010/main" val="3740247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8D85876-F89D-4F64-9FE2-C0E176E75189}"/>
              </a:ext>
            </a:extLst>
          </p:cNvPr>
          <p:cNvPicPr>
            <a:picLocks noChangeAspect="1"/>
          </p:cNvPicPr>
          <p:nvPr/>
        </p:nvPicPr>
        <p:blipFill>
          <a:blip r:embed="rId2"/>
          <a:stretch>
            <a:fillRect/>
          </a:stretch>
        </p:blipFill>
        <p:spPr>
          <a:xfrm>
            <a:off x="485422" y="519290"/>
            <a:ext cx="8610953" cy="5655732"/>
          </a:xfrm>
          <a:prstGeom prst="rect">
            <a:avLst/>
          </a:prstGeom>
        </p:spPr>
      </p:pic>
    </p:spTree>
    <p:extLst>
      <p:ext uri="{BB962C8B-B14F-4D97-AF65-F5344CB8AC3E}">
        <p14:creationId xmlns:p14="http://schemas.microsoft.com/office/powerpoint/2010/main" val="28311910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255FF-B0E3-4A5B-A325-05C4B67963AB}"/>
              </a:ext>
            </a:extLst>
          </p:cNvPr>
          <p:cNvSpPr>
            <a:spLocks noGrp="1"/>
          </p:cNvSpPr>
          <p:nvPr>
            <p:ph type="title"/>
          </p:nvPr>
        </p:nvSpPr>
        <p:spPr/>
        <p:txBody>
          <a:bodyPr>
            <a:normAutofit fontScale="90000"/>
          </a:bodyPr>
          <a:lstStyle/>
          <a:p>
            <a:r>
              <a:rPr lang="en-ZA" sz="9600" dirty="0"/>
              <a:t>   </a:t>
            </a:r>
            <a:br>
              <a:rPr lang="en-ZA" sz="9600" dirty="0"/>
            </a:br>
            <a:r>
              <a:rPr lang="en-ZA" sz="9600" dirty="0"/>
              <a:t>       Group 2</a:t>
            </a:r>
          </a:p>
        </p:txBody>
      </p:sp>
    </p:spTree>
    <p:extLst>
      <p:ext uri="{BB962C8B-B14F-4D97-AF65-F5344CB8AC3E}">
        <p14:creationId xmlns:p14="http://schemas.microsoft.com/office/powerpoint/2010/main" val="3405772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Strangers and Community Helpers Social Situation - Twinkl">
            <a:extLst>
              <a:ext uri="{FF2B5EF4-FFF2-40B4-BE49-F238E27FC236}">
                <a16:creationId xmlns:a16="http://schemas.microsoft.com/office/drawing/2014/main" id="{C9BFAE9D-CEF6-4DF3-BB82-F0AA6C6933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5878" y="0"/>
            <a:ext cx="7858539" cy="6758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20884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7350BE3-CC69-4C3A-8F69-60BEEBB85396}"/>
              </a:ext>
            </a:extLst>
          </p:cNvPr>
          <p:cNvPicPr>
            <a:picLocks noChangeAspect="1"/>
          </p:cNvPicPr>
          <p:nvPr/>
        </p:nvPicPr>
        <p:blipFill>
          <a:blip r:embed="rId2"/>
          <a:stretch>
            <a:fillRect/>
          </a:stretch>
        </p:blipFill>
        <p:spPr>
          <a:xfrm>
            <a:off x="1773561" y="511811"/>
            <a:ext cx="8644877" cy="5834378"/>
          </a:xfrm>
          <a:prstGeom prst="rect">
            <a:avLst/>
          </a:prstGeom>
        </p:spPr>
      </p:pic>
    </p:spTree>
    <p:extLst>
      <p:ext uri="{BB962C8B-B14F-4D97-AF65-F5344CB8AC3E}">
        <p14:creationId xmlns:p14="http://schemas.microsoft.com/office/powerpoint/2010/main" val="13809975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9ED45-2D37-4786-A776-04B8A04FBF95}"/>
              </a:ext>
            </a:extLst>
          </p:cNvPr>
          <p:cNvSpPr>
            <a:spLocks noGrp="1"/>
          </p:cNvSpPr>
          <p:nvPr>
            <p:ph type="title"/>
          </p:nvPr>
        </p:nvSpPr>
        <p:spPr/>
        <p:txBody>
          <a:bodyPr>
            <a:normAutofit fontScale="90000"/>
          </a:bodyPr>
          <a:lstStyle/>
          <a:p>
            <a:r>
              <a:rPr lang="en-ZA" sz="9600" dirty="0"/>
              <a:t>     </a:t>
            </a:r>
            <a:br>
              <a:rPr lang="en-ZA" sz="9600" dirty="0"/>
            </a:br>
            <a:r>
              <a:rPr lang="en-ZA" sz="9600" dirty="0"/>
              <a:t>        Group 3</a:t>
            </a:r>
          </a:p>
        </p:txBody>
      </p:sp>
    </p:spTree>
    <p:extLst>
      <p:ext uri="{BB962C8B-B14F-4D97-AF65-F5344CB8AC3E}">
        <p14:creationId xmlns:p14="http://schemas.microsoft.com/office/powerpoint/2010/main" val="24998923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See related image detail. Community Helpers Worksheets by Catherine S | TPT">
            <a:extLst>
              <a:ext uri="{FF2B5EF4-FFF2-40B4-BE49-F238E27FC236}">
                <a16:creationId xmlns:a16="http://schemas.microsoft.com/office/drawing/2014/main" id="{1955E20B-C23B-43CF-823C-32627F780D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843" y="212035"/>
            <a:ext cx="7686261" cy="6533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52459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18C0A2-4D19-4974-B406-4DB0A66FC311}"/>
              </a:ext>
            </a:extLst>
          </p:cNvPr>
          <p:cNvPicPr>
            <a:picLocks noChangeAspect="1"/>
          </p:cNvPicPr>
          <p:nvPr/>
        </p:nvPicPr>
        <p:blipFill>
          <a:blip r:embed="rId2"/>
          <a:stretch>
            <a:fillRect/>
          </a:stretch>
        </p:blipFill>
        <p:spPr>
          <a:xfrm>
            <a:off x="643467" y="756355"/>
            <a:ext cx="8452908" cy="5452533"/>
          </a:xfrm>
          <a:prstGeom prst="rect">
            <a:avLst/>
          </a:prstGeom>
        </p:spPr>
      </p:pic>
    </p:spTree>
    <p:extLst>
      <p:ext uri="{BB962C8B-B14F-4D97-AF65-F5344CB8AC3E}">
        <p14:creationId xmlns:p14="http://schemas.microsoft.com/office/powerpoint/2010/main" val="19891034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112D9A-707A-48B7-83D5-0B1EBFC6BA95}"/>
              </a:ext>
            </a:extLst>
          </p:cNvPr>
          <p:cNvPicPr>
            <a:picLocks noChangeAspect="1"/>
          </p:cNvPicPr>
          <p:nvPr/>
        </p:nvPicPr>
        <p:blipFill>
          <a:blip r:embed="rId2"/>
          <a:stretch>
            <a:fillRect/>
          </a:stretch>
        </p:blipFill>
        <p:spPr>
          <a:xfrm>
            <a:off x="1004711" y="632178"/>
            <a:ext cx="8139553" cy="5746043"/>
          </a:xfrm>
          <a:prstGeom prst="rect">
            <a:avLst/>
          </a:prstGeom>
        </p:spPr>
      </p:pic>
    </p:spTree>
    <p:extLst>
      <p:ext uri="{BB962C8B-B14F-4D97-AF65-F5344CB8AC3E}">
        <p14:creationId xmlns:p14="http://schemas.microsoft.com/office/powerpoint/2010/main" val="40856633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361A2-5A29-42D6-BDB8-D02748EC60FA}"/>
              </a:ext>
            </a:extLst>
          </p:cNvPr>
          <p:cNvSpPr>
            <a:spLocks noGrp="1"/>
          </p:cNvSpPr>
          <p:nvPr>
            <p:ph type="title"/>
          </p:nvPr>
        </p:nvSpPr>
        <p:spPr/>
        <p:txBody>
          <a:bodyPr>
            <a:normAutofit fontScale="90000"/>
          </a:bodyPr>
          <a:lstStyle/>
          <a:p>
            <a:r>
              <a:rPr lang="en-ZA" sz="6000" b="1" dirty="0"/>
              <a:t>FRUIT AND VEGETABLES</a:t>
            </a:r>
          </a:p>
        </p:txBody>
      </p:sp>
      <p:pic>
        <p:nvPicPr>
          <p:cNvPr id="19458" name="Picture 2" descr="Image result for FRUIT AN VEGETABLES CARTOON">
            <a:extLst>
              <a:ext uri="{FF2B5EF4-FFF2-40B4-BE49-F238E27FC236}">
                <a16:creationId xmlns:a16="http://schemas.microsoft.com/office/drawing/2014/main" id="{9FA792FB-8E2F-43E8-9F1A-42FC5976FF6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32452" y="1444486"/>
            <a:ext cx="9064487" cy="5128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11058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7FA64-81EE-4ECD-BC6D-DFBEFB8BF9D4}"/>
              </a:ext>
            </a:extLst>
          </p:cNvPr>
          <p:cNvSpPr>
            <a:spLocks noGrp="1"/>
          </p:cNvSpPr>
          <p:nvPr>
            <p:ph type="title"/>
          </p:nvPr>
        </p:nvSpPr>
        <p:spPr>
          <a:xfrm>
            <a:off x="646111" y="439466"/>
            <a:ext cx="9404723" cy="1400530"/>
          </a:xfrm>
        </p:spPr>
        <p:txBody>
          <a:bodyPr>
            <a:normAutofit fontScale="90000"/>
          </a:bodyPr>
          <a:lstStyle/>
          <a:p>
            <a:br>
              <a:rPr lang="en-ZA" sz="9600" b="1" dirty="0"/>
            </a:br>
            <a:r>
              <a:rPr lang="en-ZA" sz="9600" b="1" dirty="0"/>
              <a:t>       GROUP 1</a:t>
            </a:r>
          </a:p>
        </p:txBody>
      </p:sp>
    </p:spTree>
    <p:extLst>
      <p:ext uri="{BB962C8B-B14F-4D97-AF65-F5344CB8AC3E}">
        <p14:creationId xmlns:p14="http://schemas.microsoft.com/office/powerpoint/2010/main" val="31004458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BAA37BA-E527-4A45-96D5-E6E5FB451D49}"/>
              </a:ext>
            </a:extLst>
          </p:cNvPr>
          <p:cNvPicPr>
            <a:picLocks noChangeAspect="1"/>
          </p:cNvPicPr>
          <p:nvPr/>
        </p:nvPicPr>
        <p:blipFill>
          <a:blip r:embed="rId2"/>
          <a:stretch>
            <a:fillRect/>
          </a:stretch>
        </p:blipFill>
        <p:spPr>
          <a:xfrm>
            <a:off x="1603023" y="0"/>
            <a:ext cx="7142660" cy="6858000"/>
          </a:xfrm>
          <a:prstGeom prst="rect">
            <a:avLst/>
          </a:prstGeom>
        </p:spPr>
      </p:pic>
    </p:spTree>
    <p:extLst>
      <p:ext uri="{BB962C8B-B14F-4D97-AF65-F5344CB8AC3E}">
        <p14:creationId xmlns:p14="http://schemas.microsoft.com/office/powerpoint/2010/main" val="42150422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96DAD-FF39-443D-B59A-02F567692C50}"/>
              </a:ext>
            </a:extLst>
          </p:cNvPr>
          <p:cNvSpPr>
            <a:spLocks noGrp="1"/>
          </p:cNvSpPr>
          <p:nvPr>
            <p:ph type="title"/>
          </p:nvPr>
        </p:nvSpPr>
        <p:spPr/>
        <p:txBody>
          <a:bodyPr>
            <a:normAutofit fontScale="90000"/>
          </a:bodyPr>
          <a:lstStyle/>
          <a:p>
            <a:br>
              <a:rPr lang="en-ZA" sz="9600" dirty="0"/>
            </a:br>
            <a:r>
              <a:rPr lang="en-ZA" sz="9600" dirty="0"/>
              <a:t>       GROUP 2</a:t>
            </a:r>
          </a:p>
        </p:txBody>
      </p:sp>
    </p:spTree>
    <p:extLst>
      <p:ext uri="{BB962C8B-B14F-4D97-AF65-F5344CB8AC3E}">
        <p14:creationId xmlns:p14="http://schemas.microsoft.com/office/powerpoint/2010/main" val="2762813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Fruits and vegetables classify worksheet | Fruits for kids, Food ...">
            <a:extLst>
              <a:ext uri="{FF2B5EF4-FFF2-40B4-BE49-F238E27FC236}">
                <a16:creationId xmlns:a16="http://schemas.microsoft.com/office/drawing/2014/main" id="{237CFB5A-2C14-4D81-8667-A8266876F5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7826" y="215547"/>
            <a:ext cx="7487478" cy="64939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23630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543480-B977-40F5-8D0A-D5B8BF219CD2}"/>
              </a:ext>
            </a:extLst>
          </p:cNvPr>
          <p:cNvPicPr>
            <a:picLocks noChangeAspect="1"/>
          </p:cNvPicPr>
          <p:nvPr/>
        </p:nvPicPr>
        <p:blipFill>
          <a:blip r:embed="rId2"/>
          <a:stretch>
            <a:fillRect/>
          </a:stretch>
        </p:blipFill>
        <p:spPr>
          <a:xfrm>
            <a:off x="1941689" y="-1"/>
            <a:ext cx="7247467" cy="6874933"/>
          </a:xfrm>
          <a:prstGeom prst="rect">
            <a:avLst/>
          </a:prstGeom>
        </p:spPr>
      </p:pic>
    </p:spTree>
    <p:extLst>
      <p:ext uri="{BB962C8B-B14F-4D97-AF65-F5344CB8AC3E}">
        <p14:creationId xmlns:p14="http://schemas.microsoft.com/office/powerpoint/2010/main" val="18961900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99804-0FEE-4101-A5CA-B692DF7E2141}"/>
              </a:ext>
            </a:extLst>
          </p:cNvPr>
          <p:cNvSpPr>
            <a:spLocks noGrp="1"/>
          </p:cNvSpPr>
          <p:nvPr>
            <p:ph type="title"/>
          </p:nvPr>
        </p:nvSpPr>
        <p:spPr>
          <a:xfrm>
            <a:off x="646111" y="452717"/>
            <a:ext cx="9404723" cy="3138621"/>
          </a:xfrm>
        </p:spPr>
        <p:txBody>
          <a:bodyPr>
            <a:normAutofit fontScale="90000"/>
          </a:bodyPr>
          <a:lstStyle/>
          <a:p>
            <a:r>
              <a:rPr lang="en-ZA" sz="9600" dirty="0"/>
              <a:t>   </a:t>
            </a:r>
            <a:br>
              <a:rPr lang="en-ZA" sz="9600" dirty="0"/>
            </a:br>
            <a:r>
              <a:rPr lang="en-ZA" sz="9600" dirty="0"/>
              <a:t>      GROUP 3</a:t>
            </a:r>
            <a:br>
              <a:rPr lang="en-ZA" sz="9600" dirty="0"/>
            </a:br>
            <a:endParaRPr lang="en-ZA" sz="9600" dirty="0"/>
          </a:p>
        </p:txBody>
      </p:sp>
    </p:spTree>
    <p:extLst>
      <p:ext uri="{BB962C8B-B14F-4D97-AF65-F5344CB8AC3E}">
        <p14:creationId xmlns:p14="http://schemas.microsoft.com/office/powerpoint/2010/main" val="33949266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452E28-A50D-4208-90BA-7458075F4132}"/>
              </a:ext>
            </a:extLst>
          </p:cNvPr>
          <p:cNvPicPr>
            <a:picLocks noChangeAspect="1"/>
          </p:cNvPicPr>
          <p:nvPr/>
        </p:nvPicPr>
        <p:blipFill>
          <a:blip r:embed="rId2"/>
          <a:stretch>
            <a:fillRect/>
          </a:stretch>
        </p:blipFill>
        <p:spPr>
          <a:xfrm>
            <a:off x="1411111" y="0"/>
            <a:ext cx="7109083" cy="6858000"/>
          </a:xfrm>
          <a:prstGeom prst="rect">
            <a:avLst/>
          </a:prstGeom>
        </p:spPr>
      </p:pic>
    </p:spTree>
    <p:extLst>
      <p:ext uri="{BB962C8B-B14F-4D97-AF65-F5344CB8AC3E}">
        <p14:creationId xmlns:p14="http://schemas.microsoft.com/office/powerpoint/2010/main" val="21158011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EC25F93-0C23-4EB0-A346-BA3056CFCE07}"/>
              </a:ext>
            </a:extLst>
          </p:cNvPr>
          <p:cNvPicPr>
            <a:picLocks noChangeAspect="1"/>
          </p:cNvPicPr>
          <p:nvPr/>
        </p:nvPicPr>
        <p:blipFill>
          <a:blip r:embed="rId2"/>
          <a:stretch>
            <a:fillRect/>
          </a:stretch>
        </p:blipFill>
        <p:spPr>
          <a:xfrm>
            <a:off x="1862667" y="0"/>
            <a:ext cx="6657636" cy="6858000"/>
          </a:xfrm>
          <a:prstGeom prst="rect">
            <a:avLst/>
          </a:prstGeom>
        </p:spPr>
      </p:pic>
    </p:spTree>
    <p:extLst>
      <p:ext uri="{BB962C8B-B14F-4D97-AF65-F5344CB8AC3E}">
        <p14:creationId xmlns:p14="http://schemas.microsoft.com/office/powerpoint/2010/main" val="13884117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32BD7-2050-432B-B35D-7AF46B1372F5}"/>
              </a:ext>
            </a:extLst>
          </p:cNvPr>
          <p:cNvSpPr>
            <a:spLocks noGrp="1"/>
          </p:cNvSpPr>
          <p:nvPr>
            <p:ph type="title"/>
          </p:nvPr>
        </p:nvSpPr>
        <p:spPr>
          <a:xfrm>
            <a:off x="646111" y="439466"/>
            <a:ext cx="9404723" cy="1400530"/>
          </a:xfrm>
        </p:spPr>
        <p:txBody>
          <a:bodyPr/>
          <a:lstStyle/>
          <a:p>
            <a:r>
              <a:rPr lang="en-ZA" dirty="0"/>
              <a:t>                REFERENCES</a:t>
            </a:r>
          </a:p>
        </p:txBody>
      </p:sp>
      <p:sp>
        <p:nvSpPr>
          <p:cNvPr id="3" name="Content Placeholder 2">
            <a:extLst>
              <a:ext uri="{FF2B5EF4-FFF2-40B4-BE49-F238E27FC236}">
                <a16:creationId xmlns:a16="http://schemas.microsoft.com/office/drawing/2014/main" id="{A745916A-9894-4D28-95D7-6CDE0CC8FA86}"/>
              </a:ext>
            </a:extLst>
          </p:cNvPr>
          <p:cNvSpPr>
            <a:spLocks noGrp="1"/>
          </p:cNvSpPr>
          <p:nvPr>
            <p:ph idx="1"/>
          </p:nvPr>
        </p:nvSpPr>
        <p:spPr>
          <a:xfrm>
            <a:off x="318052" y="1152939"/>
            <a:ext cx="11701670" cy="5605669"/>
          </a:xfrm>
        </p:spPr>
        <p:txBody>
          <a:bodyPr/>
          <a:lstStyle/>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https://cdn4.vectorstock.com/i/1000x1000/81/78/transport-cartoons-vector-598178.jpg</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th.bing.com/th/id/R.4bedde0a34a46c3f8476e8a9c3193ea9?rik=HzmXgDwWSMiEgg&amp;riu=http%3a%2f%2fcdn.turtlediary.com%2fworksheets%2fela%2fpreschool%2fmiscellaneous%2fland-transport-match-the-parts%2fquestion%2fland-transport-match-the-parts-1.png&amp;ehk=QmUIA1EFbE4f0svBv4Cz5sxyTCRyjPK21lGTtr58rpw%3d&amp;risl=&amp;pid=ImgRaw&amp;r=0</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https://www.kids-pages.com/folders/worksheets/Transportation/TransportationFillIn.jpg</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5"/>
              </a:rPr>
              <a:t>https://th.bing.com/th/id/OIP.fRSAqPJELZxVQ3CRL-bfpgAAAA?rs=1&amp;pid=ImgDetMain</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6"/>
              </a:rPr>
              <a:t>https://th.bing.com/th/id/OIP.j1aGQgbLnwFPQ_I9JjVwygHaKe?w=178&amp;h=252&amp;c=7&amp;r=0&amp;o=5&amp;pid=1.7</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7"/>
              </a:rPr>
              <a:t>https://th.bing.com/th/id/OIP.sfoXR83NPVP-oQz6Fw5fKgAAAA?w=178&amp;h=241&amp;c=7&amp;r=0&amp;o=5&amp;pid=1.7</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8"/>
              </a:rPr>
              <a:t>https://th.bing.com/th/id/OIP.Nf6VTxle16YtwHqxzvj24QAAAA?rs=1&amp;pid=ImgDetMain</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9"/>
              </a:rPr>
              <a:t>https://th.bing.com/th/id/OIP.G22CAwskSgcV--pN-tS4-gAAAA?rs=1&amp;pid=ImgDetMain</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0"/>
              </a:rPr>
              <a:t>https://i.pinimg.com/474x/8c/e3/85/8ce385035bc3affdf3f880752a62d2b2--people-who-help-us-activities-people-who-help-us-eyfs.jpg</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1"/>
              </a:rPr>
              <a:t>https://th.bing.com/th/id/OIP.4dLKYDU8JIlA6pehEYnW1wAAAA?w=178&amp;h=252&amp;c=7&amp;r=0&amp;o=5&amp;pid=1.7</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endParaRPr lang="en-ZA" dirty="0"/>
          </a:p>
        </p:txBody>
      </p:sp>
    </p:spTree>
    <p:extLst>
      <p:ext uri="{BB962C8B-B14F-4D97-AF65-F5344CB8AC3E}">
        <p14:creationId xmlns:p14="http://schemas.microsoft.com/office/powerpoint/2010/main" val="38889790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49C63-81D4-4981-8595-DFDD0B9679B9}"/>
              </a:ext>
            </a:extLst>
          </p:cNvPr>
          <p:cNvSpPr>
            <a:spLocks noGrp="1"/>
          </p:cNvSpPr>
          <p:nvPr>
            <p:ph type="title"/>
          </p:nvPr>
        </p:nvSpPr>
        <p:spPr>
          <a:xfrm>
            <a:off x="646111" y="452718"/>
            <a:ext cx="9404723" cy="872499"/>
          </a:xfrm>
        </p:spPr>
        <p:txBody>
          <a:bodyPr/>
          <a:lstStyle/>
          <a:p>
            <a:r>
              <a:rPr lang="en-ZA" dirty="0"/>
              <a:t>                REFERENCES</a:t>
            </a:r>
          </a:p>
        </p:txBody>
      </p:sp>
      <p:sp>
        <p:nvSpPr>
          <p:cNvPr id="3" name="Content Placeholder 2">
            <a:extLst>
              <a:ext uri="{FF2B5EF4-FFF2-40B4-BE49-F238E27FC236}">
                <a16:creationId xmlns:a16="http://schemas.microsoft.com/office/drawing/2014/main" id="{4BF763AB-FB27-44E5-906D-3DD343A377B4}"/>
              </a:ext>
            </a:extLst>
          </p:cNvPr>
          <p:cNvSpPr>
            <a:spLocks noGrp="1"/>
          </p:cNvSpPr>
          <p:nvPr>
            <p:ph idx="1"/>
          </p:nvPr>
        </p:nvSpPr>
        <p:spPr>
          <a:xfrm>
            <a:off x="225288" y="1325218"/>
            <a:ext cx="11489634" cy="4923182"/>
          </a:xfrm>
        </p:spPr>
        <p:txBody>
          <a:bodyPr/>
          <a:lstStyle/>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https://th.bing.com/th/id/OIP.7a0179VL3C9kPRM2vedC4wHaKN?w=178&amp;h=246&amp;c=7&amp;r=0&amp;o=5&amp;pid=1.7</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https://th.bing.com/th/id/OIP.VydevZbGqs48ggbXpXXr3QAAAA?rs=1&amp;pid=ImgDetMain</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ZA"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https://th.bing.com/th/id/OIP.rCuRyffpd2A5GWu-FpGZyQAAAA?w=178&amp;h=257&amp;c=7&amp;r=0&amp;o=5&amp;pid=1.7</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ZA" dirty="0"/>
          </a:p>
        </p:txBody>
      </p:sp>
    </p:spTree>
    <p:extLst>
      <p:ext uri="{BB962C8B-B14F-4D97-AF65-F5344CB8AC3E}">
        <p14:creationId xmlns:p14="http://schemas.microsoft.com/office/powerpoint/2010/main" val="122010645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627</TotalTime>
  <Words>910</Words>
  <Application>Microsoft Office PowerPoint</Application>
  <PresentationFormat>Widescreen</PresentationFormat>
  <Paragraphs>90</Paragraphs>
  <Slides>48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Trebuchet MS</vt:lpstr>
      <vt:lpstr>Wingdings 3</vt:lpstr>
      <vt:lpstr>Facet</vt:lpstr>
      <vt:lpstr>PowerPoint Presentation</vt:lpstr>
      <vt:lpstr>       LESSON PLAN CONTENT</vt:lpstr>
      <vt:lpstr>LESSON OBJECTIVES Learners will be able to:</vt:lpstr>
      <vt:lpstr>ASSESSMENT GOALS</vt:lpstr>
      <vt:lpstr>TRANSPORT</vt:lpstr>
      <vt:lpstr>            GROUP 1</vt:lpstr>
      <vt:lpstr>Draw the line to match each picture with the right word</vt:lpstr>
      <vt:lpstr>PowerPoint Presentation</vt:lpstr>
      <vt:lpstr>PowerPoint Presentation</vt:lpstr>
      <vt:lpstr>             GROUP 2</vt:lpstr>
      <vt:lpstr>PowerPoint Presentation</vt:lpstr>
      <vt:lpstr>Draw a line to match each picture with the right word</vt:lpstr>
      <vt:lpstr>PowerPoint Presentation</vt:lpstr>
      <vt:lpstr>            GROUP 3</vt:lpstr>
      <vt:lpstr>PowerPoint Presentation</vt:lpstr>
      <vt:lpstr>PowerPoint Presentation</vt:lpstr>
      <vt:lpstr>ROAD/ TRAFFIC SAFETY</vt:lpstr>
      <vt:lpstr>PowerPoint Presentation</vt:lpstr>
      <vt:lpstr>PowerPoint Presentation</vt:lpstr>
      <vt:lpstr>       GROUP 1</vt:lpstr>
      <vt:lpstr>PowerPoint Presentation</vt:lpstr>
      <vt:lpstr>          GROUP 2</vt:lpstr>
      <vt:lpstr>PowerPoint Presentation</vt:lpstr>
      <vt:lpstr>PowerPoint Presentation</vt:lpstr>
      <vt:lpstr>             GROUP 3</vt:lpstr>
      <vt:lpstr>PowerPoint Presentation</vt:lpstr>
      <vt:lpstr>PowerPoint Presentation</vt:lpstr>
      <vt:lpstr>PEOPLE WHO HELP US</vt:lpstr>
      <vt:lpstr>             GROUP 1</vt:lpstr>
      <vt:lpstr>PowerPoint Presentation</vt:lpstr>
      <vt:lpstr>           Group 2</vt:lpstr>
      <vt:lpstr>PowerPoint Presentation</vt:lpstr>
      <vt:lpstr>PowerPoint Presentation</vt:lpstr>
      <vt:lpstr>              Group 3</vt:lpstr>
      <vt:lpstr>PowerPoint Presentation</vt:lpstr>
      <vt:lpstr>PowerPoint Presentation</vt:lpstr>
      <vt:lpstr>PowerPoint Presentation</vt:lpstr>
      <vt:lpstr>FRUIT AND VEGETABLES</vt:lpstr>
      <vt:lpstr>        GROUP 1</vt:lpstr>
      <vt:lpstr>PowerPoint Presentation</vt:lpstr>
      <vt:lpstr>        GROUP 2</vt:lpstr>
      <vt:lpstr>PowerPoint Presentation</vt:lpstr>
      <vt:lpstr>PowerPoint Presentation</vt:lpstr>
      <vt:lpstr>          GROUP 3 </vt:lpstr>
      <vt:lpstr>PowerPoint Presentation</vt:lpstr>
      <vt:lpstr>PowerPoint Presentation</vt:lpstr>
      <vt:lpstr>                REFERENCES</vt:lpstr>
      <vt:lpstr>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Student_PC</dc:creator>
  <cp:lastModifiedBy>Student_PC</cp:lastModifiedBy>
  <cp:revision>41</cp:revision>
  <dcterms:created xsi:type="dcterms:W3CDTF">2024-06-13T05:54:20Z</dcterms:created>
  <dcterms:modified xsi:type="dcterms:W3CDTF">2024-07-11T09:36:20Z</dcterms:modified>
</cp:coreProperties>
</file>