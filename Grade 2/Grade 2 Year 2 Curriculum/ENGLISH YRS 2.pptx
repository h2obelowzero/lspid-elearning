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  <p:sldMasterId id="2147483725" r:id="rId2"/>
    <p:sldMasterId id="2147483761" r:id="rId3"/>
    <p:sldMasterId id="2147483773" r:id="rId4"/>
  </p:sldMasterIdLst>
  <p:sldIdLst>
    <p:sldId id="345" r:id="rId5"/>
    <p:sldId id="256" r:id="rId6"/>
    <p:sldId id="257" r:id="rId7"/>
    <p:sldId id="293" r:id="rId8"/>
    <p:sldId id="297" r:id="rId9"/>
    <p:sldId id="294" r:id="rId10"/>
    <p:sldId id="298" r:id="rId11"/>
    <p:sldId id="258" r:id="rId12"/>
    <p:sldId id="321" r:id="rId13"/>
    <p:sldId id="338" r:id="rId14"/>
    <p:sldId id="344" r:id="rId15"/>
    <p:sldId id="320" r:id="rId16"/>
    <p:sldId id="339" r:id="rId17"/>
    <p:sldId id="319" r:id="rId18"/>
    <p:sldId id="266" r:id="rId19"/>
    <p:sldId id="300" r:id="rId20"/>
    <p:sldId id="318" r:id="rId21"/>
    <p:sldId id="274" r:id="rId22"/>
    <p:sldId id="343" r:id="rId23"/>
    <p:sldId id="317" r:id="rId24"/>
    <p:sldId id="342" r:id="rId25"/>
    <p:sldId id="271" r:id="rId26"/>
    <p:sldId id="316" r:id="rId27"/>
    <p:sldId id="340" r:id="rId28"/>
    <p:sldId id="277" r:id="rId29"/>
    <p:sldId id="315" r:id="rId30"/>
    <p:sldId id="306" r:id="rId31"/>
    <p:sldId id="324" r:id="rId32"/>
    <p:sldId id="327" r:id="rId33"/>
    <p:sldId id="314" r:id="rId34"/>
    <p:sldId id="329" r:id="rId35"/>
    <p:sldId id="313" r:id="rId36"/>
    <p:sldId id="330" r:id="rId37"/>
    <p:sldId id="285" r:id="rId38"/>
    <p:sldId id="309" r:id="rId39"/>
    <p:sldId id="286" r:id="rId40"/>
    <p:sldId id="312" r:id="rId41"/>
    <p:sldId id="332" r:id="rId42"/>
    <p:sldId id="333" r:id="rId43"/>
    <p:sldId id="311" r:id="rId44"/>
    <p:sldId id="334" r:id="rId45"/>
    <p:sldId id="337" r:id="rId46"/>
    <p:sldId id="310" r:id="rId47"/>
    <p:sldId id="323" r:id="rId48"/>
    <p:sldId id="336" r:id="rId49"/>
    <p:sldId id="295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revor Mkhonta" initials="TM" lastIdx="1" clrIdx="0">
    <p:extLst>
      <p:ext uri="{19B8F6BF-5375-455C-9EA6-DF929625EA0E}">
        <p15:presenceInfo xmlns:p15="http://schemas.microsoft.com/office/powerpoint/2012/main" userId="5e7cbe428c5f0f7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40" autoAdjust="0"/>
    <p:restoredTop sz="92203" autoAdjust="0"/>
  </p:normalViewPr>
  <p:slideViewPr>
    <p:cSldViewPr snapToGrid="0">
      <p:cViewPr varScale="1">
        <p:scale>
          <a:sx n="67" d="100"/>
          <a:sy n="67" d="100"/>
        </p:scale>
        <p:origin x="77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8" Type="http://schemas.openxmlformats.org/officeDocument/2006/relationships/slide" Target="slides/slide4.xml"/><Relationship Id="rId51" Type="http://schemas.openxmlformats.org/officeDocument/2006/relationships/commentAuthors" Target="commentAuthors.xml"/><Relationship Id="rId3" Type="http://schemas.openxmlformats.org/officeDocument/2006/relationships/slideMaster" Target="slideMasters/slideMaster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12/07/2024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1364888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12/07/2024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2678259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12/07/2024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7253171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12/07/2024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0440129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12/07/2024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3472798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12/07/2024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8721400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12/07/2024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9860851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12/07/2024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3361843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56A7B5A9-3724-4752-B4A7-49A06A9BDB2B}" type="datetimeFigureOut">
              <a:rPr lang="en-GB" smtClean="0"/>
              <a:t>12/07/2024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3486046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12/07/2024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6037178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12/07/2024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5828721"/>
      </p:ext>
    </p:extLst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12/07/2024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9463571"/>
      </p:ext>
    </p:extLst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12/07/2024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1681427"/>
      </p:ext>
    </p:extLst>
  </p:cSld>
  <p:clrMapOvr>
    <a:masterClrMapping/>
  </p:clrMapOvr>
  <p:transition spd="slow">
    <p:wip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12/07/2024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4205425"/>
      </p:ext>
    </p:extLst>
  </p:cSld>
  <p:clrMapOvr>
    <a:masterClrMapping/>
  </p:clrMapOvr>
  <p:transition spd="slow">
    <p:wip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12/07/2024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5737247"/>
      </p:ext>
    </p:extLst>
  </p:cSld>
  <p:clrMapOvr>
    <a:masterClrMapping/>
  </p:clrMapOvr>
  <p:transition spd="slow">
    <p:wip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12/07/2024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1657188"/>
      </p:ext>
    </p:extLst>
  </p:cSld>
  <p:clrMapOvr>
    <a:masterClrMapping/>
  </p:clrMapOvr>
  <p:transition spd="slow">
    <p:wip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12/07/2024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0785367"/>
      </p:ext>
    </p:extLst>
  </p:cSld>
  <p:clrMapOvr>
    <a:masterClrMapping/>
  </p:clrMapOvr>
  <p:transition spd="slow">
    <p:wip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12/07/2024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9400190"/>
      </p:ext>
    </p:extLst>
  </p:cSld>
  <p:clrMapOvr>
    <a:masterClrMapping/>
  </p:clrMapOvr>
  <p:transition spd="slow">
    <p:wip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12/07/2024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3463599"/>
      </p:ext>
    </p:extLst>
  </p:cSld>
  <p:clrMapOvr>
    <a:masterClrMapping/>
  </p:clrMapOvr>
  <p:transition spd="slow">
    <p:wip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56A7B5A9-3724-4752-B4A7-49A06A9BDB2B}" type="datetimeFigureOut">
              <a:rPr lang="en-GB" smtClean="0"/>
              <a:t>12/07/2024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7465753"/>
      </p:ext>
    </p:extLst>
  </p:cSld>
  <p:clrMapOvr>
    <a:masterClrMapping/>
  </p:clrMapOvr>
  <p:transition spd="slow">
    <p:wip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12/07/2024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6995775"/>
      </p:ext>
    </p:extLst>
  </p:cSld>
  <p:clrMapOvr>
    <a:masterClrMapping/>
  </p:clrMapOvr>
  <p:transition spd="slow">
    <p:wip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12/07/2024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3522945"/>
      </p:ext>
    </p:extLst>
  </p:cSld>
  <p:clrMapOvr>
    <a:masterClrMapping/>
  </p:clrMapOvr>
  <p:transition spd="slow">
    <p:wip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2417B-632B-B00F-E117-A0548147B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267429-AE11-0E8E-432D-0196DDEF36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E01C02-6F83-F5B5-CFBA-9E9206ABA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12/07/2024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5A57D3-6328-8475-80A7-128124E99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E0AC39-30B0-DEE4-788B-6675277A7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4506996"/>
      </p:ext>
    </p:extLst>
  </p:cSld>
  <p:clrMapOvr>
    <a:masterClrMapping/>
  </p:clrMapOvr>
  <p:transition spd="slow">
    <p:wip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A2B67-CA9D-06DD-AE53-086279250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0C14A8-3449-D5DD-A293-B9A79D01AF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D9205A-8746-508C-9B13-539CD8432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12/07/2024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8608B0-2228-5737-EFF2-9125E4C3E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575F9A-B4F4-B3EE-BFEF-EFBFB8A01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6052796"/>
      </p:ext>
    </p:extLst>
  </p:cSld>
  <p:clrMapOvr>
    <a:masterClrMapping/>
  </p:clrMapOvr>
  <p:transition spd="slow">
    <p:wip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E84A1-E5F2-55BA-243C-6C4B38D57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64D0BD-51CF-D164-2917-A5D3CE18AE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D77600-3EF1-ED65-BC3C-A6E4014C2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12/07/2024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6A3200-D704-F77B-0F43-940E973F6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A4BC1E-5068-0378-4CF5-E58287B05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3074242"/>
      </p:ext>
    </p:extLst>
  </p:cSld>
  <p:clrMapOvr>
    <a:masterClrMapping/>
  </p:clrMapOvr>
  <p:transition spd="slow">
    <p:wip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BA371-CA3C-526C-1DE2-F7A4F8BA0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6DC74-FB49-0772-5435-353B45E969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A043EC-CB0E-1AE8-AE1B-ACF5986FF0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A630DA-336E-A323-EAE9-7CACA591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12/07/2024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197C82-FBEC-5354-35F6-09D0CDECB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3B6893-3820-E10B-7656-14012411B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3269646"/>
      </p:ext>
    </p:extLst>
  </p:cSld>
  <p:clrMapOvr>
    <a:masterClrMapping/>
  </p:clrMapOvr>
  <p:transition spd="slow">
    <p:wip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42F35-A673-F8DA-566B-D9116ED02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524637-F606-6B74-5ADE-660691AF48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08ADB4-5CE7-FB50-2023-A273BB261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1003D-1056-FAFE-67CB-C0DC385DCC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84F48F-C4F9-C12C-A3C9-51B22383F5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925EF3-CAED-2464-2278-3F82B5839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12/07/2024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BB8F22-3D7D-C760-9C89-5E9C0393F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32B800-5399-225B-3164-F6E4255BD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8953990"/>
      </p:ext>
    </p:extLst>
  </p:cSld>
  <p:clrMapOvr>
    <a:masterClrMapping/>
  </p:clrMapOvr>
  <p:transition spd="slow">
    <p:wip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9CCEC-2148-D59E-43FE-07C7875E3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476202-09CD-C2D3-F4AB-E06EB0C51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12/07/2024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EFAA44-4004-925E-3781-6DF737311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E085FE-E57E-118C-BDDE-E1A0DF8B9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9098697"/>
      </p:ext>
    </p:extLst>
  </p:cSld>
  <p:clrMapOvr>
    <a:masterClrMapping/>
  </p:clrMapOvr>
  <p:transition spd="slow">
    <p:wip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E49BCC-ED6E-5E56-E5CC-3C346A087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12/07/2024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19632D-AFB3-5889-A6B7-2FFD1077E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B571AE-5564-EF69-43C1-1C7162692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44651"/>
      </p:ext>
    </p:extLst>
  </p:cSld>
  <p:clrMapOvr>
    <a:masterClrMapping/>
  </p:clrMapOvr>
  <p:transition spd="slow">
    <p:wip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FC610-5E16-8E13-1518-351227949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9D491-CBA7-7646-D118-74F44C7B5F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778377-236D-5EEA-249B-CA6C8316E2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C6651A-8BD5-9103-6C1D-DB8E30398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12/07/2024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389D0E-BC14-DE83-DE24-AC4DF8FB6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41F77B-2E99-66D3-F352-4ACD1EB3D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4356017"/>
      </p:ext>
    </p:extLst>
  </p:cSld>
  <p:clrMapOvr>
    <a:masterClrMapping/>
  </p:clrMapOvr>
  <p:transition spd="slow">
    <p:wip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A843C-6731-CC21-6182-CD89BA23F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C438DE-8362-A189-4729-6E0F95E209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D8FEB7-88B8-E88B-798D-73E5D9033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54459D-7722-1A26-AD74-7AE13A057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12/07/2024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678D35-A73F-D071-ECB1-6449292F8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36F797-EFFD-9006-CD79-BA09E53DC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7672826"/>
      </p:ext>
    </p:extLst>
  </p:cSld>
  <p:clrMapOvr>
    <a:masterClrMapping/>
  </p:clrMapOvr>
  <p:transition spd="slow">
    <p:wip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6E182-8200-F41C-F5F0-15081BF3A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B3D68F-5F00-0AAE-7074-21D77F42B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FBC025-2585-A06B-6C3A-51D583EAB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12/07/2024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B47B89-46CE-D688-2B2B-EB650661E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04A91A-BDBD-B818-64CC-E7B7DE360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4828109"/>
      </p:ext>
    </p:extLst>
  </p:cSld>
  <p:clrMapOvr>
    <a:masterClrMapping/>
  </p:clrMapOvr>
  <p:transition spd="slow">
    <p:wip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BEF5CE-08ED-F462-199F-BBA0B511B4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A433D2-6C22-EEB0-17E8-BEFF816084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6942B9-3BCA-AA3A-D347-BC5E75D9A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12/07/2024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C38FCF-EC8F-A0EE-73F3-3EED85D87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62885F-D326-4018-8C93-239236B2B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3803264"/>
      </p:ext>
    </p:extLst>
  </p:cSld>
  <p:clrMapOvr>
    <a:masterClrMapping/>
  </p:clrMapOvr>
  <p:transition spd="slow">
    <p:wip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56A7B5A9-3724-4752-B4A7-49A06A9BDB2B}" type="datetimeFigureOut">
              <a:rPr lang="en-GB" smtClean="0"/>
              <a:t>12/07/2024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1808444"/>
      </p:ext>
    </p:extLst>
  </p:cSld>
  <p:clrMapOvr>
    <a:masterClrMapping/>
  </p:clrMapOvr>
  <p:transition spd="slow">
    <p:wip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12/07/2024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7465497"/>
      </p:ext>
    </p:extLst>
  </p:cSld>
  <p:clrMapOvr>
    <a:masterClrMapping/>
  </p:clrMapOvr>
  <p:transition spd="slow">
    <p:wip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12/07/2024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3474292"/>
      </p:ext>
    </p:extLst>
  </p:cSld>
  <p:clrMapOvr>
    <a:masterClrMapping/>
  </p:clrMapOvr>
  <p:transition spd="slow">
    <p:wip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12/07/2024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0401011"/>
      </p:ext>
    </p:extLst>
  </p:cSld>
  <p:clrMapOvr>
    <a:masterClrMapping/>
  </p:clrMapOvr>
  <p:transition spd="slow">
    <p:wip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12/07/2024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4885676"/>
      </p:ext>
    </p:extLst>
  </p:cSld>
  <p:clrMapOvr>
    <a:masterClrMapping/>
  </p:clrMapOvr>
  <p:transition spd="slow">
    <p:wip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12/07/2024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8979955"/>
      </p:ext>
    </p:extLst>
  </p:cSld>
  <p:clrMapOvr>
    <a:masterClrMapping/>
  </p:clrMapOvr>
  <p:transition spd="slow">
    <p:wip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12/07/2024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7226157"/>
      </p:ext>
    </p:extLst>
  </p:cSld>
  <p:clrMapOvr>
    <a:masterClrMapping/>
  </p:clrMapOvr>
  <p:transition spd="slow">
    <p:wip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12/07/2024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7484579"/>
      </p:ext>
    </p:extLst>
  </p:cSld>
  <p:clrMapOvr>
    <a:masterClrMapping/>
  </p:clrMapOvr>
  <p:transition spd="slow">
    <p:wip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12/07/2024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7063501"/>
      </p:ext>
    </p:extLst>
  </p:cSld>
  <p:clrMapOvr>
    <a:masterClrMapping/>
  </p:clrMapOvr>
  <p:transition spd="slow">
    <p:wip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12/07/2024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5381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12/07/2024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895642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12/07/2024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581615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12/07/2024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175477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12/07/2024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743599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12/07/2024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932195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12/07/2024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0269516"/>
      </p:ext>
    </p:extLst>
  </p:cSld>
  <p:clrMapOvr>
    <a:masterClrMapping/>
  </p:clrMapOvr>
  <p:transition spd="slow">
    <p:wip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B5A9-3724-4752-B4A7-49A06A9BDB2B}" type="datetimeFigureOut">
              <a:rPr lang="en-GB" smtClean="0"/>
              <a:t>12/07/2024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8238208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slideLayout" Target="../slideLayouts/slideLayout46.xml"/><Relationship Id="rId18" Type="http://schemas.openxmlformats.org/officeDocument/2006/relationships/theme" Target="../theme/theme4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17" Type="http://schemas.openxmlformats.org/officeDocument/2006/relationships/slideLayout" Target="../slideLayouts/slideLayout50.xml"/><Relationship Id="rId2" Type="http://schemas.openxmlformats.org/officeDocument/2006/relationships/slideLayout" Target="../slideLayouts/slideLayout35.xml"/><Relationship Id="rId16" Type="http://schemas.openxmlformats.org/officeDocument/2006/relationships/slideLayout" Target="../slideLayouts/slideLayout49.xml"/><Relationship Id="rId20" Type="http://schemas.openxmlformats.org/officeDocument/2006/relationships/image" Target="../media/image5.png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43.xml"/><Relationship Id="rId19" Type="http://schemas.openxmlformats.org/officeDocument/2006/relationships/image" Target="../media/image4.png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slideLayout" Target="../slideLayouts/slideLayout4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7B5A9-3724-4752-B4A7-49A06A9BDB2B}" type="datetimeFigureOut">
              <a:rPr lang="en-GB" smtClean="0"/>
              <a:t>12/07/2024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7248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7B5A9-3724-4752-B4A7-49A06A9BDB2B}" type="datetimeFigureOut">
              <a:rPr lang="en-GB" smtClean="0"/>
              <a:t>12/07/2024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0280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38AAAB-6640-DDC2-7047-096F38BC8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4A8BCE-FCD7-C73B-4471-0BC311782C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7E363F-BFF6-AF37-61A9-34D21D5E5A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7B5A9-3724-4752-B4A7-49A06A9BDB2B}" type="datetimeFigureOut">
              <a:rPr lang="en-GB" smtClean="0"/>
              <a:t>12/07/2024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94C75-1B7B-4082-31D9-633A465EE0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B5FC3-0152-59FB-B401-93663DABA1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5363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6A7B5A9-3724-4752-B4A7-49A06A9BDB2B}" type="datetimeFigureOut">
              <a:rPr lang="en-GB" smtClean="0"/>
              <a:t>12/07/2024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8528055-3D33-4C2A-A818-6B9C60310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913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  <p:sldLayoutId id="2147483790" r:id="rId17"/>
  </p:sldLayoutIdLst>
  <p:transition spd="slow">
    <p:wipe/>
  </p:transition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muniquem-nos amb el món!: Exercicis d'anglès per aprendre vocabulari ..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7726" y="200026"/>
            <a:ext cx="8287824" cy="5352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249317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8E4FA04E-4A04-1446-C48F-ED0A03FA1F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9051742"/>
              </p:ext>
            </p:extLst>
          </p:nvPr>
        </p:nvGraphicFramePr>
        <p:xfrm>
          <a:off x="434340" y="1005840"/>
          <a:ext cx="11269980" cy="46863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634990">
                  <a:extLst>
                    <a:ext uri="{9D8B030D-6E8A-4147-A177-3AD203B41FA5}">
                      <a16:colId xmlns:a16="http://schemas.microsoft.com/office/drawing/2014/main" val="894803012"/>
                    </a:ext>
                  </a:extLst>
                </a:gridCol>
                <a:gridCol w="5634990">
                  <a:extLst>
                    <a:ext uri="{9D8B030D-6E8A-4147-A177-3AD203B41FA5}">
                      <a16:colId xmlns:a16="http://schemas.microsoft.com/office/drawing/2014/main" val="427969949"/>
                    </a:ext>
                  </a:extLst>
                </a:gridCol>
              </a:tblGrid>
              <a:tr h="15621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300"/>
                        </a:spcAft>
                      </a:pPr>
                      <a:r>
                        <a:rPr lang="en-ZA" sz="4400" kern="1400">
                          <a:effectLst/>
                        </a:rPr>
                        <a:t>SUBJECT </a:t>
                      </a:r>
                      <a:endParaRPr lang="en-GB" sz="4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300"/>
                        </a:spcAft>
                      </a:pPr>
                      <a:r>
                        <a:rPr lang="en-ZA" sz="4400" kern="1400" dirty="0" smtClean="0">
                          <a:effectLst/>
                        </a:rPr>
                        <a:t>ENGLISH</a:t>
                      </a:r>
                      <a:endParaRPr lang="en-GB" sz="4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34013954"/>
                  </a:ext>
                </a:extLst>
              </a:tr>
              <a:tr h="15621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300"/>
                        </a:spcAft>
                      </a:pPr>
                      <a:r>
                        <a:rPr lang="en-ZA" sz="4400" kern="1400">
                          <a:effectLst/>
                        </a:rPr>
                        <a:t>GRADE</a:t>
                      </a:r>
                      <a:endParaRPr lang="en-GB" sz="4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300"/>
                        </a:spcAft>
                      </a:pPr>
                      <a:r>
                        <a:rPr lang="en-ZA" sz="4400" kern="1400" dirty="0">
                          <a:effectLst/>
                        </a:rPr>
                        <a:t>2</a:t>
                      </a:r>
                      <a:r>
                        <a:rPr lang="en-ZA" sz="4400" kern="1400" dirty="0" smtClean="0">
                          <a:effectLst/>
                        </a:rPr>
                        <a:t> </a:t>
                      </a:r>
                      <a:r>
                        <a:rPr lang="en-ZA" sz="4400" kern="1400" dirty="0">
                          <a:effectLst/>
                        </a:rPr>
                        <a:t>YEAR </a:t>
                      </a:r>
                      <a:r>
                        <a:rPr lang="en-ZA" sz="4400" kern="1400" dirty="0" smtClean="0">
                          <a:effectLst/>
                        </a:rPr>
                        <a:t>2</a:t>
                      </a:r>
                      <a:endParaRPr lang="en-GB" sz="4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25796625"/>
                  </a:ext>
                </a:extLst>
              </a:tr>
              <a:tr h="15621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300"/>
                        </a:spcAft>
                      </a:pPr>
                      <a:r>
                        <a:rPr lang="en-ZA" sz="4400" kern="1400">
                          <a:effectLst/>
                        </a:rPr>
                        <a:t>TERM</a:t>
                      </a:r>
                      <a:endParaRPr lang="en-GB" sz="4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300"/>
                        </a:spcAft>
                      </a:pPr>
                      <a:r>
                        <a:rPr lang="en-ZA" sz="4400" kern="14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GB" sz="4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126129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7638194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B3A03BF-EA6B-45AD-8CE2-585CD05A3C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7334842"/>
              </p:ext>
            </p:extLst>
          </p:nvPr>
        </p:nvGraphicFramePr>
        <p:xfrm>
          <a:off x="946052" y="1203573"/>
          <a:ext cx="10721340" cy="563035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849518">
                  <a:extLst>
                    <a:ext uri="{9D8B030D-6E8A-4147-A177-3AD203B41FA5}">
                      <a16:colId xmlns:a16="http://schemas.microsoft.com/office/drawing/2014/main" val="3929995469"/>
                    </a:ext>
                  </a:extLst>
                </a:gridCol>
                <a:gridCol w="4871822">
                  <a:extLst>
                    <a:ext uri="{9D8B030D-6E8A-4147-A177-3AD203B41FA5}">
                      <a16:colId xmlns:a16="http://schemas.microsoft.com/office/drawing/2014/main" val="3632659282"/>
                    </a:ext>
                  </a:extLst>
                </a:gridCol>
              </a:tblGrid>
              <a:tr h="96285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4400" dirty="0">
                          <a:effectLst/>
                        </a:rPr>
                        <a:t>WEEK </a:t>
                      </a:r>
                      <a:r>
                        <a:rPr lang="en-ZA" sz="4400" dirty="0" smtClean="0">
                          <a:effectLst/>
                        </a:rPr>
                        <a:t>1-2</a:t>
                      </a:r>
                      <a:endParaRPr lang="en-GB" sz="4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4400" dirty="0" smtClean="0">
                          <a:solidFill>
                            <a:schemeClr val="tx1"/>
                          </a:solidFill>
                          <a:effectLst/>
                        </a:rPr>
                        <a:t>SEASONS</a:t>
                      </a:r>
                      <a:endParaRPr lang="en-GB" sz="4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4634498"/>
                  </a:ext>
                </a:extLst>
              </a:tr>
              <a:tr h="196947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4400" dirty="0">
                          <a:effectLst/>
                        </a:rPr>
                        <a:t>WEEK </a:t>
                      </a:r>
                      <a:r>
                        <a:rPr lang="en-ZA" sz="4400" dirty="0" smtClean="0">
                          <a:effectLst/>
                        </a:rPr>
                        <a:t>3-4</a:t>
                      </a:r>
                      <a:endParaRPr lang="en-GB" sz="4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4000" dirty="0" smtClean="0">
                          <a:solidFill>
                            <a:schemeClr val="tx1"/>
                          </a:solidFill>
                          <a:effectLst/>
                        </a:rPr>
                        <a:t>CREATURES LIVING IN WATER:</a:t>
                      </a:r>
                      <a:r>
                        <a:rPr lang="en-US" sz="4000" baseline="0" dirty="0" smtClean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4000" dirty="0" smtClean="0">
                          <a:solidFill>
                            <a:schemeClr val="tx1"/>
                          </a:solidFill>
                          <a:effectLst/>
                        </a:rPr>
                        <a:t>OCEAN,RIVER, </a:t>
                      </a: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4000" dirty="0" smtClean="0">
                          <a:solidFill>
                            <a:schemeClr val="tx1"/>
                          </a:solidFill>
                          <a:effectLst/>
                        </a:rPr>
                        <a:t>POND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91663776"/>
                  </a:ext>
                </a:extLst>
              </a:tr>
              <a:tr h="126842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4400" dirty="0">
                          <a:effectLst/>
                        </a:rPr>
                        <a:t>WEEK </a:t>
                      </a:r>
                      <a:r>
                        <a:rPr lang="en-ZA" sz="4400" dirty="0" smtClean="0">
                          <a:effectLst/>
                        </a:rPr>
                        <a:t>5-7</a:t>
                      </a:r>
                      <a:endParaRPr lang="en-GB" sz="4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4000" dirty="0" smtClean="0">
                          <a:effectLst/>
                        </a:rPr>
                        <a:t>ANIMALS AND THEIR SHELTERS</a:t>
                      </a:r>
                      <a:endParaRPr lang="en-GB" sz="4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73862217"/>
                  </a:ext>
                </a:extLst>
              </a:tr>
              <a:tr h="82925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4400" dirty="0">
                          <a:effectLst/>
                        </a:rPr>
                        <a:t>WEEK </a:t>
                      </a:r>
                      <a:r>
                        <a:rPr lang="en-ZA" sz="4400" dirty="0" smtClean="0">
                          <a:effectLst/>
                        </a:rPr>
                        <a:t>8-9</a:t>
                      </a:r>
                      <a:endParaRPr lang="en-GB" sz="4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4000" dirty="0" smtClean="0">
                          <a:solidFill>
                            <a:schemeClr val="tx1"/>
                          </a:solidFill>
                          <a:effectLst/>
                        </a:rPr>
                        <a:t>FARM AND WILD ANIMALS</a:t>
                      </a:r>
                      <a:endParaRPr lang="en-GB" sz="4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40576756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1FEFCB91-6FC2-AD9D-4047-53F1C3B2B3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5863" y="290738"/>
            <a:ext cx="9701211" cy="12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ZA" altLang="en-US" sz="6000" b="1" dirty="0">
                <a:latin typeface="ABC Junior Typing" charset="0"/>
                <a:ea typeface="Calibri" panose="020F0502020204030204" pitchFamily="34" charset="0"/>
                <a:cs typeface="Times New Roman" panose="02020603050405020304" pitchFamily="18" charset="0"/>
              </a:rPr>
              <a:t>LESSON PLAN CONTENT</a:t>
            </a:r>
            <a:endParaRPr kumimoji="0" lang="en-GB" altLang="en-US" sz="6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5958534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5DA8D-17B2-D1DE-4C15-4DD658A80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36550"/>
            <a:ext cx="10515600" cy="1325563"/>
          </a:xfrm>
        </p:spPr>
        <p:txBody>
          <a:bodyPr/>
          <a:lstStyle/>
          <a:p>
            <a:r>
              <a:rPr lang="en-GB" b="1" dirty="0" smtClean="0"/>
              <a:t>LESSON OBJECTIVES</a:t>
            </a:r>
            <a:endParaRPr lang="en-GB" b="1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839788" y="1470148"/>
            <a:ext cx="5157787" cy="823912"/>
          </a:xfrm>
        </p:spPr>
        <p:txBody>
          <a:bodyPr/>
          <a:lstStyle/>
          <a:p>
            <a:r>
              <a:rPr lang="en-ZA" dirty="0" smtClean="0"/>
              <a:t>LISTENING AND SPEAKING </a:t>
            </a:r>
            <a:endParaRPr lang="en-ZA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pPr algn="just"/>
            <a:r>
              <a:rPr lang="en-ZA" dirty="0" smtClean="0"/>
              <a:t>Display </a:t>
            </a:r>
            <a:r>
              <a:rPr lang="en-ZA" dirty="0"/>
              <a:t>listening behaviour</a:t>
            </a:r>
          </a:p>
          <a:p>
            <a:pPr algn="just"/>
            <a:r>
              <a:rPr lang="en-ZA" dirty="0" smtClean="0"/>
              <a:t>Follow </a:t>
            </a:r>
            <a:r>
              <a:rPr lang="en-ZA" dirty="0"/>
              <a:t>simple classroom instructions</a:t>
            </a:r>
          </a:p>
          <a:p>
            <a:pPr algn="just"/>
            <a:r>
              <a:rPr lang="en-ZA" dirty="0" smtClean="0"/>
              <a:t>Use </a:t>
            </a:r>
            <a:r>
              <a:rPr lang="en-ZA" dirty="0"/>
              <a:t>visual and pictorial cues to make </a:t>
            </a:r>
          </a:p>
          <a:p>
            <a:pPr algn="just"/>
            <a:r>
              <a:rPr lang="en-ZA" dirty="0" smtClean="0"/>
              <a:t>Meaning</a:t>
            </a:r>
          </a:p>
          <a:p>
            <a:pPr algn="just"/>
            <a:r>
              <a:rPr lang="en-US" dirty="0"/>
              <a:t> Listen to stories and respond to </a:t>
            </a:r>
            <a:r>
              <a:rPr lang="en-US" dirty="0" smtClean="0"/>
              <a:t>questions</a:t>
            </a:r>
            <a:endParaRPr lang="en-ZA" dirty="0"/>
          </a:p>
          <a:p>
            <a:pPr algn="just"/>
            <a:r>
              <a:rPr lang="en-ZA" dirty="0" smtClean="0"/>
              <a:t>Process </a:t>
            </a:r>
            <a:r>
              <a:rPr lang="en-ZA" dirty="0"/>
              <a:t>information</a:t>
            </a:r>
          </a:p>
          <a:p>
            <a:pPr algn="just"/>
            <a:r>
              <a:rPr lang="en-ZA" dirty="0" smtClean="0"/>
              <a:t>Compare </a:t>
            </a:r>
            <a:r>
              <a:rPr lang="en-ZA" dirty="0"/>
              <a:t>and classify information</a:t>
            </a:r>
          </a:p>
          <a:p>
            <a:pPr algn="just"/>
            <a:r>
              <a:rPr lang="en-ZA" dirty="0" smtClean="0"/>
              <a:t>Use </a:t>
            </a:r>
            <a:r>
              <a:rPr lang="en-ZA" dirty="0"/>
              <a:t>language for communication</a:t>
            </a:r>
          </a:p>
          <a:p>
            <a:pPr algn="just"/>
            <a:r>
              <a:rPr lang="en-ZA" dirty="0" smtClean="0"/>
              <a:t>Participate </a:t>
            </a:r>
            <a:r>
              <a:rPr lang="en-ZA" dirty="0"/>
              <a:t>in discussions</a:t>
            </a:r>
          </a:p>
          <a:p>
            <a:pPr algn="just"/>
            <a:r>
              <a:rPr lang="en-ZA" dirty="0" smtClean="0"/>
              <a:t>Build </a:t>
            </a:r>
            <a:r>
              <a:rPr lang="en-ZA" dirty="0"/>
              <a:t>oral vocabulary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ZA" dirty="0" smtClean="0"/>
              <a:t>PHONOLOGICAL/PHONEMIC </a:t>
            </a:r>
            <a:r>
              <a:rPr lang="en-ZA" dirty="0"/>
              <a:t>AWARENESS/ PHONICS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Develop auditory sequential </a:t>
            </a:r>
            <a:r>
              <a:rPr lang="en-US" dirty="0" smtClean="0"/>
              <a:t>memory and </a:t>
            </a:r>
            <a:r>
              <a:rPr lang="en-US" dirty="0"/>
              <a:t>recall</a:t>
            </a:r>
          </a:p>
          <a:p>
            <a:r>
              <a:rPr lang="en-US" dirty="0" smtClean="0"/>
              <a:t>Classify </a:t>
            </a:r>
            <a:r>
              <a:rPr lang="en-US" dirty="0"/>
              <a:t>and compare sounds</a:t>
            </a:r>
          </a:p>
          <a:p>
            <a:r>
              <a:rPr lang="en-US" dirty="0" smtClean="0"/>
              <a:t>Identify </a:t>
            </a:r>
            <a:r>
              <a:rPr lang="en-US" dirty="0"/>
              <a:t>letter-sound relationship of </a:t>
            </a:r>
            <a:r>
              <a:rPr lang="en-US" dirty="0" smtClean="0"/>
              <a:t>single </a:t>
            </a:r>
            <a:r>
              <a:rPr lang="en-US" dirty="0"/>
              <a:t>sounds (z)</a:t>
            </a:r>
          </a:p>
          <a:p>
            <a:r>
              <a:rPr lang="en-US" dirty="0" err="1" smtClean="0"/>
              <a:t>Recognise</a:t>
            </a:r>
            <a:r>
              <a:rPr lang="en-US" dirty="0" smtClean="0"/>
              <a:t> </a:t>
            </a:r>
            <a:r>
              <a:rPr lang="en-US" dirty="0"/>
              <a:t>words that end on -</a:t>
            </a:r>
            <a:r>
              <a:rPr lang="en-US" dirty="0" err="1"/>
              <a:t>zz</a:t>
            </a:r>
            <a:endParaRPr lang="en-US" dirty="0"/>
          </a:p>
          <a:p>
            <a:r>
              <a:rPr lang="en-US" dirty="0" err="1" smtClean="0"/>
              <a:t>Recognise</a:t>
            </a:r>
            <a:r>
              <a:rPr lang="en-US" dirty="0" smtClean="0"/>
              <a:t> </a:t>
            </a:r>
            <a:r>
              <a:rPr lang="en-US" dirty="0"/>
              <a:t>and use sight </a:t>
            </a:r>
            <a:r>
              <a:rPr lang="en-US" dirty="0" smtClean="0"/>
              <a:t>words</a:t>
            </a:r>
          </a:p>
          <a:p>
            <a:r>
              <a:rPr lang="en-US" dirty="0"/>
              <a:t>Build and blend words three letter </a:t>
            </a:r>
            <a:r>
              <a:rPr lang="en-US" dirty="0" smtClean="0"/>
              <a:t>words </a:t>
            </a:r>
            <a:endParaRPr lang="en-US" dirty="0"/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864525888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smtClean="0"/>
              <a:t>Cont.…</a:t>
            </a:r>
            <a:endParaRPr lang="en-ZA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 smtClean="0"/>
              <a:t>HANDWRITING				</a:t>
            </a:r>
            <a:endParaRPr lang="en-ZA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ZA" dirty="0" smtClean="0"/>
              <a:t>Develop </a:t>
            </a:r>
            <a:r>
              <a:rPr lang="en-ZA" dirty="0"/>
              <a:t>fine motor skills </a:t>
            </a:r>
          </a:p>
          <a:p>
            <a:r>
              <a:rPr lang="en-ZA" dirty="0" smtClean="0"/>
              <a:t>Develop </a:t>
            </a:r>
            <a:r>
              <a:rPr lang="en-ZA" dirty="0"/>
              <a:t>gross-motor </a:t>
            </a:r>
            <a:r>
              <a:rPr lang="en-ZA" dirty="0" smtClean="0"/>
              <a:t>skills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346653"/>
            <a:ext cx="5183188" cy="823912"/>
          </a:xfrm>
        </p:spPr>
        <p:txBody>
          <a:bodyPr/>
          <a:lstStyle/>
          <a:p>
            <a:r>
              <a:rPr lang="en-ZA" dirty="0" smtClean="0"/>
              <a:t>WRITING </a:t>
            </a:r>
            <a:endParaRPr lang="en-ZA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Draw a picture to convey messages</a:t>
            </a:r>
          </a:p>
          <a:p>
            <a:r>
              <a:rPr lang="en-US" dirty="0"/>
              <a:t>Imitate writing</a:t>
            </a:r>
          </a:p>
          <a:p>
            <a:r>
              <a:rPr lang="en-US" dirty="0"/>
              <a:t>Work with </a:t>
            </a:r>
            <a:r>
              <a:rPr lang="en-US" dirty="0" smtClean="0"/>
              <a:t>words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208156424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399B2-A315-A072-49A6-3D66AE41C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ASSESSMENT GOALS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927100" y="1278732"/>
            <a:ext cx="5157787" cy="823912"/>
          </a:xfrm>
        </p:spPr>
        <p:txBody>
          <a:bodyPr/>
          <a:lstStyle/>
          <a:p>
            <a:r>
              <a:rPr lang="en-ZA" dirty="0" smtClean="0"/>
              <a:t>LISTENING AND SPEAKING</a:t>
            </a:r>
            <a:endParaRPr lang="en-ZA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Listen </a:t>
            </a:r>
            <a:r>
              <a:rPr lang="en-US" dirty="0"/>
              <a:t>to stories and respond to questions</a:t>
            </a:r>
          </a:p>
          <a:p>
            <a:r>
              <a:rPr lang="en-US" dirty="0" smtClean="0"/>
              <a:t>Use </a:t>
            </a:r>
            <a:r>
              <a:rPr lang="en-US" dirty="0"/>
              <a:t>visual and pictorial cues to make meaning</a:t>
            </a:r>
          </a:p>
          <a:p>
            <a:r>
              <a:rPr lang="en-US" dirty="0" smtClean="0"/>
              <a:t>Process </a:t>
            </a:r>
            <a:r>
              <a:rPr lang="en-US" dirty="0"/>
              <a:t>information</a:t>
            </a:r>
          </a:p>
          <a:p>
            <a:r>
              <a:rPr lang="en-US" dirty="0" smtClean="0"/>
              <a:t>Compare </a:t>
            </a:r>
            <a:r>
              <a:rPr lang="en-US" dirty="0"/>
              <a:t>and classify information</a:t>
            </a:r>
          </a:p>
          <a:p>
            <a:r>
              <a:rPr lang="en-US" dirty="0" smtClean="0"/>
              <a:t>Use </a:t>
            </a:r>
            <a:r>
              <a:rPr lang="en-US" dirty="0"/>
              <a:t>language for communication</a:t>
            </a:r>
          </a:p>
          <a:p>
            <a:r>
              <a:rPr lang="en-US" dirty="0" smtClean="0"/>
              <a:t>Solve </a:t>
            </a:r>
            <a:r>
              <a:rPr lang="en-US" dirty="0"/>
              <a:t>and complete ten or more piece jig-saw puzzles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ZA" dirty="0" smtClean="0"/>
              <a:t>PHONOLOGICAL/PHONEMIC </a:t>
            </a:r>
            <a:r>
              <a:rPr lang="en-ZA" dirty="0"/>
              <a:t>AWARENESS/ PHONICS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Distinguish </a:t>
            </a:r>
            <a:r>
              <a:rPr lang="en-US" dirty="0"/>
              <a:t>aurally between different sounds at the end of words</a:t>
            </a:r>
          </a:p>
          <a:p>
            <a:r>
              <a:rPr lang="en-US" dirty="0" smtClean="0"/>
              <a:t>Listen </a:t>
            </a:r>
            <a:r>
              <a:rPr lang="en-US" dirty="0"/>
              <a:t>to and repeat an auditory sequence</a:t>
            </a:r>
          </a:p>
          <a:p>
            <a:r>
              <a:rPr lang="en-US" dirty="0" smtClean="0"/>
              <a:t>Compare </a:t>
            </a:r>
            <a:r>
              <a:rPr lang="en-US" dirty="0"/>
              <a:t>different sounds</a:t>
            </a:r>
          </a:p>
          <a:p>
            <a:r>
              <a:rPr lang="en-US" dirty="0" smtClean="0"/>
              <a:t>Segment </a:t>
            </a:r>
            <a:r>
              <a:rPr lang="en-US" dirty="0"/>
              <a:t>sentences into individual words by clapping on each word</a:t>
            </a:r>
          </a:p>
          <a:p>
            <a:r>
              <a:rPr lang="en-US" dirty="0" smtClean="0"/>
              <a:t>Build </a:t>
            </a:r>
            <a:r>
              <a:rPr lang="en-US" dirty="0"/>
              <a:t>three letter words using short ‘-a-’ words. the taught word families</a:t>
            </a:r>
          </a:p>
          <a:p>
            <a:r>
              <a:rPr lang="en-US" dirty="0" err="1" smtClean="0"/>
              <a:t>Recognise</a:t>
            </a:r>
            <a:r>
              <a:rPr lang="en-US" dirty="0" smtClean="0"/>
              <a:t> </a:t>
            </a:r>
            <a:r>
              <a:rPr lang="en-US" dirty="0"/>
              <a:t>that words are made up of sounds in three letter words, </a:t>
            </a:r>
            <a:r>
              <a:rPr lang="en-US" dirty="0" smtClean="0"/>
              <a:t>e.g.t-a-p</a:t>
            </a:r>
            <a:endParaRPr lang="en-US" dirty="0"/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750248511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smtClean="0"/>
              <a:t>Cont.…</a:t>
            </a:r>
            <a:endParaRPr lang="en-ZA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 smtClean="0"/>
              <a:t>HANDWRITING 		</a:t>
            </a:r>
            <a:endParaRPr lang="en-ZA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Make patterns, e.g. rounded, pointed, vertical lines </a:t>
            </a:r>
          </a:p>
          <a:p>
            <a:r>
              <a:rPr lang="en-US" dirty="0" smtClean="0"/>
              <a:t>Trace </a:t>
            </a:r>
            <a:r>
              <a:rPr lang="en-US" dirty="0"/>
              <a:t>patterns, letters and words</a:t>
            </a:r>
          </a:p>
          <a:p>
            <a:r>
              <a:rPr lang="en-US" dirty="0" smtClean="0"/>
              <a:t>Copy </a:t>
            </a:r>
            <a:r>
              <a:rPr lang="en-US" dirty="0"/>
              <a:t>patterns and letters onto pegboards</a:t>
            </a:r>
          </a:p>
          <a:p>
            <a:r>
              <a:rPr lang="en-US" dirty="0" smtClean="0"/>
              <a:t>Copy </a:t>
            </a:r>
            <a:r>
              <a:rPr lang="en-US" dirty="0"/>
              <a:t>patterns, letters and words onto paper using big movements</a:t>
            </a:r>
          </a:p>
          <a:p>
            <a:r>
              <a:rPr lang="en-US" dirty="0" smtClean="0"/>
              <a:t>Trace </a:t>
            </a:r>
            <a:r>
              <a:rPr lang="en-US" dirty="0"/>
              <a:t>simple outlines of pictures and shapes</a:t>
            </a:r>
          </a:p>
          <a:p>
            <a:r>
              <a:rPr lang="en-US" dirty="0" smtClean="0"/>
              <a:t>Use </a:t>
            </a:r>
            <a:r>
              <a:rPr lang="en-US" dirty="0"/>
              <a:t>a range of writing tools</a:t>
            </a:r>
          </a:p>
          <a:p>
            <a:r>
              <a:rPr lang="en-US" dirty="0" smtClean="0"/>
              <a:t>“</a:t>
            </a:r>
            <a:r>
              <a:rPr lang="en-US" dirty="0"/>
              <a:t>Write” in sand trays</a:t>
            </a:r>
          </a:p>
          <a:p>
            <a:pPr marL="0" indent="0">
              <a:buNone/>
            </a:pPr>
            <a:endParaRPr lang="en-ZA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ZA" dirty="0" smtClean="0"/>
              <a:t>WRITING </a:t>
            </a:r>
            <a:endParaRPr lang="en-ZA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Draw or paints pictures </a:t>
            </a:r>
          </a:p>
          <a:p>
            <a:r>
              <a:rPr lang="en-US" dirty="0" smtClean="0"/>
              <a:t>Understand </a:t>
            </a:r>
            <a:r>
              <a:rPr lang="en-US" dirty="0"/>
              <a:t>that writing and drawing are different: pretend writing </a:t>
            </a:r>
            <a:r>
              <a:rPr lang="en-US" dirty="0" smtClean="0"/>
              <a:t>represented </a:t>
            </a:r>
            <a:r>
              <a:rPr lang="en-US" dirty="0"/>
              <a:t>using squiggles and </a:t>
            </a:r>
            <a:r>
              <a:rPr lang="en-US" dirty="0" smtClean="0"/>
              <a:t>scribbles</a:t>
            </a:r>
          </a:p>
          <a:p>
            <a:r>
              <a:rPr lang="en-US" dirty="0" smtClean="0"/>
              <a:t>‘</a:t>
            </a:r>
            <a:r>
              <a:rPr lang="en-US" dirty="0"/>
              <a:t>Read’ own writing: ‘read’ what squiggles and scribbles ‘say’</a:t>
            </a:r>
          </a:p>
          <a:p>
            <a:r>
              <a:rPr lang="en-US" dirty="0" smtClean="0"/>
              <a:t>Copy </a:t>
            </a:r>
            <a:r>
              <a:rPr lang="en-US" dirty="0"/>
              <a:t>known letters in own name to represent writing</a:t>
            </a:r>
          </a:p>
          <a:p>
            <a:r>
              <a:rPr lang="en-US" dirty="0" smtClean="0"/>
              <a:t>Role-play </a:t>
            </a:r>
            <a:r>
              <a:rPr lang="en-US" dirty="0"/>
              <a:t>writing in play situations, e.g. write lists</a:t>
            </a:r>
          </a:p>
          <a:p>
            <a:r>
              <a:rPr lang="en-US" dirty="0" smtClean="0"/>
              <a:t>Understand </a:t>
            </a:r>
            <a:r>
              <a:rPr lang="en-US" dirty="0"/>
              <a:t>and use the past tense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879182599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102BA29-6C42-E78F-B22D-895707F4578D}"/>
              </a:ext>
            </a:extLst>
          </p:cNvPr>
          <p:cNvSpPr txBox="1"/>
          <p:nvPr/>
        </p:nvSpPr>
        <p:spPr>
          <a:xfrm>
            <a:off x="2185986" y="1086312"/>
            <a:ext cx="7672388" cy="655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ZA" sz="3600" b="1" dirty="0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SEASONS </a:t>
            </a:r>
            <a:endParaRPr lang="en-GB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Centro Plurilingüe A FRAGA: CHANGING &lt;strong&gt;SEASONS&lt;/strong&gt;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9900" y="2025748"/>
            <a:ext cx="6696808" cy="4832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18065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9F44AB-8421-1D98-90F7-060FF5F10C4E}"/>
              </a:ext>
            </a:extLst>
          </p:cNvPr>
          <p:cNvSpPr txBox="1"/>
          <p:nvPr/>
        </p:nvSpPr>
        <p:spPr>
          <a:xfrm>
            <a:off x="3060878" y="1792252"/>
            <a:ext cx="6093618" cy="3253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9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C Junior Typing"/>
                <a:ea typeface="Calibri" panose="020F0502020204030204" pitchFamily="34" charset="0"/>
                <a:cs typeface="Times New Roman" panose="02020603050405020304" pitchFamily="18" charset="0"/>
              </a:rPr>
              <a:t>Group </a:t>
            </a:r>
            <a:r>
              <a:rPr lang="en-ZA" sz="9600" b="1" dirty="0">
                <a:solidFill>
                  <a:prstClr val="black"/>
                </a:solidFill>
                <a:latin typeface="ABC Junior Typing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kumimoji="0" lang="en-ZA" sz="9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C Junior Typing"/>
                <a:ea typeface="Calibri" panose="020F0502020204030204" pitchFamily="34" charset="0"/>
                <a:cs typeface="Times New Roman" panose="02020603050405020304" pitchFamily="18" charset="0"/>
              </a:rPr>
              <a:t> Year 2</a:t>
            </a:r>
            <a:endParaRPr kumimoji="0" lang="en-GB" sz="9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039389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49" y="123825"/>
            <a:ext cx="4486275" cy="5887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944039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9975" y="142875"/>
            <a:ext cx="4833938" cy="6167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599576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9F44AB-8421-1D98-90F7-060FF5F10C4E}"/>
              </a:ext>
            </a:extLst>
          </p:cNvPr>
          <p:cNvSpPr txBox="1"/>
          <p:nvPr/>
        </p:nvSpPr>
        <p:spPr>
          <a:xfrm>
            <a:off x="3060878" y="1792252"/>
            <a:ext cx="6093618" cy="3253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9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C Junior Typing"/>
                <a:ea typeface="Calibri" panose="020F0502020204030204" pitchFamily="34" charset="0"/>
                <a:cs typeface="Times New Roman" panose="02020603050405020304" pitchFamily="18" charset="0"/>
              </a:rPr>
              <a:t>Group </a:t>
            </a:r>
            <a:r>
              <a:rPr lang="en-ZA" sz="9600" b="1" dirty="0">
                <a:solidFill>
                  <a:prstClr val="black"/>
                </a:solidFill>
                <a:latin typeface="ABC Junior Typing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kumimoji="0" lang="en-ZA" sz="9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C Junior Typing"/>
                <a:ea typeface="Calibri" panose="020F0502020204030204" pitchFamily="34" charset="0"/>
                <a:cs typeface="Times New Roman" panose="02020603050405020304" pitchFamily="18" charset="0"/>
              </a:rPr>
              <a:t> Year 2</a:t>
            </a:r>
            <a:endParaRPr kumimoji="0" lang="en-GB" sz="9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6051892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0011" y="304799"/>
            <a:ext cx="3690939" cy="5325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465959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9F44AB-8421-1D98-90F7-060FF5F10C4E}"/>
              </a:ext>
            </a:extLst>
          </p:cNvPr>
          <p:cNvSpPr txBox="1"/>
          <p:nvPr/>
        </p:nvSpPr>
        <p:spPr>
          <a:xfrm>
            <a:off x="3060878" y="1792252"/>
            <a:ext cx="6093618" cy="3253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ZA" sz="9600" b="1" dirty="0">
                <a:effectLst/>
                <a:latin typeface="ABC Junior Typing"/>
                <a:ea typeface="Calibri" panose="020F0502020204030204" pitchFamily="34" charset="0"/>
                <a:cs typeface="Times New Roman" panose="02020603050405020304" pitchFamily="18" charset="0"/>
              </a:rPr>
              <a:t>Group </a:t>
            </a:r>
            <a:r>
              <a:rPr lang="en-ZA" sz="9600" b="1" dirty="0" smtClean="0">
                <a:effectLst/>
                <a:latin typeface="ABC Junior Typing"/>
                <a:ea typeface="Calibri" panose="020F0502020204030204" pitchFamily="34" charset="0"/>
                <a:cs typeface="Times New Roman" panose="02020603050405020304" pitchFamily="18" charset="0"/>
              </a:rPr>
              <a:t>3 Year 2</a:t>
            </a:r>
            <a:endParaRPr lang="en-GB" sz="9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5973852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Image result for seasonsphonicsWorksheets Exercis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ZA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7096" y="7937"/>
            <a:ext cx="5233181" cy="6631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640523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dirty="0"/>
              <a:t>CREATURES LIVING IN WATER: OCEAN,RIVER, </a:t>
            </a:r>
            <a:br>
              <a:rPr lang="en-US" b="1" dirty="0"/>
            </a:br>
            <a:r>
              <a:rPr lang="en-US" b="1" dirty="0"/>
              <a:t>POND</a:t>
            </a:r>
          </a:p>
        </p:txBody>
      </p:sp>
      <p:pic>
        <p:nvPicPr>
          <p:cNvPr id="4" name="Content Placeholder 3" descr="Free Images : &lt;strong&gt;water&lt;/strong&gt;, &lt;strong&gt;animal&lt;/strong&gt;, wildlife, underwater, scale, fauna ...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2363" y="1825625"/>
            <a:ext cx="9537895" cy="4351338"/>
          </a:xfrm>
        </p:spPr>
      </p:pic>
    </p:spTree>
    <p:extLst>
      <p:ext uri="{BB962C8B-B14F-4D97-AF65-F5344CB8AC3E}">
        <p14:creationId xmlns:p14="http://schemas.microsoft.com/office/powerpoint/2010/main" val="2207074964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F9F44AB-8421-1D98-90F7-060FF5F10C4E}"/>
              </a:ext>
            </a:extLst>
          </p:cNvPr>
          <p:cNvSpPr txBox="1"/>
          <p:nvPr/>
        </p:nvSpPr>
        <p:spPr>
          <a:xfrm>
            <a:off x="3060878" y="1792252"/>
            <a:ext cx="6093618" cy="3253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ZA" sz="9600" b="1" dirty="0">
                <a:effectLst/>
                <a:latin typeface="ABC Junior Typing"/>
                <a:ea typeface="Calibri" panose="020F0502020204030204" pitchFamily="34" charset="0"/>
                <a:cs typeface="Times New Roman" panose="02020603050405020304" pitchFamily="18" charset="0"/>
              </a:rPr>
              <a:t>Group </a:t>
            </a:r>
            <a:r>
              <a:rPr lang="en-ZA" sz="9600" b="1" dirty="0">
                <a:latin typeface="ABC Junior Typing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ZA" sz="9600" b="1" dirty="0" smtClean="0">
                <a:effectLst/>
                <a:latin typeface="ABC Junior Typing"/>
                <a:ea typeface="Calibri" panose="020F0502020204030204" pitchFamily="34" charset="0"/>
                <a:cs typeface="Times New Roman" panose="02020603050405020304" pitchFamily="18" charset="0"/>
              </a:rPr>
              <a:t> Year 2</a:t>
            </a:r>
            <a:endParaRPr lang="en-GB" sz="9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0577215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8575" y="338137"/>
            <a:ext cx="4514850" cy="618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160076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301" y="309563"/>
            <a:ext cx="5057773" cy="6170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147931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9F44AB-8421-1D98-90F7-060FF5F10C4E}"/>
              </a:ext>
            </a:extLst>
          </p:cNvPr>
          <p:cNvSpPr txBox="1"/>
          <p:nvPr/>
        </p:nvSpPr>
        <p:spPr>
          <a:xfrm>
            <a:off x="3060878" y="1792252"/>
            <a:ext cx="6093618" cy="3253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ZA" sz="9600" b="1" dirty="0">
                <a:effectLst/>
                <a:latin typeface="ABC Junior Typing"/>
                <a:ea typeface="Calibri" panose="020F0502020204030204" pitchFamily="34" charset="0"/>
                <a:cs typeface="Times New Roman" panose="02020603050405020304" pitchFamily="18" charset="0"/>
              </a:rPr>
              <a:t>Group </a:t>
            </a:r>
            <a:r>
              <a:rPr lang="en-ZA" sz="9600" b="1" dirty="0">
                <a:latin typeface="ABC Junior Typing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ZA" sz="9600" b="1" dirty="0" smtClean="0">
                <a:effectLst/>
                <a:latin typeface="ABC Junior Typing"/>
                <a:ea typeface="Calibri" panose="020F0502020204030204" pitchFamily="34" charset="0"/>
                <a:cs typeface="Times New Roman" panose="02020603050405020304" pitchFamily="18" charset="0"/>
              </a:rPr>
              <a:t> Year 2</a:t>
            </a:r>
            <a:endParaRPr lang="en-GB" sz="9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4419581"/>
      </p:ext>
    </p:extLst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4687" y="0"/>
            <a:ext cx="5972176" cy="6003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67389"/>
      </p:ext>
    </p:extLst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0991" y="296100"/>
            <a:ext cx="4459458" cy="6297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948148"/>
      </p:ext>
    </p:extLst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9F44AB-8421-1D98-90F7-060FF5F10C4E}"/>
              </a:ext>
            </a:extLst>
          </p:cNvPr>
          <p:cNvSpPr txBox="1"/>
          <p:nvPr/>
        </p:nvSpPr>
        <p:spPr>
          <a:xfrm>
            <a:off x="3060878" y="1792252"/>
            <a:ext cx="6093618" cy="3253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ZA" sz="9600" b="1" dirty="0">
                <a:effectLst/>
                <a:latin typeface="ABC Junior Typing"/>
                <a:ea typeface="Calibri" panose="020F0502020204030204" pitchFamily="34" charset="0"/>
                <a:cs typeface="Times New Roman" panose="02020603050405020304" pitchFamily="18" charset="0"/>
              </a:rPr>
              <a:t>Group </a:t>
            </a:r>
            <a:r>
              <a:rPr lang="en-ZA" sz="9600" b="1" dirty="0" smtClean="0">
                <a:effectLst/>
                <a:latin typeface="ABC Junior Typing"/>
                <a:ea typeface="Calibri" panose="020F0502020204030204" pitchFamily="34" charset="0"/>
                <a:cs typeface="Times New Roman" panose="02020603050405020304" pitchFamily="18" charset="0"/>
              </a:rPr>
              <a:t>3 Year 2</a:t>
            </a:r>
            <a:endParaRPr lang="en-GB" sz="9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5664333"/>
      </p:ext>
    </p:extLst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4324" y="152400"/>
            <a:ext cx="4448175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861182"/>
      </p:ext>
    </p:extLst>
  </p:cSld>
  <p:clrMapOvr>
    <a:masterClrMapping/>
  </p:clrMapOvr>
  <p:transition spd="slow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13EC0C7-1CDE-39CA-237D-0C6560D0EFFB}"/>
              </a:ext>
            </a:extLst>
          </p:cNvPr>
          <p:cNvSpPr txBox="1"/>
          <p:nvPr/>
        </p:nvSpPr>
        <p:spPr>
          <a:xfrm>
            <a:off x="1101970" y="520506"/>
            <a:ext cx="9659814" cy="2265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ZA" sz="6600" b="1" dirty="0" smtClean="0">
                <a:latin typeface="ABC Junior Typing"/>
                <a:ea typeface="Calibri" panose="020F0502020204030204" pitchFamily="34" charset="0"/>
                <a:cs typeface="Calibri Light" panose="020F0302020204030204" pitchFamily="34" charset="0"/>
              </a:rPr>
              <a:t>ANIMALS &amp; THEIR SHELTERS</a:t>
            </a:r>
            <a:endParaRPr lang="en-GB" sz="6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ntiquity Oaks: New pig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2986" y="2927060"/>
            <a:ext cx="3810000" cy="3238500"/>
          </a:xfrm>
          <a:prstGeom prst="rect">
            <a:avLst/>
          </a:prstGeom>
        </p:spPr>
      </p:pic>
      <p:pic>
        <p:nvPicPr>
          <p:cNvPr id="4" name="Picture 3" descr="&lt;strong&gt;Animals&lt;/strong&gt; &lt;strong&gt;shelter&lt;/strong&gt;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0241" y="2927060"/>
            <a:ext cx="4495303" cy="337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51845"/>
      </p:ext>
    </p:extLst>
  </p:cSld>
  <p:clrMapOvr>
    <a:masterClrMapping/>
  </p:clrMapOvr>
  <p:transition spd="slow"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9F44AB-8421-1D98-90F7-060FF5F10C4E}"/>
              </a:ext>
            </a:extLst>
          </p:cNvPr>
          <p:cNvSpPr txBox="1"/>
          <p:nvPr/>
        </p:nvSpPr>
        <p:spPr>
          <a:xfrm>
            <a:off x="3060878" y="1792252"/>
            <a:ext cx="6093618" cy="3253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ZA" sz="9600" b="1" dirty="0">
                <a:effectLst/>
                <a:latin typeface="ABC Junior Typing"/>
                <a:ea typeface="Calibri" panose="020F0502020204030204" pitchFamily="34" charset="0"/>
                <a:cs typeface="Times New Roman" panose="02020603050405020304" pitchFamily="18" charset="0"/>
              </a:rPr>
              <a:t>Group </a:t>
            </a:r>
            <a:r>
              <a:rPr lang="en-ZA" sz="9600" b="1" dirty="0">
                <a:latin typeface="ABC Junior Typing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ZA" sz="9600" b="1" dirty="0" smtClean="0">
                <a:effectLst/>
                <a:latin typeface="ABC Junior Typing"/>
                <a:ea typeface="Calibri" panose="020F0502020204030204" pitchFamily="34" charset="0"/>
                <a:cs typeface="Times New Roman" panose="02020603050405020304" pitchFamily="18" charset="0"/>
              </a:rPr>
              <a:t> Year 2</a:t>
            </a:r>
            <a:endParaRPr lang="en-GB" sz="9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8835616"/>
      </p:ext>
    </p:extLst>
  </p:cSld>
  <p:clrMapOvr>
    <a:masterClrMapping/>
  </p:clrMapOvr>
  <p:transition spd="slow"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8575" y="509587"/>
            <a:ext cx="4514850" cy="583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086122"/>
      </p:ext>
    </p:extLst>
  </p:cSld>
  <p:clrMapOvr>
    <a:masterClrMapping/>
  </p:clrMapOvr>
  <p:transition spd="slow">
    <p:wip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-74854" t="-122892" r="-89717" b="-161339"/>
          <a:stretch/>
        </p:blipFill>
        <p:spPr>
          <a:xfrm>
            <a:off x="-3549888" y="-6252316"/>
            <a:ext cx="20738193" cy="2095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891176"/>
      </p:ext>
    </p:extLst>
  </p:cSld>
  <p:clrMapOvr>
    <a:masterClrMapping/>
  </p:clrMapOvr>
  <p:transition spd="slow">
    <p:wip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1412" y="176213"/>
            <a:ext cx="4514850" cy="5895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814871"/>
      </p:ext>
    </p:extLst>
  </p:cSld>
  <p:clrMapOvr>
    <a:masterClrMapping/>
  </p:clrMapOvr>
  <p:transition spd="slow">
    <p:wip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9F44AB-8421-1D98-90F7-060FF5F10C4E}"/>
              </a:ext>
            </a:extLst>
          </p:cNvPr>
          <p:cNvSpPr txBox="1"/>
          <p:nvPr/>
        </p:nvSpPr>
        <p:spPr>
          <a:xfrm>
            <a:off x="3060878" y="1792252"/>
            <a:ext cx="6093618" cy="3253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ZA" sz="9600" b="1" dirty="0">
                <a:effectLst/>
                <a:latin typeface="ABC Junior Typing"/>
                <a:ea typeface="Calibri" panose="020F0502020204030204" pitchFamily="34" charset="0"/>
                <a:cs typeface="Times New Roman" panose="02020603050405020304" pitchFamily="18" charset="0"/>
              </a:rPr>
              <a:t>Group </a:t>
            </a:r>
            <a:r>
              <a:rPr lang="en-ZA" sz="9600" b="1" dirty="0">
                <a:latin typeface="ABC Junior Typing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ZA" sz="9600" b="1" dirty="0" smtClean="0">
                <a:effectLst/>
                <a:latin typeface="ABC Junior Typing"/>
                <a:ea typeface="Calibri" panose="020F0502020204030204" pitchFamily="34" charset="0"/>
                <a:cs typeface="Times New Roman" panose="02020603050405020304" pitchFamily="18" charset="0"/>
              </a:rPr>
              <a:t> Year 2</a:t>
            </a:r>
            <a:endParaRPr lang="en-GB" sz="9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7274766"/>
      </p:ext>
    </p:extLst>
  </p:cSld>
  <p:clrMapOvr>
    <a:masterClrMapping/>
  </p:clrMapOvr>
  <p:transition spd="slow">
    <p:wip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7588" y="247650"/>
            <a:ext cx="4700587" cy="5238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331647"/>
      </p:ext>
    </p:extLst>
  </p:cSld>
  <p:clrMapOvr>
    <a:masterClrMapping/>
  </p:clrMapOvr>
  <p:transition spd="slow">
    <p:wip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9F44AB-8421-1D98-90F7-060FF5F10C4E}"/>
              </a:ext>
            </a:extLst>
          </p:cNvPr>
          <p:cNvSpPr txBox="1"/>
          <p:nvPr/>
        </p:nvSpPr>
        <p:spPr>
          <a:xfrm>
            <a:off x="3060878" y="1792252"/>
            <a:ext cx="6093618" cy="3253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ZA" sz="9600" b="1" dirty="0">
                <a:effectLst/>
                <a:latin typeface="ABC Junior Typing"/>
                <a:ea typeface="Calibri" panose="020F0502020204030204" pitchFamily="34" charset="0"/>
                <a:cs typeface="Times New Roman" panose="02020603050405020304" pitchFamily="18" charset="0"/>
              </a:rPr>
              <a:t>Group </a:t>
            </a:r>
            <a:r>
              <a:rPr lang="en-ZA" sz="9600" b="1" dirty="0" smtClean="0">
                <a:effectLst/>
                <a:latin typeface="ABC Junior Typing"/>
                <a:ea typeface="Calibri" panose="020F0502020204030204" pitchFamily="34" charset="0"/>
                <a:cs typeface="Times New Roman" panose="02020603050405020304" pitchFamily="18" charset="0"/>
              </a:rPr>
              <a:t>3 Year 2</a:t>
            </a:r>
            <a:endParaRPr lang="en-GB" sz="9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942078"/>
      </p:ext>
    </p:extLst>
  </p:cSld>
  <p:clrMapOvr>
    <a:masterClrMapping/>
  </p:clrMapOvr>
  <p:transition spd="slow">
    <p:wip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9550" y="185737"/>
            <a:ext cx="3938588" cy="5582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126239"/>
      </p:ext>
    </p:extLst>
  </p:cSld>
  <p:clrMapOvr>
    <a:masterClrMapping/>
  </p:clrMapOvr>
  <p:transition spd="slow">
    <p:wip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5B6B5D-88B4-9431-4DBA-2983514C99FB}"/>
              </a:ext>
            </a:extLst>
          </p:cNvPr>
          <p:cNvSpPr txBox="1"/>
          <p:nvPr/>
        </p:nvSpPr>
        <p:spPr>
          <a:xfrm>
            <a:off x="1214438" y="2014538"/>
            <a:ext cx="9944099" cy="3253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ZA" sz="9600" b="1" dirty="0" smtClean="0">
                <a:latin typeface="ABC Junior Typing"/>
                <a:ea typeface="Calibri" panose="020F0502020204030204" pitchFamily="34" charset="0"/>
                <a:cs typeface="Calibri Light" panose="020F0302020204030204" pitchFamily="34" charset="0"/>
              </a:rPr>
              <a:t>WILD AND FARM ANIMALS</a:t>
            </a:r>
            <a:endParaRPr lang="en-GB" sz="96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9993770"/>
      </p:ext>
    </p:extLst>
  </p:cSld>
  <p:clrMapOvr>
    <a:masterClrMapping/>
  </p:clrMapOvr>
  <p:transition spd="slow">
    <p:wip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364" y="901989"/>
            <a:ext cx="10059272" cy="5054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836373"/>
      </p:ext>
    </p:extLst>
  </p:cSld>
  <p:clrMapOvr>
    <a:masterClrMapping/>
  </p:clrMapOvr>
  <p:transition spd="slow">
    <p:wip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FSLOVENGLISH: &lt;strong&gt;FARM ANIMALS&lt;/strong&gt;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428625"/>
            <a:ext cx="10058400" cy="5280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77265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9F44AB-8421-1D98-90F7-060FF5F10C4E}"/>
              </a:ext>
            </a:extLst>
          </p:cNvPr>
          <p:cNvSpPr txBox="1"/>
          <p:nvPr/>
        </p:nvSpPr>
        <p:spPr>
          <a:xfrm>
            <a:off x="3060878" y="1792252"/>
            <a:ext cx="6093618" cy="3253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ZA" sz="9600" b="1" dirty="0">
                <a:effectLst/>
                <a:latin typeface="ABC Junior Typing"/>
                <a:ea typeface="Calibri" panose="020F0502020204030204" pitchFamily="34" charset="0"/>
                <a:cs typeface="Times New Roman" panose="02020603050405020304" pitchFamily="18" charset="0"/>
              </a:rPr>
              <a:t>Group </a:t>
            </a:r>
            <a:r>
              <a:rPr lang="en-ZA" sz="9600" b="1" dirty="0">
                <a:latin typeface="ABC Junior Typing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ZA" sz="9600" b="1" dirty="0" smtClean="0">
                <a:effectLst/>
                <a:latin typeface="ABC Junior Typing"/>
                <a:ea typeface="Calibri" panose="020F0502020204030204" pitchFamily="34" charset="0"/>
                <a:cs typeface="Times New Roman" panose="02020603050405020304" pitchFamily="18" charset="0"/>
              </a:rPr>
              <a:t> Year 2</a:t>
            </a:r>
            <a:endParaRPr lang="en-GB" sz="9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835715"/>
      </p:ext>
    </p:extLst>
  </p:cSld>
  <p:clrMapOvr>
    <a:masterClrMapping/>
  </p:clrMapOvr>
  <p:transition spd="slow">
    <p:wip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1475" y="723900"/>
            <a:ext cx="3829050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673345"/>
      </p:ext>
    </p:extLst>
  </p:cSld>
  <p:clrMapOvr>
    <a:masterClrMapping/>
  </p:clrMapOvr>
  <p:transition spd="slow">
    <p:wip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8575" y="0"/>
            <a:ext cx="4514850" cy="637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274950"/>
      </p:ext>
    </p:extLst>
  </p:cSld>
  <p:clrMapOvr>
    <a:masterClrMapping/>
  </p:clrMapOvr>
  <p:transition spd="slow">
    <p:wip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9F44AB-8421-1D98-90F7-060FF5F10C4E}"/>
              </a:ext>
            </a:extLst>
          </p:cNvPr>
          <p:cNvSpPr txBox="1"/>
          <p:nvPr/>
        </p:nvSpPr>
        <p:spPr>
          <a:xfrm>
            <a:off x="3060878" y="1792252"/>
            <a:ext cx="6093618" cy="3253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ZA" sz="9600" b="1" dirty="0">
                <a:effectLst/>
                <a:latin typeface="ABC Junior Typing"/>
                <a:ea typeface="Calibri" panose="020F0502020204030204" pitchFamily="34" charset="0"/>
                <a:cs typeface="Times New Roman" panose="02020603050405020304" pitchFamily="18" charset="0"/>
              </a:rPr>
              <a:t>Group </a:t>
            </a:r>
            <a:r>
              <a:rPr lang="en-ZA" sz="9600" b="1" dirty="0">
                <a:latin typeface="ABC Junior Typing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ZA" sz="9600" b="1" dirty="0" smtClean="0">
                <a:effectLst/>
                <a:latin typeface="ABC Junior Typing"/>
                <a:ea typeface="Calibri" panose="020F0502020204030204" pitchFamily="34" charset="0"/>
                <a:cs typeface="Times New Roman" panose="02020603050405020304" pitchFamily="18" charset="0"/>
              </a:rPr>
              <a:t> Year 2</a:t>
            </a:r>
            <a:endParaRPr lang="en-GB" sz="9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5740377"/>
      </p:ext>
    </p:extLst>
  </p:cSld>
  <p:clrMapOvr>
    <a:masterClrMapping/>
  </p:clrMapOvr>
  <p:transition spd="slow">
    <p:wip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7513" y="-52792"/>
            <a:ext cx="6115050" cy="6325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377670"/>
      </p:ext>
    </p:extLst>
  </p:cSld>
  <p:clrMapOvr>
    <a:masterClrMapping/>
  </p:clrMapOvr>
  <p:transition spd="slow">
    <p:wip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6610" y="242836"/>
            <a:ext cx="3944454" cy="5572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738684"/>
      </p:ext>
    </p:extLst>
  </p:cSld>
  <p:clrMapOvr>
    <a:masterClrMapping/>
  </p:clrMapOvr>
  <p:transition spd="slow">
    <p:wip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9F44AB-8421-1D98-90F7-060FF5F10C4E}"/>
              </a:ext>
            </a:extLst>
          </p:cNvPr>
          <p:cNvSpPr txBox="1"/>
          <p:nvPr/>
        </p:nvSpPr>
        <p:spPr>
          <a:xfrm>
            <a:off x="3060878" y="1792252"/>
            <a:ext cx="6093618" cy="3253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ZA" sz="9600" b="1" dirty="0">
                <a:effectLst/>
                <a:latin typeface="ABC Junior Typing"/>
                <a:ea typeface="Calibri" panose="020F0502020204030204" pitchFamily="34" charset="0"/>
                <a:cs typeface="Times New Roman" panose="02020603050405020304" pitchFamily="18" charset="0"/>
              </a:rPr>
              <a:t>Group </a:t>
            </a:r>
            <a:r>
              <a:rPr lang="en-ZA" sz="9600" b="1" dirty="0" smtClean="0">
                <a:effectLst/>
                <a:latin typeface="ABC Junior Typing"/>
                <a:ea typeface="Calibri" panose="020F0502020204030204" pitchFamily="34" charset="0"/>
                <a:cs typeface="Times New Roman" panose="02020603050405020304" pitchFamily="18" charset="0"/>
              </a:rPr>
              <a:t>3 Year 2</a:t>
            </a:r>
            <a:endParaRPr lang="en-GB" sz="9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2001945"/>
      </p:ext>
    </p:extLst>
  </p:cSld>
  <p:clrMapOvr>
    <a:masterClrMapping/>
  </p:clrMapOvr>
  <p:transition spd="slow">
    <p:wip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946" y="108133"/>
            <a:ext cx="9516681" cy="604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989468"/>
      </p:ext>
    </p:extLst>
  </p:cSld>
  <p:clrMapOvr>
    <a:masterClrMapping/>
  </p:clrMapOvr>
  <p:transition spd="slow">
    <p:wip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4771" y="0"/>
            <a:ext cx="4505334" cy="5944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911841"/>
      </p:ext>
    </p:extLst>
  </p:cSld>
  <p:clrMapOvr>
    <a:masterClrMapping/>
  </p:clrMapOvr>
  <p:transition spd="slow">
    <p:wip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23E6E-2C3F-A955-7618-6A1BCDCB9F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REFERENCES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DFBA25-7E5A-14E0-3EC9-7BF51AE559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/>
              <a:t>www.Games4esl.com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7109376"/>
      </p:ext>
    </p:extLst>
  </p:cSld>
  <p:clrMapOvr>
    <a:masterClrMapping/>
  </p:clrMapOvr>
  <p:transition spd="slow">
    <p:wipe/>
  </p:transition>
</p:sld>
</file>

<file path=ppt/theme/_rels/them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3_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1205</TotalTime>
  <Words>429</Words>
  <Application>Microsoft Office PowerPoint</Application>
  <PresentationFormat>Widescreen</PresentationFormat>
  <Paragraphs>92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46</vt:i4>
      </vt:variant>
    </vt:vector>
  </HeadingPairs>
  <TitlesOfParts>
    <vt:vector size="57" baseType="lpstr">
      <vt:lpstr>ABC Junior Typing</vt:lpstr>
      <vt:lpstr>Arial</vt:lpstr>
      <vt:lpstr>Calibri</vt:lpstr>
      <vt:lpstr>Calibri Light</vt:lpstr>
      <vt:lpstr>Garamond</vt:lpstr>
      <vt:lpstr>Gill Sans MT</vt:lpstr>
      <vt:lpstr>Times New Roman</vt:lpstr>
      <vt:lpstr>Gallery</vt:lpstr>
      <vt:lpstr>3_Gallery</vt:lpstr>
      <vt:lpstr>Office Theme</vt:lpstr>
      <vt:lpstr>Organic</vt:lpstr>
      <vt:lpstr>PowerPoint Presentation</vt:lpstr>
      <vt:lpstr>PowerPoint Presentation</vt:lpstr>
      <vt:lpstr>PowerPoint Presentation</vt:lpstr>
      <vt:lpstr>LESSON OBJECTIVES</vt:lpstr>
      <vt:lpstr>Cont.…</vt:lpstr>
      <vt:lpstr>ASSESSMENT GOALS</vt:lpstr>
      <vt:lpstr>Cont.…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CREATURES LIVING IN WATER: OCEAN,RIVER,  POND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Trevor Mkhonta</dc:creator>
  <cp:lastModifiedBy>user</cp:lastModifiedBy>
  <cp:revision>36</cp:revision>
  <dcterms:created xsi:type="dcterms:W3CDTF">2024-06-04T14:41:11Z</dcterms:created>
  <dcterms:modified xsi:type="dcterms:W3CDTF">2024-07-12T11:04:47Z</dcterms:modified>
</cp:coreProperties>
</file>